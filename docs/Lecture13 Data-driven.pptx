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85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284" r:id="rId11"/>
    <p:sldId id="294" r:id="rId12"/>
    <p:sldId id="305" r:id="rId13"/>
    <p:sldId id="306" r:id="rId14"/>
    <p:sldId id="315" r:id="rId15"/>
    <p:sldId id="317" r:id="rId16"/>
    <p:sldId id="318" r:id="rId17"/>
    <p:sldId id="319" r:id="rId18"/>
    <p:sldId id="320" r:id="rId19"/>
    <p:sldId id="316" r:id="rId20"/>
    <p:sldId id="29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8" autoAdjust="0"/>
    <p:restoredTop sz="95033" autoAdjust="0"/>
  </p:normalViewPr>
  <p:slideViewPr>
    <p:cSldViewPr snapToGrid="0">
      <p:cViewPr varScale="1">
        <p:scale>
          <a:sx n="62" d="100"/>
          <a:sy n="62" d="100"/>
        </p:scale>
        <p:origin x="6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216D77-8E6B-441E-B05B-2FAFD1C4CBEE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A33BF83-A4F5-4E09-8835-EB4DF67D2F25}">
      <dgm:prSet/>
      <dgm:spPr/>
      <dgm:t>
        <a:bodyPr/>
        <a:lstStyle/>
        <a:p>
          <a:r>
            <a:rPr lang="en-GB"/>
            <a:t>Choose KPIs directly related to your business goals.</a:t>
          </a:r>
          <a:endParaRPr lang="en-US"/>
        </a:p>
      </dgm:t>
    </dgm:pt>
    <dgm:pt modelId="{33CBCD74-52ED-48D3-A5A5-4478C2C495CE}" type="parTrans" cxnId="{5A50154E-6CC6-4F88-B801-D16ECF68941F}">
      <dgm:prSet/>
      <dgm:spPr/>
      <dgm:t>
        <a:bodyPr/>
        <a:lstStyle/>
        <a:p>
          <a:endParaRPr lang="en-US"/>
        </a:p>
      </dgm:t>
    </dgm:pt>
    <dgm:pt modelId="{36D060CF-E065-4226-8829-7CC8F463A1D8}" type="sibTrans" cxnId="{5A50154E-6CC6-4F88-B801-D16ECF68941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0F2E0B5B-CF7A-4261-A4CA-3ADA495CC43E}">
      <dgm:prSet/>
      <dgm:spPr/>
      <dgm:t>
        <a:bodyPr/>
        <a:lstStyle/>
        <a:p>
          <a:r>
            <a:rPr lang="en-GB"/>
            <a:t>Consider your company's stage of growth.</a:t>
          </a:r>
          <a:endParaRPr lang="en-US"/>
        </a:p>
      </dgm:t>
    </dgm:pt>
    <dgm:pt modelId="{AE8DC1F5-18EB-4D68-9E18-9E8C994C56AA}" type="parTrans" cxnId="{AD86CAD9-518E-4598-9AA4-4AE62C32E31B}">
      <dgm:prSet/>
      <dgm:spPr/>
      <dgm:t>
        <a:bodyPr/>
        <a:lstStyle/>
        <a:p>
          <a:endParaRPr lang="en-US"/>
        </a:p>
      </dgm:t>
    </dgm:pt>
    <dgm:pt modelId="{753FF96C-9B6B-49C6-A0FA-D4C0DD36AEB7}" type="sibTrans" cxnId="{AD86CAD9-518E-4598-9AA4-4AE62C32E31B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0DD006B3-E3B6-48E3-9B48-E8F61C683E4F}">
      <dgm:prSet/>
      <dgm:spPr/>
      <dgm:t>
        <a:bodyPr/>
        <a:lstStyle/>
        <a:p>
          <a:r>
            <a:rPr lang="en-GB"/>
            <a:t>Focus on a few key metrics, rather than a slew of data.</a:t>
          </a:r>
          <a:endParaRPr lang="en-US"/>
        </a:p>
      </dgm:t>
    </dgm:pt>
    <dgm:pt modelId="{A9C220C0-A9F7-4CCA-8A5F-928E4A377888}" type="parTrans" cxnId="{D553278A-A375-4BE3-89BD-6FF82FBA5B63}">
      <dgm:prSet/>
      <dgm:spPr/>
      <dgm:t>
        <a:bodyPr/>
        <a:lstStyle/>
        <a:p>
          <a:endParaRPr lang="en-US"/>
        </a:p>
      </dgm:t>
    </dgm:pt>
    <dgm:pt modelId="{7547D352-24CB-460F-AC4A-2D5D5DD41C5D}" type="sibTrans" cxnId="{D553278A-A375-4BE3-89BD-6FF82FBA5B63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8BDEE6F5-A829-4A9D-9D33-78B1F9C7A4A4}" type="pres">
      <dgm:prSet presAssocID="{1B216D77-8E6B-441E-B05B-2FAFD1C4CBEE}" presName="Name0" presStyleCnt="0">
        <dgm:presLayoutVars>
          <dgm:animLvl val="lvl"/>
          <dgm:resizeHandles val="exact"/>
        </dgm:presLayoutVars>
      </dgm:prSet>
      <dgm:spPr/>
    </dgm:pt>
    <dgm:pt modelId="{A229130C-36C6-4C16-9D04-9C2A898FD299}" type="pres">
      <dgm:prSet presAssocID="{7A33BF83-A4F5-4E09-8835-EB4DF67D2F25}" presName="compositeNode" presStyleCnt="0">
        <dgm:presLayoutVars>
          <dgm:bulletEnabled val="1"/>
        </dgm:presLayoutVars>
      </dgm:prSet>
      <dgm:spPr/>
    </dgm:pt>
    <dgm:pt modelId="{2F3B5175-FAEF-4A21-9808-A6219EDE7CF5}" type="pres">
      <dgm:prSet presAssocID="{7A33BF83-A4F5-4E09-8835-EB4DF67D2F25}" presName="bgRect" presStyleLbl="bgAccFollowNode1" presStyleIdx="0" presStyleCnt="3"/>
      <dgm:spPr/>
    </dgm:pt>
    <dgm:pt modelId="{FD8BD19F-8AB5-40A1-BB20-45B7DD56A293}" type="pres">
      <dgm:prSet presAssocID="{36D060CF-E065-4226-8829-7CC8F463A1D8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BEC43DA2-9DF7-4205-BA41-99E48CF41645}" type="pres">
      <dgm:prSet presAssocID="{7A33BF83-A4F5-4E09-8835-EB4DF67D2F25}" presName="bottomLine" presStyleLbl="alignNode1" presStyleIdx="1" presStyleCnt="6">
        <dgm:presLayoutVars/>
      </dgm:prSet>
      <dgm:spPr/>
    </dgm:pt>
    <dgm:pt modelId="{50E355E3-C1B9-40E8-AB45-6D5E287D20D2}" type="pres">
      <dgm:prSet presAssocID="{7A33BF83-A4F5-4E09-8835-EB4DF67D2F25}" presName="nodeText" presStyleLbl="bgAccFollowNode1" presStyleIdx="0" presStyleCnt="3">
        <dgm:presLayoutVars>
          <dgm:bulletEnabled val="1"/>
        </dgm:presLayoutVars>
      </dgm:prSet>
      <dgm:spPr/>
    </dgm:pt>
    <dgm:pt modelId="{9C483D45-FA25-46C1-9446-B0CEDA92C75B}" type="pres">
      <dgm:prSet presAssocID="{36D060CF-E065-4226-8829-7CC8F463A1D8}" presName="sibTrans" presStyleCnt="0"/>
      <dgm:spPr/>
    </dgm:pt>
    <dgm:pt modelId="{A45C408B-A7AF-470E-B45E-90E1ECF23183}" type="pres">
      <dgm:prSet presAssocID="{0F2E0B5B-CF7A-4261-A4CA-3ADA495CC43E}" presName="compositeNode" presStyleCnt="0">
        <dgm:presLayoutVars>
          <dgm:bulletEnabled val="1"/>
        </dgm:presLayoutVars>
      </dgm:prSet>
      <dgm:spPr/>
    </dgm:pt>
    <dgm:pt modelId="{D660766C-2160-48F9-A519-CBB0CBDD0D89}" type="pres">
      <dgm:prSet presAssocID="{0F2E0B5B-CF7A-4261-A4CA-3ADA495CC43E}" presName="bgRect" presStyleLbl="bgAccFollowNode1" presStyleIdx="1" presStyleCnt="3"/>
      <dgm:spPr/>
    </dgm:pt>
    <dgm:pt modelId="{D953E9EE-B62A-496A-BD86-904C1C16AACC}" type="pres">
      <dgm:prSet presAssocID="{753FF96C-9B6B-49C6-A0FA-D4C0DD36AEB7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FE6DBB09-AAE5-419C-B6E1-538B2A78D49D}" type="pres">
      <dgm:prSet presAssocID="{0F2E0B5B-CF7A-4261-A4CA-3ADA495CC43E}" presName="bottomLine" presStyleLbl="alignNode1" presStyleIdx="3" presStyleCnt="6">
        <dgm:presLayoutVars/>
      </dgm:prSet>
      <dgm:spPr/>
    </dgm:pt>
    <dgm:pt modelId="{1F653ED7-1643-4729-97B3-CEE19D09F89A}" type="pres">
      <dgm:prSet presAssocID="{0F2E0B5B-CF7A-4261-A4CA-3ADA495CC43E}" presName="nodeText" presStyleLbl="bgAccFollowNode1" presStyleIdx="1" presStyleCnt="3">
        <dgm:presLayoutVars>
          <dgm:bulletEnabled val="1"/>
        </dgm:presLayoutVars>
      </dgm:prSet>
      <dgm:spPr/>
    </dgm:pt>
    <dgm:pt modelId="{FE0565EB-6954-461D-B0F9-2C807EDB150E}" type="pres">
      <dgm:prSet presAssocID="{753FF96C-9B6B-49C6-A0FA-D4C0DD36AEB7}" presName="sibTrans" presStyleCnt="0"/>
      <dgm:spPr/>
    </dgm:pt>
    <dgm:pt modelId="{27790DEB-C586-4843-A665-3969A01B12A2}" type="pres">
      <dgm:prSet presAssocID="{0DD006B3-E3B6-48E3-9B48-E8F61C683E4F}" presName="compositeNode" presStyleCnt="0">
        <dgm:presLayoutVars>
          <dgm:bulletEnabled val="1"/>
        </dgm:presLayoutVars>
      </dgm:prSet>
      <dgm:spPr/>
    </dgm:pt>
    <dgm:pt modelId="{0DFBFFE8-FFBD-4C8A-92E5-3B8ECA4B2EAA}" type="pres">
      <dgm:prSet presAssocID="{0DD006B3-E3B6-48E3-9B48-E8F61C683E4F}" presName="bgRect" presStyleLbl="bgAccFollowNode1" presStyleIdx="2" presStyleCnt="3"/>
      <dgm:spPr/>
    </dgm:pt>
    <dgm:pt modelId="{EF9A2C12-B8FE-4591-9E92-F07826283104}" type="pres">
      <dgm:prSet presAssocID="{7547D352-24CB-460F-AC4A-2D5D5DD41C5D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DE50B35B-9608-4AE9-85E2-0154A40F1A7B}" type="pres">
      <dgm:prSet presAssocID="{0DD006B3-E3B6-48E3-9B48-E8F61C683E4F}" presName="bottomLine" presStyleLbl="alignNode1" presStyleIdx="5" presStyleCnt="6">
        <dgm:presLayoutVars/>
      </dgm:prSet>
      <dgm:spPr/>
    </dgm:pt>
    <dgm:pt modelId="{6E7B8F23-F9B0-49AA-8401-575DBE281526}" type="pres">
      <dgm:prSet presAssocID="{0DD006B3-E3B6-48E3-9B48-E8F61C683E4F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C25A7E5F-AEF5-49DE-B552-A3E7EEC464D9}" type="presOf" srcId="{0DD006B3-E3B6-48E3-9B48-E8F61C683E4F}" destId="{6E7B8F23-F9B0-49AA-8401-575DBE281526}" srcOrd="1" destOrd="0" presId="urn:microsoft.com/office/officeart/2016/7/layout/BasicLinearProcessNumbered"/>
    <dgm:cxn modelId="{5A50154E-6CC6-4F88-B801-D16ECF68941F}" srcId="{1B216D77-8E6B-441E-B05B-2FAFD1C4CBEE}" destId="{7A33BF83-A4F5-4E09-8835-EB4DF67D2F25}" srcOrd="0" destOrd="0" parTransId="{33CBCD74-52ED-48D3-A5A5-4478C2C495CE}" sibTransId="{36D060CF-E065-4226-8829-7CC8F463A1D8}"/>
    <dgm:cxn modelId="{7F842D52-CF2C-4AA0-9D8D-CFA0B3074FB0}" type="presOf" srcId="{0F2E0B5B-CF7A-4261-A4CA-3ADA495CC43E}" destId="{1F653ED7-1643-4729-97B3-CEE19D09F89A}" srcOrd="1" destOrd="0" presId="urn:microsoft.com/office/officeart/2016/7/layout/BasicLinearProcessNumbered"/>
    <dgm:cxn modelId="{2C640176-7282-4A9E-8D80-C2C64AF1F189}" type="presOf" srcId="{7A33BF83-A4F5-4E09-8835-EB4DF67D2F25}" destId="{2F3B5175-FAEF-4A21-9808-A6219EDE7CF5}" srcOrd="0" destOrd="0" presId="urn:microsoft.com/office/officeart/2016/7/layout/BasicLinearProcessNumbered"/>
    <dgm:cxn modelId="{E3A77282-7EBC-42BB-B029-6F24EBA7FB00}" type="presOf" srcId="{753FF96C-9B6B-49C6-A0FA-D4C0DD36AEB7}" destId="{D953E9EE-B62A-496A-BD86-904C1C16AACC}" srcOrd="0" destOrd="0" presId="urn:microsoft.com/office/officeart/2016/7/layout/BasicLinearProcessNumbered"/>
    <dgm:cxn modelId="{D553278A-A375-4BE3-89BD-6FF82FBA5B63}" srcId="{1B216D77-8E6B-441E-B05B-2FAFD1C4CBEE}" destId="{0DD006B3-E3B6-48E3-9B48-E8F61C683E4F}" srcOrd="2" destOrd="0" parTransId="{A9C220C0-A9F7-4CCA-8A5F-928E4A377888}" sibTransId="{7547D352-24CB-460F-AC4A-2D5D5DD41C5D}"/>
    <dgm:cxn modelId="{5A651A8B-09DD-45FA-8E79-D3715A933F67}" type="presOf" srcId="{7A33BF83-A4F5-4E09-8835-EB4DF67D2F25}" destId="{50E355E3-C1B9-40E8-AB45-6D5E287D20D2}" srcOrd="1" destOrd="0" presId="urn:microsoft.com/office/officeart/2016/7/layout/BasicLinearProcessNumbered"/>
    <dgm:cxn modelId="{FF35D593-3E41-4421-9401-AA047B02B0F3}" type="presOf" srcId="{0F2E0B5B-CF7A-4261-A4CA-3ADA495CC43E}" destId="{D660766C-2160-48F9-A519-CBB0CBDD0D89}" srcOrd="0" destOrd="0" presId="urn:microsoft.com/office/officeart/2016/7/layout/BasicLinearProcessNumbered"/>
    <dgm:cxn modelId="{BE7EDCBA-3CED-4792-A0FD-F8BA8F4C7301}" type="presOf" srcId="{36D060CF-E065-4226-8829-7CC8F463A1D8}" destId="{FD8BD19F-8AB5-40A1-BB20-45B7DD56A293}" srcOrd="0" destOrd="0" presId="urn:microsoft.com/office/officeart/2016/7/layout/BasicLinearProcessNumbered"/>
    <dgm:cxn modelId="{A357C5BB-FB8C-4CDC-B4E2-27FD8B06E3C7}" type="presOf" srcId="{7547D352-24CB-460F-AC4A-2D5D5DD41C5D}" destId="{EF9A2C12-B8FE-4591-9E92-F07826283104}" srcOrd="0" destOrd="0" presId="urn:microsoft.com/office/officeart/2016/7/layout/BasicLinearProcessNumbered"/>
    <dgm:cxn modelId="{1B2E33BC-0260-4854-AE12-BF43AE1520B4}" type="presOf" srcId="{1B216D77-8E6B-441E-B05B-2FAFD1C4CBEE}" destId="{8BDEE6F5-A829-4A9D-9D33-78B1F9C7A4A4}" srcOrd="0" destOrd="0" presId="urn:microsoft.com/office/officeart/2016/7/layout/BasicLinearProcessNumbered"/>
    <dgm:cxn modelId="{AD86CAD9-518E-4598-9AA4-4AE62C32E31B}" srcId="{1B216D77-8E6B-441E-B05B-2FAFD1C4CBEE}" destId="{0F2E0B5B-CF7A-4261-A4CA-3ADA495CC43E}" srcOrd="1" destOrd="0" parTransId="{AE8DC1F5-18EB-4D68-9E18-9E8C994C56AA}" sibTransId="{753FF96C-9B6B-49C6-A0FA-D4C0DD36AEB7}"/>
    <dgm:cxn modelId="{991A0CDD-9690-4E0D-846C-ADCBB34C2276}" type="presOf" srcId="{0DD006B3-E3B6-48E3-9B48-E8F61C683E4F}" destId="{0DFBFFE8-FFBD-4C8A-92E5-3B8ECA4B2EAA}" srcOrd="0" destOrd="0" presId="urn:microsoft.com/office/officeart/2016/7/layout/BasicLinearProcessNumbered"/>
    <dgm:cxn modelId="{F1AAF498-2630-4BBE-89DC-333FABF5E577}" type="presParOf" srcId="{8BDEE6F5-A829-4A9D-9D33-78B1F9C7A4A4}" destId="{A229130C-36C6-4C16-9D04-9C2A898FD299}" srcOrd="0" destOrd="0" presId="urn:microsoft.com/office/officeart/2016/7/layout/BasicLinearProcessNumbered"/>
    <dgm:cxn modelId="{CDF45E40-999F-4426-850C-26494D66CEB8}" type="presParOf" srcId="{A229130C-36C6-4C16-9D04-9C2A898FD299}" destId="{2F3B5175-FAEF-4A21-9808-A6219EDE7CF5}" srcOrd="0" destOrd="0" presId="urn:microsoft.com/office/officeart/2016/7/layout/BasicLinearProcessNumbered"/>
    <dgm:cxn modelId="{828611A9-3C82-4BB6-B125-33BE40A93C32}" type="presParOf" srcId="{A229130C-36C6-4C16-9D04-9C2A898FD299}" destId="{FD8BD19F-8AB5-40A1-BB20-45B7DD56A293}" srcOrd="1" destOrd="0" presId="urn:microsoft.com/office/officeart/2016/7/layout/BasicLinearProcessNumbered"/>
    <dgm:cxn modelId="{C7B0AA38-5AB8-4FEA-89AB-FBFA3D82D4E3}" type="presParOf" srcId="{A229130C-36C6-4C16-9D04-9C2A898FD299}" destId="{BEC43DA2-9DF7-4205-BA41-99E48CF41645}" srcOrd="2" destOrd="0" presId="urn:microsoft.com/office/officeart/2016/7/layout/BasicLinearProcessNumbered"/>
    <dgm:cxn modelId="{79CC6004-6EFF-47CE-ADDC-89047BB5D22C}" type="presParOf" srcId="{A229130C-36C6-4C16-9D04-9C2A898FD299}" destId="{50E355E3-C1B9-40E8-AB45-6D5E287D20D2}" srcOrd="3" destOrd="0" presId="urn:microsoft.com/office/officeart/2016/7/layout/BasicLinearProcessNumbered"/>
    <dgm:cxn modelId="{D5DD16AC-0C1F-45F1-906F-45189F12A924}" type="presParOf" srcId="{8BDEE6F5-A829-4A9D-9D33-78B1F9C7A4A4}" destId="{9C483D45-FA25-46C1-9446-B0CEDA92C75B}" srcOrd="1" destOrd="0" presId="urn:microsoft.com/office/officeart/2016/7/layout/BasicLinearProcessNumbered"/>
    <dgm:cxn modelId="{03C6537A-F0AD-4914-ADB3-31217AB415D3}" type="presParOf" srcId="{8BDEE6F5-A829-4A9D-9D33-78B1F9C7A4A4}" destId="{A45C408B-A7AF-470E-B45E-90E1ECF23183}" srcOrd="2" destOrd="0" presId="urn:microsoft.com/office/officeart/2016/7/layout/BasicLinearProcessNumbered"/>
    <dgm:cxn modelId="{7570E2DE-1733-4972-A4E8-8C5C3438F55F}" type="presParOf" srcId="{A45C408B-A7AF-470E-B45E-90E1ECF23183}" destId="{D660766C-2160-48F9-A519-CBB0CBDD0D89}" srcOrd="0" destOrd="0" presId="urn:microsoft.com/office/officeart/2016/7/layout/BasicLinearProcessNumbered"/>
    <dgm:cxn modelId="{D3C5E1E7-8496-49F0-8DB2-C5E58F6505CC}" type="presParOf" srcId="{A45C408B-A7AF-470E-B45E-90E1ECF23183}" destId="{D953E9EE-B62A-496A-BD86-904C1C16AACC}" srcOrd="1" destOrd="0" presId="urn:microsoft.com/office/officeart/2016/7/layout/BasicLinearProcessNumbered"/>
    <dgm:cxn modelId="{1BA5F11F-4F2B-4430-B3BF-9AA2ED98C547}" type="presParOf" srcId="{A45C408B-A7AF-470E-B45E-90E1ECF23183}" destId="{FE6DBB09-AAE5-419C-B6E1-538B2A78D49D}" srcOrd="2" destOrd="0" presId="urn:microsoft.com/office/officeart/2016/7/layout/BasicLinearProcessNumbered"/>
    <dgm:cxn modelId="{AB91E14F-0C55-4F3B-AAAA-D2E0F3BC4191}" type="presParOf" srcId="{A45C408B-A7AF-470E-B45E-90E1ECF23183}" destId="{1F653ED7-1643-4729-97B3-CEE19D09F89A}" srcOrd="3" destOrd="0" presId="urn:microsoft.com/office/officeart/2016/7/layout/BasicLinearProcessNumbered"/>
    <dgm:cxn modelId="{19E378BE-D5F1-4F7D-82CC-B42C6FA8E1E3}" type="presParOf" srcId="{8BDEE6F5-A829-4A9D-9D33-78B1F9C7A4A4}" destId="{FE0565EB-6954-461D-B0F9-2C807EDB150E}" srcOrd="3" destOrd="0" presId="urn:microsoft.com/office/officeart/2016/7/layout/BasicLinearProcessNumbered"/>
    <dgm:cxn modelId="{8D69EDFA-BF20-4C93-BE6D-C4D9F1F5BADD}" type="presParOf" srcId="{8BDEE6F5-A829-4A9D-9D33-78B1F9C7A4A4}" destId="{27790DEB-C586-4843-A665-3969A01B12A2}" srcOrd="4" destOrd="0" presId="urn:microsoft.com/office/officeart/2016/7/layout/BasicLinearProcessNumbered"/>
    <dgm:cxn modelId="{FD03D9FE-6BA4-403D-824C-2CFC28C2B09F}" type="presParOf" srcId="{27790DEB-C586-4843-A665-3969A01B12A2}" destId="{0DFBFFE8-FFBD-4C8A-92E5-3B8ECA4B2EAA}" srcOrd="0" destOrd="0" presId="urn:microsoft.com/office/officeart/2016/7/layout/BasicLinearProcessNumbered"/>
    <dgm:cxn modelId="{A3E44376-0E31-4E65-A94C-364EF6353D14}" type="presParOf" srcId="{27790DEB-C586-4843-A665-3969A01B12A2}" destId="{EF9A2C12-B8FE-4591-9E92-F07826283104}" srcOrd="1" destOrd="0" presId="urn:microsoft.com/office/officeart/2016/7/layout/BasicLinearProcessNumbered"/>
    <dgm:cxn modelId="{C3E20603-4CA7-4F7B-A339-3F1715234E77}" type="presParOf" srcId="{27790DEB-C586-4843-A665-3969A01B12A2}" destId="{DE50B35B-9608-4AE9-85E2-0154A40F1A7B}" srcOrd="2" destOrd="0" presId="urn:microsoft.com/office/officeart/2016/7/layout/BasicLinearProcessNumbered"/>
    <dgm:cxn modelId="{11C877D6-A460-41F7-BF08-AFD4F883842E}" type="presParOf" srcId="{27790DEB-C586-4843-A665-3969A01B12A2}" destId="{6E7B8F23-F9B0-49AA-8401-575DBE281526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3B5175-FAEF-4A21-9808-A6219EDE7CF5}">
      <dsp:nvSpPr>
        <dsp:cNvPr id="0" name=""/>
        <dsp:cNvSpPr/>
      </dsp:nvSpPr>
      <dsp:spPr>
        <a:xfrm>
          <a:off x="0" y="0"/>
          <a:ext cx="3154934" cy="403262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971" tIns="330200" rIns="245971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Choose KPIs directly related to your business goals.</a:t>
          </a:r>
          <a:endParaRPr lang="en-US" sz="2600" kern="1200"/>
        </a:p>
      </dsp:txBody>
      <dsp:txXfrm>
        <a:off x="0" y="1532395"/>
        <a:ext cx="3154934" cy="2419572"/>
      </dsp:txXfrm>
    </dsp:sp>
    <dsp:sp modelId="{FD8BD19F-8AB5-40A1-BB20-45B7DD56A293}">
      <dsp:nvSpPr>
        <dsp:cNvPr id="0" name=""/>
        <dsp:cNvSpPr/>
      </dsp:nvSpPr>
      <dsp:spPr>
        <a:xfrm>
          <a:off x="972573" y="403262"/>
          <a:ext cx="1209786" cy="120978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20" tIns="12700" rIns="9432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49742" y="580431"/>
        <a:ext cx="855448" cy="855448"/>
      </dsp:txXfrm>
    </dsp:sp>
    <dsp:sp modelId="{BEC43DA2-9DF7-4205-BA41-99E48CF41645}">
      <dsp:nvSpPr>
        <dsp:cNvPr id="0" name=""/>
        <dsp:cNvSpPr/>
      </dsp:nvSpPr>
      <dsp:spPr>
        <a:xfrm>
          <a:off x="0" y="4032549"/>
          <a:ext cx="3154934" cy="72"/>
        </a:xfrm>
        <a:prstGeom prst="rect">
          <a:avLst/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12700" cap="flat" cmpd="sng" algn="ctr">
          <a:solidFill>
            <a:schemeClr val="accent2">
              <a:hueOff val="-291073"/>
              <a:satOff val="-16786"/>
              <a:lumOff val="17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60766C-2160-48F9-A519-CBB0CBDD0D89}">
      <dsp:nvSpPr>
        <dsp:cNvPr id="0" name=""/>
        <dsp:cNvSpPr/>
      </dsp:nvSpPr>
      <dsp:spPr>
        <a:xfrm>
          <a:off x="3470427" y="0"/>
          <a:ext cx="3154934" cy="4032621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971" tIns="330200" rIns="245971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Consider your company's stage of growth.</a:t>
          </a:r>
          <a:endParaRPr lang="en-US" sz="2600" kern="1200"/>
        </a:p>
      </dsp:txBody>
      <dsp:txXfrm>
        <a:off x="3470427" y="1532395"/>
        <a:ext cx="3154934" cy="2419572"/>
      </dsp:txXfrm>
    </dsp:sp>
    <dsp:sp modelId="{D953E9EE-B62A-496A-BD86-904C1C16AACC}">
      <dsp:nvSpPr>
        <dsp:cNvPr id="0" name=""/>
        <dsp:cNvSpPr/>
      </dsp:nvSpPr>
      <dsp:spPr>
        <a:xfrm>
          <a:off x="4443001" y="403262"/>
          <a:ext cx="1209786" cy="1209786"/>
        </a:xfrm>
        <a:prstGeom prst="ellipse">
          <a:avLst/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12700" cap="flat" cmpd="sng" algn="ctr">
          <a:solidFill>
            <a:schemeClr val="accent2">
              <a:hueOff val="-582145"/>
              <a:satOff val="-33571"/>
              <a:lumOff val="3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20" tIns="12700" rIns="9432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620170" y="580431"/>
        <a:ext cx="855448" cy="855448"/>
      </dsp:txXfrm>
    </dsp:sp>
    <dsp:sp modelId="{FE6DBB09-AAE5-419C-B6E1-538B2A78D49D}">
      <dsp:nvSpPr>
        <dsp:cNvPr id="0" name=""/>
        <dsp:cNvSpPr/>
      </dsp:nvSpPr>
      <dsp:spPr>
        <a:xfrm>
          <a:off x="3470427" y="4032549"/>
          <a:ext cx="3154934" cy="72"/>
        </a:xfrm>
        <a:prstGeom prst="rect">
          <a:avLst/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12700" cap="flat" cmpd="sng" algn="ctr">
          <a:solidFill>
            <a:schemeClr val="accent2">
              <a:hueOff val="-873218"/>
              <a:satOff val="-50357"/>
              <a:lumOff val="5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FBFFE8-FFBD-4C8A-92E5-3B8ECA4B2EAA}">
      <dsp:nvSpPr>
        <dsp:cNvPr id="0" name=""/>
        <dsp:cNvSpPr/>
      </dsp:nvSpPr>
      <dsp:spPr>
        <a:xfrm>
          <a:off x="6940854" y="0"/>
          <a:ext cx="3154934" cy="4032621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971" tIns="330200" rIns="245971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Focus on a few key metrics, rather than a slew of data.</a:t>
          </a:r>
          <a:endParaRPr lang="en-US" sz="2600" kern="1200"/>
        </a:p>
      </dsp:txBody>
      <dsp:txXfrm>
        <a:off x="6940854" y="1532395"/>
        <a:ext cx="3154934" cy="2419572"/>
      </dsp:txXfrm>
    </dsp:sp>
    <dsp:sp modelId="{EF9A2C12-B8FE-4591-9E92-F07826283104}">
      <dsp:nvSpPr>
        <dsp:cNvPr id="0" name=""/>
        <dsp:cNvSpPr/>
      </dsp:nvSpPr>
      <dsp:spPr>
        <a:xfrm>
          <a:off x="7913428" y="403262"/>
          <a:ext cx="1209786" cy="1209786"/>
        </a:xfrm>
        <a:prstGeom prst="ellipse">
          <a:avLst/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12700" cap="flat" cmpd="sng" algn="ctr">
          <a:solidFill>
            <a:schemeClr val="accent2">
              <a:hueOff val="-1164290"/>
              <a:satOff val="-67142"/>
              <a:lumOff val="6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20" tIns="12700" rIns="9432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090597" y="580431"/>
        <a:ext cx="855448" cy="855448"/>
      </dsp:txXfrm>
    </dsp:sp>
    <dsp:sp modelId="{DE50B35B-9608-4AE9-85E2-0154A40F1A7B}">
      <dsp:nvSpPr>
        <dsp:cNvPr id="0" name=""/>
        <dsp:cNvSpPr/>
      </dsp:nvSpPr>
      <dsp:spPr>
        <a:xfrm>
          <a:off x="6940854" y="4032549"/>
          <a:ext cx="3154934" cy="72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7BCAC8-6DBE-ACA0-059E-3E40EA4DBB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84FA3-8D23-9402-4EA6-5557B9E4C8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6575CA-FC0F-466D-BD42-A7821A78C3AF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8388A9-F25C-6721-61B5-88D5281255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D4DEA3-4D04-973A-7F8D-8013FE1525D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1C2C8-0DCE-4D8D-80EA-9C8B9EA7F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006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0F84F2-5C4A-49C2-9E5F-36725DEAA9D0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91C76-5EEF-42DB-AF59-F0A3715D6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7183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91C76-5EEF-42DB-AF59-F0A3715D67B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326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8712B-43E5-338C-50EA-5DD57CA8E0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CB114A-4074-C513-6F2E-915051120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B2D7D-F60A-8830-BC9E-705AAC988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7B16F-934C-4367-883F-DD199228437C}" type="datetime1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83D48-0CFC-4558-6AC0-1936C5507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CD69F-CC26-9314-766E-82930D742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63DF-57BB-4B63-A546-74D2E3DA5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8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9D9D0-578D-71F1-748E-5D5A00DF8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1F911-057F-A5B2-D585-4B413B151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2EA2F-608F-0804-44F6-9CE5EE819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7E46-2DF8-4E33-90B1-4F57CC3A1BA3}" type="datetime1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C254-EB14-179B-99DE-6720542E0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1766D-B8AB-68DF-569F-953D32A4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63DF-57BB-4B63-A546-74D2E3DA5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21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5D63-EADC-7607-E292-7B0DA8057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9B063-81A8-BAB2-8397-128F7FDC7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222C0-FB5F-029B-6FE2-4E21E2EFF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6B839-CB5B-4345-8FD3-BC952A23BBD3}" type="datetime1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5755C-2B2F-9266-0DFB-55111CCFC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99EC9-1CBD-6DAF-97C0-149294174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63DF-57BB-4B63-A546-74D2E3DA5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85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A3ABD-13EF-87D9-7F11-50D3A3FF0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659B4-1266-95D7-590D-DD590F9414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C079E-1036-DD1F-D23E-D41ECB248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95AE9-B133-E84E-48C1-477B8EFF6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D9C81-98BC-49E9-8637-BB32010244AB}" type="datetime1">
              <a:rPr lang="en-US" smtClean="0"/>
              <a:t>1/6/2024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83894-9AE4-5CDE-ADD0-2040C5140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94138B-165A-FA55-E97E-F1A4494C5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63DF-57BB-4B63-A546-74D2E3DA5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091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511F7-B5DA-344B-2A17-3E68E3D02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ADF6C-CABC-0699-14B8-76F90A446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CAE04-2BA7-5F74-0B50-EE294310E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66ED48-EB1B-DBEF-C585-F40F885903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A962D-3015-F5B1-90F8-482375330C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16790A-F189-2670-1C55-FD98FC76E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2DA99-C28B-4721-BF6B-8FE2BC12DF83}" type="datetime1">
              <a:rPr lang="en-US" smtClean="0"/>
              <a:t>1/6/2024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D7CDAD-0ADD-AA62-4F6B-2FAC2638F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9CAA7-B59A-6C3D-D1A0-B8064C285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63DF-57BB-4B63-A546-74D2E3DA5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33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465A8-1410-8C11-5F89-8148867CF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6351E7-2807-8D76-34B1-4441F9F83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21473-8D11-40DA-B101-BFC9280BAF4F}" type="datetime1">
              <a:rPr lang="en-US" smtClean="0"/>
              <a:t>1/6/2024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E04F62-F588-8A94-1448-6280FDAE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9E8EA-41C1-D252-CFDE-2BCCA563D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63DF-57BB-4B63-A546-74D2E3DA5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45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EAD495-CFAB-FEC8-C67A-CFF776527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3CDB-8043-47E2-B9A8-30770D9A5747}" type="datetime1">
              <a:rPr lang="en-US" smtClean="0"/>
              <a:t>1/6/2024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1D7E94-22B1-2DD5-4B20-14C1911FB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C5F65-161F-36E2-BF57-06350B39F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63DF-57BB-4B63-A546-74D2E3DA5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4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659DB-DF8F-7A09-6B75-14555E922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8844-071A-DAB4-8B4C-32F49D3C8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4A5BD-DD30-F265-AC2F-A76ED7CD9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AE50A-AAAE-09DD-FB45-EB6C2EE93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B13B3-11A6-4119-80F2-9CB6B243CE5F}" type="datetime1">
              <a:rPr lang="en-US" smtClean="0"/>
              <a:t>1/6/2024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FD187-23C3-ADDB-FDBF-A4BDCA78D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C3B72-C2AE-6175-5688-44652D86F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63DF-57BB-4B63-A546-74D2E3DA5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66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2A73D-3EF2-132C-3ED3-368B47C02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30D14D-1AB3-88F8-D212-3977399083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EA240-B784-307F-85F1-EDB8EB35F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B007B-D981-17E0-FC97-5F160E847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1862F-4266-4DA4-91E4-C6B0EC11DD88}" type="datetime1">
              <a:rPr lang="en-US" smtClean="0"/>
              <a:t>1/6/2024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0C1ED-2197-CDAC-007A-07BBCA8C3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F4E27-09EE-CAF1-1A7F-2E62DEC91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63DF-57BB-4B63-A546-74D2E3DA5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456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7716A-1589-F1C6-E568-084503AC8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D531A-620A-EFFE-21D3-5C007AFD4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D1F48-A347-9186-9F76-70DDC9E7A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DDFFD-A6F2-41B2-83E8-95270A885B61}" type="datetime1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3039E-5E0C-5545-57C3-A1D7C1686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E5D84-EA16-9399-03E8-15D766202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63DF-57BB-4B63-A546-74D2E3DA5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91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E6811F-6EDE-6A0D-2882-12BA5ED697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27DB6-970C-2374-64E9-0BBE58D84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5B77A-6AAC-C8D4-377D-D27FCAAA5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29398-E605-4D18-937A-C62450BB55D0}" type="datetime1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46040-14D2-C3E5-33D6-E3ACFD55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246B0-10BB-EA8D-2E35-60DE64A17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63DF-57BB-4B63-A546-74D2E3DA5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61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9D527E-D37E-F832-DDEE-2E4E831C4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0A4C7-9A60-EB7F-8CAB-D85A27A25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E41D2-891F-BC6A-B989-C32849C2A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10CC1-8167-416C-BF26-A1056E84B7D4}" type="datetime1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3480E-2C5F-6705-1DD6-E35B38E1F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Eng. Asmaa Lafi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C086A-8C8D-AD7B-F61C-7B1B8E3F9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063DF-57BB-4B63-A546-74D2E3DA5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5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devtalents.com/data-driven-software-development/" TargetMode="External"/><Relationship Id="rId3" Type="http://schemas.openxmlformats.org/officeDocument/2006/relationships/hyperlink" Target="https://www.hatica.io/blog/software-development-lifecycle-best-practices/" TargetMode="External"/><Relationship Id="rId7" Type="http://schemas.openxmlformats.org/officeDocument/2006/relationships/hyperlink" Target="https://www.techtarget.com/searchcio/definition/decision-support-system" TargetMode="External"/><Relationship Id="rId2" Type="http://schemas.openxmlformats.org/officeDocument/2006/relationships/hyperlink" Target="https://www.cloudzero.com/blog/data-driven-developmen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.org/RDF/" TargetMode="External"/><Relationship Id="rId5" Type="http://schemas.openxmlformats.org/officeDocument/2006/relationships/hyperlink" Target="https://atomgraph.com/blog/data-driven-software-architecture-2/" TargetMode="External"/><Relationship Id="rId4" Type="http://schemas.openxmlformats.org/officeDocument/2006/relationships/hyperlink" Target="https://atomgraph.com/blog/data-driven-software-architecture-1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finger pointing to data paperwork - Waypath">
            <a:extLst>
              <a:ext uri="{FF2B5EF4-FFF2-40B4-BE49-F238E27FC236}">
                <a16:creationId xmlns:a16="http://schemas.microsoft.com/office/drawing/2014/main" id="{B1E37FD5-74F5-CD8E-93CA-B718DB30FA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84" b="10347"/>
          <a:stretch/>
        </p:blipFill>
        <p:spPr bwMode="auto">
          <a:xfrm>
            <a:off x="19" y="0"/>
            <a:ext cx="1219198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5AD910-BBD7-3B5B-9A42-B781B40A3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pPr algn="l"/>
            <a:r>
              <a:rPr lang="en-US" sz="6600" b="1" i="0" dirty="0">
                <a:effectLst/>
                <a:latin typeface="Gotham SSm A"/>
              </a:rPr>
              <a:t>Data-driven</a:t>
            </a:r>
            <a:endParaRPr lang="en-US" sz="6600" b="1" dirty="0"/>
          </a:p>
        </p:txBody>
      </p:sp>
      <p:sp>
        <p:nvSpPr>
          <p:cNvPr id="1035" name="Rectangle: Rounded Corners 1034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0B2ED-ED31-A196-AFCE-16291B10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99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BC063DF-57BB-4B63-A546-74D2E3DA5DB6}" type="slidenum">
              <a:rPr lang="en-US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24A3D9-94C2-9413-6EE5-B21EE402D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</p:spTree>
    <p:extLst>
      <p:ext uri="{BB962C8B-B14F-4D97-AF65-F5344CB8AC3E}">
        <p14:creationId xmlns:p14="http://schemas.microsoft.com/office/powerpoint/2010/main" val="3804890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2507C-0BCD-4E80-6BF5-2C370867F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i="0" dirty="0">
                <a:effectLst/>
                <a:latin typeface="Gotham SSm A"/>
              </a:rPr>
              <a:t>Data-driven development</a:t>
            </a:r>
            <a:endParaRPr lang="en-US" b="1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D05EB-67FA-1F94-2A87-9F8632D2D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algn="l" fontAlgn="base"/>
            <a:r>
              <a:rPr lang="en-GB" sz="2200" dirty="0">
                <a:latin typeface="Gotham SSm A"/>
              </a:rPr>
              <a:t>When a company employs a “data-driven” approach, </a:t>
            </a:r>
            <a:r>
              <a:rPr lang="en-GB" sz="2200" b="1" dirty="0">
                <a:latin typeface="Gotham SSm A"/>
              </a:rPr>
              <a:t>it means it makes strategic decisions based on data analysis and interpretation.</a:t>
            </a:r>
          </a:p>
          <a:p>
            <a:pPr algn="l" fontAlgn="base"/>
            <a:r>
              <a:rPr lang="en-GB" sz="2200" dirty="0">
                <a:latin typeface="Gotham SSm A"/>
              </a:rPr>
              <a:t>A data-driven approach enables companies </a:t>
            </a:r>
            <a:r>
              <a:rPr lang="en-GB" sz="2200" b="1" dirty="0">
                <a:latin typeface="Gotham SSm A"/>
              </a:rPr>
              <a:t>to examine and organise their data with the goal of better serving their customers and consumers</a:t>
            </a:r>
            <a:r>
              <a:rPr lang="en-GB" sz="2200" dirty="0">
                <a:latin typeface="Gotham SSm A"/>
              </a:rPr>
              <a:t>. </a:t>
            </a:r>
          </a:p>
          <a:p>
            <a:r>
              <a:rPr lang="en-GB" sz="2200" dirty="0">
                <a:latin typeface="Gotham SSm A"/>
              </a:rPr>
              <a:t>Clear, objective, and unambiguous, these metrics encourage development teams to think about the long-term strategic objectives of their day-to-day work and the business value of each project</a:t>
            </a:r>
            <a:r>
              <a:rPr lang="en-GB" sz="2200" b="1" dirty="0">
                <a:latin typeface="Gotham SSm A"/>
              </a:rPr>
              <a:t>. The data allows these teams and individuals to visualize how their work contributes to business success, and how they can support the organization in meeting its vital goals.</a:t>
            </a:r>
          </a:p>
          <a:p>
            <a:r>
              <a:rPr lang="en-GB" sz="2200" dirty="0">
                <a:latin typeface="Gotham SSm A"/>
              </a:rPr>
              <a:t>Data-driven software development is based on </a:t>
            </a:r>
            <a:r>
              <a:rPr lang="en-GB" sz="2200" b="1" dirty="0">
                <a:latin typeface="Gotham SSm A"/>
              </a:rPr>
              <a:t>solid metrics like Key Performance Indicators (KPIs) or Objectives And Key Results (OKRs)</a:t>
            </a:r>
            <a:r>
              <a:rPr lang="en-GB" sz="2200" dirty="0">
                <a:latin typeface="Gotham SSm A"/>
              </a:rPr>
              <a:t>.</a:t>
            </a:r>
          </a:p>
          <a:p>
            <a:pPr marL="0" indent="0">
              <a:buNone/>
            </a:pPr>
            <a:endParaRPr lang="en-US" sz="2200" b="1" dirty="0">
              <a:latin typeface="Gotham SSm A"/>
            </a:endParaRPr>
          </a:p>
          <a:p>
            <a:endParaRPr lang="en-US" sz="22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11B9E-E6A8-6AF1-0B83-CC682A898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63DF-57BB-4B63-A546-74D2E3DA5DB6}" type="slidenum">
              <a:rPr lang="en-US" smtClean="0"/>
              <a:t>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EAD223-0C09-C051-F13F-C01350B34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</p:spTree>
    <p:extLst>
      <p:ext uri="{BB962C8B-B14F-4D97-AF65-F5344CB8AC3E}">
        <p14:creationId xmlns:p14="http://schemas.microsoft.com/office/powerpoint/2010/main" val="4085545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915688-CFB9-07FA-10A1-41E658C16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9" y="1153572"/>
            <a:ext cx="3568735" cy="44611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Gotham SSm A"/>
              </a:rPr>
              <a:t>Data-driven development (cont’d)</a:t>
            </a:r>
            <a:endParaRPr lang="en-GB" b="1" dirty="0">
              <a:solidFill>
                <a:srgbClr val="FFFFFF"/>
              </a:solidFill>
              <a:latin typeface="Gotham SSm A"/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B14B4-FD93-057B-08CA-33D3373D5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8972" y="591344"/>
            <a:ext cx="7064828" cy="576500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dirty="0">
                <a:latin typeface="Gotham SSm A"/>
              </a:rPr>
              <a:t>A Data driven software:</a:t>
            </a:r>
          </a:p>
          <a:p>
            <a:pPr marL="0" indent="0">
              <a:buNone/>
            </a:pPr>
            <a:endParaRPr lang="en-GB" dirty="0">
              <a:latin typeface="Gotham SSm A"/>
            </a:endParaRPr>
          </a:p>
          <a:p>
            <a:pPr lvl="1"/>
            <a:r>
              <a:rPr lang="en-GB" dirty="0">
                <a:latin typeface="Gotham SSm A"/>
              </a:rPr>
              <a:t>Automates processes, problems and opportunities.</a:t>
            </a:r>
          </a:p>
          <a:p>
            <a:pPr lvl="1"/>
            <a:r>
              <a:rPr lang="en-GB" dirty="0">
                <a:latin typeface="Gotham SSm A"/>
              </a:rPr>
              <a:t>Operates on diverse data from many multichannel data sources.</a:t>
            </a:r>
          </a:p>
          <a:p>
            <a:pPr lvl="1"/>
            <a:r>
              <a:rPr lang="en-GB" dirty="0">
                <a:latin typeface="Gotham SSm A"/>
              </a:rPr>
              <a:t>Makes information universally available within a single application.</a:t>
            </a:r>
          </a:p>
          <a:p>
            <a:pPr lvl="1"/>
            <a:r>
              <a:rPr lang="en-GB" dirty="0">
                <a:latin typeface="Gotham SSm A"/>
              </a:rPr>
              <a:t>Automatically generates master data, metadata, models, schema, and graphs as the user searches, queries and collects data.</a:t>
            </a:r>
          </a:p>
          <a:p>
            <a:pPr lvl="1"/>
            <a:r>
              <a:rPr lang="en-GB" dirty="0">
                <a:latin typeface="Gotham SSm A"/>
              </a:rPr>
              <a:t>Continuously co-relates data entities.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981A8-B45F-2F27-638E-1F715A267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41564" y="6356350"/>
            <a:ext cx="181223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BC063DF-57BB-4B63-A546-74D2E3DA5DB6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F526B-0C58-EC87-8E13-9355B5D37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</p:spTree>
    <p:extLst>
      <p:ext uri="{BB962C8B-B14F-4D97-AF65-F5344CB8AC3E}">
        <p14:creationId xmlns:p14="http://schemas.microsoft.com/office/powerpoint/2010/main" val="972112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2" name="Rectangle 2061">
            <a:extLst>
              <a:ext uri="{FF2B5EF4-FFF2-40B4-BE49-F238E27FC236}">
                <a16:creationId xmlns:a16="http://schemas.microsoft.com/office/drawing/2014/main" id="{B5FA7C47-B7C1-4D2E-AB49-ED23BA34B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4" name="Freeform 6">
            <a:extLst>
              <a:ext uri="{FF2B5EF4-FFF2-40B4-BE49-F238E27FC236}">
                <a16:creationId xmlns:a16="http://schemas.microsoft.com/office/drawing/2014/main" id="{596EE156-ABF1-4329-A6BA-03B4254E0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521144" y="911116"/>
            <a:ext cx="687754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6" name="Rectangle 8">
            <a:extLst>
              <a:ext uri="{FF2B5EF4-FFF2-40B4-BE49-F238E27FC236}">
                <a16:creationId xmlns:a16="http://schemas.microsoft.com/office/drawing/2014/main" id="{19B9933F-AAB3-444A-8BB5-9CA194A8B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0" y="1370435"/>
            <a:ext cx="527226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8" name="Freeform 7">
            <a:extLst>
              <a:ext uri="{FF2B5EF4-FFF2-40B4-BE49-F238E27FC236}">
                <a16:creationId xmlns:a16="http://schemas.microsoft.com/office/drawing/2014/main" id="{7D20183A-0B1D-4A1F-89B1-ADBEDBC6E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800164" y="643467"/>
            <a:ext cx="409371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70" name="Rectangle 8">
            <a:extLst>
              <a:ext uri="{FF2B5EF4-FFF2-40B4-BE49-F238E27FC236}">
                <a16:creationId xmlns:a16="http://schemas.microsoft.com/office/drawing/2014/main" id="{131031D3-26CD-4214-A9A4-5857EFA15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95529" y="644382"/>
            <a:ext cx="3856024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2AEF5-F207-64BD-0BB5-B8E096AC8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576" y="1936035"/>
            <a:ext cx="3200451" cy="2985929"/>
          </a:xfrm>
        </p:spPr>
        <p:txBody>
          <a:bodyPr anchor="t">
            <a:normAutofit/>
          </a:bodyPr>
          <a:lstStyle/>
          <a:p>
            <a:r>
              <a:rPr lang="en-GB" sz="2400" b="1" i="0" dirty="0">
                <a:solidFill>
                  <a:srgbClr val="FEFFFF"/>
                </a:solidFill>
                <a:effectLst/>
                <a:latin typeface="Lexend Deca"/>
              </a:rPr>
              <a:t> </a:t>
            </a:r>
            <a:r>
              <a:rPr lang="en-GB" sz="2400" b="1" dirty="0">
                <a:solidFill>
                  <a:srgbClr val="FEFFFF"/>
                </a:solidFill>
                <a:latin typeface="Gotham SSm A"/>
              </a:rPr>
              <a:t>KPIs measure performance and progress toward a specific goal over time. They help keep the primary goals of a business at the forefront.</a:t>
            </a:r>
          </a:p>
          <a:p>
            <a:endParaRPr lang="en-GB" sz="2400" dirty="0">
              <a:solidFill>
                <a:srgbClr val="FEFFFF"/>
              </a:solidFill>
              <a:latin typeface="Gotham SSm A"/>
            </a:endParaRPr>
          </a:p>
        </p:txBody>
      </p:sp>
      <p:pic>
        <p:nvPicPr>
          <p:cNvPr id="2050" name="Picture 2" descr="What is a KPI and what is not a KPI graphic">
            <a:extLst>
              <a:ext uri="{FF2B5EF4-FFF2-40B4-BE49-F238E27FC236}">
                <a16:creationId xmlns:a16="http://schemas.microsoft.com/office/drawing/2014/main" id="{7EE5C1B8-9D37-23F4-5ACD-E6C11134D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58332" y="381000"/>
            <a:ext cx="7152349" cy="588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89252-FB8B-35E1-E986-B6899A05B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624" y="6382512"/>
            <a:ext cx="685800" cy="32004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BC063DF-57BB-4B63-A546-74D2E3DA5DB6}" type="slidenum">
              <a:rPr lang="en-US" sz="1000"/>
              <a:pPr>
                <a:spcAft>
                  <a:spcPts val="600"/>
                </a:spcAft>
              </a:pPr>
              <a:t>4</a:t>
            </a:fld>
            <a:endParaRPr lang="en-US" sz="10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E036867-45EA-60FB-A0EC-24323A4DF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</p:spTree>
    <p:extLst>
      <p:ext uri="{BB962C8B-B14F-4D97-AF65-F5344CB8AC3E}">
        <p14:creationId xmlns:p14="http://schemas.microsoft.com/office/powerpoint/2010/main" val="2240353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DDEF810-FBAE-4C80-B905-316331395C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FD8C7A0F-D774-4978-AA9C-7E703C2F4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344168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61C7310A-3A42-4F75-8058-7F39E52B1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344168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D88313-56C7-45D8-8D97-2F5CCBF99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1544897" cy="1179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72E98-CFD6-4B4B-B7A6-E1C846FED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88894"/>
            <a:ext cx="10306520" cy="880730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rgbClr val="FFFFFF"/>
                </a:solidFill>
                <a:latin typeface="Gotham SSm A"/>
              </a:rPr>
              <a:t>How To Determine KPIs</a:t>
            </a:r>
            <a:br>
              <a:rPr lang="en-GB" sz="2800" dirty="0">
                <a:solidFill>
                  <a:srgbClr val="FFFFFF"/>
                </a:solidFill>
                <a:latin typeface="Gotham SSm A"/>
              </a:rPr>
            </a:br>
            <a:endParaRPr lang="en-GB" sz="2800" dirty="0">
              <a:solidFill>
                <a:srgbClr val="FFFFFF"/>
              </a:solidFill>
              <a:latin typeface="Gotham SSm 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CBA80-1F17-A0BF-F12E-A00A8DE56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624" y="6382512"/>
            <a:ext cx="685800" cy="32004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BC063DF-57BB-4B63-A546-74D2E3DA5DB6}" type="slidenum">
              <a:rPr lang="en-US" sz="1000"/>
              <a:pPr>
                <a:spcAft>
                  <a:spcPts val="600"/>
                </a:spcAft>
              </a:pPr>
              <a:t>5</a:t>
            </a:fld>
            <a:endParaRPr lang="en-US" sz="100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26AEF28-0E2E-818A-85A4-BE88C7C62A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2844191"/>
              </p:ext>
            </p:extLst>
          </p:nvPr>
        </p:nvGraphicFramePr>
        <p:xfrm>
          <a:off x="1047280" y="2189664"/>
          <a:ext cx="10095789" cy="4032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80784C-5461-A816-DC97-6D1F69089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</p:spTree>
    <p:extLst>
      <p:ext uri="{BB962C8B-B14F-4D97-AF65-F5344CB8AC3E}">
        <p14:creationId xmlns:p14="http://schemas.microsoft.com/office/powerpoint/2010/main" val="2562813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5E5C9-8D7F-43E6-0464-43ED38E80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sz="5400" b="1" dirty="0">
                <a:latin typeface="Gotham SSm A"/>
              </a:rPr>
              <a:t>KPI Metrics Example</a:t>
            </a:r>
            <a:br>
              <a:rPr lang="en-GB" b="0" i="0" dirty="0">
                <a:solidFill>
                  <a:srgbClr val="2E475D"/>
                </a:solidFill>
                <a:effectLst/>
                <a:latin typeface="Lexend Deca"/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D93E0-D23E-48BF-FF41-4C6CBB47B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027"/>
            <a:ext cx="10515600" cy="467693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Website KPI are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E475D"/>
                </a:solidFill>
                <a:effectLst/>
                <a:latin typeface="inherit"/>
              </a:rPr>
              <a:t>Traffic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E475D"/>
                </a:solidFill>
                <a:effectLst/>
                <a:latin typeface="inherit"/>
              </a:rPr>
              <a:t>Traffic sources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E475D"/>
                </a:solidFill>
                <a:effectLst/>
                <a:latin typeface="inherit"/>
              </a:rPr>
              <a:t>Number of sessions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E475D"/>
                </a:solidFill>
                <a:effectLst/>
                <a:latin typeface="inherit"/>
              </a:rPr>
              <a:t>Number of transactions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3BC95-6662-17A8-F4F1-E9A10B557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63DF-57BB-4B63-A546-74D2E3DA5DB6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27E34-748E-EBBE-32C1-414E1F01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</p:spTree>
    <p:extLst>
      <p:ext uri="{BB962C8B-B14F-4D97-AF65-F5344CB8AC3E}">
        <p14:creationId xmlns:p14="http://schemas.microsoft.com/office/powerpoint/2010/main" val="3619493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FD8DD-AE1C-1E98-3F34-9BA90B5BF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28" y="627564"/>
            <a:ext cx="7474172" cy="1325563"/>
          </a:xfrm>
        </p:spPr>
        <p:txBody>
          <a:bodyPr>
            <a:normAutofit/>
          </a:bodyPr>
          <a:lstStyle/>
          <a:p>
            <a:r>
              <a:rPr lang="en-GB" b="1" dirty="0">
                <a:latin typeface="Gotham SSm A"/>
              </a:rPr>
              <a:t>What is OKRs?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4F25C-EFA2-D434-A645-7230EB7EB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71" y="1872343"/>
            <a:ext cx="8240486" cy="4604657"/>
          </a:xfrm>
        </p:spPr>
        <p:txBody>
          <a:bodyPr anchor="ctr">
            <a:normAutofit/>
          </a:bodyPr>
          <a:lstStyle/>
          <a:p>
            <a:r>
              <a:rPr lang="en-GB" sz="2400" dirty="0">
                <a:latin typeface="Gotham SSm A"/>
              </a:rPr>
              <a:t>OKRs (Objectives &amp; Key Results) are a popular tool for managing teams and measuring performance</a:t>
            </a:r>
            <a:r>
              <a:rPr lang="en-GB" sz="2400" b="1" dirty="0">
                <a:latin typeface="Gotham SSm A"/>
              </a:rPr>
              <a:t>. They help your team prioritize what to do, track progress against those priorities, and identify opportunities for improvement.</a:t>
            </a:r>
          </a:p>
          <a:p>
            <a:pPr marL="0" indent="0">
              <a:buNone/>
            </a:pPr>
            <a:endParaRPr lang="en-GB" sz="2400" dirty="0">
              <a:latin typeface="Gotham SSm A"/>
            </a:endParaRPr>
          </a:p>
          <a:p>
            <a:r>
              <a:rPr lang="en-GB" sz="2400" dirty="0">
                <a:latin typeface="Gotham SSm A"/>
              </a:rPr>
              <a:t>They’re a process for setting goals, which </a:t>
            </a:r>
            <a:r>
              <a:rPr lang="en-GB" sz="2400" b="1" dirty="0">
                <a:latin typeface="Gotham SSm A"/>
              </a:rPr>
              <a:t>helps your team think more clearly about what they want to achieve and how they want to measure their progress toward those goals</a:t>
            </a:r>
            <a:r>
              <a:rPr lang="en-GB" sz="2400" dirty="0">
                <a:latin typeface="Gotham SSm A"/>
              </a:rPr>
              <a:t>. And once you understand all these pieces, it can help you get started with creating your own set of OKRs for your data team.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5400" y="2358913"/>
            <a:ext cx="2140172" cy="2140172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Bullseye">
            <a:extLst>
              <a:ext uri="{FF2B5EF4-FFF2-40B4-BE49-F238E27FC236}">
                <a16:creationId xmlns:a16="http://schemas.microsoft.com/office/drawing/2014/main" id="{060ACBBD-8F31-8CA4-7DB1-546A6FBFC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3987" y="2857501"/>
            <a:ext cx="1142998" cy="11429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8A7AC-A7F8-5701-D9A4-376A73C47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1428" y="6356350"/>
            <a:ext cx="1012371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BC063DF-57BB-4B63-A546-74D2E3DA5DB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7066D-53C3-1E3D-2B01-7B68F94BC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</p:spTree>
    <p:extLst>
      <p:ext uri="{BB962C8B-B14F-4D97-AF65-F5344CB8AC3E}">
        <p14:creationId xmlns:p14="http://schemas.microsoft.com/office/powerpoint/2010/main" val="264609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3A89C-27A5-578C-65A3-012FC52B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dirty="0">
                <a:effectLst/>
                <a:latin typeface="var(--font-family,var(--font-family-body))"/>
              </a:rPr>
              <a:t>An example OKR</a:t>
            </a:r>
            <a:br>
              <a:rPr lang="en-GB" b="1" i="0" dirty="0">
                <a:effectLst/>
                <a:latin typeface="var(--font-family,var(--font-family-body))"/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004F3-45C5-C9E3-1771-B1B14578A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436" y="1577673"/>
            <a:ext cx="10515600" cy="4351338"/>
          </a:xfrm>
        </p:spPr>
        <p:txBody>
          <a:bodyPr/>
          <a:lstStyle/>
          <a:p>
            <a:pPr algn="l" fontAlgn="base"/>
            <a:r>
              <a:rPr lang="en-GB" b="0" i="0" dirty="0">
                <a:solidFill>
                  <a:srgbClr val="1F1F1F"/>
                </a:solidFill>
                <a:effectLst/>
                <a:latin typeface="Graphik Web"/>
              </a:rPr>
              <a:t>Objective: Run a marathon in under 4 hrs</a:t>
            </a:r>
          </a:p>
          <a:p>
            <a:pPr algn="l" fontAlgn="base"/>
            <a:r>
              <a:rPr lang="en-GB" b="0" i="0" dirty="0">
                <a:solidFill>
                  <a:srgbClr val="1F1F1F"/>
                </a:solidFill>
                <a:effectLst/>
                <a:latin typeface="Graphik Web"/>
              </a:rPr>
              <a:t>Key results:</a:t>
            </a:r>
          </a:p>
          <a:p>
            <a:pPr marL="0" indent="0" algn="l" fontAlgn="base">
              <a:buNone/>
            </a:pPr>
            <a:r>
              <a:rPr lang="en-GB" b="0" i="0" dirty="0">
                <a:solidFill>
                  <a:srgbClr val="1F1F1F"/>
                </a:solidFill>
                <a:effectLst/>
                <a:latin typeface="Graphik Web"/>
              </a:rPr>
              <a:t>	- Join a marathon training group</a:t>
            </a:r>
          </a:p>
          <a:p>
            <a:pPr marL="0" indent="0" algn="l" fontAlgn="base">
              <a:buNone/>
            </a:pPr>
            <a:r>
              <a:rPr lang="en-GB" b="0" i="0" dirty="0">
                <a:solidFill>
                  <a:srgbClr val="1F1F1F"/>
                </a:solidFill>
                <a:effectLst/>
                <a:latin typeface="Graphik Web"/>
              </a:rPr>
              <a:t>	- Train 5 days per week with 1 long run each week</a:t>
            </a:r>
          </a:p>
          <a:p>
            <a:pPr marL="0" indent="0" algn="l" fontAlgn="base">
              <a:buNone/>
            </a:pPr>
            <a:r>
              <a:rPr lang="en-GB" b="0" i="0" dirty="0">
                <a:solidFill>
                  <a:srgbClr val="1F1F1F"/>
                </a:solidFill>
                <a:effectLst/>
                <a:latin typeface="Graphik Web"/>
              </a:rPr>
              <a:t>	- Increase mileage by 5 miles per week</a:t>
            </a:r>
          </a:p>
          <a:p>
            <a:pPr marL="0" indent="0" algn="l" fontAlgn="base">
              <a:buNone/>
            </a:pPr>
            <a:r>
              <a:rPr lang="en-GB" b="0" i="0" dirty="0">
                <a:solidFill>
                  <a:srgbClr val="1F1F1F"/>
                </a:solidFill>
                <a:effectLst/>
                <a:latin typeface="Graphik Web"/>
              </a:rPr>
              <a:t>	- Drink at least 3 litters of water every day</a:t>
            </a:r>
          </a:p>
          <a:p>
            <a:pPr marL="0" indent="0" algn="l" fontAlgn="base">
              <a:buNone/>
            </a:pPr>
            <a:r>
              <a:rPr lang="en-GB" b="0" i="0" dirty="0">
                <a:solidFill>
                  <a:srgbClr val="1F1F1F"/>
                </a:solidFill>
                <a:effectLst/>
                <a:latin typeface="Graphik Web"/>
              </a:rPr>
              <a:t>	- Sleep at least 8 hours every night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0AA52-8F8C-D968-874A-940E71D81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63DF-57BB-4B63-A546-74D2E3DA5DB6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F8804-F10B-22D5-6569-8122920BC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</p:spTree>
    <p:extLst>
      <p:ext uri="{BB962C8B-B14F-4D97-AF65-F5344CB8AC3E}">
        <p14:creationId xmlns:p14="http://schemas.microsoft.com/office/powerpoint/2010/main" val="759132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599A2-F73B-C4CE-1BBC-742861471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dirty="0">
                <a:effectLst/>
                <a:latin typeface="var(--font-family,var(--font-family-body))"/>
              </a:rPr>
              <a:t>An example OKR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7E3FA-D976-85BC-86E2-9CF729E6C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GB" dirty="0">
                <a:solidFill>
                  <a:srgbClr val="1F1F1F"/>
                </a:solidFill>
                <a:latin typeface="Graphik Web"/>
              </a:rPr>
              <a:t>A technology company has the objective of becoming one of the top 10 providers in their industry </a:t>
            </a:r>
            <a:r>
              <a:rPr lang="en-GB">
                <a:solidFill>
                  <a:srgbClr val="1F1F1F"/>
                </a:solidFill>
                <a:latin typeface="Graphik Web"/>
              </a:rPr>
              <a:t>in 2023. </a:t>
            </a:r>
            <a:endParaRPr lang="en-GB" dirty="0">
              <a:solidFill>
                <a:srgbClr val="1F1F1F"/>
              </a:solidFill>
              <a:latin typeface="Graphik Web"/>
            </a:endParaRPr>
          </a:p>
          <a:p>
            <a:pPr algn="l" fontAlgn="base"/>
            <a:r>
              <a:rPr lang="en-GB" dirty="0">
                <a:solidFill>
                  <a:srgbClr val="1F1F1F"/>
                </a:solidFill>
                <a:latin typeface="Graphik Web"/>
              </a:rPr>
              <a:t>key results could be:</a:t>
            </a:r>
          </a:p>
          <a:p>
            <a:pPr marL="0" indent="0" algn="l" fontAlgn="base">
              <a:buNone/>
            </a:pPr>
            <a:r>
              <a:rPr lang="en-GB" dirty="0">
                <a:solidFill>
                  <a:srgbClr val="1F1F1F"/>
                </a:solidFill>
                <a:latin typeface="Graphik Web"/>
              </a:rPr>
              <a:t>	- Acquire 1,000 new customers by Q3.</a:t>
            </a:r>
          </a:p>
          <a:p>
            <a:pPr marL="0" indent="0" algn="l" fontAlgn="base">
              <a:buNone/>
            </a:pPr>
            <a:r>
              <a:rPr lang="en-GB" dirty="0">
                <a:solidFill>
                  <a:srgbClr val="1F1F1F"/>
                </a:solidFill>
                <a:latin typeface="Graphik Web"/>
              </a:rPr>
              <a:t>	- Generate 3,000 leads every month.</a:t>
            </a:r>
          </a:p>
          <a:p>
            <a:pPr marL="0" indent="0" algn="l" fontAlgn="base">
              <a:buNone/>
            </a:pPr>
            <a:r>
              <a:rPr lang="en-GB" dirty="0">
                <a:solidFill>
                  <a:srgbClr val="1F1F1F"/>
                </a:solidFill>
                <a:latin typeface="Graphik Web"/>
              </a:rPr>
              <a:t>	- Increase annual membership sales by 30%.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2048E-2E12-645B-970B-A0C63CD26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63DF-57BB-4B63-A546-74D2E3DA5DB6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70B20-C7F8-CBEF-DC79-423662FE2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</p:spTree>
    <p:extLst>
      <p:ext uri="{BB962C8B-B14F-4D97-AF65-F5344CB8AC3E}">
        <p14:creationId xmlns:p14="http://schemas.microsoft.com/office/powerpoint/2010/main" val="3280696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776" name="Rectangle 32775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Arial" pitchFamily="34" charset="0"/>
                <a:cs typeface="Arial" pitchFamily="34" charset="0"/>
                <a:sym typeface="Arial" pitchFamily="34" charset="0"/>
              </a:rPr>
              <a:t>Data-driven modeling</a:t>
            </a:r>
            <a:endParaRPr lang="en-US" sz="5400" dirty="0"/>
          </a:p>
        </p:txBody>
      </p:sp>
      <p:sp>
        <p:nvSpPr>
          <p:cNvPr id="3277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71" name="Rectangle 3"/>
          <p:cNvSpPr>
            <a:spLocks noGrp="1"/>
          </p:cNvSpPr>
          <p:nvPr>
            <p:ph type="body" idx="1"/>
          </p:nvPr>
        </p:nvSpPr>
        <p:spPr bwMode="auto">
          <a:xfrm>
            <a:off x="838200" y="1929384"/>
            <a:ext cx="10515600" cy="425196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50800" tIns="50800" rIns="50800" bIns="50800" numCol="1" rtlCol="0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200" b="0" dirty="0"/>
              <a:t>Many business systems are data-processing systems that are primarily </a:t>
            </a:r>
            <a:r>
              <a:rPr lang="en-US" sz="2200" dirty="0"/>
              <a:t>driven by data</a:t>
            </a:r>
            <a:r>
              <a:rPr lang="en-US" sz="2200" b="0" dirty="0"/>
              <a:t>. </a:t>
            </a:r>
          </a:p>
          <a:p>
            <a:pPr marL="0" indent="0">
              <a:spcBef>
                <a:spcPts val="600"/>
              </a:spcBef>
              <a:buNone/>
            </a:pPr>
            <a:endParaRPr lang="en-US" sz="2200" b="0" dirty="0"/>
          </a:p>
          <a:p>
            <a:pPr>
              <a:spcBef>
                <a:spcPts val="600"/>
              </a:spcBef>
            </a:pPr>
            <a:r>
              <a:rPr lang="en-US" sz="2200" b="0" dirty="0"/>
              <a:t>They are </a:t>
            </a:r>
            <a:r>
              <a:rPr lang="en-US" sz="2200" b="1" dirty="0"/>
              <a:t>controlled by the data input to the system</a:t>
            </a:r>
            <a:r>
              <a:rPr lang="en-US" sz="2200" dirty="0"/>
              <a:t>,</a:t>
            </a:r>
            <a:r>
              <a:rPr lang="en-US" sz="2200" b="0" dirty="0"/>
              <a:t> with relatively </a:t>
            </a:r>
            <a:r>
              <a:rPr lang="en-US" sz="2200" b="1" dirty="0"/>
              <a:t>little external event processing. </a:t>
            </a:r>
          </a:p>
          <a:p>
            <a:pPr marL="0" indent="0">
              <a:spcBef>
                <a:spcPts val="600"/>
              </a:spcBef>
              <a:buNone/>
            </a:pPr>
            <a:endParaRPr lang="en-US" sz="2200" b="0" dirty="0"/>
          </a:p>
          <a:p>
            <a:pPr>
              <a:spcBef>
                <a:spcPts val="600"/>
              </a:spcBef>
            </a:pPr>
            <a:r>
              <a:rPr lang="en-US" sz="2200" b="1" dirty="0"/>
              <a:t>Data-driven models show the sequence of actions involved in processing input data and generating an associated output. </a:t>
            </a:r>
          </a:p>
          <a:p>
            <a:pPr marL="0" indent="0">
              <a:spcBef>
                <a:spcPts val="600"/>
              </a:spcBef>
              <a:buNone/>
            </a:pPr>
            <a:endParaRPr lang="en-US" sz="2200" dirty="0"/>
          </a:p>
          <a:p>
            <a:pPr>
              <a:spcBef>
                <a:spcPts val="600"/>
              </a:spcBef>
            </a:pPr>
            <a:r>
              <a:rPr lang="en-US" sz="2200" b="0" dirty="0"/>
              <a:t>They are </a:t>
            </a:r>
            <a:r>
              <a:rPr lang="en-US" sz="2200" b="1" dirty="0"/>
              <a:t>particularly useful during the analysis of requirements as they can be used to show end-to-end processing in a system</a:t>
            </a:r>
            <a:r>
              <a:rPr lang="en-US" sz="2200" b="0" dirty="0"/>
              <a:t>. </a:t>
            </a:r>
            <a:endParaRPr lang="en-US" sz="2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2BACE2-3891-E143-5DF3-51A6D2060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63DF-57BB-4B63-A546-74D2E3DA5DB6}" type="slidenum">
              <a:rPr lang="en-US" smtClean="0"/>
              <a:t>10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7F8864-978F-7BFB-40E2-DADE32EB5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FAA22-1D80-F751-F1B3-3C3938EB5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" pitchFamily="34" charset="0"/>
              </a:rPr>
              <a:t>An activity model of the insulin pump’s operation </a:t>
            </a:r>
            <a:endParaRPr lang="en-US" sz="4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4B87F7F4-761A-E486-FE35-21153BB18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40540" y="2568912"/>
            <a:ext cx="7608145" cy="2591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670E9-7DD4-1A11-B8E9-ADC9F04E6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63DF-57BB-4B63-A546-74D2E3DA5DB6}" type="slidenum">
              <a:rPr lang="en-US" smtClean="0"/>
              <a:t>11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C7C18C-4FEE-D546-7EDE-15FA43DD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</p:spTree>
    <p:extLst>
      <p:ext uri="{BB962C8B-B14F-4D97-AF65-F5344CB8AC3E}">
        <p14:creationId xmlns:p14="http://schemas.microsoft.com/office/powerpoint/2010/main" val="4213910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DA86DF-3195-E060-5793-8E02E50AD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Decision support system (DSS)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4CD32-EAE1-D49F-F2B2-ABA66B8ED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400" dirty="0"/>
              <a:t>A decision support system (DSS) </a:t>
            </a:r>
            <a:r>
              <a:rPr lang="en-US" sz="2400" b="1" dirty="0"/>
              <a:t>is a computer program application used to improve a company's decision-making capabilities</a:t>
            </a:r>
            <a:r>
              <a:rPr lang="en-US" sz="2400" dirty="0"/>
              <a:t>. It analyzes large amounts of data and presents an organization with the best possible options available.</a:t>
            </a:r>
          </a:p>
          <a:p>
            <a:endParaRPr lang="en-US" sz="2400" dirty="0"/>
          </a:p>
          <a:p>
            <a:r>
              <a:rPr lang="en-US" sz="2400" dirty="0"/>
              <a:t>Decision support systems</a:t>
            </a:r>
            <a:r>
              <a:rPr lang="en-US" sz="2400" b="1" dirty="0"/>
              <a:t> bring together data and knowledge from different areas and sources to provide users with information beyond the usual reports and summaries. This is intended to help people make informed decisions.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84F0F-7FEE-909E-CF4B-A10F7E5BC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63DF-57BB-4B63-A546-74D2E3DA5DB6}" type="slidenum">
              <a:rPr lang="en-US" smtClean="0"/>
              <a:t>12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A749B-C000-44B8-3CCD-24441CC83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</p:spTree>
    <p:extLst>
      <p:ext uri="{BB962C8B-B14F-4D97-AF65-F5344CB8AC3E}">
        <p14:creationId xmlns:p14="http://schemas.microsoft.com/office/powerpoint/2010/main" val="662751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053EB-0CAC-04CD-CAF3-FC9CE6D3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i="0" dirty="0">
                <a:effectLst/>
                <a:latin typeface="Arial" panose="020B0604020202020204" pitchFamily="34" charset="0"/>
              </a:rPr>
              <a:t>Data-driven DSS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27DD3-2DBB-8974-820B-C02E3482F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A data-driven DSS </a:t>
            </a:r>
            <a:r>
              <a:rPr lang="en-US" sz="2200" b="1" dirty="0"/>
              <a:t>is a computer program that makes decisions based on data from internal databases or external databases</a:t>
            </a:r>
            <a:r>
              <a:rPr lang="en-US" sz="2200" dirty="0"/>
              <a:t>. </a:t>
            </a:r>
          </a:p>
          <a:p>
            <a:r>
              <a:rPr lang="en-US" sz="2200" dirty="0"/>
              <a:t>Typically, a data-driven DSS </a:t>
            </a:r>
            <a:r>
              <a:rPr lang="en-US" sz="2200" b="1" dirty="0"/>
              <a:t>uses data mining techniques to discern trends and patterns, enabling it to predict future events. </a:t>
            </a:r>
          </a:p>
          <a:p>
            <a:r>
              <a:rPr lang="en-US" sz="2200" dirty="0"/>
              <a:t>Businesses often use data-driven DSS to </a:t>
            </a:r>
            <a:r>
              <a:rPr lang="en-US" sz="2200" b="1" dirty="0"/>
              <a:t>help make decisions about inventory, sales and other business processes.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D22713-A61D-B2DB-1219-2C6DDFC61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63DF-57BB-4B63-A546-74D2E3DA5DB6}" type="slidenum">
              <a:rPr lang="en-US" smtClean="0"/>
              <a:t>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8B6F93-AFAD-6254-BB67-1F31F8508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</p:spTree>
    <p:extLst>
      <p:ext uri="{BB962C8B-B14F-4D97-AF65-F5344CB8AC3E}">
        <p14:creationId xmlns:p14="http://schemas.microsoft.com/office/powerpoint/2010/main" val="2417094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2C901E-3D7B-654D-BDD4-BD1FCDF02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FFFFF"/>
                </a:solidFill>
              </a:rPr>
              <a:t>Data Driven role in requirement gathering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0C07B-5B59-EC08-6B44-D8FFFDC60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sz="2600" b="0" i="0" dirty="0">
                <a:effectLst/>
                <a:latin typeface="Google Sans"/>
              </a:rPr>
              <a:t>By incorporating data-driven approaches into requirement gathering, organizations can build software that is more aligned with user needs, delivers a better user experience, and ultimately achieves greater success.</a:t>
            </a:r>
          </a:p>
          <a:p>
            <a:endParaRPr lang="en-GB" sz="2600" dirty="0">
              <a:latin typeface="Google Sans"/>
            </a:endParaRPr>
          </a:p>
          <a:p>
            <a:r>
              <a:rPr lang="en-GB" sz="2600" b="1" dirty="0">
                <a:latin typeface="Google Sans"/>
              </a:rPr>
              <a:t>Data driven can help in:</a:t>
            </a:r>
          </a:p>
          <a:p>
            <a:pPr marL="0" indent="0">
              <a:buNone/>
            </a:pPr>
            <a:r>
              <a:rPr lang="en-GB" sz="2600" dirty="0">
                <a:latin typeface="Google Sans"/>
              </a:rPr>
              <a:t>   </a:t>
            </a:r>
            <a:r>
              <a:rPr lang="en-GB" sz="2600" b="0" i="0" dirty="0">
                <a:effectLst/>
                <a:latin typeface="Google Sans"/>
              </a:rPr>
              <a:t>1. Understanding User Needs and Behaviour: </a:t>
            </a:r>
          </a:p>
          <a:p>
            <a:pPr marL="0" indent="0">
              <a:buNone/>
            </a:pPr>
            <a:r>
              <a:rPr lang="en-GB" sz="2600" b="0" i="0" dirty="0">
                <a:effectLst/>
                <a:latin typeface="Google Sans"/>
              </a:rPr>
              <a:t>	- Analyse website analytics, app usage logs, 	customer surveys, social media feedback, 	support tickets, conduct user interviews, 	and focus groups.</a:t>
            </a:r>
          </a:p>
          <a:p>
            <a:pPr marL="0" indent="0">
              <a:buNone/>
            </a:pPr>
            <a:endParaRPr lang="en-GB" sz="2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42F81-EA2F-BDC0-90AC-411E477D8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525117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Eng. Asmaa Lafi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C0C0C1-4851-91AE-CAF2-B9973F0F9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41564" y="6356350"/>
            <a:ext cx="181223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BC063DF-57BB-4B63-A546-74D2E3DA5DB6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35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72FD9B-628C-BA8C-89CE-E9B5CBE2E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Data Driven role in requirement gathering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F67DE-64D9-FE30-6227-44A29ACB4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b="0" dirty="0">
                <a:effectLst/>
              </a:rPr>
              <a:t>2. Validating Existing Assumptions:</a:t>
            </a:r>
            <a:endParaRPr lang="en-GB" dirty="0"/>
          </a:p>
          <a:p>
            <a:pPr marL="0" indent="0">
              <a:buNone/>
            </a:pPr>
            <a:r>
              <a:rPr lang="en-GB" b="0" i="0" dirty="0">
                <a:effectLst/>
                <a:latin typeface="Google Sans"/>
              </a:rPr>
              <a:t>	- Test initial hypotheses about user 	behaviour and preferences with data. 	Avoid biases and ensure alignment with 	user needs.</a:t>
            </a:r>
          </a:p>
          <a:p>
            <a:pPr marL="0" indent="0">
              <a:buNone/>
            </a:pPr>
            <a:endParaRPr lang="en-GB" b="0" i="0" dirty="0">
              <a:effectLst/>
              <a:latin typeface="Google Sans"/>
            </a:endParaRPr>
          </a:p>
          <a:p>
            <a:pPr marL="0" indent="0">
              <a:buNone/>
            </a:pPr>
            <a:r>
              <a:rPr lang="en-GB" dirty="0">
                <a:effectLst/>
              </a:rPr>
              <a:t>3. </a:t>
            </a:r>
            <a:r>
              <a:rPr lang="en-GB" b="0" i="0" dirty="0">
                <a:effectLst/>
                <a:latin typeface="Google Sans"/>
              </a:rPr>
              <a:t>Reduced risk of failure:</a:t>
            </a:r>
          </a:p>
          <a:p>
            <a:pPr marL="0" indent="0">
              <a:buNone/>
            </a:pPr>
            <a:r>
              <a:rPr lang="en-GB" dirty="0">
                <a:latin typeface="Google Sans"/>
              </a:rPr>
              <a:t>	- </a:t>
            </a:r>
            <a:r>
              <a:rPr lang="en-GB" b="0" i="0" dirty="0">
                <a:effectLst/>
                <a:latin typeface="Google Sans"/>
              </a:rPr>
              <a:t>Avoid building features that don’t 	meet user expectations.</a:t>
            </a:r>
          </a:p>
          <a:p>
            <a:pPr marL="0" indent="0">
              <a:buNone/>
            </a:pPr>
            <a:br>
              <a:rPr lang="en-GB" dirty="0">
                <a:effectLst/>
              </a:rPr>
            </a:b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D060E4-FAE1-6D22-722E-69885757E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525117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Eng. Asmaa Lafi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8D692-C1C5-6708-399B-67556D8C2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41564" y="6356350"/>
            <a:ext cx="181223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BC063DF-57BB-4B63-A546-74D2E3DA5DB6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47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8EDE7-46EF-90E3-871B-113E8D003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FFFFF"/>
                </a:solidFill>
              </a:rPr>
              <a:t>Data Driven role in Design stage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341B8-01B3-956E-94A5-86EB69D86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468086"/>
            <a:ext cx="7287492" cy="5708877"/>
          </a:xfrm>
        </p:spPr>
        <p:txBody>
          <a:bodyPr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GB" sz="3200" b="0" i="0" dirty="0">
                <a:effectLst/>
                <a:latin typeface="Google Sans"/>
              </a:rPr>
              <a:t>1. Guiding Information Architecture: </a:t>
            </a:r>
          </a:p>
          <a:p>
            <a:pPr marL="0" indent="0">
              <a:buNone/>
            </a:pPr>
            <a:r>
              <a:rPr lang="en-GB" sz="3200" dirty="0">
                <a:latin typeface="Google Sans"/>
              </a:rPr>
              <a:t>	- </a:t>
            </a:r>
            <a:r>
              <a:rPr lang="en-GB" sz="3200" b="0" i="0" dirty="0">
                <a:effectLst/>
                <a:latin typeface="Google Sans"/>
              </a:rPr>
              <a:t>Use data to determine the most 	important content and features for 	users. Structure the information 	architecture to highlight those elements 	effectively.</a:t>
            </a:r>
          </a:p>
          <a:p>
            <a:pPr marL="0" indent="0">
              <a:buNone/>
            </a:pPr>
            <a:endParaRPr lang="en-GB" sz="3200" b="0" i="0" dirty="0">
              <a:effectLst/>
              <a:latin typeface="Google Sans"/>
            </a:endParaRPr>
          </a:p>
          <a:p>
            <a:pPr marL="0" indent="0">
              <a:buNone/>
            </a:pPr>
            <a:r>
              <a:rPr lang="en-GB" sz="3200" b="0" i="0" dirty="0">
                <a:effectLst/>
                <a:latin typeface="Google Sans"/>
              </a:rPr>
              <a:t>2. Enabling Data Visualization:</a:t>
            </a:r>
          </a:p>
          <a:p>
            <a:pPr marL="0" indent="0">
              <a:buNone/>
            </a:pPr>
            <a:r>
              <a:rPr lang="en-GB" sz="3200" dirty="0">
                <a:latin typeface="Google Sans"/>
              </a:rPr>
              <a:t>  - </a:t>
            </a:r>
            <a:r>
              <a:rPr lang="en-GB" sz="3200" b="0" i="0" dirty="0">
                <a:effectLst/>
                <a:latin typeface="Google Sans"/>
              </a:rPr>
              <a:t>Incorporating dashboards and charts: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b="0" i="0" dirty="0">
                <a:effectLst/>
                <a:latin typeface="Google Sans"/>
              </a:rPr>
              <a:t>Incorporate visual representations of key data points directly into the application interface.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b="0" i="0" dirty="0">
                <a:effectLst/>
                <a:latin typeface="Google Sans"/>
              </a:rPr>
              <a:t>Provide users with insights and trends relevant to their tasks and goals.</a:t>
            </a:r>
          </a:p>
          <a:p>
            <a:pPr marL="0" indent="0">
              <a:buNone/>
            </a:pPr>
            <a:r>
              <a:rPr lang="en-GB" sz="3200" b="0" i="0" dirty="0">
                <a:effectLst/>
                <a:latin typeface="Google Sans"/>
              </a:rPr>
              <a:t>  - Fostering data-driven decision-making: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b="0" i="0" dirty="0">
                <a:effectLst/>
                <a:latin typeface="Google Sans"/>
              </a:rPr>
              <a:t>Empower users to make informed choices based on data within the application itself.</a:t>
            </a:r>
          </a:p>
          <a:p>
            <a:pPr marL="0" indent="0">
              <a:buNone/>
            </a:pPr>
            <a:endParaRPr lang="en-GB" sz="15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D0E7D-675C-418F-3C71-BCA14A5C2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525117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Eng. Asmaa Lafi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172FB-658B-1D3A-DA77-B8F84E56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41564" y="6356350"/>
            <a:ext cx="181223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BC063DF-57BB-4B63-A546-74D2E3DA5DB6}" type="slidenum">
              <a:rPr lang="en-US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80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BD6503-FD48-F1AD-6C61-6131654D5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FFFFF"/>
                </a:solidFill>
              </a:rPr>
              <a:t>Data Driven role in Development stage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1C16C-6C6F-8D0A-B60A-6BBB5A3FC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8971" y="319088"/>
            <a:ext cx="7344863" cy="6037262"/>
          </a:xfrm>
        </p:spPr>
        <p:txBody>
          <a:bodyPr anchor="ctr">
            <a:normAutofit fontScale="55000" lnSpcReduction="20000"/>
          </a:bodyPr>
          <a:lstStyle/>
          <a:p>
            <a:r>
              <a:rPr lang="en-GB" sz="4400" b="0" i="0" dirty="0">
                <a:effectLst/>
                <a:latin typeface="Google Sans"/>
              </a:rPr>
              <a:t>By incorporating data-driven approaches into the development stage, organizations can build software that is more efficient, optimized, user-centric, and adaptable, leading to better performance, greater user satisfaction, and enhanced business outcomes.</a:t>
            </a:r>
          </a:p>
          <a:p>
            <a:r>
              <a:rPr lang="en-GB" sz="4400" b="1" dirty="0">
                <a:latin typeface="Google Sans"/>
              </a:rPr>
              <a:t>Data driven can help in:</a:t>
            </a:r>
          </a:p>
          <a:p>
            <a:pPr marL="0" indent="0">
              <a:buNone/>
            </a:pPr>
            <a:r>
              <a:rPr lang="en-GB" sz="4400" b="0" i="0" dirty="0">
                <a:effectLst/>
                <a:latin typeface="Google Sans"/>
              </a:rPr>
              <a:t>    1. Guiding Development Prioritization:</a:t>
            </a:r>
          </a:p>
          <a:p>
            <a:pPr lvl="1"/>
            <a:r>
              <a:rPr lang="en-GB" sz="4400" b="0" i="0" dirty="0">
                <a:effectLst/>
                <a:latin typeface="Google Sans"/>
              </a:rPr>
              <a:t>Focusing on high-impact features: Use data insights to identify features that will have the most significant impact on user satisfaction, engagement, and business goals.</a:t>
            </a:r>
          </a:p>
          <a:p>
            <a:pPr marL="0" indent="0">
              <a:buNone/>
            </a:pPr>
            <a:r>
              <a:rPr lang="en-GB" sz="4400" b="0" i="0" dirty="0">
                <a:effectLst/>
                <a:latin typeface="Google Sans"/>
              </a:rPr>
              <a:t>   2. Informing Code Optimization:</a:t>
            </a:r>
          </a:p>
          <a:p>
            <a:pPr lvl="1"/>
            <a:r>
              <a:rPr lang="en-GB" sz="4400" b="0" i="0" dirty="0">
                <a:effectLst/>
                <a:latin typeface="Google Sans"/>
              </a:rPr>
              <a:t>Profiling code performance: Use data to identify performance bottlenecks and areas for optimization, leading to faster, more responsive applications.</a:t>
            </a:r>
          </a:p>
          <a:p>
            <a:pPr lvl="1"/>
            <a:r>
              <a:rPr lang="en-GB" sz="4400" b="0" i="0" dirty="0">
                <a:effectLst/>
                <a:latin typeface="Google Sans"/>
              </a:rPr>
              <a:t>Analysing user interactions: Gather data on how users interact with features and functions to optimize code for common usage patterns.</a:t>
            </a:r>
          </a:p>
          <a:p>
            <a:pPr marL="0" indent="0">
              <a:buNone/>
            </a:pPr>
            <a:endParaRPr lang="en-GB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03DD8D-BE80-40D8-B0EA-291264154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525117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Eng. Asmaa Lafi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E8D88-5EA1-9BA6-2D78-11B32B48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41564" y="6356350"/>
            <a:ext cx="181223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BC063DF-57BB-4B63-A546-74D2E3DA5DB6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70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CDEC73-8047-9B22-0A0A-98D853836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Data Driven role in testing stage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72E64-D869-AAB4-C8BC-F0560052C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7" y="319088"/>
            <a:ext cx="7186527" cy="6321198"/>
          </a:xfrm>
        </p:spPr>
        <p:txBody>
          <a:bodyPr anchor="ctr">
            <a:normAutofit/>
          </a:bodyPr>
          <a:lstStyle/>
          <a:p>
            <a:r>
              <a:rPr lang="en-GB" b="0" i="0" dirty="0">
                <a:effectLst/>
                <a:latin typeface="Google Sans"/>
              </a:rPr>
              <a:t>By incorporating data-driven approaches into the testing stage, organizations can achieve:</a:t>
            </a:r>
          </a:p>
          <a:p>
            <a:pPr lvl="1"/>
            <a:r>
              <a:rPr lang="en-GB" b="0" i="0" dirty="0">
                <a:effectLst/>
                <a:latin typeface="Google Sans"/>
              </a:rPr>
              <a:t>More comprehensive test coverage.</a:t>
            </a:r>
          </a:p>
          <a:p>
            <a:pPr lvl="1"/>
            <a:r>
              <a:rPr lang="en-GB" b="0" i="0" dirty="0">
                <a:effectLst/>
                <a:latin typeface="Google Sans"/>
              </a:rPr>
              <a:t>Early identification of defects.</a:t>
            </a:r>
          </a:p>
          <a:p>
            <a:pPr lvl="1"/>
            <a:r>
              <a:rPr lang="en-GB" b="0" i="0" dirty="0">
                <a:effectLst/>
                <a:latin typeface="Google Sans"/>
              </a:rPr>
              <a:t>Streamlined testing processes.</a:t>
            </a:r>
          </a:p>
          <a:p>
            <a:pPr lvl="1"/>
            <a:r>
              <a:rPr lang="en-GB" b="0" i="0" dirty="0">
                <a:effectLst/>
                <a:latin typeface="Google Sans"/>
              </a:rPr>
              <a:t>Improved test result analysis.</a:t>
            </a:r>
          </a:p>
          <a:p>
            <a:pPr lvl="1"/>
            <a:r>
              <a:rPr lang="en-GB" b="0" i="0" dirty="0">
                <a:effectLst/>
                <a:latin typeface="Google Sans"/>
              </a:rPr>
              <a:t>Enhanced software quality.</a:t>
            </a:r>
          </a:p>
          <a:p>
            <a:pPr lvl="1"/>
            <a:r>
              <a:rPr lang="en-GB" b="0" i="0" dirty="0">
                <a:effectLst/>
                <a:latin typeface="Google Sans"/>
              </a:rPr>
              <a:t>Faster release cycles.</a:t>
            </a:r>
          </a:p>
          <a:p>
            <a:pPr lvl="1"/>
            <a:r>
              <a:rPr lang="en-GB" b="0" i="0" dirty="0">
                <a:effectLst/>
                <a:latin typeface="Google Sans"/>
              </a:rPr>
              <a:t>Greater user satisfaction.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FE4C9D-0227-047F-10F6-748EBD99B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525117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Eng. Asmaa Lafi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A7A45D-87B0-4775-B418-33C1CB3F1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41564" y="6356350"/>
            <a:ext cx="181223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BC063DF-57BB-4B63-A546-74D2E3DA5DB6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53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2CB5C-CDEF-099B-9A71-1F41DAF54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1F1F1F"/>
                </a:solidFill>
                <a:effectLst/>
                <a:latin typeface="Google Sans"/>
              </a:rPr>
              <a:t>Case Studies &amp; Real-World Applications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E6B39-CCE0-4186-5DE8-AE7499DAB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F1F1F"/>
                </a:solidFill>
                <a:effectLst/>
                <a:latin typeface="Google Sans"/>
              </a:rPr>
              <a:t>Example 1: Showcasing how a popular e-commerce website uses data to personalize product recommendations.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F1F1F"/>
                </a:solidFill>
                <a:effectLst/>
                <a:latin typeface="Google Sans"/>
              </a:rPr>
              <a:t>Example 2: Demonstrating how a mobile app leverages user location data to optimize delivery routes.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F1F1F"/>
                </a:solidFill>
                <a:effectLst/>
                <a:latin typeface="Google Sans"/>
              </a:rPr>
              <a:t>Example 3: Highlighting how a social media platform utilizes data for content moderation and trend analysis.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C180DB-F837-F778-9A9B-F9765FE83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DE36F-227D-60F3-8778-52765E90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63DF-57BB-4B63-A546-74D2E3DA5DB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932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6C54B-B9C0-9EF0-380D-93E4B52EB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References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91879-AA37-B8FD-BB26-1403C3624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>
                <a:hlinkClick r:id="rId2"/>
              </a:rPr>
              <a:t>https://www.cloudzero.com/blog/data-driven-development</a:t>
            </a:r>
            <a:endParaRPr lang="en-US" sz="2200" dirty="0"/>
          </a:p>
          <a:p>
            <a:r>
              <a:rPr lang="en-US" sz="2200" dirty="0">
                <a:hlinkClick r:id="rId3"/>
              </a:rPr>
              <a:t>https://www.hatica.io/blog/software-development-lifecycle-best-practices/</a:t>
            </a:r>
            <a:endParaRPr lang="en-US" sz="2200" dirty="0"/>
          </a:p>
          <a:p>
            <a:r>
              <a:rPr lang="en-US" sz="2200" dirty="0">
                <a:hlinkClick r:id="rId4"/>
              </a:rPr>
              <a:t>https://atomgraph.com/blog/data-driven-software-architecture-1/</a:t>
            </a:r>
            <a:endParaRPr lang="en-US" sz="2200" dirty="0"/>
          </a:p>
          <a:p>
            <a:r>
              <a:rPr lang="en-US" sz="2200" dirty="0">
                <a:hlinkClick r:id="rId5"/>
              </a:rPr>
              <a:t>https://atomgraph.com/blog/data-driven-software-architecture-2/</a:t>
            </a:r>
            <a:endParaRPr lang="en-US" sz="2200" dirty="0"/>
          </a:p>
          <a:p>
            <a:r>
              <a:rPr lang="en-US" sz="2200" dirty="0">
                <a:hlinkClick r:id="rId6"/>
              </a:rPr>
              <a:t>https://www.w3.org/RDF/</a:t>
            </a:r>
            <a:endParaRPr lang="en-US" sz="2200" dirty="0"/>
          </a:p>
          <a:p>
            <a:r>
              <a:rPr lang="en-US" sz="2200" dirty="0">
                <a:hlinkClick r:id="rId7"/>
              </a:rPr>
              <a:t>https://www.techtarget.com/searchcio/definition/decision-support-system</a:t>
            </a:r>
            <a:endParaRPr lang="en-US" sz="2200" dirty="0"/>
          </a:p>
          <a:p>
            <a:r>
              <a:rPr lang="en-US" sz="2200">
                <a:hlinkClick r:id="rId8"/>
              </a:rPr>
              <a:t>https://devtalents.com/data-driven-software-development/</a:t>
            </a:r>
            <a:endParaRPr lang="en-US" sz="2200"/>
          </a:p>
          <a:p>
            <a:endParaRPr lang="en-US" sz="2200"/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39DE6-579B-3D6C-825B-BCDCD105C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63DF-57BB-4B63-A546-74D2E3DA5DB6}" type="slidenum">
              <a:rPr lang="en-US" smtClean="0"/>
              <a:t>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5624D8-B62F-611E-101C-BD32EE956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Asmaa Lafi</a:t>
            </a:r>
          </a:p>
        </p:txBody>
      </p:sp>
    </p:spTree>
    <p:extLst>
      <p:ext uri="{BB962C8B-B14F-4D97-AF65-F5344CB8AC3E}">
        <p14:creationId xmlns:p14="http://schemas.microsoft.com/office/powerpoint/2010/main" val="4029616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1378</Words>
  <Application>Microsoft Office PowerPoint</Application>
  <PresentationFormat>Widescreen</PresentationFormat>
  <Paragraphs>159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Calibri Light</vt:lpstr>
      <vt:lpstr>Google Sans</vt:lpstr>
      <vt:lpstr>Gotham SSm A</vt:lpstr>
      <vt:lpstr>Graphik Web</vt:lpstr>
      <vt:lpstr>inherit</vt:lpstr>
      <vt:lpstr>Lexend Deca</vt:lpstr>
      <vt:lpstr>var(--font-family,var(--font-family-body))</vt:lpstr>
      <vt:lpstr>Office Theme</vt:lpstr>
      <vt:lpstr>Data-driven</vt:lpstr>
      <vt:lpstr>Data-driven development</vt:lpstr>
      <vt:lpstr>Data-driven development (cont’d)</vt:lpstr>
      <vt:lpstr>PowerPoint Presentation</vt:lpstr>
      <vt:lpstr>How To Determine KPIs </vt:lpstr>
      <vt:lpstr>KPI Metrics Example </vt:lpstr>
      <vt:lpstr>What is OKRs?</vt:lpstr>
      <vt:lpstr>An example OKR </vt:lpstr>
      <vt:lpstr>An example OKR</vt:lpstr>
      <vt:lpstr>Data-driven modeling</vt:lpstr>
      <vt:lpstr>An activity model of the insulin pump’s operation </vt:lpstr>
      <vt:lpstr>Decision support system (DSS)</vt:lpstr>
      <vt:lpstr>Data-driven DSS</vt:lpstr>
      <vt:lpstr>Data Driven role in requirement gathering</vt:lpstr>
      <vt:lpstr>Data Driven role in requirement gathering</vt:lpstr>
      <vt:lpstr>Data Driven role in Design stage</vt:lpstr>
      <vt:lpstr>Data Driven role in Development stage</vt:lpstr>
      <vt:lpstr>Data Driven role in testing stage</vt:lpstr>
      <vt:lpstr>Case Studies &amp; Real-World Applications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</dc:title>
  <dc:creator>Ashraf Mohammad Alsmadi</dc:creator>
  <cp:lastModifiedBy>Asmaa Lafi</cp:lastModifiedBy>
  <cp:revision>29</cp:revision>
  <dcterms:created xsi:type="dcterms:W3CDTF">2023-01-12T20:08:01Z</dcterms:created>
  <dcterms:modified xsi:type="dcterms:W3CDTF">2024-01-06T17:31:09Z</dcterms:modified>
</cp:coreProperties>
</file>