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59" r:id="rId4"/>
    <p:sldId id="260" r:id="rId5"/>
    <p:sldId id="261" r:id="rId6"/>
    <p:sldId id="267"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69F89E-8973-4176-80BD-60162877528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5634599-16CD-4090-A46D-1BBB6D3D54DF}">
      <dgm:prSet/>
      <dgm:spPr/>
      <dgm:t>
        <a:bodyPr/>
        <a:lstStyle/>
        <a:p>
          <a:r>
            <a:rPr lang="en-GB"/>
            <a:t>The way to manage software quality has become a critical component of project management at every step.</a:t>
          </a:r>
          <a:endParaRPr lang="en-US"/>
        </a:p>
      </dgm:t>
    </dgm:pt>
    <dgm:pt modelId="{8D0C1B93-79C4-46CF-B838-73D469D5135B}" type="parTrans" cxnId="{08578CA2-65DB-4995-897A-F8C338BCC049}">
      <dgm:prSet/>
      <dgm:spPr/>
      <dgm:t>
        <a:bodyPr/>
        <a:lstStyle/>
        <a:p>
          <a:endParaRPr lang="en-US"/>
        </a:p>
      </dgm:t>
    </dgm:pt>
    <dgm:pt modelId="{4829F269-EE49-48C6-982B-40985D7E54B1}" type="sibTrans" cxnId="{08578CA2-65DB-4995-897A-F8C338BCC049}">
      <dgm:prSet/>
      <dgm:spPr/>
      <dgm:t>
        <a:bodyPr/>
        <a:lstStyle/>
        <a:p>
          <a:endParaRPr lang="en-US"/>
        </a:p>
      </dgm:t>
    </dgm:pt>
    <dgm:pt modelId="{73879963-21E0-42DF-BA79-08475D86E6D8}">
      <dgm:prSet/>
      <dgm:spPr/>
      <dgm:t>
        <a:bodyPr/>
        <a:lstStyle/>
        <a:p>
          <a:r>
            <a:rPr lang="en-GB"/>
            <a:t>The cost-effectiveness and higher performance of your projects will be enabled by high-quality software.</a:t>
          </a:r>
          <a:endParaRPr lang="en-US"/>
        </a:p>
      </dgm:t>
    </dgm:pt>
    <dgm:pt modelId="{C31D01B3-0575-406B-B416-A09C8763A808}" type="parTrans" cxnId="{2B43C956-D823-4F8F-B726-9A07D2ECDD7B}">
      <dgm:prSet/>
      <dgm:spPr/>
      <dgm:t>
        <a:bodyPr/>
        <a:lstStyle/>
        <a:p>
          <a:endParaRPr lang="en-US"/>
        </a:p>
      </dgm:t>
    </dgm:pt>
    <dgm:pt modelId="{12E19267-7535-414E-AB7D-6A3675004576}" type="sibTrans" cxnId="{2B43C956-D823-4F8F-B726-9A07D2ECDD7B}">
      <dgm:prSet/>
      <dgm:spPr/>
      <dgm:t>
        <a:bodyPr/>
        <a:lstStyle/>
        <a:p>
          <a:endParaRPr lang="en-US"/>
        </a:p>
      </dgm:t>
    </dgm:pt>
    <dgm:pt modelId="{2DF9D9AC-2294-468F-806A-C1122AD98565}">
      <dgm:prSet/>
      <dgm:spPr/>
      <dgm:t>
        <a:bodyPr/>
        <a:lstStyle/>
        <a:p>
          <a:r>
            <a:rPr lang="en-GB"/>
            <a:t>Poor software quality increase issues and can become a time consuming and costly exercise. </a:t>
          </a:r>
          <a:endParaRPr lang="en-US"/>
        </a:p>
      </dgm:t>
    </dgm:pt>
    <dgm:pt modelId="{270AFDD1-D25F-4675-A288-B13AEAD97704}" type="parTrans" cxnId="{5971B45D-C984-4E89-BC54-455B83486738}">
      <dgm:prSet/>
      <dgm:spPr/>
      <dgm:t>
        <a:bodyPr/>
        <a:lstStyle/>
        <a:p>
          <a:endParaRPr lang="en-US"/>
        </a:p>
      </dgm:t>
    </dgm:pt>
    <dgm:pt modelId="{4B9953BD-904D-4776-B217-57415F27D40C}" type="sibTrans" cxnId="{5971B45D-C984-4E89-BC54-455B83486738}">
      <dgm:prSet/>
      <dgm:spPr/>
      <dgm:t>
        <a:bodyPr/>
        <a:lstStyle/>
        <a:p>
          <a:endParaRPr lang="en-US"/>
        </a:p>
      </dgm:t>
    </dgm:pt>
    <dgm:pt modelId="{D495D7F4-C501-4A5A-83DC-ED2D5AC61755}" type="pres">
      <dgm:prSet presAssocID="{F369F89E-8973-4176-80BD-601628775281}" presName="linear" presStyleCnt="0">
        <dgm:presLayoutVars>
          <dgm:animLvl val="lvl"/>
          <dgm:resizeHandles val="exact"/>
        </dgm:presLayoutVars>
      </dgm:prSet>
      <dgm:spPr/>
    </dgm:pt>
    <dgm:pt modelId="{57390813-38A6-42C2-B763-F14A15FFC21E}" type="pres">
      <dgm:prSet presAssocID="{55634599-16CD-4090-A46D-1BBB6D3D54DF}" presName="parentText" presStyleLbl="node1" presStyleIdx="0" presStyleCnt="3">
        <dgm:presLayoutVars>
          <dgm:chMax val="0"/>
          <dgm:bulletEnabled val="1"/>
        </dgm:presLayoutVars>
      </dgm:prSet>
      <dgm:spPr/>
    </dgm:pt>
    <dgm:pt modelId="{87C0C24F-FE22-494D-B642-38C8F7D6ED6B}" type="pres">
      <dgm:prSet presAssocID="{4829F269-EE49-48C6-982B-40985D7E54B1}" presName="spacer" presStyleCnt="0"/>
      <dgm:spPr/>
    </dgm:pt>
    <dgm:pt modelId="{8635B367-D2AD-44E7-BCBF-2BEA4C30E7FF}" type="pres">
      <dgm:prSet presAssocID="{73879963-21E0-42DF-BA79-08475D86E6D8}" presName="parentText" presStyleLbl="node1" presStyleIdx="1" presStyleCnt="3">
        <dgm:presLayoutVars>
          <dgm:chMax val="0"/>
          <dgm:bulletEnabled val="1"/>
        </dgm:presLayoutVars>
      </dgm:prSet>
      <dgm:spPr/>
    </dgm:pt>
    <dgm:pt modelId="{E18547A4-C6FB-4747-8BBC-A29477C5ABEA}" type="pres">
      <dgm:prSet presAssocID="{12E19267-7535-414E-AB7D-6A3675004576}" presName="spacer" presStyleCnt="0"/>
      <dgm:spPr/>
    </dgm:pt>
    <dgm:pt modelId="{9D038555-8077-425C-88F0-8051EC8E71F0}" type="pres">
      <dgm:prSet presAssocID="{2DF9D9AC-2294-468F-806A-C1122AD98565}" presName="parentText" presStyleLbl="node1" presStyleIdx="2" presStyleCnt="3">
        <dgm:presLayoutVars>
          <dgm:chMax val="0"/>
          <dgm:bulletEnabled val="1"/>
        </dgm:presLayoutVars>
      </dgm:prSet>
      <dgm:spPr/>
    </dgm:pt>
  </dgm:ptLst>
  <dgm:cxnLst>
    <dgm:cxn modelId="{2AB1195C-9D6C-41A5-89E8-1BB5EBD420B8}" type="presOf" srcId="{2DF9D9AC-2294-468F-806A-C1122AD98565}" destId="{9D038555-8077-425C-88F0-8051EC8E71F0}" srcOrd="0" destOrd="0" presId="urn:microsoft.com/office/officeart/2005/8/layout/vList2"/>
    <dgm:cxn modelId="{5971B45D-C984-4E89-BC54-455B83486738}" srcId="{F369F89E-8973-4176-80BD-601628775281}" destId="{2DF9D9AC-2294-468F-806A-C1122AD98565}" srcOrd="2" destOrd="0" parTransId="{270AFDD1-D25F-4675-A288-B13AEAD97704}" sibTransId="{4B9953BD-904D-4776-B217-57415F27D40C}"/>
    <dgm:cxn modelId="{2B43C956-D823-4F8F-B726-9A07D2ECDD7B}" srcId="{F369F89E-8973-4176-80BD-601628775281}" destId="{73879963-21E0-42DF-BA79-08475D86E6D8}" srcOrd="1" destOrd="0" parTransId="{C31D01B3-0575-406B-B416-A09C8763A808}" sibTransId="{12E19267-7535-414E-AB7D-6A3675004576}"/>
    <dgm:cxn modelId="{A32838A1-1C57-4404-B027-0C278CFC40CF}" type="presOf" srcId="{F369F89E-8973-4176-80BD-601628775281}" destId="{D495D7F4-C501-4A5A-83DC-ED2D5AC61755}" srcOrd="0" destOrd="0" presId="urn:microsoft.com/office/officeart/2005/8/layout/vList2"/>
    <dgm:cxn modelId="{08578CA2-65DB-4995-897A-F8C338BCC049}" srcId="{F369F89E-8973-4176-80BD-601628775281}" destId="{55634599-16CD-4090-A46D-1BBB6D3D54DF}" srcOrd="0" destOrd="0" parTransId="{8D0C1B93-79C4-46CF-B838-73D469D5135B}" sibTransId="{4829F269-EE49-48C6-982B-40985D7E54B1}"/>
    <dgm:cxn modelId="{D612F4A5-1C5A-493F-8F5A-01E0808D3559}" type="presOf" srcId="{73879963-21E0-42DF-BA79-08475D86E6D8}" destId="{8635B367-D2AD-44E7-BCBF-2BEA4C30E7FF}" srcOrd="0" destOrd="0" presId="urn:microsoft.com/office/officeart/2005/8/layout/vList2"/>
    <dgm:cxn modelId="{0D79C3DA-7901-4C1D-B718-F69968A7C2D9}" type="presOf" srcId="{55634599-16CD-4090-A46D-1BBB6D3D54DF}" destId="{57390813-38A6-42C2-B763-F14A15FFC21E}" srcOrd="0" destOrd="0" presId="urn:microsoft.com/office/officeart/2005/8/layout/vList2"/>
    <dgm:cxn modelId="{CACB37AE-DAA3-4DC1-B0C8-B364E7BE2F4E}" type="presParOf" srcId="{D495D7F4-C501-4A5A-83DC-ED2D5AC61755}" destId="{57390813-38A6-42C2-B763-F14A15FFC21E}" srcOrd="0" destOrd="0" presId="urn:microsoft.com/office/officeart/2005/8/layout/vList2"/>
    <dgm:cxn modelId="{FD172F91-C91B-4DF1-A70E-C9E9A342CE5A}" type="presParOf" srcId="{D495D7F4-C501-4A5A-83DC-ED2D5AC61755}" destId="{87C0C24F-FE22-494D-B642-38C8F7D6ED6B}" srcOrd="1" destOrd="0" presId="urn:microsoft.com/office/officeart/2005/8/layout/vList2"/>
    <dgm:cxn modelId="{92706A24-B783-486A-B726-E8D2EDD82C19}" type="presParOf" srcId="{D495D7F4-C501-4A5A-83DC-ED2D5AC61755}" destId="{8635B367-D2AD-44E7-BCBF-2BEA4C30E7FF}" srcOrd="2" destOrd="0" presId="urn:microsoft.com/office/officeart/2005/8/layout/vList2"/>
    <dgm:cxn modelId="{4272A562-0E25-4DB1-9261-91092FFD0C40}" type="presParOf" srcId="{D495D7F4-C501-4A5A-83DC-ED2D5AC61755}" destId="{E18547A4-C6FB-4747-8BBC-A29477C5ABEA}" srcOrd="3" destOrd="0" presId="urn:microsoft.com/office/officeart/2005/8/layout/vList2"/>
    <dgm:cxn modelId="{F5A75833-CCB7-4651-AE0C-7FC2B32F0C46}" type="presParOf" srcId="{D495D7F4-C501-4A5A-83DC-ED2D5AC61755}" destId="{9D038555-8077-425C-88F0-8051EC8E71F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390813-38A6-42C2-B763-F14A15FFC21E}">
      <dsp:nvSpPr>
        <dsp:cNvPr id="0" name=""/>
        <dsp:cNvSpPr/>
      </dsp:nvSpPr>
      <dsp:spPr>
        <a:xfrm>
          <a:off x="0" y="106028"/>
          <a:ext cx="6263640" cy="170469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The way to manage software quality has become a critical component of project management at every step.</a:t>
          </a:r>
          <a:endParaRPr lang="en-US" sz="3100" kern="1200"/>
        </a:p>
      </dsp:txBody>
      <dsp:txXfrm>
        <a:off x="83216" y="189244"/>
        <a:ext cx="6097208" cy="1538258"/>
      </dsp:txXfrm>
    </dsp:sp>
    <dsp:sp modelId="{8635B367-D2AD-44E7-BCBF-2BEA4C30E7FF}">
      <dsp:nvSpPr>
        <dsp:cNvPr id="0" name=""/>
        <dsp:cNvSpPr/>
      </dsp:nvSpPr>
      <dsp:spPr>
        <a:xfrm>
          <a:off x="0" y="1899998"/>
          <a:ext cx="6263640" cy="170469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The cost-effectiveness and higher performance of your projects will be enabled by high-quality software.</a:t>
          </a:r>
          <a:endParaRPr lang="en-US" sz="3100" kern="1200"/>
        </a:p>
      </dsp:txBody>
      <dsp:txXfrm>
        <a:off x="83216" y="1983214"/>
        <a:ext cx="6097208" cy="1538258"/>
      </dsp:txXfrm>
    </dsp:sp>
    <dsp:sp modelId="{9D038555-8077-425C-88F0-8051EC8E71F0}">
      <dsp:nvSpPr>
        <dsp:cNvPr id="0" name=""/>
        <dsp:cNvSpPr/>
      </dsp:nvSpPr>
      <dsp:spPr>
        <a:xfrm>
          <a:off x="0" y="3693969"/>
          <a:ext cx="6263640" cy="170469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Poor software quality increase issues and can become a time consuming and costly exercise. </a:t>
          </a:r>
          <a:endParaRPr lang="en-US" sz="3100" kern="1200"/>
        </a:p>
      </dsp:txBody>
      <dsp:txXfrm>
        <a:off x="83216" y="3777185"/>
        <a:ext cx="6097208" cy="153825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838B6-419A-469A-BE15-DE078B5D90A5}" type="datetimeFigureOut">
              <a:rPr lang="en-GB" smtClean="0"/>
              <a:t>09/01/2023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D818F-5DF5-4C06-A9BF-12ECCB3457F0}" type="slidenum">
              <a:rPr lang="en-GB" smtClean="0"/>
              <a:t>‹#›</a:t>
            </a:fld>
            <a:endParaRPr lang="en-GB"/>
          </a:p>
        </p:txBody>
      </p:sp>
    </p:spTree>
    <p:extLst>
      <p:ext uri="{BB962C8B-B14F-4D97-AF65-F5344CB8AC3E}">
        <p14:creationId xmlns:p14="http://schemas.microsoft.com/office/powerpoint/2010/main" val="1772756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7437-3922-2227-F978-34AA7864E5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3B5DD63-7D0C-17CB-18BA-0800D731A9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E01FDCD-B729-9842-7C89-0427D05B9541}"/>
              </a:ext>
            </a:extLst>
          </p:cNvPr>
          <p:cNvSpPr>
            <a:spLocks noGrp="1"/>
          </p:cNvSpPr>
          <p:nvPr>
            <p:ph type="dt" sz="half" idx="10"/>
          </p:nvPr>
        </p:nvSpPr>
        <p:spPr/>
        <p:txBody>
          <a:bodyPr/>
          <a:lstStyle/>
          <a:p>
            <a:fld id="{A2ACFB10-150C-4211-AC89-210746419863}" type="datetime1">
              <a:rPr lang="en-GB" smtClean="0"/>
              <a:t>09/01/2023</a:t>
            </a:fld>
            <a:endParaRPr lang="en-GB"/>
          </a:p>
        </p:txBody>
      </p:sp>
      <p:sp>
        <p:nvSpPr>
          <p:cNvPr id="5" name="Footer Placeholder 4">
            <a:extLst>
              <a:ext uri="{FF2B5EF4-FFF2-40B4-BE49-F238E27FC236}">
                <a16:creationId xmlns:a16="http://schemas.microsoft.com/office/drawing/2014/main" id="{D6177C6C-23B3-7B3C-739E-FAC9C8E3C4F5}"/>
              </a:ext>
            </a:extLst>
          </p:cNvPr>
          <p:cNvSpPr>
            <a:spLocks noGrp="1"/>
          </p:cNvSpPr>
          <p:nvPr>
            <p:ph type="ftr" sz="quarter" idx="11"/>
          </p:nvPr>
        </p:nvSpPr>
        <p:spPr/>
        <p:txBody>
          <a:bodyPr/>
          <a:lstStyle/>
          <a:p>
            <a:r>
              <a:rPr lang="en-GB"/>
              <a:t>Eng. Asmaa Lafi</a:t>
            </a:r>
          </a:p>
        </p:txBody>
      </p:sp>
      <p:sp>
        <p:nvSpPr>
          <p:cNvPr id="6" name="Slide Number Placeholder 5">
            <a:extLst>
              <a:ext uri="{FF2B5EF4-FFF2-40B4-BE49-F238E27FC236}">
                <a16:creationId xmlns:a16="http://schemas.microsoft.com/office/drawing/2014/main" id="{B79334ED-D01D-67BE-160C-C55D3F9DB9AC}"/>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1173261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E1D5-7331-532E-5C5A-797D7F226C9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01A07BC-AA1C-AED7-2575-1C545FFA7A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2E64CC-F242-8263-C097-3F2A6A408C2B}"/>
              </a:ext>
            </a:extLst>
          </p:cNvPr>
          <p:cNvSpPr>
            <a:spLocks noGrp="1"/>
          </p:cNvSpPr>
          <p:nvPr>
            <p:ph type="dt" sz="half" idx="10"/>
          </p:nvPr>
        </p:nvSpPr>
        <p:spPr/>
        <p:txBody>
          <a:bodyPr/>
          <a:lstStyle/>
          <a:p>
            <a:fld id="{8007CFBB-D807-488D-BA2F-01C128681AAA}" type="datetime1">
              <a:rPr lang="en-GB" smtClean="0"/>
              <a:t>09/01/2023</a:t>
            </a:fld>
            <a:endParaRPr lang="en-GB"/>
          </a:p>
        </p:txBody>
      </p:sp>
      <p:sp>
        <p:nvSpPr>
          <p:cNvPr id="5" name="Footer Placeholder 4">
            <a:extLst>
              <a:ext uri="{FF2B5EF4-FFF2-40B4-BE49-F238E27FC236}">
                <a16:creationId xmlns:a16="http://schemas.microsoft.com/office/drawing/2014/main" id="{7B4CF2D2-DA3B-BC17-2DAF-20235B13364D}"/>
              </a:ext>
            </a:extLst>
          </p:cNvPr>
          <p:cNvSpPr>
            <a:spLocks noGrp="1"/>
          </p:cNvSpPr>
          <p:nvPr>
            <p:ph type="ftr" sz="quarter" idx="11"/>
          </p:nvPr>
        </p:nvSpPr>
        <p:spPr/>
        <p:txBody>
          <a:bodyPr/>
          <a:lstStyle/>
          <a:p>
            <a:r>
              <a:rPr lang="en-GB"/>
              <a:t>Eng. Asmaa Lafi</a:t>
            </a:r>
          </a:p>
        </p:txBody>
      </p:sp>
      <p:sp>
        <p:nvSpPr>
          <p:cNvPr id="6" name="Slide Number Placeholder 5">
            <a:extLst>
              <a:ext uri="{FF2B5EF4-FFF2-40B4-BE49-F238E27FC236}">
                <a16:creationId xmlns:a16="http://schemas.microsoft.com/office/drawing/2014/main" id="{A9280C9B-26BE-3C40-ED49-9BC283D87F28}"/>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1245049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2C995-5121-D337-B3FF-2DDB7ED954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DE73C06-58E9-EDB8-1C9A-11BB172F82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1B4284-8405-10B5-0818-5CC91C901522}"/>
              </a:ext>
            </a:extLst>
          </p:cNvPr>
          <p:cNvSpPr>
            <a:spLocks noGrp="1"/>
          </p:cNvSpPr>
          <p:nvPr>
            <p:ph type="dt" sz="half" idx="10"/>
          </p:nvPr>
        </p:nvSpPr>
        <p:spPr/>
        <p:txBody>
          <a:bodyPr/>
          <a:lstStyle/>
          <a:p>
            <a:fld id="{1BECC6BA-F1AE-47A9-9D8C-46518A3E7383}" type="datetime1">
              <a:rPr lang="en-GB" smtClean="0"/>
              <a:t>09/01/2023</a:t>
            </a:fld>
            <a:endParaRPr lang="en-GB"/>
          </a:p>
        </p:txBody>
      </p:sp>
      <p:sp>
        <p:nvSpPr>
          <p:cNvPr id="5" name="Footer Placeholder 4">
            <a:extLst>
              <a:ext uri="{FF2B5EF4-FFF2-40B4-BE49-F238E27FC236}">
                <a16:creationId xmlns:a16="http://schemas.microsoft.com/office/drawing/2014/main" id="{66C6EAEB-8C96-B31D-6E7F-75C2272A6985}"/>
              </a:ext>
            </a:extLst>
          </p:cNvPr>
          <p:cNvSpPr>
            <a:spLocks noGrp="1"/>
          </p:cNvSpPr>
          <p:nvPr>
            <p:ph type="ftr" sz="quarter" idx="11"/>
          </p:nvPr>
        </p:nvSpPr>
        <p:spPr/>
        <p:txBody>
          <a:bodyPr/>
          <a:lstStyle/>
          <a:p>
            <a:r>
              <a:rPr lang="en-GB"/>
              <a:t>Eng. Asmaa Lafi</a:t>
            </a:r>
          </a:p>
        </p:txBody>
      </p:sp>
      <p:sp>
        <p:nvSpPr>
          <p:cNvPr id="6" name="Slide Number Placeholder 5">
            <a:extLst>
              <a:ext uri="{FF2B5EF4-FFF2-40B4-BE49-F238E27FC236}">
                <a16:creationId xmlns:a16="http://schemas.microsoft.com/office/drawing/2014/main" id="{0F6A9500-F290-C922-2E2F-7F28A4685DEA}"/>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3416873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DE21-4BF8-2238-958F-2AFC045C410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F9E877D-40EA-9A89-BF9D-EBBFF5AEEF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29CFE7-D21F-BE0C-AB3D-4D921F7C4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426056F-EE0C-2D8A-4211-34961D47F66E}"/>
              </a:ext>
            </a:extLst>
          </p:cNvPr>
          <p:cNvSpPr>
            <a:spLocks noGrp="1"/>
          </p:cNvSpPr>
          <p:nvPr>
            <p:ph type="dt" sz="half" idx="10"/>
          </p:nvPr>
        </p:nvSpPr>
        <p:spPr/>
        <p:txBody>
          <a:bodyPr/>
          <a:lstStyle/>
          <a:p>
            <a:fld id="{577F4AD1-1457-487C-BCF7-E439C7EC1D23}" type="datetime1">
              <a:rPr lang="en-GB" smtClean="0"/>
              <a:t>09/01/2023</a:t>
            </a:fld>
            <a:endParaRPr lang="en-GB"/>
          </a:p>
        </p:txBody>
      </p:sp>
      <p:sp>
        <p:nvSpPr>
          <p:cNvPr id="6" name="Footer Placeholder 5">
            <a:extLst>
              <a:ext uri="{FF2B5EF4-FFF2-40B4-BE49-F238E27FC236}">
                <a16:creationId xmlns:a16="http://schemas.microsoft.com/office/drawing/2014/main" id="{EB8A1B64-830D-7836-D97B-94F70101B6B4}"/>
              </a:ext>
            </a:extLst>
          </p:cNvPr>
          <p:cNvSpPr>
            <a:spLocks noGrp="1"/>
          </p:cNvSpPr>
          <p:nvPr>
            <p:ph type="ftr" sz="quarter" idx="11"/>
          </p:nvPr>
        </p:nvSpPr>
        <p:spPr/>
        <p:txBody>
          <a:bodyPr/>
          <a:lstStyle/>
          <a:p>
            <a:r>
              <a:rPr lang="en-GB"/>
              <a:t>Eng. Asmaa Lafi</a:t>
            </a:r>
          </a:p>
        </p:txBody>
      </p:sp>
      <p:sp>
        <p:nvSpPr>
          <p:cNvPr id="7" name="Slide Number Placeholder 6">
            <a:extLst>
              <a:ext uri="{FF2B5EF4-FFF2-40B4-BE49-F238E27FC236}">
                <a16:creationId xmlns:a16="http://schemas.microsoft.com/office/drawing/2014/main" id="{95A81583-6F6F-4E02-BABC-FAD001FB0A8B}"/>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1579940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F159-9C1C-0766-5955-8738D90A64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0D2E2E-8B9A-F1D1-B768-5604829A6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103E2F-F6DD-22B1-1952-63D2054B2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ED68932-B9D5-C19D-A0DB-F04B55E879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CAE06A-A3B6-1E81-8659-CC815CF81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7AE06BC-AC12-7B54-EBE1-0C758EAB025B}"/>
              </a:ext>
            </a:extLst>
          </p:cNvPr>
          <p:cNvSpPr>
            <a:spLocks noGrp="1"/>
          </p:cNvSpPr>
          <p:nvPr>
            <p:ph type="dt" sz="half" idx="10"/>
          </p:nvPr>
        </p:nvSpPr>
        <p:spPr/>
        <p:txBody>
          <a:bodyPr/>
          <a:lstStyle/>
          <a:p>
            <a:fld id="{6BA5240C-6144-4EC4-951D-AE3EDE401FCA}" type="datetime1">
              <a:rPr lang="en-GB" smtClean="0"/>
              <a:t>09/01/2023</a:t>
            </a:fld>
            <a:endParaRPr lang="en-GB"/>
          </a:p>
        </p:txBody>
      </p:sp>
      <p:sp>
        <p:nvSpPr>
          <p:cNvPr id="8" name="Footer Placeholder 7">
            <a:extLst>
              <a:ext uri="{FF2B5EF4-FFF2-40B4-BE49-F238E27FC236}">
                <a16:creationId xmlns:a16="http://schemas.microsoft.com/office/drawing/2014/main" id="{EB09F16A-41FA-F9FB-0E34-A3D8F3E161F5}"/>
              </a:ext>
            </a:extLst>
          </p:cNvPr>
          <p:cNvSpPr>
            <a:spLocks noGrp="1"/>
          </p:cNvSpPr>
          <p:nvPr>
            <p:ph type="ftr" sz="quarter" idx="11"/>
          </p:nvPr>
        </p:nvSpPr>
        <p:spPr/>
        <p:txBody>
          <a:bodyPr/>
          <a:lstStyle/>
          <a:p>
            <a:r>
              <a:rPr lang="en-GB"/>
              <a:t>Eng. Asmaa Lafi</a:t>
            </a:r>
          </a:p>
        </p:txBody>
      </p:sp>
      <p:sp>
        <p:nvSpPr>
          <p:cNvPr id="9" name="Slide Number Placeholder 8">
            <a:extLst>
              <a:ext uri="{FF2B5EF4-FFF2-40B4-BE49-F238E27FC236}">
                <a16:creationId xmlns:a16="http://schemas.microsoft.com/office/drawing/2014/main" id="{DED2D7CE-61B2-897C-A585-F589AF196EB5}"/>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3505978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5ABC0-271C-2BA3-4BB5-F6DE7465554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8826A05-367C-1360-66C4-AAA057107FC3}"/>
              </a:ext>
            </a:extLst>
          </p:cNvPr>
          <p:cNvSpPr>
            <a:spLocks noGrp="1"/>
          </p:cNvSpPr>
          <p:nvPr>
            <p:ph type="dt" sz="half" idx="10"/>
          </p:nvPr>
        </p:nvSpPr>
        <p:spPr/>
        <p:txBody>
          <a:bodyPr/>
          <a:lstStyle/>
          <a:p>
            <a:fld id="{9AFF2D3C-1105-4B99-92C3-1AD2C808E990}" type="datetime1">
              <a:rPr lang="en-GB" smtClean="0"/>
              <a:t>09/01/2023</a:t>
            </a:fld>
            <a:endParaRPr lang="en-GB"/>
          </a:p>
        </p:txBody>
      </p:sp>
      <p:sp>
        <p:nvSpPr>
          <p:cNvPr id="4" name="Footer Placeholder 3">
            <a:extLst>
              <a:ext uri="{FF2B5EF4-FFF2-40B4-BE49-F238E27FC236}">
                <a16:creationId xmlns:a16="http://schemas.microsoft.com/office/drawing/2014/main" id="{AC787F52-BF1E-92DD-0283-C53DAF6192AC}"/>
              </a:ext>
            </a:extLst>
          </p:cNvPr>
          <p:cNvSpPr>
            <a:spLocks noGrp="1"/>
          </p:cNvSpPr>
          <p:nvPr>
            <p:ph type="ftr" sz="quarter" idx="11"/>
          </p:nvPr>
        </p:nvSpPr>
        <p:spPr/>
        <p:txBody>
          <a:bodyPr/>
          <a:lstStyle/>
          <a:p>
            <a:r>
              <a:rPr lang="en-GB"/>
              <a:t>Eng. Asmaa Lafi</a:t>
            </a:r>
          </a:p>
        </p:txBody>
      </p:sp>
      <p:sp>
        <p:nvSpPr>
          <p:cNvPr id="5" name="Slide Number Placeholder 4">
            <a:extLst>
              <a:ext uri="{FF2B5EF4-FFF2-40B4-BE49-F238E27FC236}">
                <a16:creationId xmlns:a16="http://schemas.microsoft.com/office/drawing/2014/main" id="{8BB6C310-70F3-8530-FCAB-F40AF046D6C1}"/>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2386530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8E11D5-2861-8A75-34F5-CDF257665D42}"/>
              </a:ext>
            </a:extLst>
          </p:cNvPr>
          <p:cNvSpPr>
            <a:spLocks noGrp="1"/>
          </p:cNvSpPr>
          <p:nvPr>
            <p:ph type="dt" sz="half" idx="10"/>
          </p:nvPr>
        </p:nvSpPr>
        <p:spPr/>
        <p:txBody>
          <a:bodyPr/>
          <a:lstStyle/>
          <a:p>
            <a:fld id="{58261176-A675-4FAD-ACEA-0A43A0F7A08E}" type="datetime1">
              <a:rPr lang="en-GB" smtClean="0"/>
              <a:t>09/01/2023</a:t>
            </a:fld>
            <a:endParaRPr lang="en-GB"/>
          </a:p>
        </p:txBody>
      </p:sp>
      <p:sp>
        <p:nvSpPr>
          <p:cNvPr id="3" name="Footer Placeholder 2">
            <a:extLst>
              <a:ext uri="{FF2B5EF4-FFF2-40B4-BE49-F238E27FC236}">
                <a16:creationId xmlns:a16="http://schemas.microsoft.com/office/drawing/2014/main" id="{D8FC08B3-151C-67DB-859E-FD1DEC5344F3}"/>
              </a:ext>
            </a:extLst>
          </p:cNvPr>
          <p:cNvSpPr>
            <a:spLocks noGrp="1"/>
          </p:cNvSpPr>
          <p:nvPr>
            <p:ph type="ftr" sz="quarter" idx="11"/>
          </p:nvPr>
        </p:nvSpPr>
        <p:spPr/>
        <p:txBody>
          <a:bodyPr/>
          <a:lstStyle/>
          <a:p>
            <a:r>
              <a:rPr lang="en-GB"/>
              <a:t>Eng. Asmaa Lafi</a:t>
            </a:r>
          </a:p>
        </p:txBody>
      </p:sp>
      <p:sp>
        <p:nvSpPr>
          <p:cNvPr id="4" name="Slide Number Placeholder 3">
            <a:extLst>
              <a:ext uri="{FF2B5EF4-FFF2-40B4-BE49-F238E27FC236}">
                <a16:creationId xmlns:a16="http://schemas.microsoft.com/office/drawing/2014/main" id="{C34057C4-5741-30B0-31A3-364BFAF2AC29}"/>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2400943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8D44-A2EE-6144-5FB3-D59DD61FDA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F06BCB3-6C94-B060-A9B8-7919C11D36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352034-6BF9-8238-2659-AE9F4DCD23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49A2D9-457D-BC85-ACB0-F77AA2FAEACE}"/>
              </a:ext>
            </a:extLst>
          </p:cNvPr>
          <p:cNvSpPr>
            <a:spLocks noGrp="1"/>
          </p:cNvSpPr>
          <p:nvPr>
            <p:ph type="dt" sz="half" idx="10"/>
          </p:nvPr>
        </p:nvSpPr>
        <p:spPr/>
        <p:txBody>
          <a:bodyPr/>
          <a:lstStyle/>
          <a:p>
            <a:fld id="{D1938856-367B-4B24-BCD0-7468A4FA5168}" type="datetime1">
              <a:rPr lang="en-GB" smtClean="0"/>
              <a:t>09/01/2023</a:t>
            </a:fld>
            <a:endParaRPr lang="en-GB"/>
          </a:p>
        </p:txBody>
      </p:sp>
      <p:sp>
        <p:nvSpPr>
          <p:cNvPr id="6" name="Footer Placeholder 5">
            <a:extLst>
              <a:ext uri="{FF2B5EF4-FFF2-40B4-BE49-F238E27FC236}">
                <a16:creationId xmlns:a16="http://schemas.microsoft.com/office/drawing/2014/main" id="{24EC4DD3-6880-971A-865E-1768A6F3EF9B}"/>
              </a:ext>
            </a:extLst>
          </p:cNvPr>
          <p:cNvSpPr>
            <a:spLocks noGrp="1"/>
          </p:cNvSpPr>
          <p:nvPr>
            <p:ph type="ftr" sz="quarter" idx="11"/>
          </p:nvPr>
        </p:nvSpPr>
        <p:spPr/>
        <p:txBody>
          <a:bodyPr/>
          <a:lstStyle/>
          <a:p>
            <a:r>
              <a:rPr lang="en-GB"/>
              <a:t>Eng. Asmaa Lafi</a:t>
            </a:r>
          </a:p>
        </p:txBody>
      </p:sp>
      <p:sp>
        <p:nvSpPr>
          <p:cNvPr id="7" name="Slide Number Placeholder 6">
            <a:extLst>
              <a:ext uri="{FF2B5EF4-FFF2-40B4-BE49-F238E27FC236}">
                <a16:creationId xmlns:a16="http://schemas.microsoft.com/office/drawing/2014/main" id="{99A9C160-B1B7-6861-6B11-E73164A300EC}"/>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1649838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FA82-1321-3B43-3FC7-A2C0262FC8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0772244-63F9-4400-B0CB-962913B375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7A4D241-7DF9-B362-7011-434D8BDD07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E31995-D054-C674-5E7D-8EF50E6BFA3D}"/>
              </a:ext>
            </a:extLst>
          </p:cNvPr>
          <p:cNvSpPr>
            <a:spLocks noGrp="1"/>
          </p:cNvSpPr>
          <p:nvPr>
            <p:ph type="dt" sz="half" idx="10"/>
          </p:nvPr>
        </p:nvSpPr>
        <p:spPr/>
        <p:txBody>
          <a:bodyPr/>
          <a:lstStyle/>
          <a:p>
            <a:fld id="{4471E715-CCF4-4F71-BA20-EF094CC9AA33}" type="datetime1">
              <a:rPr lang="en-GB" smtClean="0"/>
              <a:t>09/01/2023</a:t>
            </a:fld>
            <a:endParaRPr lang="en-GB"/>
          </a:p>
        </p:txBody>
      </p:sp>
      <p:sp>
        <p:nvSpPr>
          <p:cNvPr id="6" name="Footer Placeholder 5">
            <a:extLst>
              <a:ext uri="{FF2B5EF4-FFF2-40B4-BE49-F238E27FC236}">
                <a16:creationId xmlns:a16="http://schemas.microsoft.com/office/drawing/2014/main" id="{5B8F25CD-0C96-24DF-9DE3-598EA44E5757}"/>
              </a:ext>
            </a:extLst>
          </p:cNvPr>
          <p:cNvSpPr>
            <a:spLocks noGrp="1"/>
          </p:cNvSpPr>
          <p:nvPr>
            <p:ph type="ftr" sz="quarter" idx="11"/>
          </p:nvPr>
        </p:nvSpPr>
        <p:spPr/>
        <p:txBody>
          <a:bodyPr/>
          <a:lstStyle/>
          <a:p>
            <a:r>
              <a:rPr lang="en-GB"/>
              <a:t>Eng. Asmaa Lafi</a:t>
            </a:r>
          </a:p>
        </p:txBody>
      </p:sp>
      <p:sp>
        <p:nvSpPr>
          <p:cNvPr id="7" name="Slide Number Placeholder 6">
            <a:extLst>
              <a:ext uri="{FF2B5EF4-FFF2-40B4-BE49-F238E27FC236}">
                <a16:creationId xmlns:a16="http://schemas.microsoft.com/office/drawing/2014/main" id="{F245B883-82B6-8CD1-225E-5C00C3C8862A}"/>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2554439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954CF-E8E5-92D9-7C12-72108387FE4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D05F8E-A5FA-F31B-0C0D-F45192EF8A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E544D8-35AC-092C-6AE9-0A77C35B9520}"/>
              </a:ext>
            </a:extLst>
          </p:cNvPr>
          <p:cNvSpPr>
            <a:spLocks noGrp="1"/>
          </p:cNvSpPr>
          <p:nvPr>
            <p:ph type="dt" sz="half" idx="10"/>
          </p:nvPr>
        </p:nvSpPr>
        <p:spPr/>
        <p:txBody>
          <a:bodyPr/>
          <a:lstStyle/>
          <a:p>
            <a:fld id="{047FA4C9-E80F-4F5B-9A47-EF72B6F951F3}" type="datetime1">
              <a:rPr lang="en-GB" smtClean="0"/>
              <a:t>09/01/2023</a:t>
            </a:fld>
            <a:endParaRPr lang="en-GB"/>
          </a:p>
        </p:txBody>
      </p:sp>
      <p:sp>
        <p:nvSpPr>
          <p:cNvPr id="5" name="Footer Placeholder 4">
            <a:extLst>
              <a:ext uri="{FF2B5EF4-FFF2-40B4-BE49-F238E27FC236}">
                <a16:creationId xmlns:a16="http://schemas.microsoft.com/office/drawing/2014/main" id="{6514EF57-870C-A272-013D-EDBEC4D74CDD}"/>
              </a:ext>
            </a:extLst>
          </p:cNvPr>
          <p:cNvSpPr>
            <a:spLocks noGrp="1"/>
          </p:cNvSpPr>
          <p:nvPr>
            <p:ph type="ftr" sz="quarter" idx="11"/>
          </p:nvPr>
        </p:nvSpPr>
        <p:spPr/>
        <p:txBody>
          <a:bodyPr/>
          <a:lstStyle/>
          <a:p>
            <a:r>
              <a:rPr lang="en-GB"/>
              <a:t>Eng. Asmaa Lafi</a:t>
            </a:r>
          </a:p>
        </p:txBody>
      </p:sp>
      <p:sp>
        <p:nvSpPr>
          <p:cNvPr id="6" name="Slide Number Placeholder 5">
            <a:extLst>
              <a:ext uri="{FF2B5EF4-FFF2-40B4-BE49-F238E27FC236}">
                <a16:creationId xmlns:a16="http://schemas.microsoft.com/office/drawing/2014/main" id="{83998C9E-F34A-89BD-CE87-00A58CC1FD46}"/>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1742494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978821-F109-DDE8-89C4-2D278A9ABC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4702B97-DE9E-1EB6-F4ED-FA8785C934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CDFF07-DD78-7DB1-CDF4-024162498202}"/>
              </a:ext>
            </a:extLst>
          </p:cNvPr>
          <p:cNvSpPr>
            <a:spLocks noGrp="1"/>
          </p:cNvSpPr>
          <p:nvPr>
            <p:ph type="dt" sz="half" idx="10"/>
          </p:nvPr>
        </p:nvSpPr>
        <p:spPr/>
        <p:txBody>
          <a:bodyPr/>
          <a:lstStyle/>
          <a:p>
            <a:fld id="{0B8FBD86-7CE3-4899-9EAA-459C5737D7BA}" type="datetime1">
              <a:rPr lang="en-GB" smtClean="0"/>
              <a:t>09/01/2023</a:t>
            </a:fld>
            <a:endParaRPr lang="en-GB"/>
          </a:p>
        </p:txBody>
      </p:sp>
      <p:sp>
        <p:nvSpPr>
          <p:cNvPr id="5" name="Footer Placeholder 4">
            <a:extLst>
              <a:ext uri="{FF2B5EF4-FFF2-40B4-BE49-F238E27FC236}">
                <a16:creationId xmlns:a16="http://schemas.microsoft.com/office/drawing/2014/main" id="{5F8AA4EC-AAD1-7755-933C-B1D5C965690F}"/>
              </a:ext>
            </a:extLst>
          </p:cNvPr>
          <p:cNvSpPr>
            <a:spLocks noGrp="1"/>
          </p:cNvSpPr>
          <p:nvPr>
            <p:ph type="ftr" sz="quarter" idx="11"/>
          </p:nvPr>
        </p:nvSpPr>
        <p:spPr/>
        <p:txBody>
          <a:bodyPr/>
          <a:lstStyle/>
          <a:p>
            <a:r>
              <a:rPr lang="en-GB"/>
              <a:t>Eng. Asmaa Lafi</a:t>
            </a:r>
          </a:p>
        </p:txBody>
      </p:sp>
      <p:sp>
        <p:nvSpPr>
          <p:cNvPr id="6" name="Slide Number Placeholder 5">
            <a:extLst>
              <a:ext uri="{FF2B5EF4-FFF2-40B4-BE49-F238E27FC236}">
                <a16:creationId xmlns:a16="http://schemas.microsoft.com/office/drawing/2014/main" id="{52469A89-3B09-8D06-DCA8-B1692A434C43}"/>
              </a:ext>
            </a:extLst>
          </p:cNvPr>
          <p:cNvSpPr>
            <a:spLocks noGrp="1"/>
          </p:cNvSpPr>
          <p:nvPr>
            <p:ph type="sldNum" sz="quarter" idx="12"/>
          </p:nvPr>
        </p:nvSpPr>
        <p:spPr/>
        <p:txBody>
          <a:bodyPr/>
          <a:lstStyle/>
          <a:p>
            <a:fld id="{DBAA9988-FF06-4032-9BBB-2888C427AFF3}" type="slidenum">
              <a:rPr lang="en-GB" smtClean="0"/>
              <a:t>‹#›</a:t>
            </a:fld>
            <a:endParaRPr lang="en-GB"/>
          </a:p>
        </p:txBody>
      </p:sp>
    </p:spTree>
    <p:extLst>
      <p:ext uri="{BB962C8B-B14F-4D97-AF65-F5344CB8AC3E}">
        <p14:creationId xmlns:p14="http://schemas.microsoft.com/office/powerpoint/2010/main" val="881906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089ECB-B56C-EF51-FCCF-5453D0E3BC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13EBBFF-5442-F786-755F-74720507E5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98D8EA-79C9-B215-FD13-AA0CCF9210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133B5-E8A6-496C-8DCA-45D4BE659024}" type="datetime1">
              <a:rPr lang="en-GB" smtClean="0"/>
              <a:t>09/01/2023</a:t>
            </a:fld>
            <a:endParaRPr lang="en-GB"/>
          </a:p>
        </p:txBody>
      </p:sp>
      <p:sp>
        <p:nvSpPr>
          <p:cNvPr id="5" name="Footer Placeholder 4">
            <a:extLst>
              <a:ext uri="{FF2B5EF4-FFF2-40B4-BE49-F238E27FC236}">
                <a16:creationId xmlns:a16="http://schemas.microsoft.com/office/drawing/2014/main" id="{9F1730A3-249D-25E3-78F0-128C3298F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Eng. Asmaa Lafi</a:t>
            </a:r>
          </a:p>
        </p:txBody>
      </p:sp>
      <p:sp>
        <p:nvSpPr>
          <p:cNvPr id="6" name="Slide Number Placeholder 5">
            <a:extLst>
              <a:ext uri="{FF2B5EF4-FFF2-40B4-BE49-F238E27FC236}">
                <a16:creationId xmlns:a16="http://schemas.microsoft.com/office/drawing/2014/main" id="{548FE428-CF49-2C8A-C8A7-D05EB992D9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A9988-FF06-4032-9BBB-2888C427AFF3}" type="slidenum">
              <a:rPr lang="en-GB" smtClean="0"/>
              <a:t>‹#›</a:t>
            </a:fld>
            <a:endParaRPr lang="en-GB"/>
          </a:p>
        </p:txBody>
      </p:sp>
    </p:spTree>
    <p:extLst>
      <p:ext uri="{BB962C8B-B14F-4D97-AF65-F5344CB8AC3E}">
        <p14:creationId xmlns:p14="http://schemas.microsoft.com/office/powerpoint/2010/main" val="22342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toolsqa.com/software-testing/istqb/testers-and-developers-mindsets/" TargetMode="External"/><Relationship Id="rId7" Type="http://schemas.openxmlformats.org/officeDocument/2006/relationships/hyperlink" Target="https://eujournal.org/index.php/esj/article/viewFile/2624/2485" TargetMode="External"/><Relationship Id="rId2" Type="http://schemas.openxmlformats.org/officeDocument/2006/relationships/hyperlink" Target="https://medium.com/@madhavikau/psychology-of-testing-in-software-testing-a59bdeb90ae0" TargetMode="External"/><Relationship Id="rId1" Type="http://schemas.openxmlformats.org/officeDocument/2006/relationships/slideLayout" Target="../slideLayouts/slideLayout2.xml"/><Relationship Id="rId6" Type="http://schemas.openxmlformats.org/officeDocument/2006/relationships/hyperlink" Target="https://testpoint.com.au/11-ways-to-improve-software-quality/" TargetMode="External"/><Relationship Id="rId5" Type="http://schemas.openxmlformats.org/officeDocument/2006/relationships/hyperlink" Target="https://www.browserstack.com/guide/how-to-improve-software-quality" TargetMode="External"/><Relationship Id="rId4" Type="http://schemas.openxmlformats.org/officeDocument/2006/relationships/hyperlink" Target="http://tryqa.com/what-is-the-psychology-of-te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FDAF868F-8AF7-1D8F-A694-211BCEEDB1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50" r="18481" b="-1"/>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5516F89-CE79-1102-D18A-CD29371169BA}"/>
              </a:ext>
            </a:extLst>
          </p:cNvPr>
          <p:cNvSpPr>
            <a:spLocks noGrp="1"/>
          </p:cNvSpPr>
          <p:nvPr>
            <p:ph type="ctrTitle"/>
          </p:nvPr>
        </p:nvSpPr>
        <p:spPr>
          <a:xfrm>
            <a:off x="477980" y="771988"/>
            <a:ext cx="4638549" cy="3554509"/>
          </a:xfrm>
        </p:spPr>
        <p:txBody>
          <a:bodyPr anchor="b">
            <a:normAutofit/>
          </a:bodyPr>
          <a:lstStyle/>
          <a:p>
            <a:pPr algn="l"/>
            <a:r>
              <a:rPr lang="en-GB" b="1" dirty="0"/>
              <a:t>Improving Software Quality</a:t>
            </a: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29CD9110-900F-3DC1-F594-E914A2F2C54F}"/>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28473017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484EB9-0352-CB31-71BC-C824CD659054}"/>
              </a:ext>
            </a:extLst>
          </p:cNvPr>
          <p:cNvSpPr>
            <a:spLocks noGrp="1"/>
          </p:cNvSpPr>
          <p:nvPr>
            <p:ph type="title"/>
          </p:nvPr>
        </p:nvSpPr>
        <p:spPr>
          <a:xfrm>
            <a:off x="524741" y="620392"/>
            <a:ext cx="3808268" cy="5504688"/>
          </a:xfrm>
        </p:spPr>
        <p:txBody>
          <a:bodyPr>
            <a:normAutofit/>
          </a:bodyPr>
          <a:lstStyle/>
          <a:p>
            <a:r>
              <a:rPr lang="en-US" sz="6000">
                <a:solidFill>
                  <a:schemeClr val="bg1"/>
                </a:solidFill>
              </a:rPr>
              <a:t>Importance of Software Quality</a:t>
            </a:r>
            <a:endParaRPr lang="en-GB" sz="6000">
              <a:solidFill>
                <a:schemeClr val="bg1"/>
              </a:solidFill>
            </a:endParaRPr>
          </a:p>
        </p:txBody>
      </p:sp>
      <p:graphicFrame>
        <p:nvGraphicFramePr>
          <p:cNvPr id="5" name="Content Placeholder 2">
            <a:extLst>
              <a:ext uri="{FF2B5EF4-FFF2-40B4-BE49-F238E27FC236}">
                <a16:creationId xmlns:a16="http://schemas.microsoft.com/office/drawing/2014/main" id="{AA196141-2CEE-68D2-CB8B-7008CC9DC0D5}"/>
              </a:ext>
            </a:extLst>
          </p:cNvPr>
          <p:cNvGraphicFramePr>
            <a:graphicFrameLocks noGrp="1"/>
          </p:cNvGraphicFramePr>
          <p:nvPr>
            <p:ph idx="1"/>
            <p:extLst>
              <p:ext uri="{D42A27DB-BD31-4B8C-83A1-F6EECF244321}">
                <p14:modId xmlns:p14="http://schemas.microsoft.com/office/powerpoint/2010/main" val="3937899603"/>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841C4D2E-143E-1E53-CCE6-3A413F15E8FA}"/>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68850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1B631-F480-F3A1-C86C-951891C2500B}"/>
              </a:ext>
            </a:extLst>
          </p:cNvPr>
          <p:cNvSpPr>
            <a:spLocks noGrp="1"/>
          </p:cNvSpPr>
          <p:nvPr>
            <p:ph type="title"/>
          </p:nvPr>
        </p:nvSpPr>
        <p:spPr/>
        <p:txBody>
          <a:bodyPr/>
          <a:lstStyle/>
          <a:p>
            <a:r>
              <a:rPr lang="en-US" b="1"/>
              <a:t>Methodologies to Improve Software Quality </a:t>
            </a:r>
            <a:endParaRPr lang="en-GB" b="1" dirty="0"/>
          </a:p>
        </p:txBody>
      </p:sp>
      <p:sp>
        <p:nvSpPr>
          <p:cNvPr id="3" name="Content Placeholder 2">
            <a:extLst>
              <a:ext uri="{FF2B5EF4-FFF2-40B4-BE49-F238E27FC236}">
                <a16:creationId xmlns:a16="http://schemas.microsoft.com/office/drawing/2014/main" id="{B065C161-A7B4-11B1-3CA6-BD478EAA27B9}"/>
              </a:ext>
            </a:extLst>
          </p:cNvPr>
          <p:cNvSpPr>
            <a:spLocks noGrp="1"/>
          </p:cNvSpPr>
          <p:nvPr>
            <p:ph idx="1"/>
          </p:nvPr>
        </p:nvSpPr>
        <p:spPr/>
        <p:txBody>
          <a:bodyPr/>
          <a:lstStyle/>
          <a:p>
            <a:pPr algn="l">
              <a:buFont typeface="Wingdings" panose="05000000000000000000" pitchFamily="2" charset="2"/>
              <a:buChar char="q"/>
            </a:pPr>
            <a:r>
              <a:rPr lang="en-GB" b="1" i="0" dirty="0">
                <a:solidFill>
                  <a:srgbClr val="333333"/>
                </a:solidFill>
                <a:effectLst/>
                <a:latin typeface="source-sans-pro"/>
              </a:rPr>
              <a:t> Test at an early stage</a:t>
            </a:r>
          </a:p>
          <a:p>
            <a:pPr marL="0" indent="0" algn="l">
              <a:buNone/>
            </a:pPr>
            <a:endParaRPr lang="en-GB" b="0" i="0" dirty="0">
              <a:solidFill>
                <a:srgbClr val="333333"/>
              </a:solidFill>
              <a:effectLst/>
              <a:latin typeface="source-sans-pro"/>
            </a:endParaRPr>
          </a:p>
          <a:p>
            <a:pPr lvl="1"/>
            <a:r>
              <a:rPr lang="en-GB" b="0" i="0" dirty="0">
                <a:solidFill>
                  <a:srgbClr val="333333"/>
                </a:solidFill>
                <a:effectLst/>
                <a:latin typeface="source-sans-pro"/>
              </a:rPr>
              <a:t>Testing is important when learning how to improve software quality and shouldn’t be neglected. Testing aims to catch defects early during the design phase so they don’t snowball and grow into bigger issues later.</a:t>
            </a:r>
          </a:p>
          <a:p>
            <a:pPr marL="457200" lvl="1" indent="0">
              <a:buNone/>
            </a:pPr>
            <a:endParaRPr lang="en-GB" b="0" i="0" dirty="0">
              <a:solidFill>
                <a:srgbClr val="333333"/>
              </a:solidFill>
              <a:effectLst/>
              <a:latin typeface="source-sans-pro"/>
            </a:endParaRPr>
          </a:p>
          <a:p>
            <a:pPr lvl="1"/>
            <a:r>
              <a:rPr lang="en-GB" b="0" i="0" dirty="0">
                <a:solidFill>
                  <a:srgbClr val="333333"/>
                </a:solidFill>
                <a:effectLst/>
                <a:latin typeface="source-sans-pro"/>
              </a:rPr>
              <a:t>Testing early also invariably reduces the money spent on bug fixes. A defect that could cost your company $100 in the requirements phase can cost $10,000 or more in the product implementation stages.</a:t>
            </a:r>
            <a:endParaRPr lang="en-GB" dirty="0"/>
          </a:p>
        </p:txBody>
      </p:sp>
      <p:sp>
        <p:nvSpPr>
          <p:cNvPr id="4" name="Footer Placeholder 3">
            <a:extLst>
              <a:ext uri="{FF2B5EF4-FFF2-40B4-BE49-F238E27FC236}">
                <a16:creationId xmlns:a16="http://schemas.microsoft.com/office/drawing/2014/main" id="{20850BE9-277B-3E62-BB0D-80FE6D671028}"/>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085419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CF16-6061-E98E-7B31-A61273A03614}"/>
              </a:ext>
            </a:extLst>
          </p:cNvPr>
          <p:cNvSpPr>
            <a:spLocks noGrp="1"/>
          </p:cNvSpPr>
          <p:nvPr>
            <p:ph type="title"/>
          </p:nvPr>
        </p:nvSpPr>
        <p:spPr>
          <a:xfrm>
            <a:off x="421239" y="365125"/>
            <a:ext cx="11270751" cy="1325563"/>
          </a:xfrm>
        </p:spPr>
        <p:txBody>
          <a:bodyPr>
            <a:normAutofit/>
          </a:bodyPr>
          <a:lstStyle/>
          <a:p>
            <a:r>
              <a:rPr lang="en-US" sz="4000" b="1" dirty="0"/>
              <a:t>Methodologies to Improve Software Quality  (cont’d)</a:t>
            </a:r>
            <a:endParaRPr lang="en-GB" sz="4000" b="1" dirty="0"/>
          </a:p>
        </p:txBody>
      </p:sp>
      <p:sp>
        <p:nvSpPr>
          <p:cNvPr id="3" name="Content Placeholder 2">
            <a:extLst>
              <a:ext uri="{FF2B5EF4-FFF2-40B4-BE49-F238E27FC236}">
                <a16:creationId xmlns:a16="http://schemas.microsoft.com/office/drawing/2014/main" id="{A8D58E94-F5E1-569A-B007-6A68FCBE3AC4}"/>
              </a:ext>
            </a:extLst>
          </p:cNvPr>
          <p:cNvSpPr>
            <a:spLocks noGrp="1"/>
          </p:cNvSpPr>
          <p:nvPr>
            <p:ph idx="1"/>
          </p:nvPr>
        </p:nvSpPr>
        <p:spPr/>
        <p:txBody>
          <a:bodyPr>
            <a:normAutofit/>
          </a:bodyPr>
          <a:lstStyle/>
          <a:p>
            <a:pPr>
              <a:buFont typeface="Wingdings" panose="05000000000000000000" pitchFamily="2" charset="2"/>
              <a:buChar char="q"/>
            </a:pPr>
            <a:r>
              <a:rPr lang="en-GB" b="1" dirty="0">
                <a:solidFill>
                  <a:srgbClr val="333333"/>
                </a:solidFill>
                <a:latin typeface="source-sans-pro"/>
              </a:rPr>
              <a:t> Ensure Quality control</a:t>
            </a:r>
          </a:p>
          <a:p>
            <a:pPr lvl="1"/>
            <a:r>
              <a:rPr lang="en-GB" dirty="0"/>
              <a:t>In collaboration with developers, testers can monitor quality controls and raise awareness to guarantee that standards are consistently maintained. Quality controls begins at the beginning and continues throughout the delivery process.</a:t>
            </a:r>
          </a:p>
          <a:p>
            <a:pPr marL="457200" lvl="1" indent="0">
              <a:buNone/>
            </a:pPr>
            <a:endParaRPr lang="en-GB" dirty="0"/>
          </a:p>
          <a:p>
            <a:pPr>
              <a:buFont typeface="Wingdings" panose="05000000000000000000" pitchFamily="2" charset="2"/>
              <a:buChar char="q"/>
            </a:pPr>
            <a:r>
              <a:rPr lang="en-GB" dirty="0"/>
              <a:t> </a:t>
            </a:r>
            <a:r>
              <a:rPr lang="en-GB" b="1" dirty="0"/>
              <a:t>Implement quality Assurance</a:t>
            </a:r>
          </a:p>
          <a:p>
            <a:pPr lvl="1"/>
            <a:r>
              <a:rPr lang="en-GB" dirty="0"/>
              <a:t>QA should be presented at all times during the software development process. It is a type of team provided governance that installs trust in the overall software quality. </a:t>
            </a:r>
          </a:p>
        </p:txBody>
      </p:sp>
      <p:sp>
        <p:nvSpPr>
          <p:cNvPr id="4" name="Footer Placeholder 3">
            <a:extLst>
              <a:ext uri="{FF2B5EF4-FFF2-40B4-BE49-F238E27FC236}">
                <a16:creationId xmlns:a16="http://schemas.microsoft.com/office/drawing/2014/main" id="{5907D917-F615-695F-1D15-91159A403418}"/>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819540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3A748-ECB1-A9EC-22C5-6E5AD000A8EC}"/>
              </a:ext>
            </a:extLst>
          </p:cNvPr>
          <p:cNvSpPr>
            <a:spLocks noGrp="1"/>
          </p:cNvSpPr>
          <p:nvPr>
            <p:ph type="title"/>
          </p:nvPr>
        </p:nvSpPr>
        <p:spPr>
          <a:xfrm>
            <a:off x="503434" y="282931"/>
            <a:ext cx="11363218" cy="1325563"/>
          </a:xfrm>
        </p:spPr>
        <p:txBody>
          <a:bodyPr>
            <a:normAutofit/>
          </a:bodyPr>
          <a:lstStyle/>
          <a:p>
            <a:r>
              <a:rPr lang="en-US" sz="4000" b="1" dirty="0"/>
              <a:t>Methodologies to Improve Software Quality  (cont’d)</a:t>
            </a:r>
            <a:endParaRPr lang="en-GB" sz="4000" dirty="0"/>
          </a:p>
        </p:txBody>
      </p:sp>
      <p:sp>
        <p:nvSpPr>
          <p:cNvPr id="3" name="Content Placeholder 2">
            <a:extLst>
              <a:ext uri="{FF2B5EF4-FFF2-40B4-BE49-F238E27FC236}">
                <a16:creationId xmlns:a16="http://schemas.microsoft.com/office/drawing/2014/main" id="{BDEFCAE4-064E-A6B6-1F4D-B4ABE97C5B6C}"/>
              </a:ext>
            </a:extLst>
          </p:cNvPr>
          <p:cNvSpPr>
            <a:spLocks noGrp="1"/>
          </p:cNvSpPr>
          <p:nvPr>
            <p:ph idx="1"/>
          </p:nvPr>
        </p:nvSpPr>
        <p:spPr>
          <a:xfrm>
            <a:off x="838200" y="1608494"/>
            <a:ext cx="10515600" cy="4792306"/>
          </a:xfrm>
        </p:spPr>
        <p:txBody>
          <a:bodyPr>
            <a:normAutofit/>
          </a:bodyPr>
          <a:lstStyle/>
          <a:p>
            <a:pPr>
              <a:buFont typeface="Wingdings" panose="05000000000000000000" pitchFamily="2" charset="2"/>
              <a:buChar char="q"/>
            </a:pPr>
            <a:r>
              <a:rPr lang="en-GB" b="1" dirty="0">
                <a:solidFill>
                  <a:srgbClr val="081D41"/>
                </a:solidFill>
                <a:effectLst/>
                <a:latin typeface="open_sansregular"/>
              </a:rPr>
              <a:t> Encourage innovations</a:t>
            </a:r>
          </a:p>
          <a:p>
            <a:pPr lvl="1"/>
            <a:r>
              <a:rPr lang="en-GB" dirty="0"/>
              <a:t>Automation of testing where possible, to save time spent on rules is fantastic method for creativity. Moreover, innovations can lead to improvements in software quality that can change the way projects are delivered.</a:t>
            </a:r>
          </a:p>
          <a:p>
            <a:pPr marL="457200" lvl="1" indent="0">
              <a:buNone/>
            </a:pPr>
            <a:endParaRPr lang="en-GB" dirty="0"/>
          </a:p>
          <a:p>
            <a:pPr>
              <a:buFont typeface="Wingdings" panose="05000000000000000000" pitchFamily="2" charset="2"/>
              <a:buChar char="q"/>
            </a:pPr>
            <a:r>
              <a:rPr lang="en-GB" b="1" dirty="0">
                <a:solidFill>
                  <a:srgbClr val="081D41"/>
                </a:solidFill>
                <a:effectLst/>
                <a:latin typeface="open_sansregular"/>
              </a:rPr>
              <a:t> </a:t>
            </a:r>
            <a:r>
              <a:rPr lang="en-GB" b="1" dirty="0"/>
              <a:t>Outline your deliverables</a:t>
            </a:r>
          </a:p>
          <a:p>
            <a:pPr lvl="1"/>
            <a:r>
              <a:rPr lang="en-GB" dirty="0"/>
              <a:t>A clear and comprehensive outline of what the project will provide can ensure that quality is prioritized right from the start. It also guarantees that money, resources and time are all adequately allocated to achieve high quality results.</a:t>
            </a:r>
          </a:p>
          <a:p>
            <a:pPr>
              <a:buFont typeface="Wingdings" panose="05000000000000000000" pitchFamily="2" charset="2"/>
              <a:buChar char="q"/>
            </a:pPr>
            <a:endParaRPr lang="en-GB" dirty="0"/>
          </a:p>
        </p:txBody>
      </p:sp>
      <p:sp>
        <p:nvSpPr>
          <p:cNvPr id="4" name="Footer Placeholder 3">
            <a:extLst>
              <a:ext uri="{FF2B5EF4-FFF2-40B4-BE49-F238E27FC236}">
                <a16:creationId xmlns:a16="http://schemas.microsoft.com/office/drawing/2014/main" id="{7BEB4187-150B-DF1C-B751-DEF54E9A646B}"/>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2531732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204A5-E4E3-FB5A-1B31-C99C04EDFFAB}"/>
              </a:ext>
            </a:extLst>
          </p:cNvPr>
          <p:cNvSpPr>
            <a:spLocks noGrp="1"/>
          </p:cNvSpPr>
          <p:nvPr>
            <p:ph type="title"/>
          </p:nvPr>
        </p:nvSpPr>
        <p:spPr>
          <a:xfrm>
            <a:off x="676382" y="262384"/>
            <a:ext cx="10839235" cy="1325563"/>
          </a:xfrm>
        </p:spPr>
        <p:txBody>
          <a:bodyPr>
            <a:normAutofit/>
          </a:bodyPr>
          <a:lstStyle/>
          <a:p>
            <a:r>
              <a:rPr lang="en-US" sz="4000" b="1" dirty="0"/>
              <a:t>Methodologies to Improve Software Quality  (cont’d)</a:t>
            </a:r>
            <a:endParaRPr lang="en-GB" sz="4000" dirty="0"/>
          </a:p>
        </p:txBody>
      </p:sp>
      <p:sp>
        <p:nvSpPr>
          <p:cNvPr id="3" name="Content Placeholder 2">
            <a:extLst>
              <a:ext uri="{FF2B5EF4-FFF2-40B4-BE49-F238E27FC236}">
                <a16:creationId xmlns:a16="http://schemas.microsoft.com/office/drawing/2014/main" id="{CF18BFF5-FA8F-7EC9-FF9A-8DF2583BD5CC}"/>
              </a:ext>
            </a:extLst>
          </p:cNvPr>
          <p:cNvSpPr>
            <a:spLocks noGrp="1"/>
          </p:cNvSpPr>
          <p:nvPr>
            <p:ph idx="1"/>
          </p:nvPr>
        </p:nvSpPr>
        <p:spPr>
          <a:xfrm>
            <a:off x="838200" y="1489753"/>
            <a:ext cx="10515600" cy="4687210"/>
          </a:xfrm>
        </p:spPr>
        <p:txBody>
          <a:bodyPr>
            <a:normAutofit lnSpcReduction="10000"/>
          </a:bodyPr>
          <a:lstStyle/>
          <a:p>
            <a:pPr>
              <a:buFont typeface="Wingdings" panose="05000000000000000000" pitchFamily="2" charset="2"/>
              <a:buChar char="q"/>
            </a:pPr>
            <a:r>
              <a:rPr lang="en-GB" b="1" dirty="0">
                <a:solidFill>
                  <a:srgbClr val="081D41"/>
                </a:solidFill>
                <a:effectLst/>
                <a:latin typeface="open_sansregular"/>
              </a:rPr>
              <a:t>Communication is key</a:t>
            </a:r>
          </a:p>
          <a:p>
            <a:pPr lvl="1"/>
            <a:r>
              <a:rPr lang="en-GB" dirty="0"/>
              <a:t>For any relationship to be successful, whether it’s personal or business, communication is key. To improve software quality it is important that all parties to the project have full information through fluid communication channels.</a:t>
            </a:r>
          </a:p>
          <a:p>
            <a:pPr lvl="1"/>
            <a:endParaRPr lang="en-GB" dirty="0"/>
          </a:p>
          <a:p>
            <a:pPr lvl="1"/>
            <a:r>
              <a:rPr lang="en-GB" dirty="0"/>
              <a:t>show how software quality is measured at every step of the development process.</a:t>
            </a:r>
          </a:p>
          <a:p>
            <a:pPr lvl="1"/>
            <a:endParaRPr lang="en-GB" dirty="0"/>
          </a:p>
          <a:p>
            <a:pPr lvl="1"/>
            <a:r>
              <a:rPr lang="en-GB" dirty="0"/>
              <a:t>all parties have the opportunity to provide feedback to the team to ensure that all expectations are being met.</a:t>
            </a:r>
          </a:p>
          <a:p>
            <a:pPr lvl="1"/>
            <a:endParaRPr lang="en-GB" dirty="0"/>
          </a:p>
          <a:p>
            <a:pPr lvl="1"/>
            <a:r>
              <a:rPr lang="en-GB" dirty="0"/>
              <a:t> keep all stakeholders in the loop and not isolate team members from the vendors or end user of the software. </a:t>
            </a:r>
          </a:p>
          <a:p>
            <a:endParaRPr lang="en-GB" dirty="0"/>
          </a:p>
        </p:txBody>
      </p:sp>
      <p:sp>
        <p:nvSpPr>
          <p:cNvPr id="4" name="Footer Placeholder 3">
            <a:extLst>
              <a:ext uri="{FF2B5EF4-FFF2-40B4-BE49-F238E27FC236}">
                <a16:creationId xmlns:a16="http://schemas.microsoft.com/office/drawing/2014/main" id="{14180EB5-E959-6F9A-CB3A-F4B34237AB5A}"/>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4067143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7C77-63C3-820C-1BD9-D8FE12319144}"/>
              </a:ext>
            </a:extLst>
          </p:cNvPr>
          <p:cNvSpPr>
            <a:spLocks noGrp="1"/>
          </p:cNvSpPr>
          <p:nvPr>
            <p:ph type="title"/>
          </p:nvPr>
        </p:nvSpPr>
        <p:spPr>
          <a:xfrm>
            <a:off x="679378" y="108271"/>
            <a:ext cx="10833243" cy="1325563"/>
          </a:xfrm>
        </p:spPr>
        <p:txBody>
          <a:bodyPr>
            <a:normAutofit/>
          </a:bodyPr>
          <a:lstStyle/>
          <a:p>
            <a:r>
              <a:rPr lang="en-US" sz="4000" b="1" dirty="0"/>
              <a:t>Methodologies to Improve Software Quality  (cont’d)</a:t>
            </a:r>
            <a:endParaRPr lang="en-GB" sz="4000" dirty="0"/>
          </a:p>
        </p:txBody>
      </p:sp>
      <p:sp>
        <p:nvSpPr>
          <p:cNvPr id="3" name="Content Placeholder 2">
            <a:extLst>
              <a:ext uri="{FF2B5EF4-FFF2-40B4-BE49-F238E27FC236}">
                <a16:creationId xmlns:a16="http://schemas.microsoft.com/office/drawing/2014/main" id="{C84FCE76-E503-ABD3-FE27-5B605A44986C}"/>
              </a:ext>
            </a:extLst>
          </p:cNvPr>
          <p:cNvSpPr>
            <a:spLocks noGrp="1"/>
          </p:cNvSpPr>
          <p:nvPr>
            <p:ph idx="1"/>
          </p:nvPr>
        </p:nvSpPr>
        <p:spPr>
          <a:xfrm>
            <a:off x="838200" y="1571946"/>
            <a:ext cx="10515600" cy="4605017"/>
          </a:xfrm>
        </p:spPr>
        <p:txBody>
          <a:bodyPr/>
          <a:lstStyle/>
          <a:p>
            <a:pPr>
              <a:buFont typeface="Wingdings" panose="05000000000000000000" pitchFamily="2" charset="2"/>
              <a:buChar char="q"/>
            </a:pPr>
            <a:r>
              <a:rPr lang="en-GB" b="1" dirty="0">
                <a:solidFill>
                  <a:srgbClr val="081D41"/>
                </a:solidFill>
                <a:latin typeface="open_sansregular"/>
              </a:rPr>
              <a:t> Have a risk register</a:t>
            </a:r>
          </a:p>
          <a:p>
            <a:pPr lvl="1"/>
            <a:r>
              <a:rPr lang="en-GB" dirty="0"/>
              <a:t>A risk register is a management tool to manage risks. A risk register is more synonymous with financial auditing, however it is still a vital element in software development.</a:t>
            </a:r>
          </a:p>
          <a:p>
            <a:pPr marL="457200" lvl="1" indent="0">
              <a:buNone/>
            </a:pPr>
            <a:endParaRPr lang="en-GB" dirty="0"/>
          </a:p>
          <a:p>
            <a:pPr lvl="1"/>
            <a:r>
              <a:rPr lang="en-GB" dirty="0"/>
              <a:t>A risk register will provide everybody aligned on a software project a list of clearly identified risks and then assess them in regards to the importance of delivering the project. A risk register works well for software quality because its creation actively leads to risk mitigation.</a:t>
            </a:r>
          </a:p>
          <a:p>
            <a:endParaRPr lang="en-GB" b="1" dirty="0">
              <a:solidFill>
                <a:srgbClr val="081D41"/>
              </a:solidFill>
              <a:effectLst/>
              <a:latin typeface="open_sansregular"/>
            </a:endParaRPr>
          </a:p>
          <a:p>
            <a:endParaRPr lang="en-GB" dirty="0"/>
          </a:p>
        </p:txBody>
      </p:sp>
      <p:sp>
        <p:nvSpPr>
          <p:cNvPr id="4" name="Footer Placeholder 3">
            <a:extLst>
              <a:ext uri="{FF2B5EF4-FFF2-40B4-BE49-F238E27FC236}">
                <a16:creationId xmlns:a16="http://schemas.microsoft.com/office/drawing/2014/main" id="{BAE72FF0-F8DC-1A4A-90BB-480D36014D82}"/>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2097203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4" y="448055"/>
            <a:ext cx="3414370"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9277502-7E7A-3801-2FDC-1D6E33E8C9BC}"/>
              </a:ext>
            </a:extLst>
          </p:cNvPr>
          <p:cNvSpPr>
            <a:spLocks noGrp="1"/>
          </p:cNvSpPr>
          <p:nvPr>
            <p:ph type="title"/>
          </p:nvPr>
        </p:nvSpPr>
        <p:spPr>
          <a:xfrm>
            <a:off x="777240" y="731519"/>
            <a:ext cx="2845191" cy="3237579"/>
          </a:xfrm>
        </p:spPr>
        <p:txBody>
          <a:bodyPr>
            <a:normAutofit/>
          </a:bodyPr>
          <a:lstStyle/>
          <a:p>
            <a:r>
              <a:rPr lang="en-US" sz="3500" b="1">
                <a:solidFill>
                  <a:srgbClr val="FFFFFF"/>
                </a:solidFill>
              </a:rPr>
              <a:t>Methodologies to Improve Software Quality  (cont’d)</a:t>
            </a:r>
            <a:endParaRPr lang="en-GB" sz="350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19227"/>
            <a:ext cx="3414369"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4603" y="448055"/>
            <a:ext cx="7688475"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9752B028-78C7-8DCB-1FFD-383764252E84}"/>
              </a:ext>
            </a:extLst>
          </p:cNvPr>
          <p:cNvSpPr>
            <a:spLocks noGrp="1"/>
          </p:cNvSpPr>
          <p:nvPr>
            <p:ph idx="1"/>
          </p:nvPr>
        </p:nvSpPr>
        <p:spPr>
          <a:xfrm>
            <a:off x="4379709" y="686862"/>
            <a:ext cx="7037591" cy="5475129"/>
          </a:xfrm>
        </p:spPr>
        <p:txBody>
          <a:bodyPr anchor="ctr">
            <a:normAutofit/>
          </a:bodyPr>
          <a:lstStyle/>
          <a:p>
            <a:pPr>
              <a:buFont typeface="Wingdings" panose="05000000000000000000" pitchFamily="2" charset="2"/>
              <a:buChar char="v"/>
            </a:pPr>
            <a:r>
              <a:rPr lang="en-GB" sz="2000"/>
              <a:t> </a:t>
            </a:r>
            <a:r>
              <a:rPr lang="en-GB" sz="2000" b="1"/>
              <a:t>Risk factors </a:t>
            </a:r>
            <a:r>
              <a:rPr lang="en-GB" sz="2000"/>
              <a:t>are the uncertain conditions and influences that will affect the cost, duration and quality of the project negatively.</a:t>
            </a:r>
          </a:p>
          <a:p>
            <a:pPr marL="0" indent="0">
              <a:buNone/>
            </a:pPr>
            <a:endParaRPr lang="en-GB" sz="2000"/>
          </a:p>
          <a:p>
            <a:pPr marL="0" indent="0">
              <a:buNone/>
            </a:pPr>
            <a:r>
              <a:rPr lang="en-GB" sz="2000"/>
              <a:t>Some of the risks associated with systems development are as follows:</a:t>
            </a:r>
          </a:p>
          <a:p>
            <a:pPr lvl="1"/>
            <a:r>
              <a:rPr lang="en-GB" sz="2000"/>
              <a:t>Inadequate budget</a:t>
            </a:r>
          </a:p>
          <a:p>
            <a:pPr lvl="1"/>
            <a:r>
              <a:rPr lang="en-GB" sz="2000"/>
              <a:t>Impractical project schedule</a:t>
            </a:r>
          </a:p>
          <a:p>
            <a:pPr lvl="1"/>
            <a:r>
              <a:rPr lang="en-GB" sz="2000"/>
              <a:t>Allocation of appropriate resources</a:t>
            </a:r>
          </a:p>
          <a:p>
            <a:pPr lvl="1"/>
            <a:r>
              <a:rPr lang="en-GB" sz="2000"/>
              <a:t>Changing end user needs</a:t>
            </a:r>
          </a:p>
          <a:p>
            <a:pPr lvl="1"/>
            <a:r>
              <a:rPr lang="en-GB" sz="2000"/>
              <a:t>Non- compliance with industry regulations</a:t>
            </a:r>
          </a:p>
          <a:p>
            <a:pPr lvl="1"/>
            <a:r>
              <a:rPr lang="en-GB" sz="2000"/>
              <a:t>Lack of communication between project management team and system designers/developers</a:t>
            </a:r>
          </a:p>
          <a:p>
            <a:pPr lvl="1"/>
            <a:r>
              <a:rPr lang="en-GB" sz="2000"/>
              <a:t>Inaccurate data conversion</a:t>
            </a:r>
          </a:p>
          <a:p>
            <a:pPr lvl="1"/>
            <a:r>
              <a:rPr lang="en-GB" sz="2000"/>
              <a:t>Improper documentation of plan, design and maintenance </a:t>
            </a:r>
          </a:p>
          <a:p>
            <a:endParaRPr lang="en-GB" sz="2000"/>
          </a:p>
          <a:p>
            <a:endParaRPr lang="en-GB" sz="2000"/>
          </a:p>
        </p:txBody>
      </p:sp>
      <p:sp>
        <p:nvSpPr>
          <p:cNvPr id="4" name="Footer Placeholder 3">
            <a:extLst>
              <a:ext uri="{FF2B5EF4-FFF2-40B4-BE49-F238E27FC236}">
                <a16:creationId xmlns:a16="http://schemas.microsoft.com/office/drawing/2014/main" id="{75E85C1B-7F1C-0255-78C1-677D9528CC0C}"/>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91763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D164-ED29-D3F9-2CF4-35092B6F20A6}"/>
              </a:ext>
            </a:extLst>
          </p:cNvPr>
          <p:cNvSpPr>
            <a:spLocks noGrp="1"/>
          </p:cNvSpPr>
          <p:nvPr>
            <p:ph type="title"/>
          </p:nvPr>
        </p:nvSpPr>
        <p:spPr>
          <a:xfrm>
            <a:off x="813371" y="18255"/>
            <a:ext cx="10847798" cy="1325563"/>
          </a:xfrm>
        </p:spPr>
        <p:txBody>
          <a:bodyPr>
            <a:normAutofit/>
          </a:bodyPr>
          <a:lstStyle/>
          <a:p>
            <a:r>
              <a:rPr lang="en-US" sz="4000" b="1" dirty="0"/>
              <a:t>Methodologies to Improve Software Quality  (cont’d)</a:t>
            </a:r>
            <a:endParaRPr lang="en-GB" sz="4000" dirty="0"/>
          </a:p>
        </p:txBody>
      </p:sp>
      <p:sp>
        <p:nvSpPr>
          <p:cNvPr id="3" name="Content Placeholder 2">
            <a:extLst>
              <a:ext uri="{FF2B5EF4-FFF2-40B4-BE49-F238E27FC236}">
                <a16:creationId xmlns:a16="http://schemas.microsoft.com/office/drawing/2014/main" id="{718D66DE-29AF-988F-6A7D-8FE076906E8C}"/>
              </a:ext>
            </a:extLst>
          </p:cNvPr>
          <p:cNvSpPr>
            <a:spLocks noGrp="1"/>
          </p:cNvSpPr>
          <p:nvPr>
            <p:ph idx="1"/>
          </p:nvPr>
        </p:nvSpPr>
        <p:spPr>
          <a:xfrm>
            <a:off x="838200" y="1428108"/>
            <a:ext cx="10515600" cy="4748855"/>
          </a:xfrm>
        </p:spPr>
        <p:txBody>
          <a:bodyPr>
            <a:normAutofit/>
          </a:bodyPr>
          <a:lstStyle/>
          <a:p>
            <a:pPr>
              <a:buFont typeface="Wingdings" panose="05000000000000000000" pitchFamily="2" charset="2"/>
              <a:buChar char="q"/>
            </a:pPr>
            <a:r>
              <a:rPr lang="en-GB" sz="3000" b="1" dirty="0">
                <a:solidFill>
                  <a:srgbClr val="081D41"/>
                </a:solidFill>
                <a:latin typeface="open_sansregular"/>
              </a:rPr>
              <a:t> </a:t>
            </a:r>
            <a:r>
              <a:rPr lang="en-GB" b="1" dirty="0">
                <a:solidFill>
                  <a:srgbClr val="081D41"/>
                </a:solidFill>
                <a:latin typeface="open_sansregular"/>
              </a:rPr>
              <a:t>Long term strategy </a:t>
            </a:r>
            <a:endParaRPr lang="en-GB" sz="3000" b="1" dirty="0">
              <a:solidFill>
                <a:srgbClr val="081D41"/>
              </a:solidFill>
              <a:latin typeface="open_sansregular"/>
            </a:endParaRPr>
          </a:p>
          <a:p>
            <a:pPr lvl="1"/>
            <a:r>
              <a:rPr lang="en-GB" sz="2600" dirty="0"/>
              <a:t>the advantages of long-term strategy for producing software quality:</a:t>
            </a:r>
          </a:p>
          <a:p>
            <a:pPr lvl="3"/>
            <a:r>
              <a:rPr lang="en-GB" sz="2400" dirty="0"/>
              <a:t>Doing it right first means you don’t have to spend time doing it over.</a:t>
            </a:r>
          </a:p>
          <a:p>
            <a:pPr lvl="3"/>
            <a:r>
              <a:rPr lang="en-GB" sz="2400" dirty="0"/>
              <a:t>Placing as much importance on architecture and design as coding ensures the veracity of your project.</a:t>
            </a:r>
          </a:p>
          <a:p>
            <a:pPr lvl="3"/>
            <a:r>
              <a:rPr lang="en-GB" sz="2400" dirty="0"/>
              <a:t>Creating coding standards with long-term vision eliminates unnecessary mistakes.</a:t>
            </a:r>
          </a:p>
          <a:p>
            <a:pPr lvl="3"/>
            <a:r>
              <a:rPr lang="en-GB" sz="2400" dirty="0"/>
              <a:t>Effective peer review ensures errors are minimised even though it may seem time-consuming at that particular moment.</a:t>
            </a:r>
          </a:p>
          <a:p>
            <a:pPr lvl="3"/>
            <a:r>
              <a:rPr lang="en-GB" sz="2400" dirty="0"/>
              <a:t>Testing often allows you to plan further ahead with certainty that errors and bugs have been fixed.</a:t>
            </a:r>
          </a:p>
          <a:p>
            <a:endParaRPr lang="en-GB" dirty="0"/>
          </a:p>
        </p:txBody>
      </p:sp>
      <p:sp>
        <p:nvSpPr>
          <p:cNvPr id="4" name="Footer Placeholder 3">
            <a:extLst>
              <a:ext uri="{FF2B5EF4-FFF2-40B4-BE49-F238E27FC236}">
                <a16:creationId xmlns:a16="http://schemas.microsoft.com/office/drawing/2014/main" id="{7D3BDB6B-121C-1506-A27D-CB5F0C356FEC}"/>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58846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3E1E6-D88A-1564-A85E-C410D293BB11}"/>
              </a:ext>
            </a:extLst>
          </p:cNvPr>
          <p:cNvSpPr>
            <a:spLocks noGrp="1"/>
          </p:cNvSpPr>
          <p:nvPr>
            <p:ph type="title"/>
          </p:nvPr>
        </p:nvSpPr>
        <p:spPr>
          <a:xfrm>
            <a:off x="838200" y="303480"/>
            <a:ext cx="10935984" cy="1325563"/>
          </a:xfrm>
        </p:spPr>
        <p:txBody>
          <a:bodyPr>
            <a:normAutofit/>
          </a:bodyPr>
          <a:lstStyle/>
          <a:p>
            <a:r>
              <a:rPr lang="en-US" sz="4000" b="1" dirty="0"/>
              <a:t>Methodologies to Improve Software Quality  (cont’d)</a:t>
            </a:r>
            <a:endParaRPr lang="en-GB" sz="4000" dirty="0"/>
          </a:p>
        </p:txBody>
      </p:sp>
      <p:sp>
        <p:nvSpPr>
          <p:cNvPr id="3" name="Content Placeholder 2">
            <a:extLst>
              <a:ext uri="{FF2B5EF4-FFF2-40B4-BE49-F238E27FC236}">
                <a16:creationId xmlns:a16="http://schemas.microsoft.com/office/drawing/2014/main" id="{03EC10A4-D8EC-FF9C-6192-5E36D7B8DA4D}"/>
              </a:ext>
            </a:extLst>
          </p:cNvPr>
          <p:cNvSpPr>
            <a:spLocks noGrp="1"/>
          </p:cNvSpPr>
          <p:nvPr>
            <p:ph idx="1"/>
          </p:nvPr>
        </p:nvSpPr>
        <p:spPr/>
        <p:txBody>
          <a:bodyPr/>
          <a:lstStyle/>
          <a:p>
            <a:pPr>
              <a:buFont typeface="Wingdings" panose="05000000000000000000" pitchFamily="2" charset="2"/>
              <a:buChar char="q"/>
            </a:pPr>
            <a:r>
              <a:rPr lang="en-GB" dirty="0"/>
              <a:t> </a:t>
            </a:r>
            <a:r>
              <a:rPr lang="en-GB" b="1" dirty="0">
                <a:solidFill>
                  <a:srgbClr val="081D41"/>
                </a:solidFill>
                <a:latin typeface="open_sansregular"/>
              </a:rPr>
              <a:t>Three Rs for quality check</a:t>
            </a:r>
          </a:p>
          <a:p>
            <a:endParaRPr lang="en-GB" dirty="0"/>
          </a:p>
        </p:txBody>
      </p:sp>
      <p:pic>
        <p:nvPicPr>
          <p:cNvPr id="4" name="Content Placeholder 4">
            <a:extLst>
              <a:ext uri="{FF2B5EF4-FFF2-40B4-BE49-F238E27FC236}">
                <a16:creationId xmlns:a16="http://schemas.microsoft.com/office/drawing/2014/main" id="{30C6F197-51BC-9C1F-AAED-5077D65DD815}"/>
              </a:ext>
            </a:extLst>
          </p:cNvPr>
          <p:cNvPicPr>
            <a:picLocks noChangeAspect="1"/>
          </p:cNvPicPr>
          <p:nvPr/>
        </p:nvPicPr>
        <p:blipFill>
          <a:blip r:embed="rId2"/>
          <a:stretch>
            <a:fillRect/>
          </a:stretch>
        </p:blipFill>
        <p:spPr>
          <a:xfrm>
            <a:off x="838200" y="2357975"/>
            <a:ext cx="10515600" cy="3286637"/>
          </a:xfrm>
          <a:prstGeom prst="rect">
            <a:avLst/>
          </a:prstGeom>
        </p:spPr>
      </p:pic>
      <p:sp>
        <p:nvSpPr>
          <p:cNvPr id="5" name="Footer Placeholder 4">
            <a:extLst>
              <a:ext uri="{FF2B5EF4-FFF2-40B4-BE49-F238E27FC236}">
                <a16:creationId xmlns:a16="http://schemas.microsoft.com/office/drawing/2014/main" id="{D422E21C-C9E9-C821-F1D1-C98EF806A308}"/>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537757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5BF4DF2C-F028-4921-9C23-41303F650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 name="Title 7">
            <a:extLst>
              <a:ext uri="{FF2B5EF4-FFF2-40B4-BE49-F238E27FC236}">
                <a16:creationId xmlns:a16="http://schemas.microsoft.com/office/drawing/2014/main" id="{D9B507D9-A648-10F2-F044-B97F01D79781}"/>
              </a:ext>
            </a:extLst>
          </p:cNvPr>
          <p:cNvSpPr>
            <a:spLocks noGrp="1"/>
          </p:cNvSpPr>
          <p:nvPr>
            <p:ph type="ctrTitle"/>
          </p:nvPr>
        </p:nvSpPr>
        <p:spPr>
          <a:xfrm>
            <a:off x="457200" y="1598246"/>
            <a:ext cx="4587410" cy="4381314"/>
          </a:xfrm>
        </p:spPr>
        <p:txBody>
          <a:bodyPr anchor="t">
            <a:normAutofit/>
          </a:bodyPr>
          <a:lstStyle/>
          <a:p>
            <a:pPr algn="l"/>
            <a:r>
              <a:rPr lang="en-GB" sz="3800" dirty="0">
                <a:solidFill>
                  <a:srgbClr val="FFFFFF"/>
                </a:solidFill>
              </a:rPr>
              <a:t> </a:t>
            </a:r>
            <a:r>
              <a:rPr lang="en-GB" sz="4800" b="1" dirty="0">
                <a:solidFill>
                  <a:srgbClr val="FFFFFF"/>
                </a:solidFill>
              </a:rPr>
              <a:t>Impact of psychology and mindset of tester </a:t>
            </a:r>
            <a:r>
              <a:rPr lang="en-GB" sz="4800" b="1">
                <a:solidFill>
                  <a:srgbClr val="FFFFFF"/>
                </a:solidFill>
              </a:rPr>
              <a:t>and developer on </a:t>
            </a:r>
            <a:r>
              <a:rPr lang="en-GB" sz="4800" b="1" dirty="0">
                <a:solidFill>
                  <a:srgbClr val="FFFFFF"/>
                </a:solidFill>
              </a:rPr>
              <a:t>The Software success</a:t>
            </a:r>
          </a:p>
        </p:txBody>
      </p:sp>
      <p:cxnSp>
        <p:nvCxnSpPr>
          <p:cNvPr id="2059" name="Straight Connector 205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052846C2-5547-D4D3-33F7-2B2CDAE8746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86925" y="2391636"/>
            <a:ext cx="5664133" cy="3132973"/>
          </a:xfrm>
          <a:prstGeom prst="rect">
            <a:avLst/>
          </a:prstGeom>
          <a:noFill/>
          <a:extLst>
            <a:ext uri="{909E8E84-426E-40DD-AFC4-6F175D3DCCD1}">
              <a14:hiddenFill xmlns:a14="http://schemas.microsoft.com/office/drawing/2010/main">
                <a:solidFill>
                  <a:srgbClr val="FFFFFF"/>
                </a:solidFill>
              </a14:hiddenFill>
            </a:ext>
          </a:extLst>
        </p:spPr>
      </p:pic>
      <p:grpSp>
        <p:nvGrpSpPr>
          <p:cNvPr id="2061" name="Group 2060">
            <a:extLst>
              <a:ext uri="{FF2B5EF4-FFF2-40B4-BE49-F238E27FC236}">
                <a16:creationId xmlns:a16="http://schemas.microsoft.com/office/drawing/2014/main" id="{892B7B61-D701-474B-AE8F-EA238B550A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12034" y="1267063"/>
            <a:ext cx="368480" cy="519967"/>
            <a:chOff x="11512034" y="1267063"/>
            <a:chExt cx="368480" cy="519967"/>
          </a:xfrm>
          <a:solidFill>
            <a:srgbClr val="FFFFFF"/>
          </a:solidFill>
        </p:grpSpPr>
        <p:sp>
          <p:nvSpPr>
            <p:cNvPr id="2062"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grpFill/>
            <a:ln w="603" cap="flat">
              <a:noFill/>
              <a:prstDash val="solid"/>
              <a:miter/>
            </a:ln>
          </p:spPr>
          <p:txBody>
            <a:bodyPr rtlCol="0" anchor="ctr"/>
            <a:lstStyle/>
            <a:p>
              <a:endParaRPr lang="en-US">
                <a:solidFill>
                  <a:srgbClr val="FFFFFF"/>
                </a:solidFill>
              </a:endParaRPr>
            </a:p>
          </p:txBody>
        </p:sp>
        <p:sp>
          <p:nvSpPr>
            <p:cNvPr id="2063"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sp>
        <p:nvSpPr>
          <p:cNvPr id="10" name="Footer Placeholder 9">
            <a:extLst>
              <a:ext uri="{FF2B5EF4-FFF2-40B4-BE49-F238E27FC236}">
                <a16:creationId xmlns:a16="http://schemas.microsoft.com/office/drawing/2014/main" id="{F883DBA6-C26C-C496-906E-969026A27CD9}"/>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96062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876152E-4080-AE75-6CEB-2ED75A80FF42}"/>
              </a:ext>
            </a:extLst>
          </p:cNvPr>
          <p:cNvPicPr>
            <a:picLocks noChangeAspect="1"/>
          </p:cNvPicPr>
          <p:nvPr/>
        </p:nvPicPr>
        <p:blipFill rotWithShape="1">
          <a:blip r:embed="rId2"/>
          <a:srcRect r="5882" b="-1"/>
          <a:stretch/>
        </p:blipFill>
        <p:spPr>
          <a:xfrm>
            <a:off x="2522356" y="10"/>
            <a:ext cx="9669642" cy="6857990"/>
          </a:xfrm>
          <a:prstGeom prst="rect">
            <a:avLst/>
          </a:prstGeom>
        </p:spPr>
      </p:pic>
      <p:sp>
        <p:nvSpPr>
          <p:cNvPr id="22" name="Rectangle 1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E49691-F128-143F-C8A2-99596FB77B99}"/>
              </a:ext>
            </a:extLst>
          </p:cNvPr>
          <p:cNvSpPr>
            <a:spLocks noGrp="1"/>
          </p:cNvSpPr>
          <p:nvPr>
            <p:ph type="title"/>
          </p:nvPr>
        </p:nvSpPr>
        <p:spPr>
          <a:xfrm>
            <a:off x="838200" y="365125"/>
            <a:ext cx="4062573" cy="1899912"/>
          </a:xfrm>
        </p:spPr>
        <p:txBody>
          <a:bodyPr>
            <a:normAutofit/>
          </a:bodyPr>
          <a:lstStyle/>
          <a:p>
            <a:r>
              <a:rPr lang="en-GB" sz="4000" b="1" dirty="0"/>
              <a:t>Tester and Developer mindset</a:t>
            </a:r>
          </a:p>
        </p:txBody>
      </p:sp>
      <p:sp>
        <p:nvSpPr>
          <p:cNvPr id="3" name="Content Placeholder 2">
            <a:extLst>
              <a:ext uri="{FF2B5EF4-FFF2-40B4-BE49-F238E27FC236}">
                <a16:creationId xmlns:a16="http://schemas.microsoft.com/office/drawing/2014/main" id="{9EDA9AAC-9496-6DFD-4564-B25758E64E95}"/>
              </a:ext>
            </a:extLst>
          </p:cNvPr>
          <p:cNvSpPr>
            <a:spLocks noGrp="1"/>
          </p:cNvSpPr>
          <p:nvPr>
            <p:ph idx="1"/>
          </p:nvPr>
        </p:nvSpPr>
        <p:spPr>
          <a:xfrm>
            <a:off x="838200" y="2434201"/>
            <a:ext cx="8418816" cy="3742762"/>
          </a:xfrm>
        </p:spPr>
        <p:txBody>
          <a:bodyPr>
            <a:normAutofit lnSpcReduction="10000"/>
          </a:bodyPr>
          <a:lstStyle/>
          <a:p>
            <a:r>
              <a:rPr lang="en-GB" sz="2400" dirty="0"/>
              <a:t>A mindset is a belief that guides the way we handle situations, how we solve what is happening, and what we should do. Different people around us have different mindsets. Likewise, developers and testers have a different way of thinking too.</a:t>
            </a:r>
          </a:p>
          <a:p>
            <a:endParaRPr lang="en-GB" sz="2400" dirty="0"/>
          </a:p>
          <a:p>
            <a:r>
              <a:rPr lang="en-GB" sz="2400" dirty="0"/>
              <a:t>Tester's and Developer's carry different mindsets, they often think differently. The developers think: </a:t>
            </a:r>
            <a:r>
              <a:rPr lang="en-GB" sz="2400" b="1" dirty="0"/>
              <a:t>"How can I make the application? " </a:t>
            </a:r>
            <a:r>
              <a:rPr lang="en-GB" sz="2400" dirty="0"/>
              <a:t>whereas the tester's perspective is: </a:t>
            </a:r>
            <a:r>
              <a:rPr lang="en-GB" sz="2400" b="1" dirty="0"/>
              <a:t>"How can I break the application?" </a:t>
            </a:r>
            <a:r>
              <a:rPr lang="en-GB" sz="2400" dirty="0"/>
              <a:t>But one can achieve the desired result only when both Testers and Developers work together collaboratively.</a:t>
            </a:r>
          </a:p>
          <a:p>
            <a:endParaRPr lang="en-GB" sz="1400" dirty="0"/>
          </a:p>
        </p:txBody>
      </p:sp>
      <p:sp>
        <p:nvSpPr>
          <p:cNvPr id="6" name="Footer Placeholder 5">
            <a:extLst>
              <a:ext uri="{FF2B5EF4-FFF2-40B4-BE49-F238E27FC236}">
                <a16:creationId xmlns:a16="http://schemas.microsoft.com/office/drawing/2014/main" id="{95472EA6-F378-3463-3260-27BAB447504C}"/>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435901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9A60-560D-3D97-EB1C-2E3898907344}"/>
              </a:ext>
            </a:extLst>
          </p:cNvPr>
          <p:cNvSpPr>
            <a:spLocks noGrp="1"/>
          </p:cNvSpPr>
          <p:nvPr>
            <p:ph type="title"/>
          </p:nvPr>
        </p:nvSpPr>
        <p:spPr>
          <a:xfrm>
            <a:off x="838200" y="241835"/>
            <a:ext cx="10515600" cy="1325563"/>
          </a:xfrm>
        </p:spPr>
        <p:txBody>
          <a:bodyPr/>
          <a:lstStyle/>
          <a:p>
            <a:r>
              <a:rPr lang="en-GB" sz="4000" b="1" dirty="0"/>
              <a:t>Testers and developers involvement at different phases of SDLC</a:t>
            </a:r>
          </a:p>
        </p:txBody>
      </p:sp>
      <p:sp>
        <p:nvSpPr>
          <p:cNvPr id="3" name="Content Placeholder 2">
            <a:extLst>
              <a:ext uri="{FF2B5EF4-FFF2-40B4-BE49-F238E27FC236}">
                <a16:creationId xmlns:a16="http://schemas.microsoft.com/office/drawing/2014/main" id="{00A66EA6-E93F-1C23-6B28-278EA9B91E71}"/>
              </a:ext>
            </a:extLst>
          </p:cNvPr>
          <p:cNvSpPr>
            <a:spLocks noGrp="1"/>
          </p:cNvSpPr>
          <p:nvPr>
            <p:ph idx="1"/>
          </p:nvPr>
        </p:nvSpPr>
        <p:spPr/>
        <p:txBody>
          <a:bodyPr/>
          <a:lstStyle/>
          <a:p>
            <a:pPr algn="l">
              <a:buFont typeface="Wingdings" panose="05000000000000000000" pitchFamily="2" charset="2"/>
              <a:buChar char="q"/>
            </a:pPr>
            <a:r>
              <a:rPr lang="en-GB" sz="2400" b="1" u="sng" dirty="0"/>
              <a:t> </a:t>
            </a:r>
            <a:r>
              <a:rPr lang="en-GB" b="1" u="sng" dirty="0"/>
              <a:t>Requirement Gathering and Analysis: </a:t>
            </a:r>
            <a:r>
              <a:rPr lang="en-GB" dirty="0"/>
              <a:t>The preparation of requirement documents happens in this phase, as stated by the customer.</a:t>
            </a:r>
          </a:p>
          <a:p>
            <a:pPr lvl="1"/>
            <a:r>
              <a:rPr lang="en-GB" b="1" dirty="0"/>
              <a:t>Developer's role: </a:t>
            </a:r>
            <a:r>
              <a:rPr lang="en-GB" dirty="0"/>
              <a:t>After getting the requirement document, they will </a:t>
            </a:r>
            <a:r>
              <a:rPr lang="en-GB" dirty="0" err="1"/>
              <a:t>analyze</a:t>
            </a:r>
            <a:r>
              <a:rPr lang="en-GB" dirty="0"/>
              <a:t> the requirements and start finalizing the technology stack.</a:t>
            </a:r>
          </a:p>
          <a:p>
            <a:pPr lvl="1"/>
            <a:endParaRPr lang="en-GB" dirty="0"/>
          </a:p>
          <a:p>
            <a:pPr lvl="1"/>
            <a:r>
              <a:rPr lang="en-GB" b="1" dirty="0"/>
              <a:t>Tester's role: </a:t>
            </a:r>
            <a:r>
              <a:rPr lang="en-GB" dirty="0"/>
              <a:t>After </a:t>
            </a:r>
            <a:r>
              <a:rPr lang="en-GB" dirty="0" err="1"/>
              <a:t>analyzing</a:t>
            </a:r>
            <a:r>
              <a:rPr lang="en-GB" dirty="0"/>
              <a:t> the requirements document, the testing team can ask their set of queries. The testers can also find requirement defects. It saves time and money if detected and fixed at this stage.</a:t>
            </a:r>
          </a:p>
          <a:p>
            <a:endParaRPr lang="en-GB" dirty="0"/>
          </a:p>
        </p:txBody>
      </p:sp>
      <p:sp>
        <p:nvSpPr>
          <p:cNvPr id="4" name="Footer Placeholder 3">
            <a:extLst>
              <a:ext uri="{FF2B5EF4-FFF2-40B4-BE49-F238E27FC236}">
                <a16:creationId xmlns:a16="http://schemas.microsoft.com/office/drawing/2014/main" id="{DAD4B14C-5EE5-E168-C50F-6F7B759F6F30}"/>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2076848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D99C-D747-B22F-8ADA-1E0B92A778EE}"/>
              </a:ext>
            </a:extLst>
          </p:cNvPr>
          <p:cNvSpPr>
            <a:spLocks noGrp="1"/>
          </p:cNvSpPr>
          <p:nvPr>
            <p:ph type="title"/>
          </p:nvPr>
        </p:nvSpPr>
        <p:spPr>
          <a:xfrm>
            <a:off x="838200" y="108271"/>
            <a:ext cx="10515600" cy="1325563"/>
          </a:xfrm>
        </p:spPr>
        <p:txBody>
          <a:bodyPr/>
          <a:lstStyle/>
          <a:p>
            <a:r>
              <a:rPr lang="en-GB" sz="4400" b="1" dirty="0"/>
              <a:t>Testers and developers involvement at different phases of SDLC</a:t>
            </a:r>
            <a:endParaRPr lang="en-GB" dirty="0"/>
          </a:p>
        </p:txBody>
      </p:sp>
      <p:sp>
        <p:nvSpPr>
          <p:cNvPr id="3" name="Content Placeholder 2">
            <a:extLst>
              <a:ext uri="{FF2B5EF4-FFF2-40B4-BE49-F238E27FC236}">
                <a16:creationId xmlns:a16="http://schemas.microsoft.com/office/drawing/2014/main" id="{80B66DFD-D308-8C36-31DE-EE8C9880FF79}"/>
              </a:ext>
            </a:extLst>
          </p:cNvPr>
          <p:cNvSpPr>
            <a:spLocks noGrp="1"/>
          </p:cNvSpPr>
          <p:nvPr>
            <p:ph idx="1"/>
          </p:nvPr>
        </p:nvSpPr>
        <p:spPr/>
        <p:txBody>
          <a:bodyPr>
            <a:normAutofit fontScale="77500" lnSpcReduction="20000"/>
          </a:bodyPr>
          <a:lstStyle/>
          <a:p>
            <a:pPr algn="l">
              <a:buFont typeface="Wingdings" panose="05000000000000000000" pitchFamily="2" charset="2"/>
              <a:buChar char="q"/>
            </a:pPr>
            <a:r>
              <a:rPr lang="en-GB" sz="3300" dirty="0"/>
              <a:t> </a:t>
            </a:r>
            <a:r>
              <a:rPr lang="en-GB" sz="3300" b="1" u="sng" dirty="0"/>
              <a:t>System design: </a:t>
            </a:r>
            <a:r>
              <a:rPr lang="en-GB" sz="3300" dirty="0"/>
              <a:t>In this phase, the architecture, interfaces, modules, and data for a system are defined to meet the specified requirements.</a:t>
            </a:r>
          </a:p>
          <a:p>
            <a:pPr marL="0" indent="0" algn="l">
              <a:buNone/>
            </a:pPr>
            <a:endParaRPr lang="en-GB" sz="3300" dirty="0"/>
          </a:p>
          <a:p>
            <a:pPr lvl="1"/>
            <a:r>
              <a:rPr lang="en-GB" sz="2900" b="1" dirty="0"/>
              <a:t>Developer's role: </a:t>
            </a:r>
            <a:r>
              <a:rPr lang="en-GB" sz="2900" dirty="0"/>
              <a:t>The transformation of the requirements identified in the requirements analysis phase into a system design document happens here. This document accurately describes the system design. Additionally, it works as an input for the development of the system in the next phase. Based on these detailed specifications, developers write the code for the software.</a:t>
            </a:r>
          </a:p>
          <a:p>
            <a:pPr lvl="1"/>
            <a:endParaRPr lang="en-GB" sz="2900" dirty="0"/>
          </a:p>
          <a:p>
            <a:pPr lvl="1"/>
            <a:r>
              <a:rPr lang="en-GB" sz="2900" b="1" dirty="0"/>
              <a:t>Tester's role: </a:t>
            </a:r>
            <a:r>
              <a:rPr lang="en-GB" sz="2900" dirty="0"/>
              <a:t>The testers, from their understanding and creative thinking, </a:t>
            </a:r>
            <a:r>
              <a:rPr lang="en-GB" sz="2900" dirty="0" err="1"/>
              <a:t>analyze</a:t>
            </a:r>
            <a:r>
              <a:rPr lang="en-GB" sz="2900" dirty="0"/>
              <a:t> all the possible scenarios for all the new features, integrations, etc. Preparation of test scenarios &amp; test data happens to ensure smooth testing of the application. For this, they create a test strategy, integration test plan, test cases, checklists, and test data.</a:t>
            </a:r>
          </a:p>
          <a:p>
            <a:endParaRPr lang="en-GB" dirty="0"/>
          </a:p>
        </p:txBody>
      </p:sp>
      <p:sp>
        <p:nvSpPr>
          <p:cNvPr id="4" name="Footer Placeholder 3">
            <a:extLst>
              <a:ext uri="{FF2B5EF4-FFF2-40B4-BE49-F238E27FC236}">
                <a16:creationId xmlns:a16="http://schemas.microsoft.com/office/drawing/2014/main" id="{0964CC80-43FD-F646-9D9A-A2DA9E15923C}"/>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489496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3D0B6-E6DF-A44B-C026-52C558C388BF}"/>
              </a:ext>
            </a:extLst>
          </p:cNvPr>
          <p:cNvSpPr>
            <a:spLocks noGrp="1"/>
          </p:cNvSpPr>
          <p:nvPr>
            <p:ph type="title"/>
          </p:nvPr>
        </p:nvSpPr>
        <p:spPr>
          <a:xfrm>
            <a:off x="930667" y="200738"/>
            <a:ext cx="10515600" cy="1325563"/>
          </a:xfrm>
        </p:spPr>
        <p:txBody>
          <a:bodyPr/>
          <a:lstStyle/>
          <a:p>
            <a:r>
              <a:rPr lang="en-GB" sz="4400" b="1" dirty="0"/>
              <a:t>Testers and developers involvement at different phases of SDLC</a:t>
            </a:r>
            <a:endParaRPr lang="en-GB" dirty="0"/>
          </a:p>
        </p:txBody>
      </p:sp>
      <p:sp>
        <p:nvSpPr>
          <p:cNvPr id="3" name="Content Placeholder 2">
            <a:extLst>
              <a:ext uri="{FF2B5EF4-FFF2-40B4-BE49-F238E27FC236}">
                <a16:creationId xmlns:a16="http://schemas.microsoft.com/office/drawing/2014/main" id="{DF16F856-793E-D008-4D94-5E2CC17787DC}"/>
              </a:ext>
            </a:extLst>
          </p:cNvPr>
          <p:cNvSpPr>
            <a:spLocks noGrp="1"/>
          </p:cNvSpPr>
          <p:nvPr>
            <p:ph idx="1"/>
          </p:nvPr>
        </p:nvSpPr>
        <p:spPr/>
        <p:txBody>
          <a:bodyPr>
            <a:normAutofit fontScale="62500" lnSpcReduction="20000"/>
          </a:bodyPr>
          <a:lstStyle/>
          <a:p>
            <a:pPr>
              <a:buFont typeface="Wingdings" panose="05000000000000000000" pitchFamily="2" charset="2"/>
              <a:buChar char="q"/>
            </a:pPr>
            <a:r>
              <a:rPr lang="en-GB" sz="3600" b="1" u="sng" dirty="0"/>
              <a:t> Coding phase: </a:t>
            </a:r>
            <a:r>
              <a:rPr lang="en-GB" sz="3600" dirty="0"/>
              <a:t>The coding phase is also called the "implementation" or "development" phase. It involves the development of the actual product. The developer writes the code and then tests it continuously and incrementally to ensure that the different components work together. It is the most time-consuming phase of the SDLC process.</a:t>
            </a:r>
          </a:p>
          <a:p>
            <a:pPr marL="0" indent="0">
              <a:buNone/>
            </a:pPr>
            <a:endParaRPr lang="en-GB" sz="3600" dirty="0"/>
          </a:p>
          <a:p>
            <a:pPr lvl="1"/>
            <a:r>
              <a:rPr lang="en-GB" sz="3200" b="1" dirty="0"/>
              <a:t>Developer's role: </a:t>
            </a:r>
            <a:r>
              <a:rPr lang="en-GB" sz="3200" dirty="0"/>
              <a:t>Once the system design phase ends, the next stage is coding. In this phase, developers begin to build the entire system by writing code using the chosen programming language. In the coding phase, the task division into units or modules takes place and thereafter, it is assigned to different developers.</a:t>
            </a:r>
          </a:p>
          <a:p>
            <a:pPr lvl="1"/>
            <a:endParaRPr lang="en-GB" sz="3200" dirty="0"/>
          </a:p>
          <a:p>
            <a:pPr lvl="1"/>
            <a:r>
              <a:rPr lang="en-GB" sz="3200" b="1" dirty="0"/>
              <a:t>Tester's role: </a:t>
            </a:r>
            <a:r>
              <a:rPr lang="en-GB" sz="3200" dirty="0"/>
              <a:t>In current agile methodology, progressive automation and functional testing happen. Whereby, a tester automates and tests the application after coding. At this stage, the tester would test each component and also carry out component integration testing. Therefore, the tester needs to work closely with developers to make this phase successful.</a:t>
            </a:r>
          </a:p>
          <a:p>
            <a:endParaRPr lang="en-GB" dirty="0"/>
          </a:p>
        </p:txBody>
      </p:sp>
      <p:sp>
        <p:nvSpPr>
          <p:cNvPr id="4" name="Footer Placeholder 3">
            <a:extLst>
              <a:ext uri="{FF2B5EF4-FFF2-40B4-BE49-F238E27FC236}">
                <a16:creationId xmlns:a16="http://schemas.microsoft.com/office/drawing/2014/main" id="{F08412B2-081B-4ECD-F75F-7354E97A5E9F}"/>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244647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EDDC5-9AA9-C027-83C5-6726D20ECBEA}"/>
              </a:ext>
            </a:extLst>
          </p:cNvPr>
          <p:cNvSpPr>
            <a:spLocks noGrp="1"/>
          </p:cNvSpPr>
          <p:nvPr>
            <p:ph type="title"/>
          </p:nvPr>
        </p:nvSpPr>
        <p:spPr>
          <a:xfrm>
            <a:off x="838200" y="180190"/>
            <a:ext cx="10515600" cy="1325563"/>
          </a:xfrm>
        </p:spPr>
        <p:txBody>
          <a:bodyPr/>
          <a:lstStyle/>
          <a:p>
            <a:r>
              <a:rPr lang="en-GB" sz="4400" b="1" dirty="0"/>
              <a:t>Testers and developers involvement at different phases of SDLC</a:t>
            </a:r>
            <a:endParaRPr lang="en-GB" dirty="0"/>
          </a:p>
        </p:txBody>
      </p:sp>
      <p:sp>
        <p:nvSpPr>
          <p:cNvPr id="3" name="Content Placeholder 2">
            <a:extLst>
              <a:ext uri="{FF2B5EF4-FFF2-40B4-BE49-F238E27FC236}">
                <a16:creationId xmlns:a16="http://schemas.microsoft.com/office/drawing/2014/main" id="{A5AF66B9-AB5C-54F0-394E-0572F8B53234}"/>
              </a:ext>
            </a:extLst>
          </p:cNvPr>
          <p:cNvSpPr>
            <a:spLocks noGrp="1"/>
          </p:cNvSpPr>
          <p:nvPr>
            <p:ph idx="1"/>
          </p:nvPr>
        </p:nvSpPr>
        <p:spPr>
          <a:xfrm>
            <a:off x="838200" y="1825625"/>
            <a:ext cx="10515600" cy="4534078"/>
          </a:xfrm>
        </p:spPr>
        <p:txBody>
          <a:bodyPr>
            <a:normAutofit fontScale="85000" lnSpcReduction="10000"/>
          </a:bodyPr>
          <a:lstStyle/>
          <a:p>
            <a:pPr>
              <a:buFont typeface="Wingdings" panose="05000000000000000000" pitchFamily="2" charset="2"/>
              <a:buChar char="q"/>
            </a:pPr>
            <a:r>
              <a:rPr lang="en-GB" sz="2900" b="1" u="sng" dirty="0"/>
              <a:t> System Testing: </a:t>
            </a:r>
            <a:r>
              <a:rPr lang="en-GB" sz="2900" dirty="0"/>
              <a:t>Once the software is complete and deployed in the test environment, the testing team begins to test the functionality of the entire system. It is to ensure that the entire application works according to customer requirements.</a:t>
            </a:r>
          </a:p>
          <a:p>
            <a:pPr marL="0" indent="0">
              <a:buNone/>
            </a:pPr>
            <a:endParaRPr lang="en-GB" sz="2900" dirty="0"/>
          </a:p>
          <a:p>
            <a:pPr lvl="1"/>
            <a:r>
              <a:rPr lang="en-GB" sz="2500" b="1" dirty="0"/>
              <a:t>Developer's role: </a:t>
            </a:r>
            <a:r>
              <a:rPr lang="en-GB" sz="2500" dirty="0"/>
              <a:t>The testing team may find some defects and communicate them to the developers. The development team corrects the error and sends it back to the testing team for the retest. This process continues until the software is error-free, stable, and functioning  &amp; in accordance with the business requirements.</a:t>
            </a:r>
          </a:p>
          <a:p>
            <a:pPr marL="457200" lvl="1" indent="0">
              <a:buNone/>
            </a:pPr>
            <a:endParaRPr lang="en-GB" sz="2500" dirty="0"/>
          </a:p>
          <a:p>
            <a:pPr lvl="1"/>
            <a:r>
              <a:rPr lang="en-GB" sz="2500" b="1" dirty="0"/>
              <a:t>Tester's role: </a:t>
            </a:r>
            <a:r>
              <a:rPr lang="en-GB" sz="2500" dirty="0"/>
              <a:t>In this phase, the tester executes the end to end test cases and verifies every aspect of the system. Apart from the desired functionality, they also check the system from a user's perspective. So the testers use their creative thinking and explore each possible scenario. System integration testing, which involves integration with third-party systems, also occurs at this stage.</a:t>
            </a:r>
          </a:p>
          <a:p>
            <a:endParaRPr lang="en-GB" dirty="0"/>
          </a:p>
        </p:txBody>
      </p:sp>
      <p:sp>
        <p:nvSpPr>
          <p:cNvPr id="4" name="Footer Placeholder 3">
            <a:extLst>
              <a:ext uri="{FF2B5EF4-FFF2-40B4-BE49-F238E27FC236}">
                <a16:creationId xmlns:a16="http://schemas.microsoft.com/office/drawing/2014/main" id="{6C956FDA-2739-F572-59B9-9BB1077C03EA}"/>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627333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3C22-A493-56EE-4B4C-A97F7D4A7CCB}"/>
              </a:ext>
            </a:extLst>
          </p:cNvPr>
          <p:cNvSpPr>
            <a:spLocks noGrp="1"/>
          </p:cNvSpPr>
          <p:nvPr>
            <p:ph type="title"/>
          </p:nvPr>
        </p:nvSpPr>
        <p:spPr>
          <a:xfrm>
            <a:off x="838200" y="128819"/>
            <a:ext cx="10515600" cy="1325563"/>
          </a:xfrm>
        </p:spPr>
        <p:txBody>
          <a:bodyPr/>
          <a:lstStyle/>
          <a:p>
            <a:r>
              <a:rPr lang="en-GB" sz="4400" b="1" dirty="0"/>
              <a:t>Testers and developers involvement at different phases of SDLC</a:t>
            </a:r>
            <a:endParaRPr lang="en-GB" dirty="0"/>
          </a:p>
        </p:txBody>
      </p:sp>
      <p:sp>
        <p:nvSpPr>
          <p:cNvPr id="3" name="Content Placeholder 2">
            <a:extLst>
              <a:ext uri="{FF2B5EF4-FFF2-40B4-BE49-F238E27FC236}">
                <a16:creationId xmlns:a16="http://schemas.microsoft.com/office/drawing/2014/main" id="{AFC02138-BAE1-16F4-4C70-348C684216C0}"/>
              </a:ext>
            </a:extLst>
          </p:cNvPr>
          <p:cNvSpPr>
            <a:spLocks noGrp="1"/>
          </p:cNvSpPr>
          <p:nvPr>
            <p:ph idx="1"/>
          </p:nvPr>
        </p:nvSpPr>
        <p:spPr>
          <a:xfrm>
            <a:off x="838200" y="1695236"/>
            <a:ext cx="10515600" cy="4613097"/>
          </a:xfrm>
        </p:spPr>
        <p:txBody>
          <a:bodyPr>
            <a:normAutofit fontScale="85000" lnSpcReduction="10000"/>
          </a:bodyPr>
          <a:lstStyle/>
          <a:p>
            <a:pPr>
              <a:buFont typeface="Wingdings" panose="05000000000000000000" pitchFamily="2" charset="2"/>
              <a:buChar char="q"/>
            </a:pPr>
            <a:r>
              <a:rPr lang="en-GB" sz="2900" dirty="0"/>
              <a:t> </a:t>
            </a:r>
            <a:r>
              <a:rPr lang="en-GB" sz="2900" b="1" u="sng" dirty="0"/>
              <a:t>Maintenance phase: </a:t>
            </a:r>
            <a:r>
              <a:rPr lang="en-GB" sz="2900" dirty="0"/>
              <a:t>The maintenance phase starts once the system deployment to production happens, and customers begin using the product. This phase includes the post-deployment supports and fixes.</a:t>
            </a:r>
          </a:p>
          <a:p>
            <a:pPr>
              <a:buFont typeface="Wingdings" panose="05000000000000000000" pitchFamily="2" charset="2"/>
              <a:buChar char="q"/>
            </a:pPr>
            <a:endParaRPr lang="en-GB" sz="2900" dirty="0"/>
          </a:p>
          <a:p>
            <a:pPr lvl="1"/>
            <a:r>
              <a:rPr lang="en-GB" sz="2500" b="1" dirty="0"/>
              <a:t>Developer's role: </a:t>
            </a:r>
            <a:r>
              <a:rPr lang="en-GB" sz="2500" dirty="0"/>
              <a:t>In this phase, the developer performs the following three activities:</a:t>
            </a:r>
          </a:p>
          <a:p>
            <a:pPr marL="1143000" lvl="3">
              <a:spcBef>
                <a:spcPts val="1000"/>
              </a:spcBef>
            </a:pPr>
            <a:r>
              <a:rPr lang="en-GB" sz="2300" dirty="0"/>
              <a:t>Bug fixes: Developer fixes the bugs that are reported by the customer.</a:t>
            </a:r>
          </a:p>
          <a:p>
            <a:pPr marL="1143000" lvl="3">
              <a:spcBef>
                <a:spcPts val="1000"/>
              </a:spcBef>
            </a:pPr>
            <a:r>
              <a:rPr lang="en-GB" sz="2300" dirty="0"/>
              <a:t>Update: They update the application to the latest versions of the software.</a:t>
            </a:r>
          </a:p>
          <a:p>
            <a:pPr marL="1143000" lvl="3">
              <a:spcBef>
                <a:spcPts val="1000"/>
              </a:spcBef>
            </a:pPr>
            <a:r>
              <a:rPr lang="en-GB" sz="2300" dirty="0"/>
              <a:t>Enhancements: Developers also add some new features to existing software based on customer feedback.</a:t>
            </a:r>
          </a:p>
          <a:p>
            <a:pPr marL="914400" lvl="3" indent="0">
              <a:spcBef>
                <a:spcPts val="1000"/>
              </a:spcBef>
              <a:buNone/>
            </a:pPr>
            <a:endParaRPr lang="en-GB" sz="2300" dirty="0"/>
          </a:p>
          <a:p>
            <a:pPr lvl="1"/>
            <a:r>
              <a:rPr lang="en-GB" sz="2500" b="1" dirty="0"/>
              <a:t>Tester's role: </a:t>
            </a:r>
            <a:r>
              <a:rPr lang="en-GB" sz="2500" dirty="0"/>
              <a:t>When the developer finishes his job, the tester retests the application. The tester ensures that the system is working correctly after the code change or enhanced functionality. Tester is also responsible for doing regression testing to ensure existing functionality does not break by the latest changes.</a:t>
            </a:r>
          </a:p>
          <a:p>
            <a:endParaRPr lang="en-GB" dirty="0"/>
          </a:p>
        </p:txBody>
      </p:sp>
      <p:sp>
        <p:nvSpPr>
          <p:cNvPr id="4" name="Footer Placeholder 3">
            <a:extLst>
              <a:ext uri="{FF2B5EF4-FFF2-40B4-BE49-F238E27FC236}">
                <a16:creationId xmlns:a16="http://schemas.microsoft.com/office/drawing/2014/main" id="{B45852CD-21F6-6D76-6368-0363D8A142FE}"/>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045572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Freeform: Shape 308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C120E11-A808-D461-7267-0718F7570148}"/>
              </a:ext>
            </a:extLst>
          </p:cNvPr>
          <p:cNvSpPr>
            <a:spLocks noGrp="1"/>
          </p:cNvSpPr>
          <p:nvPr>
            <p:ph type="title"/>
          </p:nvPr>
        </p:nvSpPr>
        <p:spPr>
          <a:xfrm>
            <a:off x="941825" y="241002"/>
            <a:ext cx="10566047" cy="1330841"/>
          </a:xfrm>
        </p:spPr>
        <p:txBody>
          <a:bodyPr>
            <a:normAutofit fontScale="90000"/>
          </a:bodyPr>
          <a:lstStyle/>
          <a:p>
            <a:r>
              <a:rPr lang="en-GB" b="1" dirty="0"/>
              <a:t>Comparison of Tester’s and Developer’s Mindsets</a:t>
            </a:r>
            <a:br>
              <a:rPr lang="en-GB" sz="3100" b="1" i="0" dirty="0">
                <a:effectLst/>
                <a:latin typeface="Open Sans" panose="020B0606030504020204" pitchFamily="34" charset="0"/>
              </a:rPr>
            </a:br>
            <a:endParaRPr lang="en-GB" sz="3100" dirty="0"/>
          </a:p>
        </p:txBody>
      </p:sp>
      <p:sp>
        <p:nvSpPr>
          <p:cNvPr id="3" name="Content Placeholder 2">
            <a:extLst>
              <a:ext uri="{FF2B5EF4-FFF2-40B4-BE49-F238E27FC236}">
                <a16:creationId xmlns:a16="http://schemas.microsoft.com/office/drawing/2014/main" id="{EBE68BC3-0CC0-0B34-BB30-B8F6B03F3F94}"/>
              </a:ext>
            </a:extLst>
          </p:cNvPr>
          <p:cNvSpPr>
            <a:spLocks noGrp="1"/>
          </p:cNvSpPr>
          <p:nvPr>
            <p:ph idx="1"/>
          </p:nvPr>
        </p:nvSpPr>
        <p:spPr>
          <a:xfrm>
            <a:off x="941824" y="1356190"/>
            <a:ext cx="6342553" cy="4759946"/>
          </a:xfrm>
        </p:spPr>
        <p:txBody>
          <a:bodyPr>
            <a:normAutofit fontScale="92500"/>
          </a:bodyPr>
          <a:lstStyle/>
          <a:p>
            <a:r>
              <a:rPr lang="en-GB" sz="2400" b="0" i="0" dirty="0">
                <a:effectLst/>
                <a:latin typeface="open sans" panose="020B0606030504020204" pitchFamily="34" charset="0"/>
              </a:rPr>
              <a:t>The testing and reviewing of the applications are different from the analysing and developing of it. </a:t>
            </a:r>
          </a:p>
          <a:p>
            <a:r>
              <a:rPr lang="en-GB" sz="2400" b="0" i="0" dirty="0">
                <a:effectLst/>
                <a:latin typeface="open sans" panose="020B0606030504020204" pitchFamily="34" charset="0"/>
              </a:rPr>
              <a:t>If we are building or developing applications we are working positively to solve the problems during the development process and to make the product according to the user specification.</a:t>
            </a:r>
          </a:p>
          <a:p>
            <a:r>
              <a:rPr lang="en-GB" sz="2400" b="0" i="0" dirty="0">
                <a:effectLst/>
                <a:latin typeface="open sans" panose="020B0606030504020204" pitchFamily="34" charset="0"/>
              </a:rPr>
              <a:t>Testing or reviewing a product we are looking for the defects or </a:t>
            </a:r>
            <a:r>
              <a:rPr lang="en-GB" sz="2400" dirty="0">
                <a:latin typeface="open sans" panose="020B0606030504020204" pitchFamily="34" charset="0"/>
              </a:rPr>
              <a:t>failures</a:t>
            </a:r>
            <a:r>
              <a:rPr lang="en-GB" sz="2400" b="1" i="0" u="none" strike="noStrike" dirty="0">
                <a:effectLst/>
                <a:latin typeface="open sans" panose="020B0606030504020204" pitchFamily="34" charset="0"/>
              </a:rPr>
              <a:t> </a:t>
            </a:r>
            <a:r>
              <a:rPr lang="en-GB" sz="2400" b="0" i="0" dirty="0">
                <a:effectLst/>
                <a:latin typeface="open sans" panose="020B0606030504020204" pitchFamily="34" charset="0"/>
              </a:rPr>
              <a:t>in the product. </a:t>
            </a:r>
          </a:p>
          <a:p>
            <a:r>
              <a:rPr lang="en-GB" sz="2400" b="0" i="0" dirty="0">
                <a:effectLst/>
                <a:latin typeface="open sans" panose="020B0606030504020204" pitchFamily="34" charset="0"/>
              </a:rPr>
              <a:t>Thus building the software requires a different mindset from testing the software.</a:t>
            </a:r>
          </a:p>
          <a:p>
            <a:endParaRPr lang="en-GB" sz="1900" dirty="0"/>
          </a:p>
        </p:txBody>
      </p:sp>
      <p:pic>
        <p:nvPicPr>
          <p:cNvPr id="3074" name="Picture 2">
            <a:extLst>
              <a:ext uri="{FF2B5EF4-FFF2-40B4-BE49-F238E27FC236}">
                <a16:creationId xmlns:a16="http://schemas.microsoft.com/office/drawing/2014/main" id="{E92491F0-861F-C8D9-1187-010682119CE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9237" y="2222318"/>
            <a:ext cx="4788505" cy="3591378"/>
          </a:xfrm>
          <a:prstGeom prst="rect">
            <a:avLst/>
          </a:prstGeom>
          <a:noFill/>
          <a:extLst>
            <a:ext uri="{909E8E84-426E-40DD-AFC4-6F175D3DCCD1}">
              <a14:hiddenFill xmlns:a14="http://schemas.microsoft.com/office/drawing/2010/main">
                <a:solidFill>
                  <a:srgbClr val="FFFFFF"/>
                </a:solidFill>
              </a14:hiddenFill>
            </a:ext>
          </a:extLst>
        </p:spPr>
      </p:pic>
      <p:sp>
        <p:nvSpPr>
          <p:cNvPr id="3083" name="Freeform: Shape 308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oter Placeholder 3">
            <a:extLst>
              <a:ext uri="{FF2B5EF4-FFF2-40B4-BE49-F238E27FC236}">
                <a16:creationId xmlns:a16="http://schemas.microsoft.com/office/drawing/2014/main" id="{143EA9F1-AF40-D662-4CBC-5A2BDAFDA3BD}"/>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2899774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712EF-ACE7-2CC4-A49A-EE76A9D6368E}"/>
              </a:ext>
            </a:extLst>
          </p:cNvPr>
          <p:cNvSpPr>
            <a:spLocks noGrp="1"/>
          </p:cNvSpPr>
          <p:nvPr>
            <p:ph type="title"/>
          </p:nvPr>
        </p:nvSpPr>
        <p:spPr>
          <a:xfrm>
            <a:off x="838200" y="0"/>
            <a:ext cx="10515600" cy="1325563"/>
          </a:xfrm>
        </p:spPr>
        <p:txBody>
          <a:bodyPr/>
          <a:lstStyle/>
          <a:p>
            <a:r>
              <a:rPr lang="en-GB" sz="4000" b="1" dirty="0"/>
              <a:t>The developer plays the role of a tester</a:t>
            </a:r>
          </a:p>
        </p:txBody>
      </p:sp>
      <p:sp>
        <p:nvSpPr>
          <p:cNvPr id="3" name="Content Placeholder 2">
            <a:extLst>
              <a:ext uri="{FF2B5EF4-FFF2-40B4-BE49-F238E27FC236}">
                <a16:creationId xmlns:a16="http://schemas.microsoft.com/office/drawing/2014/main" id="{CA5BBC44-2761-3FD1-4D8E-BDE5599437E9}"/>
              </a:ext>
            </a:extLst>
          </p:cNvPr>
          <p:cNvSpPr>
            <a:spLocks noGrp="1"/>
          </p:cNvSpPr>
          <p:nvPr>
            <p:ph idx="1"/>
          </p:nvPr>
        </p:nvSpPr>
        <p:spPr>
          <a:xfrm>
            <a:off x="838200" y="1551399"/>
            <a:ext cx="10515600" cy="4738580"/>
          </a:xfrm>
        </p:spPr>
        <p:txBody>
          <a:bodyPr>
            <a:normAutofit fontScale="92500" lnSpcReduction="20000"/>
          </a:bodyPr>
          <a:lstStyle/>
          <a:p>
            <a:r>
              <a:rPr lang="en-GB" sz="2400" dirty="0">
                <a:latin typeface="open sans" panose="020B0606030504020204" pitchFamily="34" charset="0"/>
              </a:rPr>
              <a:t>Even though, Testers and Developers are separate roles; it does not mean that their roles are not reversible. </a:t>
            </a:r>
          </a:p>
          <a:p>
            <a:endParaRPr lang="en-GB" sz="2400" dirty="0">
              <a:latin typeface="open sans" panose="020B0606030504020204" pitchFamily="34" charset="0"/>
            </a:endParaRPr>
          </a:p>
          <a:p>
            <a:r>
              <a:rPr lang="en-GB" sz="2400" dirty="0">
                <a:latin typeface="open sans" panose="020B0606030504020204" pitchFamily="34" charset="0"/>
              </a:rPr>
              <a:t>The tester can be the developer or the developer can be the tester.</a:t>
            </a:r>
          </a:p>
          <a:p>
            <a:endParaRPr lang="en-GB" sz="2400" dirty="0">
              <a:latin typeface="open sans" panose="020B0606030504020204" pitchFamily="34" charset="0"/>
            </a:endParaRPr>
          </a:p>
          <a:p>
            <a:r>
              <a:rPr lang="en-GB" sz="2400" dirty="0">
                <a:latin typeface="open sans" panose="020B0606030504020204" pitchFamily="34" charset="0"/>
              </a:rPr>
              <a:t> Developers always test the component that they built before giving it to anyone. This process is known as self-testing. </a:t>
            </a:r>
          </a:p>
          <a:p>
            <a:endParaRPr lang="en-GB" sz="2400" dirty="0">
              <a:latin typeface="open sans" panose="020B0606030504020204" pitchFamily="34" charset="0"/>
            </a:endParaRPr>
          </a:p>
          <a:p>
            <a:r>
              <a:rPr lang="en-GB" sz="2400" dirty="0">
                <a:latin typeface="open sans" panose="020B0606030504020204" pitchFamily="34" charset="0"/>
              </a:rPr>
              <a:t>We all know that it is difficult to find our own mistakes. So, the developer sends the applications to test specialists or professional testers which allows independent testing of the system. </a:t>
            </a:r>
          </a:p>
          <a:p>
            <a:endParaRPr lang="en-GB" sz="2400" dirty="0">
              <a:latin typeface="open sans" panose="020B0606030504020204" pitchFamily="34" charset="0"/>
            </a:endParaRPr>
          </a:p>
          <a:p>
            <a:r>
              <a:rPr lang="en-GB" sz="2400" dirty="0">
                <a:latin typeface="open sans" panose="020B0606030504020204" pitchFamily="34" charset="0"/>
              </a:rPr>
              <a:t>This degree of independence avoids the author's bias and is often more effective in finding defects and failures.</a:t>
            </a:r>
          </a:p>
        </p:txBody>
      </p:sp>
      <p:sp>
        <p:nvSpPr>
          <p:cNvPr id="4" name="Footer Placeholder 3">
            <a:extLst>
              <a:ext uri="{FF2B5EF4-FFF2-40B4-BE49-F238E27FC236}">
                <a16:creationId xmlns:a16="http://schemas.microsoft.com/office/drawing/2014/main" id="{EF577208-C5AF-6A23-57CE-91473FC3F7C5}"/>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791748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Freeform: Shape 4104">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91A6DE9-38A9-0D4D-A07B-DF01D639AC8B}"/>
              </a:ext>
            </a:extLst>
          </p:cNvPr>
          <p:cNvSpPr>
            <a:spLocks noGrp="1"/>
          </p:cNvSpPr>
          <p:nvPr>
            <p:ph type="title"/>
          </p:nvPr>
        </p:nvSpPr>
        <p:spPr>
          <a:xfrm>
            <a:off x="1137034" y="197225"/>
            <a:ext cx="9392421" cy="1330841"/>
          </a:xfrm>
        </p:spPr>
        <p:txBody>
          <a:bodyPr>
            <a:normAutofit/>
          </a:bodyPr>
          <a:lstStyle/>
          <a:p>
            <a:r>
              <a:rPr lang="en-GB" sz="3400" b="1" dirty="0"/>
              <a:t>Clear and courteous communication and feedback on defects between tester and  developer</a:t>
            </a:r>
          </a:p>
        </p:txBody>
      </p:sp>
      <p:sp>
        <p:nvSpPr>
          <p:cNvPr id="3" name="Content Placeholder 2">
            <a:extLst>
              <a:ext uri="{FF2B5EF4-FFF2-40B4-BE49-F238E27FC236}">
                <a16:creationId xmlns:a16="http://schemas.microsoft.com/office/drawing/2014/main" id="{35BED9DD-4B95-0308-4265-088F4DE07991}"/>
              </a:ext>
            </a:extLst>
          </p:cNvPr>
          <p:cNvSpPr>
            <a:spLocks noGrp="1"/>
          </p:cNvSpPr>
          <p:nvPr>
            <p:ph idx="1"/>
          </p:nvPr>
        </p:nvSpPr>
        <p:spPr>
          <a:xfrm>
            <a:off x="1137034" y="1725292"/>
            <a:ext cx="6097206" cy="4390844"/>
          </a:xfrm>
        </p:spPr>
        <p:txBody>
          <a:bodyPr>
            <a:noAutofit/>
          </a:bodyPr>
          <a:lstStyle/>
          <a:p>
            <a:r>
              <a:rPr lang="en-GB" sz="2400" b="0" i="0" dirty="0">
                <a:effectLst/>
                <a:latin typeface="open sans" panose="020B0606030504020204" pitchFamily="34" charset="0"/>
              </a:rPr>
              <a:t>We all make mistakes and we sometimes get annoyed and upset or depressed when someone points them out. So, when as testers we run a test which is a good test from our viewpoint because we found the defects and failures in the software.</a:t>
            </a:r>
          </a:p>
          <a:p>
            <a:pPr marL="0" indent="0">
              <a:buNone/>
            </a:pPr>
            <a:endParaRPr lang="en-GB" sz="2400" b="0" i="0" dirty="0">
              <a:effectLst/>
              <a:latin typeface="open sans" panose="020B0606030504020204" pitchFamily="34" charset="0"/>
            </a:endParaRPr>
          </a:p>
          <a:p>
            <a:r>
              <a:rPr lang="en-GB" sz="2400" b="0" i="0" dirty="0">
                <a:effectLst/>
                <a:latin typeface="open sans" panose="020B0606030504020204" pitchFamily="34" charset="0"/>
              </a:rPr>
              <a:t>Because testing can be seen as destructive activity we need to take care while reporting our defects </a:t>
            </a:r>
            <a:r>
              <a:rPr lang="en-GB" sz="2400" dirty="0">
                <a:latin typeface="open sans" panose="020B0606030504020204" pitchFamily="34" charset="0"/>
              </a:rPr>
              <a:t>and failures to the programmers </a:t>
            </a:r>
            <a:r>
              <a:rPr lang="en-GB" sz="2400" b="0" i="0" dirty="0">
                <a:effectLst/>
                <a:latin typeface="open sans" panose="020B0606030504020204" pitchFamily="34" charset="0"/>
              </a:rPr>
              <a:t>as objectively and politely as possible.</a:t>
            </a:r>
            <a:endParaRPr lang="en-GB" sz="2400" dirty="0"/>
          </a:p>
        </p:txBody>
      </p:sp>
      <p:pic>
        <p:nvPicPr>
          <p:cNvPr id="4098" name="Picture 2">
            <a:extLst>
              <a:ext uri="{FF2B5EF4-FFF2-40B4-BE49-F238E27FC236}">
                <a16:creationId xmlns:a16="http://schemas.microsoft.com/office/drawing/2014/main" id="{B97B0896-2BFD-11EA-F185-F63251D9C87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28216" y="2671433"/>
            <a:ext cx="4569808" cy="2609999"/>
          </a:xfrm>
          <a:prstGeom prst="rect">
            <a:avLst/>
          </a:prstGeom>
          <a:noFill/>
          <a:extLst>
            <a:ext uri="{909E8E84-426E-40DD-AFC4-6F175D3DCCD1}">
              <a14:hiddenFill xmlns:a14="http://schemas.microsoft.com/office/drawing/2010/main">
                <a:solidFill>
                  <a:srgbClr val="FFFFFF"/>
                </a:solidFill>
              </a14:hiddenFill>
            </a:ext>
          </a:extLst>
        </p:spPr>
      </p:pic>
      <p:sp>
        <p:nvSpPr>
          <p:cNvPr id="4107" name="Freeform: Shape 4106">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ooter Placeholder 3">
            <a:extLst>
              <a:ext uri="{FF2B5EF4-FFF2-40B4-BE49-F238E27FC236}">
                <a16:creationId xmlns:a16="http://schemas.microsoft.com/office/drawing/2014/main" id="{CBDAC1C3-C4FA-92CF-7114-D95085144CC3}"/>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1164519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AF83E-73DE-C5EC-4F63-AEBF2B0509A5}"/>
              </a:ext>
            </a:extLst>
          </p:cNvPr>
          <p:cNvSpPr>
            <a:spLocks noGrp="1"/>
          </p:cNvSpPr>
          <p:nvPr>
            <p:ph type="title"/>
          </p:nvPr>
        </p:nvSpPr>
        <p:spPr/>
        <p:txBody>
          <a:bodyPr/>
          <a:lstStyle/>
          <a:p>
            <a:r>
              <a:rPr lang="en-GB" b="1" dirty="0"/>
              <a:t>Conclusion</a:t>
            </a:r>
          </a:p>
        </p:txBody>
      </p:sp>
      <p:sp>
        <p:nvSpPr>
          <p:cNvPr id="3" name="Content Placeholder 2">
            <a:extLst>
              <a:ext uri="{FF2B5EF4-FFF2-40B4-BE49-F238E27FC236}">
                <a16:creationId xmlns:a16="http://schemas.microsoft.com/office/drawing/2014/main" id="{3C50BF48-6712-5448-9D9C-B9DEB45A803E}"/>
              </a:ext>
            </a:extLst>
          </p:cNvPr>
          <p:cNvSpPr>
            <a:spLocks noGrp="1"/>
          </p:cNvSpPr>
          <p:nvPr>
            <p:ph idx="1"/>
          </p:nvPr>
        </p:nvSpPr>
        <p:spPr/>
        <p:txBody>
          <a:bodyPr>
            <a:normAutofit/>
          </a:bodyPr>
          <a:lstStyle/>
          <a:p>
            <a:pPr>
              <a:buFont typeface="Wingdings" panose="05000000000000000000" pitchFamily="2" charset="2"/>
              <a:buChar char="ü"/>
            </a:pPr>
            <a:r>
              <a:rPr lang="en-GB" dirty="0">
                <a:latin typeface="open sans" panose="020B0606030504020204" pitchFamily="34" charset="0"/>
              </a:rPr>
              <a:t> appreciating differences is essential for productive teams. But different approaches help to find solutions and lead to the delivery of a product that works in the best way.</a:t>
            </a:r>
          </a:p>
          <a:p>
            <a:pPr>
              <a:buFont typeface="Wingdings" panose="05000000000000000000" pitchFamily="2" charset="2"/>
              <a:buChar char="ü"/>
            </a:pPr>
            <a:endParaRPr lang="en-GB" dirty="0">
              <a:latin typeface="open sans" panose="020B0606030504020204" pitchFamily="34" charset="0"/>
            </a:endParaRPr>
          </a:p>
          <a:p>
            <a:pPr>
              <a:buFont typeface="Wingdings" panose="05000000000000000000" pitchFamily="2" charset="2"/>
              <a:buChar char="ü"/>
            </a:pPr>
            <a:r>
              <a:rPr lang="en-GB" dirty="0">
                <a:latin typeface="open sans" panose="020B0606030504020204" pitchFamily="34" charset="0"/>
              </a:rPr>
              <a:t> The testers and the developers together form a capable team. It is their responsibility to guarantee the best product. And, it is possible only if both work hand in hand with proper understanding and positive feedback.</a:t>
            </a:r>
          </a:p>
        </p:txBody>
      </p:sp>
      <p:sp>
        <p:nvSpPr>
          <p:cNvPr id="4" name="Footer Placeholder 3">
            <a:extLst>
              <a:ext uri="{FF2B5EF4-FFF2-40B4-BE49-F238E27FC236}">
                <a16:creationId xmlns:a16="http://schemas.microsoft.com/office/drawing/2014/main" id="{738C3F1C-AFAD-C895-96CF-E1B35A1E7281}"/>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2745775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1829-D535-B1E3-57F3-F6CBFF9E4005}"/>
              </a:ext>
            </a:extLst>
          </p:cNvPr>
          <p:cNvSpPr>
            <a:spLocks noGrp="1"/>
          </p:cNvSpPr>
          <p:nvPr>
            <p:ph type="title"/>
          </p:nvPr>
        </p:nvSpPr>
        <p:spPr/>
        <p:txBody>
          <a:bodyPr/>
          <a:lstStyle/>
          <a:p>
            <a:r>
              <a:rPr lang="en-GB" b="1" dirty="0"/>
              <a:t>References</a:t>
            </a:r>
          </a:p>
        </p:txBody>
      </p:sp>
      <p:sp>
        <p:nvSpPr>
          <p:cNvPr id="3" name="Content Placeholder 2">
            <a:extLst>
              <a:ext uri="{FF2B5EF4-FFF2-40B4-BE49-F238E27FC236}">
                <a16:creationId xmlns:a16="http://schemas.microsoft.com/office/drawing/2014/main" id="{46C9BBD0-237C-E0EF-916C-FF36B9D8F874}"/>
              </a:ext>
            </a:extLst>
          </p:cNvPr>
          <p:cNvSpPr>
            <a:spLocks noGrp="1"/>
          </p:cNvSpPr>
          <p:nvPr>
            <p:ph idx="1"/>
          </p:nvPr>
        </p:nvSpPr>
        <p:spPr/>
        <p:txBody>
          <a:bodyPr/>
          <a:lstStyle/>
          <a:p>
            <a:r>
              <a:rPr lang="en-GB" dirty="0">
                <a:hlinkClick r:id="rId2"/>
              </a:rPr>
              <a:t>https://medium.com/@madhavikau/psychology-of-testing-in-software-testing-a59bdeb90ae0</a:t>
            </a:r>
            <a:endParaRPr lang="en-GB" dirty="0"/>
          </a:p>
          <a:p>
            <a:r>
              <a:rPr lang="en-GB" dirty="0">
                <a:hlinkClick r:id="rId3"/>
              </a:rPr>
              <a:t>https://www.toolsqa.com/software-testing/istqb/testers-and-developers-mindsets/</a:t>
            </a:r>
            <a:endParaRPr lang="en-GB" dirty="0"/>
          </a:p>
          <a:p>
            <a:r>
              <a:rPr lang="en-GB" dirty="0">
                <a:hlinkClick r:id="rId4"/>
              </a:rPr>
              <a:t>http://tryqa.com/what-is-the-psychology-of-testing/</a:t>
            </a:r>
            <a:endParaRPr lang="en-GB" dirty="0"/>
          </a:p>
          <a:p>
            <a:r>
              <a:rPr lang="en-GB" dirty="0">
                <a:hlinkClick r:id="rId5"/>
              </a:rPr>
              <a:t>https://www.browserstack.com/guide/how-to-improve-software-quality</a:t>
            </a:r>
            <a:endParaRPr lang="en-GB" dirty="0"/>
          </a:p>
          <a:p>
            <a:r>
              <a:rPr lang="en-GB" dirty="0">
                <a:hlinkClick r:id="rId6"/>
              </a:rPr>
              <a:t>https://testpoint.com.au/11-ways-to-improve-software-quality/</a:t>
            </a:r>
            <a:endParaRPr lang="en-GB" dirty="0"/>
          </a:p>
          <a:p>
            <a:r>
              <a:rPr lang="en-GB" dirty="0">
                <a:hlinkClick r:id="rId7"/>
              </a:rPr>
              <a:t>https://eujournal.org/index.php/esj/article/viewFile/2624/2485</a:t>
            </a:r>
            <a:endParaRPr lang="en-GB" dirty="0"/>
          </a:p>
          <a:p>
            <a:endParaRPr lang="en-GB" dirty="0"/>
          </a:p>
        </p:txBody>
      </p:sp>
      <p:sp>
        <p:nvSpPr>
          <p:cNvPr id="4" name="Footer Placeholder 3">
            <a:extLst>
              <a:ext uri="{FF2B5EF4-FFF2-40B4-BE49-F238E27FC236}">
                <a16:creationId xmlns:a16="http://schemas.microsoft.com/office/drawing/2014/main" id="{AA3A5F79-AF8A-3DCF-6F99-C7380C22C8AF}"/>
              </a:ext>
            </a:extLst>
          </p:cNvPr>
          <p:cNvSpPr>
            <a:spLocks noGrp="1"/>
          </p:cNvSpPr>
          <p:nvPr>
            <p:ph type="ftr" sz="quarter" idx="11"/>
          </p:nvPr>
        </p:nvSpPr>
        <p:spPr/>
        <p:txBody>
          <a:bodyPr/>
          <a:lstStyle/>
          <a:p>
            <a:r>
              <a:rPr lang="en-GB"/>
              <a:t>Eng. Asmaa Lafi</a:t>
            </a:r>
          </a:p>
        </p:txBody>
      </p:sp>
    </p:spTree>
    <p:extLst>
      <p:ext uri="{BB962C8B-B14F-4D97-AF65-F5344CB8AC3E}">
        <p14:creationId xmlns:p14="http://schemas.microsoft.com/office/powerpoint/2010/main" val="319282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928</TotalTime>
  <Words>2129</Words>
  <Application>Microsoft Office PowerPoint</Application>
  <PresentationFormat>Widescreen</PresentationFormat>
  <Paragraphs>148</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Calibri Light</vt:lpstr>
      <vt:lpstr>Open Sans</vt:lpstr>
      <vt:lpstr>Open Sans</vt:lpstr>
      <vt:lpstr>open_sansregular</vt:lpstr>
      <vt:lpstr>source-sans-pro</vt:lpstr>
      <vt:lpstr>Wingdings</vt:lpstr>
      <vt:lpstr>Office Theme</vt:lpstr>
      <vt:lpstr>Improving Software Quality</vt:lpstr>
      <vt:lpstr>Importance of Software Quality</vt:lpstr>
      <vt:lpstr>Methodologies to Improve Software Quality </vt:lpstr>
      <vt:lpstr>Methodologies to Improve Software Quality  (cont’d)</vt:lpstr>
      <vt:lpstr>Methodologies to Improve Software Quality  (cont’d)</vt:lpstr>
      <vt:lpstr>Methodologies to Improve Software Quality  (cont’d)</vt:lpstr>
      <vt:lpstr>Methodologies to Improve Software Quality  (cont’d)</vt:lpstr>
      <vt:lpstr>Methodologies to Improve Software Quality  (cont’d)</vt:lpstr>
      <vt:lpstr>Methodologies to Improve Software Quality  (cont’d)</vt:lpstr>
      <vt:lpstr>Methodologies to Improve Software Quality  (cont’d)</vt:lpstr>
      <vt:lpstr> Impact of psychology and mindset of tester and developer on The Software success</vt:lpstr>
      <vt:lpstr>Tester and Developer mindset</vt:lpstr>
      <vt:lpstr>Testers and developers involvement at different phases of SDLC</vt:lpstr>
      <vt:lpstr>Testers and developers involvement at different phases of SDLC</vt:lpstr>
      <vt:lpstr>Testers and developers involvement at different phases of SDLC</vt:lpstr>
      <vt:lpstr>Testers and developers involvement at different phases of SDLC</vt:lpstr>
      <vt:lpstr>Testers and developers involvement at different phases of SDLC</vt:lpstr>
      <vt:lpstr>Comparison of Tester’s and Developer’s Mindsets </vt:lpstr>
      <vt:lpstr>The developer plays the role of a tester</vt:lpstr>
      <vt:lpstr>Clear and courteous communication and feedback on defects between tester and  developer</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Improve Software Quality</dc:title>
  <dc:creator>Asmaa Lafi</dc:creator>
  <cp:lastModifiedBy>Asmaa Lafi</cp:lastModifiedBy>
  <cp:revision>16</cp:revision>
  <dcterms:created xsi:type="dcterms:W3CDTF">2022-12-26T12:54:55Z</dcterms:created>
  <dcterms:modified xsi:type="dcterms:W3CDTF">2023-01-09T08:32:52Z</dcterms:modified>
</cp:coreProperties>
</file>