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89" r:id="rId20"/>
    <p:sldId id="274" r:id="rId21"/>
    <p:sldId id="275" r:id="rId22"/>
    <p:sldId id="276" r:id="rId23"/>
    <p:sldId id="278" r:id="rId24"/>
    <p:sldId id="279" r:id="rId25"/>
    <p:sldId id="280" r:id="rId26"/>
    <p:sldId id="281" r:id="rId27"/>
    <p:sldId id="282" r:id="rId28"/>
    <p:sldId id="283" r:id="rId29"/>
    <p:sldId id="284" r:id="rId30"/>
    <p:sldId id="285" r:id="rId31"/>
    <p:sldId id="290" r:id="rId32"/>
    <p:sldId id="292" r:id="rId33"/>
    <p:sldId id="291" r:id="rId34"/>
    <p:sldId id="293" r:id="rId35"/>
    <p:sldId id="294" r:id="rId36"/>
    <p:sldId id="295" r:id="rId37"/>
    <p:sldId id="288" r:id="rId38"/>
    <p:sldId id="299" r:id="rId39"/>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0" d="100"/>
          <a:sy n="60" d="100"/>
        </p:scale>
        <p:origin x="884"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Eng.</a:t>
            </a:r>
            <a:r>
              <a:rPr spc="-55" dirty="0"/>
              <a:t> </a:t>
            </a:r>
            <a:r>
              <a:rPr dirty="0"/>
              <a:t>Asmaa</a:t>
            </a:r>
            <a:r>
              <a:rPr spc="-25" dirty="0"/>
              <a:t> </a:t>
            </a:r>
            <a:r>
              <a:rPr spc="-5" dirty="0"/>
              <a:t>Lafi</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12/27/2023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9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Eng.</a:t>
            </a:r>
            <a:r>
              <a:rPr spc="-55" dirty="0"/>
              <a:t> </a:t>
            </a:r>
            <a:r>
              <a:rPr dirty="0"/>
              <a:t>Asmaa</a:t>
            </a:r>
            <a:r>
              <a:rPr spc="-25" dirty="0"/>
              <a:t> </a:t>
            </a:r>
            <a:r>
              <a:rPr spc="-5" dirty="0"/>
              <a:t>Lafi</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12/27/2023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Eng.</a:t>
            </a:r>
            <a:r>
              <a:rPr spc="-55" dirty="0"/>
              <a:t> </a:t>
            </a:r>
            <a:r>
              <a:rPr dirty="0"/>
              <a:t>Asmaa</a:t>
            </a:r>
            <a:r>
              <a:rPr spc="-25" dirty="0"/>
              <a:t> </a:t>
            </a:r>
            <a:r>
              <a:rPr spc="-5" dirty="0"/>
              <a:t>Lafi</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12/27/2023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Eng.</a:t>
            </a:r>
            <a:r>
              <a:rPr spc="-55" dirty="0"/>
              <a:t> </a:t>
            </a:r>
            <a:r>
              <a:rPr dirty="0"/>
              <a:t>Asmaa</a:t>
            </a:r>
            <a:r>
              <a:rPr spc="-25" dirty="0"/>
              <a:t> </a:t>
            </a:r>
            <a:r>
              <a:rPr spc="-5" dirty="0"/>
              <a:t>Lafi</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12/27/2023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Eng.</a:t>
            </a:r>
            <a:r>
              <a:rPr spc="-55" dirty="0"/>
              <a:t> </a:t>
            </a:r>
            <a:r>
              <a:rPr dirty="0"/>
              <a:t>Asmaa</a:t>
            </a:r>
            <a:r>
              <a:rPr spc="-25" dirty="0"/>
              <a:t> </a:t>
            </a:r>
            <a:r>
              <a:rPr spc="-5" dirty="0"/>
              <a:t>Lafi</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12/27/2023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122375" y="778255"/>
            <a:ext cx="5850890" cy="756919"/>
          </a:xfrm>
          <a:prstGeom prst="rect">
            <a:avLst/>
          </a:prstGeom>
        </p:spPr>
        <p:txBody>
          <a:bodyPr wrap="square" lIns="0" tIns="0" rIns="0" bIns="0">
            <a:spAutoFit/>
          </a:bodyPr>
          <a:lstStyle>
            <a:lvl1pPr>
              <a:defRPr sz="48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899160" y="1261694"/>
            <a:ext cx="10393679" cy="4690745"/>
          </a:xfrm>
          <a:prstGeom prst="rect">
            <a:avLst/>
          </a:prstGeom>
        </p:spPr>
        <p:txBody>
          <a:bodyPr wrap="square" lIns="0" tIns="0" rIns="0" bIns="0">
            <a:spAutoFit/>
          </a:bodyPr>
          <a:lstStyle>
            <a:lvl1pPr>
              <a:defRPr sz="29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5598414" y="6465214"/>
            <a:ext cx="995045"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r>
              <a:rPr dirty="0"/>
              <a:t>Eng.</a:t>
            </a:r>
            <a:r>
              <a:rPr spc="-55" dirty="0"/>
              <a:t> </a:t>
            </a:r>
            <a:r>
              <a:rPr dirty="0"/>
              <a:t>Asmaa</a:t>
            </a:r>
            <a:r>
              <a:rPr spc="-25" dirty="0"/>
              <a:t> </a:t>
            </a:r>
            <a:r>
              <a:rPr spc="-5" dirty="0"/>
              <a:t>Lafi</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12/27/2023</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searchcio.techtarget.com/definition/Servant-Leadership"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inoxoft.com/blog/7-software-development-models-comparison-how-to-choose-the-right-one/" TargetMode="External"/><Relationship Id="rId7" Type="http://schemas.openxmlformats.org/officeDocument/2006/relationships/hyperlink" Target="https://geeksforgeeks.org/dynamic-systems-development-method-dsdm/" TargetMode="External"/><Relationship Id="rId2" Type="http://schemas.openxmlformats.org/officeDocument/2006/relationships/hyperlink" Target="https://www.geeksforgeeks.org/software-engineering-spiral-model/" TargetMode="External"/><Relationship Id="rId1" Type="http://schemas.openxmlformats.org/officeDocument/2006/relationships/slideLayout" Target="../slideLayouts/slideLayout2.xml"/><Relationship Id="rId6" Type="http://schemas.openxmlformats.org/officeDocument/2006/relationships/hyperlink" Target="https://www.tutorialspoint.com/sdlc/sdlc_agile_model.htm" TargetMode="External"/><Relationship Id="rId5" Type="http://schemas.openxmlformats.org/officeDocument/2006/relationships/hyperlink" Target="https://www.techtarget.com/searchsoftwarequality/definition/agile-software-development" TargetMode="External"/><Relationship Id="rId4" Type="http://schemas.openxmlformats.org/officeDocument/2006/relationships/hyperlink" Target="https://www.scribd.com/document/390112233/Agile-SDLC-Model-is-a-Combination-of-Iterative-and-Incremental-Process-Models-With-Focus-on-Process-Adaptability-and-Customer-Satisfaction-by-Rapid-De" TargetMode="External"/></Relationships>
</file>

<file path=ppt/slides/_rels/slide38.xml.rels><?xml version="1.0" encoding="UTF-8" standalone="yes"?>
<Relationships xmlns="http://schemas.openxmlformats.org/package/2006/relationships"><Relationship Id="rId2" Type="http://schemas.openxmlformats.org/officeDocument/2006/relationships/hyperlink" Target="https://www.wrike.com/project-management-guide/faq/kanban-vs-scrum-vs-scrumban-what-are-the-difference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24836" y="2035809"/>
            <a:ext cx="8140700" cy="1760220"/>
          </a:xfrm>
          <a:prstGeom prst="rect">
            <a:avLst/>
          </a:prstGeom>
        </p:spPr>
        <p:txBody>
          <a:bodyPr vert="horz" wrap="square" lIns="0" tIns="118110" rIns="0" bIns="0" rtlCol="0">
            <a:spAutoFit/>
          </a:bodyPr>
          <a:lstStyle/>
          <a:p>
            <a:pPr marL="889000" marR="5080" indent="-876300">
              <a:lnSpc>
                <a:spcPts val="6459"/>
              </a:lnSpc>
              <a:spcBef>
                <a:spcPts val="930"/>
              </a:spcBef>
            </a:pPr>
            <a:r>
              <a:rPr sz="6000" spc="-45" dirty="0">
                <a:solidFill>
                  <a:srgbClr val="444444"/>
                </a:solidFill>
                <a:latin typeface="Lucida Sans Unicode"/>
                <a:cs typeface="Lucida Sans Unicode"/>
              </a:rPr>
              <a:t>Software</a:t>
            </a:r>
            <a:r>
              <a:rPr sz="6000" spc="-370" dirty="0">
                <a:solidFill>
                  <a:srgbClr val="444444"/>
                </a:solidFill>
                <a:latin typeface="Lucida Sans Unicode"/>
                <a:cs typeface="Lucida Sans Unicode"/>
              </a:rPr>
              <a:t> </a:t>
            </a:r>
            <a:r>
              <a:rPr sz="6000" spc="-80" dirty="0">
                <a:solidFill>
                  <a:srgbClr val="444444"/>
                </a:solidFill>
                <a:latin typeface="Lucida Sans Unicode"/>
                <a:cs typeface="Lucida Sans Unicode"/>
              </a:rPr>
              <a:t>Development </a:t>
            </a:r>
            <a:r>
              <a:rPr sz="6000" spc="-1885" dirty="0">
                <a:solidFill>
                  <a:srgbClr val="444444"/>
                </a:solidFill>
                <a:latin typeface="Lucida Sans Unicode"/>
                <a:cs typeface="Lucida Sans Unicode"/>
              </a:rPr>
              <a:t> </a:t>
            </a:r>
            <a:r>
              <a:rPr sz="6000" spc="-145" dirty="0">
                <a:solidFill>
                  <a:srgbClr val="444444"/>
                </a:solidFill>
                <a:latin typeface="Lucida Sans Unicode"/>
                <a:cs typeface="Lucida Sans Unicode"/>
              </a:rPr>
              <a:t>Lifecycle</a:t>
            </a:r>
            <a:r>
              <a:rPr sz="6000" spc="-155" dirty="0">
                <a:solidFill>
                  <a:srgbClr val="444444"/>
                </a:solidFill>
                <a:latin typeface="Lucida Sans Unicode"/>
                <a:cs typeface="Lucida Sans Unicode"/>
              </a:rPr>
              <a:t>s</a:t>
            </a:r>
            <a:r>
              <a:rPr sz="6000" spc="-340" dirty="0">
                <a:solidFill>
                  <a:srgbClr val="444444"/>
                </a:solidFill>
                <a:latin typeface="Lucida Sans Unicode"/>
                <a:cs typeface="Lucida Sans Unicode"/>
              </a:rPr>
              <a:t> </a:t>
            </a:r>
            <a:r>
              <a:rPr sz="6000" spc="-50" dirty="0">
                <a:solidFill>
                  <a:srgbClr val="444444"/>
                </a:solidFill>
                <a:latin typeface="Lucida Sans Unicode"/>
                <a:cs typeface="Lucida Sans Unicode"/>
              </a:rPr>
              <a:t>Models</a:t>
            </a:r>
            <a:endParaRPr sz="6000">
              <a:latin typeface="Lucida Sans Unicode"/>
              <a:cs typeface="Lucida Sans Unicode"/>
            </a:endParaRPr>
          </a:p>
        </p:txBody>
      </p:sp>
      <p:pic>
        <p:nvPicPr>
          <p:cNvPr id="3" name="object 3"/>
          <p:cNvPicPr/>
          <p:nvPr/>
        </p:nvPicPr>
        <p:blipFill>
          <a:blip r:embed="rId2" cstate="print"/>
          <a:stretch>
            <a:fillRect/>
          </a:stretch>
        </p:blipFill>
        <p:spPr>
          <a:xfrm>
            <a:off x="9845040" y="0"/>
            <a:ext cx="2346959" cy="1542288"/>
          </a:xfrm>
          <a:prstGeom prst="rect">
            <a:avLst/>
          </a:prstGeom>
        </p:spPr>
      </p:pic>
      <p:pic>
        <p:nvPicPr>
          <p:cNvPr id="4" name="object 4"/>
          <p:cNvPicPr/>
          <p:nvPr/>
        </p:nvPicPr>
        <p:blipFill>
          <a:blip r:embed="rId3" cstate="print"/>
          <a:stretch>
            <a:fillRect/>
          </a:stretch>
        </p:blipFill>
        <p:spPr>
          <a:xfrm>
            <a:off x="0" y="5992367"/>
            <a:ext cx="12191999" cy="865630"/>
          </a:xfrm>
          <a:prstGeom prst="rect">
            <a:avLst/>
          </a:prstGeom>
        </p:spPr>
      </p:pic>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
        <p:nvSpPr>
          <p:cNvPr id="2" name="object 2"/>
          <p:cNvSpPr txBox="1">
            <a:spLocks noGrp="1"/>
          </p:cNvSpPr>
          <p:nvPr>
            <p:ph type="title"/>
          </p:nvPr>
        </p:nvSpPr>
        <p:spPr>
          <a:xfrm>
            <a:off x="916939" y="609676"/>
            <a:ext cx="2896870" cy="697230"/>
          </a:xfrm>
          <a:prstGeom prst="rect">
            <a:avLst/>
          </a:prstGeom>
        </p:spPr>
        <p:txBody>
          <a:bodyPr vert="horz" wrap="square" lIns="0" tIns="13335" rIns="0" bIns="0" rtlCol="0">
            <a:spAutoFit/>
          </a:bodyPr>
          <a:lstStyle/>
          <a:p>
            <a:pPr marL="12700">
              <a:lnSpc>
                <a:spcPct val="100000"/>
              </a:lnSpc>
              <a:spcBef>
                <a:spcPts val="105"/>
              </a:spcBef>
            </a:pPr>
            <a:r>
              <a:rPr sz="4400" spc="-35" dirty="0"/>
              <a:t>SDLC</a:t>
            </a:r>
            <a:r>
              <a:rPr sz="4400" spc="-160" dirty="0"/>
              <a:t> </a:t>
            </a:r>
            <a:r>
              <a:rPr sz="4400" spc="-35" dirty="0"/>
              <a:t>Models</a:t>
            </a:r>
            <a:endParaRPr sz="4400"/>
          </a:p>
        </p:txBody>
      </p:sp>
      <p:sp>
        <p:nvSpPr>
          <p:cNvPr id="3" name="object 3"/>
          <p:cNvSpPr txBox="1"/>
          <p:nvPr/>
        </p:nvSpPr>
        <p:spPr>
          <a:xfrm>
            <a:off x="916939" y="1664284"/>
            <a:ext cx="10357485" cy="2129790"/>
          </a:xfrm>
          <a:prstGeom prst="rect">
            <a:avLst/>
          </a:prstGeom>
        </p:spPr>
        <p:txBody>
          <a:bodyPr vert="horz" wrap="square" lIns="0" tIns="58419" rIns="0" bIns="0" rtlCol="0">
            <a:spAutoFit/>
          </a:bodyPr>
          <a:lstStyle/>
          <a:p>
            <a:pPr marL="241300" marR="5080" indent="-228600" algn="just">
              <a:lnSpc>
                <a:spcPct val="90000"/>
              </a:lnSpc>
              <a:spcBef>
                <a:spcPts val="459"/>
              </a:spcBef>
              <a:buFont typeface="Arial MT"/>
              <a:buChar char="•"/>
              <a:tabLst>
                <a:tab pos="241300" algn="l"/>
              </a:tabLst>
            </a:pPr>
            <a:r>
              <a:rPr sz="3000" dirty="0">
                <a:latin typeface="Times New Roman"/>
                <a:cs typeface="Times New Roman"/>
              </a:rPr>
              <a:t>A </a:t>
            </a:r>
            <a:r>
              <a:rPr sz="3000" spc="-5" dirty="0">
                <a:latin typeface="Times New Roman"/>
                <a:cs typeface="Times New Roman"/>
              </a:rPr>
              <a:t>software </a:t>
            </a:r>
            <a:r>
              <a:rPr sz="3000" dirty="0">
                <a:latin typeface="Times New Roman"/>
                <a:cs typeface="Times New Roman"/>
              </a:rPr>
              <a:t>development life cycle </a:t>
            </a:r>
            <a:r>
              <a:rPr sz="3000" spc="-5" dirty="0">
                <a:latin typeface="Times New Roman"/>
                <a:cs typeface="Times New Roman"/>
              </a:rPr>
              <a:t>(SDLC) model is </a:t>
            </a:r>
            <a:r>
              <a:rPr sz="3000" dirty="0">
                <a:latin typeface="Times New Roman"/>
                <a:cs typeface="Times New Roman"/>
              </a:rPr>
              <a:t>a conceptual </a:t>
            </a:r>
            <a:r>
              <a:rPr sz="3000" spc="5" dirty="0">
                <a:latin typeface="Times New Roman"/>
                <a:cs typeface="Times New Roman"/>
              </a:rPr>
              <a:t> </a:t>
            </a:r>
            <a:r>
              <a:rPr sz="3000" dirty="0">
                <a:latin typeface="Times New Roman"/>
                <a:cs typeface="Times New Roman"/>
              </a:rPr>
              <a:t>framework</a:t>
            </a:r>
            <a:r>
              <a:rPr sz="3000" spc="5" dirty="0">
                <a:latin typeface="Times New Roman"/>
                <a:cs typeface="Times New Roman"/>
              </a:rPr>
              <a:t> </a:t>
            </a:r>
            <a:r>
              <a:rPr sz="3000" spc="-5" dirty="0">
                <a:solidFill>
                  <a:srgbClr val="292929"/>
                </a:solidFill>
                <a:latin typeface="Times New Roman"/>
                <a:cs typeface="Times New Roman"/>
              </a:rPr>
              <a:t>describing</a:t>
            </a:r>
            <a:r>
              <a:rPr sz="3000" dirty="0">
                <a:solidFill>
                  <a:srgbClr val="292929"/>
                </a:solidFill>
                <a:latin typeface="Times New Roman"/>
                <a:cs typeface="Times New Roman"/>
              </a:rPr>
              <a:t> all</a:t>
            </a:r>
            <a:r>
              <a:rPr sz="3000" spc="5" dirty="0">
                <a:solidFill>
                  <a:srgbClr val="292929"/>
                </a:solidFill>
                <a:latin typeface="Times New Roman"/>
                <a:cs typeface="Times New Roman"/>
              </a:rPr>
              <a:t> </a:t>
            </a:r>
            <a:r>
              <a:rPr sz="3000" dirty="0">
                <a:solidFill>
                  <a:srgbClr val="292929"/>
                </a:solidFill>
                <a:latin typeface="Times New Roman"/>
                <a:cs typeface="Times New Roman"/>
              </a:rPr>
              <a:t>activities</a:t>
            </a:r>
            <a:r>
              <a:rPr sz="3000" spc="5" dirty="0">
                <a:solidFill>
                  <a:srgbClr val="292929"/>
                </a:solidFill>
                <a:latin typeface="Times New Roman"/>
                <a:cs typeface="Times New Roman"/>
              </a:rPr>
              <a:t> </a:t>
            </a:r>
            <a:r>
              <a:rPr sz="3000" dirty="0">
                <a:solidFill>
                  <a:srgbClr val="292929"/>
                </a:solidFill>
                <a:latin typeface="Times New Roman"/>
                <a:cs typeface="Times New Roman"/>
              </a:rPr>
              <a:t>in</a:t>
            </a:r>
            <a:r>
              <a:rPr sz="3000" spc="5" dirty="0">
                <a:solidFill>
                  <a:srgbClr val="292929"/>
                </a:solidFill>
                <a:latin typeface="Times New Roman"/>
                <a:cs typeface="Times New Roman"/>
              </a:rPr>
              <a:t> </a:t>
            </a:r>
            <a:r>
              <a:rPr sz="3000" dirty="0">
                <a:solidFill>
                  <a:srgbClr val="292929"/>
                </a:solidFill>
                <a:latin typeface="Times New Roman"/>
                <a:cs typeface="Times New Roman"/>
              </a:rPr>
              <a:t>a</a:t>
            </a:r>
            <a:r>
              <a:rPr sz="3000" spc="5" dirty="0">
                <a:solidFill>
                  <a:srgbClr val="292929"/>
                </a:solidFill>
                <a:latin typeface="Times New Roman"/>
                <a:cs typeface="Times New Roman"/>
              </a:rPr>
              <a:t> </a:t>
            </a:r>
            <a:r>
              <a:rPr sz="3000" spc="-5" dirty="0">
                <a:solidFill>
                  <a:srgbClr val="292929"/>
                </a:solidFill>
                <a:latin typeface="Times New Roman"/>
                <a:cs typeface="Times New Roman"/>
              </a:rPr>
              <a:t>software</a:t>
            </a:r>
            <a:r>
              <a:rPr sz="3000" dirty="0">
                <a:solidFill>
                  <a:srgbClr val="292929"/>
                </a:solidFill>
                <a:latin typeface="Times New Roman"/>
                <a:cs typeface="Times New Roman"/>
              </a:rPr>
              <a:t> development </a:t>
            </a:r>
            <a:r>
              <a:rPr sz="3000" spc="-735" dirty="0">
                <a:solidFill>
                  <a:srgbClr val="292929"/>
                </a:solidFill>
                <a:latin typeface="Times New Roman"/>
                <a:cs typeface="Times New Roman"/>
              </a:rPr>
              <a:t> </a:t>
            </a:r>
            <a:r>
              <a:rPr sz="3000" dirty="0">
                <a:solidFill>
                  <a:srgbClr val="292929"/>
                </a:solidFill>
                <a:latin typeface="Times New Roman"/>
                <a:cs typeface="Times New Roman"/>
              </a:rPr>
              <a:t>project from planning </a:t>
            </a:r>
            <a:r>
              <a:rPr sz="3000" spc="-5" dirty="0">
                <a:solidFill>
                  <a:srgbClr val="292929"/>
                </a:solidFill>
                <a:latin typeface="Times New Roman"/>
                <a:cs typeface="Times New Roman"/>
              </a:rPr>
              <a:t>to </a:t>
            </a:r>
            <a:r>
              <a:rPr sz="3000" dirty="0">
                <a:latin typeface="Times New Roman"/>
                <a:cs typeface="Times New Roman"/>
              </a:rPr>
              <a:t>maintenance. </a:t>
            </a:r>
            <a:r>
              <a:rPr sz="3000" spc="-5" dirty="0">
                <a:latin typeface="Times New Roman"/>
                <a:cs typeface="Times New Roman"/>
              </a:rPr>
              <a:t>Most </a:t>
            </a:r>
            <a:r>
              <a:rPr sz="3000" dirty="0">
                <a:latin typeface="Times New Roman"/>
                <a:cs typeface="Times New Roman"/>
              </a:rPr>
              <a:t>of the models are </a:t>
            </a:r>
            <a:r>
              <a:rPr sz="3000" spc="5" dirty="0">
                <a:latin typeface="Times New Roman"/>
                <a:cs typeface="Times New Roman"/>
              </a:rPr>
              <a:t> </a:t>
            </a:r>
            <a:r>
              <a:rPr sz="3000" dirty="0">
                <a:latin typeface="Times New Roman"/>
                <a:cs typeface="Times New Roman"/>
              </a:rPr>
              <a:t>graphical </a:t>
            </a:r>
            <a:r>
              <a:rPr sz="3000" spc="-5" dirty="0">
                <a:latin typeface="Times New Roman"/>
                <a:cs typeface="Times New Roman"/>
              </a:rPr>
              <a:t>models, </a:t>
            </a:r>
            <a:r>
              <a:rPr sz="3000" dirty="0">
                <a:latin typeface="Times New Roman"/>
                <a:cs typeface="Times New Roman"/>
              </a:rPr>
              <a:t>which are drawn representations that employ </a:t>
            </a:r>
            <a:r>
              <a:rPr sz="3000" spc="5" dirty="0">
                <a:latin typeface="Times New Roman"/>
                <a:cs typeface="Times New Roman"/>
              </a:rPr>
              <a:t> </a:t>
            </a:r>
            <a:r>
              <a:rPr sz="3000" spc="-5" dirty="0">
                <a:latin typeface="Times New Roman"/>
                <a:cs typeface="Times New Roman"/>
              </a:rPr>
              <a:t>agreed-upon</a:t>
            </a:r>
            <a:r>
              <a:rPr sz="3000" spc="30" dirty="0">
                <a:latin typeface="Times New Roman"/>
                <a:cs typeface="Times New Roman"/>
              </a:rPr>
              <a:t> </a:t>
            </a:r>
            <a:r>
              <a:rPr sz="3000" spc="-5" dirty="0">
                <a:latin typeface="Times New Roman"/>
                <a:cs typeface="Times New Roman"/>
              </a:rPr>
              <a:t>symbols</a:t>
            </a:r>
            <a:r>
              <a:rPr sz="3000" dirty="0">
                <a:latin typeface="Times New Roman"/>
                <a:cs typeface="Times New Roman"/>
              </a:rPr>
              <a:t> and</a:t>
            </a:r>
            <a:r>
              <a:rPr sz="3000" spc="5" dirty="0">
                <a:latin typeface="Times New Roman"/>
                <a:cs typeface="Times New Roman"/>
              </a:rPr>
              <a:t> </a:t>
            </a:r>
            <a:r>
              <a:rPr sz="3000" spc="-5" dirty="0">
                <a:latin typeface="Times New Roman"/>
                <a:cs typeface="Times New Roman"/>
              </a:rPr>
              <a:t>conventions.</a:t>
            </a:r>
            <a:endParaRPr sz="300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8768" y="735584"/>
            <a:ext cx="4295140" cy="635000"/>
          </a:xfrm>
          <a:prstGeom prst="rect">
            <a:avLst/>
          </a:prstGeom>
        </p:spPr>
        <p:txBody>
          <a:bodyPr vert="horz" wrap="square" lIns="0" tIns="12065" rIns="0" bIns="0" rtlCol="0">
            <a:spAutoFit/>
          </a:bodyPr>
          <a:lstStyle/>
          <a:p>
            <a:pPr marL="12700">
              <a:lnSpc>
                <a:spcPct val="100000"/>
              </a:lnSpc>
              <a:spcBef>
                <a:spcPts val="95"/>
              </a:spcBef>
            </a:pPr>
            <a:r>
              <a:rPr sz="4000" spc="-35" dirty="0"/>
              <a:t>SDLC</a:t>
            </a:r>
            <a:r>
              <a:rPr sz="4000" spc="-120" dirty="0"/>
              <a:t> </a:t>
            </a:r>
            <a:r>
              <a:rPr sz="4000" spc="-30" dirty="0"/>
              <a:t>Models</a:t>
            </a:r>
            <a:r>
              <a:rPr sz="4000" spc="-120" dirty="0"/>
              <a:t> </a:t>
            </a:r>
            <a:r>
              <a:rPr sz="4000" spc="-50" dirty="0"/>
              <a:t>(cont’d)</a:t>
            </a:r>
            <a:endParaRPr sz="4000"/>
          </a:p>
        </p:txBody>
      </p:sp>
      <p:sp>
        <p:nvSpPr>
          <p:cNvPr id="3" name="object 3"/>
          <p:cNvSpPr txBox="1"/>
          <p:nvPr/>
        </p:nvSpPr>
        <p:spPr>
          <a:xfrm>
            <a:off x="918768" y="1464309"/>
            <a:ext cx="6388100" cy="683895"/>
          </a:xfrm>
          <a:prstGeom prst="rect">
            <a:avLst/>
          </a:prstGeom>
        </p:spPr>
        <p:txBody>
          <a:bodyPr vert="horz" wrap="square" lIns="0" tIns="83820" rIns="0" bIns="0" rtlCol="0">
            <a:spAutoFit/>
          </a:bodyPr>
          <a:lstStyle/>
          <a:p>
            <a:pPr marL="299085" marR="5080" indent="-287020">
              <a:lnSpc>
                <a:spcPts val="2300"/>
              </a:lnSpc>
              <a:spcBef>
                <a:spcPts val="660"/>
              </a:spcBef>
              <a:buFont typeface="Wingdings"/>
              <a:buChar char=""/>
              <a:tabLst>
                <a:tab pos="299720" algn="l"/>
                <a:tab pos="1697989" algn="l"/>
                <a:tab pos="1958339" algn="l"/>
                <a:tab pos="2478405" algn="l"/>
                <a:tab pos="3673475" algn="l"/>
                <a:tab pos="3702050" algn="l"/>
                <a:tab pos="4322445" algn="l"/>
                <a:tab pos="4349750" algn="l"/>
                <a:tab pos="4921885" algn="l"/>
                <a:tab pos="5843905" algn="l"/>
                <a:tab pos="5962650" algn="l"/>
              </a:tabLst>
            </a:pPr>
            <a:r>
              <a:rPr sz="2400" spc="-5" dirty="0">
                <a:solidFill>
                  <a:srgbClr val="292929"/>
                </a:solidFill>
                <a:latin typeface="Calibri"/>
                <a:cs typeface="Calibri"/>
              </a:rPr>
              <a:t>p</a:t>
            </a:r>
            <a:r>
              <a:rPr sz="2400" spc="-35" dirty="0">
                <a:solidFill>
                  <a:srgbClr val="292929"/>
                </a:solidFill>
                <a:latin typeface="Calibri"/>
                <a:cs typeface="Calibri"/>
              </a:rPr>
              <a:t>r</a:t>
            </a:r>
            <a:r>
              <a:rPr sz="2400" dirty="0">
                <a:solidFill>
                  <a:srgbClr val="292929"/>
                </a:solidFill>
                <a:latin typeface="Calibri"/>
                <a:cs typeface="Calibri"/>
              </a:rPr>
              <a:t>edi</a:t>
            </a:r>
            <a:r>
              <a:rPr sz="2400" spc="5" dirty="0">
                <a:solidFill>
                  <a:srgbClr val="292929"/>
                </a:solidFill>
                <a:latin typeface="Calibri"/>
                <a:cs typeface="Calibri"/>
              </a:rPr>
              <a:t>c</a:t>
            </a:r>
            <a:r>
              <a:rPr sz="2400" dirty="0">
                <a:solidFill>
                  <a:srgbClr val="292929"/>
                </a:solidFill>
                <a:latin typeface="Calibri"/>
                <a:cs typeface="Calibri"/>
              </a:rPr>
              <a:t>ti</a:t>
            </a:r>
            <a:r>
              <a:rPr sz="2400" spc="-30" dirty="0">
                <a:solidFill>
                  <a:srgbClr val="292929"/>
                </a:solidFill>
                <a:latin typeface="Calibri"/>
                <a:cs typeface="Calibri"/>
              </a:rPr>
              <a:t>v</a:t>
            </a:r>
            <a:r>
              <a:rPr sz="2400" dirty="0">
                <a:solidFill>
                  <a:srgbClr val="292929"/>
                </a:solidFill>
                <a:latin typeface="Calibri"/>
                <a:cs typeface="Calibri"/>
              </a:rPr>
              <a:t>e	</a:t>
            </a:r>
            <a:r>
              <a:rPr sz="2400" spc="-15" dirty="0">
                <a:solidFill>
                  <a:srgbClr val="292929"/>
                </a:solidFill>
                <a:latin typeface="Calibri"/>
                <a:cs typeface="Calibri"/>
              </a:rPr>
              <a:t>S</a:t>
            </a:r>
            <a:r>
              <a:rPr sz="2400" spc="-5" dirty="0">
                <a:solidFill>
                  <a:srgbClr val="292929"/>
                </a:solidFill>
                <a:latin typeface="Calibri"/>
                <a:cs typeface="Calibri"/>
              </a:rPr>
              <a:t>D</a:t>
            </a:r>
            <a:r>
              <a:rPr sz="2400" spc="-25" dirty="0">
                <a:solidFill>
                  <a:srgbClr val="292929"/>
                </a:solidFill>
                <a:latin typeface="Calibri"/>
                <a:cs typeface="Calibri"/>
              </a:rPr>
              <a:t>L</a:t>
            </a:r>
            <a:r>
              <a:rPr sz="2400" dirty="0">
                <a:solidFill>
                  <a:srgbClr val="292929"/>
                </a:solidFill>
                <a:latin typeface="Calibri"/>
                <a:cs typeface="Calibri"/>
              </a:rPr>
              <a:t>C	assu</a:t>
            </a:r>
            <a:r>
              <a:rPr sz="2400" spc="-15" dirty="0">
                <a:solidFill>
                  <a:srgbClr val="292929"/>
                </a:solidFill>
                <a:latin typeface="Calibri"/>
                <a:cs typeface="Calibri"/>
              </a:rPr>
              <a:t>m</a:t>
            </a:r>
            <a:r>
              <a:rPr sz="2400" dirty="0">
                <a:solidFill>
                  <a:srgbClr val="292929"/>
                </a:solidFill>
                <a:latin typeface="Calibri"/>
                <a:cs typeface="Calibri"/>
              </a:rPr>
              <a:t>es		</a:t>
            </a:r>
            <a:r>
              <a:rPr sz="2400" spc="-20" dirty="0">
                <a:solidFill>
                  <a:srgbClr val="292929"/>
                </a:solidFill>
                <a:latin typeface="Calibri"/>
                <a:cs typeface="Calibri"/>
              </a:rPr>
              <a:t>y</a:t>
            </a:r>
            <a:r>
              <a:rPr sz="2400" spc="-5" dirty="0">
                <a:solidFill>
                  <a:srgbClr val="292929"/>
                </a:solidFill>
                <a:latin typeface="Calibri"/>
                <a:cs typeface="Calibri"/>
              </a:rPr>
              <a:t>o</a:t>
            </a:r>
            <a:r>
              <a:rPr sz="2400" dirty="0">
                <a:solidFill>
                  <a:srgbClr val="292929"/>
                </a:solidFill>
                <a:latin typeface="Calibri"/>
                <a:cs typeface="Calibri"/>
              </a:rPr>
              <a:t>u	</a:t>
            </a:r>
            <a:r>
              <a:rPr sz="2400" spc="-20" dirty="0">
                <a:solidFill>
                  <a:srgbClr val="292929"/>
                </a:solidFill>
                <a:latin typeface="Calibri"/>
                <a:cs typeface="Calibri"/>
              </a:rPr>
              <a:t>c</a:t>
            </a:r>
            <a:r>
              <a:rPr sz="2400" dirty="0">
                <a:solidFill>
                  <a:srgbClr val="292929"/>
                </a:solidFill>
                <a:latin typeface="Calibri"/>
                <a:cs typeface="Calibri"/>
              </a:rPr>
              <a:t>an	</a:t>
            </a:r>
            <a:r>
              <a:rPr sz="2400" spc="-5" dirty="0">
                <a:solidFill>
                  <a:srgbClr val="292929"/>
                </a:solidFill>
                <a:latin typeface="Calibri"/>
                <a:cs typeface="Calibri"/>
              </a:rPr>
              <a:t>p</a:t>
            </a:r>
            <a:r>
              <a:rPr sz="2400" spc="-35" dirty="0">
                <a:solidFill>
                  <a:srgbClr val="292929"/>
                </a:solidFill>
                <a:latin typeface="Calibri"/>
                <a:cs typeface="Calibri"/>
              </a:rPr>
              <a:t>r</a:t>
            </a:r>
            <a:r>
              <a:rPr sz="2400" dirty="0">
                <a:solidFill>
                  <a:srgbClr val="292929"/>
                </a:solidFill>
                <a:latin typeface="Calibri"/>
                <a:cs typeface="Calibri"/>
              </a:rPr>
              <a:t>edi</a:t>
            </a:r>
            <a:r>
              <a:rPr sz="2400" spc="5" dirty="0">
                <a:solidFill>
                  <a:srgbClr val="292929"/>
                </a:solidFill>
                <a:latin typeface="Calibri"/>
                <a:cs typeface="Calibri"/>
              </a:rPr>
              <a:t>c</a:t>
            </a:r>
            <a:r>
              <a:rPr sz="2400" dirty="0">
                <a:solidFill>
                  <a:srgbClr val="292929"/>
                </a:solidFill>
                <a:latin typeface="Calibri"/>
                <a:cs typeface="Calibri"/>
              </a:rPr>
              <a:t>t		t</a:t>
            </a:r>
            <a:r>
              <a:rPr sz="2400" spc="-15" dirty="0">
                <a:solidFill>
                  <a:srgbClr val="292929"/>
                </a:solidFill>
                <a:latin typeface="Calibri"/>
                <a:cs typeface="Calibri"/>
              </a:rPr>
              <a:t>h</a:t>
            </a:r>
            <a:r>
              <a:rPr sz="2400" dirty="0">
                <a:solidFill>
                  <a:srgbClr val="292929"/>
                </a:solidFill>
                <a:latin typeface="Calibri"/>
                <a:cs typeface="Calibri"/>
              </a:rPr>
              <a:t>e  </a:t>
            </a:r>
            <a:r>
              <a:rPr sz="2400" spc="-20" dirty="0">
                <a:solidFill>
                  <a:srgbClr val="292929"/>
                </a:solidFill>
                <a:latin typeface="Calibri"/>
                <a:cs typeface="Calibri"/>
              </a:rPr>
              <a:t>c</a:t>
            </a:r>
            <a:r>
              <a:rPr sz="2400" spc="-5" dirty="0">
                <a:solidFill>
                  <a:srgbClr val="292929"/>
                </a:solidFill>
                <a:latin typeface="Calibri"/>
                <a:cs typeface="Calibri"/>
              </a:rPr>
              <a:t>omp</a:t>
            </a:r>
            <a:r>
              <a:rPr sz="2400" spc="-10" dirty="0">
                <a:solidFill>
                  <a:srgbClr val="292929"/>
                </a:solidFill>
                <a:latin typeface="Calibri"/>
                <a:cs typeface="Calibri"/>
              </a:rPr>
              <a:t>le</a:t>
            </a:r>
            <a:r>
              <a:rPr sz="2400" spc="-25" dirty="0">
                <a:solidFill>
                  <a:srgbClr val="292929"/>
                </a:solidFill>
                <a:latin typeface="Calibri"/>
                <a:cs typeface="Calibri"/>
              </a:rPr>
              <a:t>t</a:t>
            </a:r>
            <a:r>
              <a:rPr sz="2400" dirty="0">
                <a:solidFill>
                  <a:srgbClr val="292929"/>
                </a:solidFill>
                <a:latin typeface="Calibri"/>
                <a:cs typeface="Calibri"/>
              </a:rPr>
              <a:t>e		</a:t>
            </a:r>
            <a:r>
              <a:rPr sz="2400" spc="-30" dirty="0">
                <a:solidFill>
                  <a:srgbClr val="292929"/>
                </a:solidFill>
                <a:latin typeface="Calibri"/>
                <a:cs typeface="Calibri"/>
              </a:rPr>
              <a:t>w</a:t>
            </a:r>
            <a:r>
              <a:rPr sz="2400" spc="-5" dirty="0">
                <a:solidFill>
                  <a:srgbClr val="292929"/>
                </a:solidFill>
                <a:latin typeface="Calibri"/>
                <a:cs typeface="Calibri"/>
              </a:rPr>
              <a:t>orkfl</a:t>
            </a:r>
            <a:r>
              <a:rPr sz="2400" spc="-25" dirty="0">
                <a:solidFill>
                  <a:srgbClr val="292929"/>
                </a:solidFill>
                <a:latin typeface="Calibri"/>
                <a:cs typeface="Calibri"/>
              </a:rPr>
              <a:t>o</a:t>
            </a:r>
            <a:r>
              <a:rPr sz="2400" spc="-150" dirty="0">
                <a:solidFill>
                  <a:srgbClr val="292929"/>
                </a:solidFill>
                <a:latin typeface="Calibri"/>
                <a:cs typeface="Calibri"/>
              </a:rPr>
              <a:t>w</a:t>
            </a:r>
            <a:r>
              <a:rPr sz="2400" dirty="0">
                <a:solidFill>
                  <a:srgbClr val="292929"/>
                </a:solidFill>
                <a:latin typeface="Calibri"/>
                <a:cs typeface="Calibri"/>
              </a:rPr>
              <a:t>.	</a:t>
            </a:r>
            <a:r>
              <a:rPr sz="2400" spc="-10" dirty="0">
                <a:solidFill>
                  <a:srgbClr val="292929"/>
                </a:solidFill>
                <a:latin typeface="Calibri"/>
                <a:cs typeface="Calibri"/>
              </a:rPr>
              <a:t>I</a:t>
            </a:r>
            <a:r>
              <a:rPr sz="2400" dirty="0">
                <a:solidFill>
                  <a:srgbClr val="292929"/>
                </a:solidFill>
                <a:latin typeface="Calibri"/>
                <a:cs typeface="Calibri"/>
              </a:rPr>
              <a:t>t		</a:t>
            </a:r>
            <a:r>
              <a:rPr sz="2400" spc="-15" dirty="0">
                <a:solidFill>
                  <a:srgbClr val="292929"/>
                </a:solidFill>
                <a:latin typeface="Calibri"/>
                <a:cs typeface="Calibri"/>
              </a:rPr>
              <a:t>i</a:t>
            </a:r>
            <a:r>
              <a:rPr sz="2400" spc="-40" dirty="0">
                <a:solidFill>
                  <a:srgbClr val="292929"/>
                </a:solidFill>
                <a:latin typeface="Calibri"/>
                <a:cs typeface="Calibri"/>
              </a:rPr>
              <a:t>n</a:t>
            </a:r>
            <a:r>
              <a:rPr sz="2400" spc="-30" dirty="0">
                <a:solidFill>
                  <a:srgbClr val="292929"/>
                </a:solidFill>
                <a:latin typeface="Calibri"/>
                <a:cs typeface="Calibri"/>
              </a:rPr>
              <a:t>v</a:t>
            </a:r>
            <a:r>
              <a:rPr sz="2400" spc="-5" dirty="0">
                <a:solidFill>
                  <a:srgbClr val="292929"/>
                </a:solidFill>
                <a:latin typeface="Calibri"/>
                <a:cs typeface="Calibri"/>
              </a:rPr>
              <a:t>ol</a:t>
            </a:r>
            <a:r>
              <a:rPr sz="2400" spc="-40" dirty="0">
                <a:solidFill>
                  <a:srgbClr val="292929"/>
                </a:solidFill>
                <a:latin typeface="Calibri"/>
                <a:cs typeface="Calibri"/>
              </a:rPr>
              <a:t>v</a:t>
            </a:r>
            <a:r>
              <a:rPr sz="2400" dirty="0">
                <a:solidFill>
                  <a:srgbClr val="292929"/>
                </a:solidFill>
                <a:latin typeface="Calibri"/>
                <a:cs typeface="Calibri"/>
              </a:rPr>
              <a:t>es	</a:t>
            </a:r>
            <a:r>
              <a:rPr sz="2400" spc="5" dirty="0">
                <a:solidFill>
                  <a:srgbClr val="292929"/>
                </a:solidFill>
                <a:latin typeface="Calibri"/>
                <a:cs typeface="Calibri"/>
              </a:rPr>
              <a:t>f</a:t>
            </a:r>
            <a:r>
              <a:rPr sz="2400" spc="-5" dirty="0">
                <a:solidFill>
                  <a:srgbClr val="292929"/>
                </a:solidFill>
                <a:latin typeface="Calibri"/>
                <a:cs typeface="Calibri"/>
              </a:rPr>
              <a:t>ul</a:t>
            </a:r>
            <a:r>
              <a:rPr sz="2400" spc="-20" dirty="0">
                <a:solidFill>
                  <a:srgbClr val="292929"/>
                </a:solidFill>
                <a:latin typeface="Calibri"/>
                <a:cs typeface="Calibri"/>
              </a:rPr>
              <a:t>l</a:t>
            </a:r>
            <a:r>
              <a:rPr sz="2400" dirty="0">
                <a:solidFill>
                  <a:srgbClr val="292929"/>
                </a:solidFill>
                <a:latin typeface="Calibri"/>
                <a:cs typeface="Calibri"/>
              </a:rPr>
              <a:t>y</a:t>
            </a:r>
            <a:endParaRPr sz="2400">
              <a:latin typeface="Calibri"/>
              <a:cs typeface="Calibri"/>
            </a:endParaRPr>
          </a:p>
        </p:txBody>
      </p:sp>
      <p:sp>
        <p:nvSpPr>
          <p:cNvPr id="4" name="object 4"/>
          <p:cNvSpPr txBox="1"/>
          <p:nvPr/>
        </p:nvSpPr>
        <p:spPr>
          <a:xfrm>
            <a:off x="1205280" y="2049221"/>
            <a:ext cx="6102350" cy="1270000"/>
          </a:xfrm>
          <a:prstGeom prst="rect">
            <a:avLst/>
          </a:prstGeom>
        </p:spPr>
        <p:txBody>
          <a:bodyPr vert="horz" wrap="square" lIns="0" tIns="85725" rIns="0" bIns="0" rtlCol="0">
            <a:spAutoFit/>
          </a:bodyPr>
          <a:lstStyle/>
          <a:p>
            <a:pPr marL="12700" marR="5080" algn="just">
              <a:lnSpc>
                <a:spcPct val="80000"/>
              </a:lnSpc>
              <a:spcBef>
                <a:spcPts val="675"/>
              </a:spcBef>
            </a:pPr>
            <a:r>
              <a:rPr sz="2400" spc="-10" dirty="0">
                <a:solidFill>
                  <a:srgbClr val="292929"/>
                </a:solidFill>
                <a:latin typeface="Calibri"/>
                <a:cs typeface="Calibri"/>
              </a:rPr>
              <a:t>understanding </a:t>
            </a:r>
            <a:r>
              <a:rPr sz="2400" dirty="0">
                <a:solidFill>
                  <a:srgbClr val="292929"/>
                </a:solidFill>
                <a:latin typeface="Calibri"/>
                <a:cs typeface="Calibri"/>
              </a:rPr>
              <a:t>the </a:t>
            </a:r>
            <a:r>
              <a:rPr sz="2400" spc="-5" dirty="0">
                <a:solidFill>
                  <a:srgbClr val="292929"/>
                </a:solidFill>
                <a:latin typeface="Calibri"/>
                <a:cs typeface="Calibri"/>
              </a:rPr>
              <a:t>final </a:t>
            </a:r>
            <a:r>
              <a:rPr sz="2400" spc="-10" dirty="0">
                <a:solidFill>
                  <a:srgbClr val="292929"/>
                </a:solidFill>
                <a:latin typeface="Calibri"/>
                <a:cs typeface="Calibri"/>
              </a:rPr>
              <a:t>product </a:t>
            </a:r>
            <a:r>
              <a:rPr sz="2400" dirty="0">
                <a:solidFill>
                  <a:srgbClr val="292929"/>
                </a:solidFill>
                <a:latin typeface="Calibri"/>
                <a:cs typeface="Calibri"/>
              </a:rPr>
              <a:t>and </a:t>
            </a:r>
            <a:r>
              <a:rPr sz="2400" spc="-5" dirty="0">
                <a:solidFill>
                  <a:srgbClr val="292929"/>
                </a:solidFill>
                <a:latin typeface="Calibri"/>
                <a:cs typeface="Calibri"/>
              </a:rPr>
              <a:t>determining </a:t>
            </a:r>
            <a:r>
              <a:rPr sz="2400" spc="-530" dirty="0">
                <a:solidFill>
                  <a:srgbClr val="292929"/>
                </a:solidFill>
                <a:latin typeface="Calibri"/>
                <a:cs typeface="Calibri"/>
              </a:rPr>
              <a:t> </a:t>
            </a:r>
            <a:r>
              <a:rPr sz="2400" dirty="0">
                <a:solidFill>
                  <a:srgbClr val="292929"/>
                </a:solidFill>
                <a:latin typeface="Calibri"/>
                <a:cs typeface="Calibri"/>
              </a:rPr>
              <a:t>the</a:t>
            </a:r>
            <a:r>
              <a:rPr sz="2400" spc="5" dirty="0">
                <a:solidFill>
                  <a:srgbClr val="292929"/>
                </a:solidFill>
                <a:latin typeface="Calibri"/>
                <a:cs typeface="Calibri"/>
              </a:rPr>
              <a:t> </a:t>
            </a:r>
            <a:r>
              <a:rPr sz="2400" spc="-10" dirty="0">
                <a:solidFill>
                  <a:srgbClr val="292929"/>
                </a:solidFill>
                <a:latin typeface="Calibri"/>
                <a:cs typeface="Calibri"/>
              </a:rPr>
              <a:t>process</a:t>
            </a:r>
            <a:r>
              <a:rPr sz="2400" spc="-5" dirty="0">
                <a:solidFill>
                  <a:srgbClr val="292929"/>
                </a:solidFill>
                <a:latin typeface="Calibri"/>
                <a:cs typeface="Calibri"/>
              </a:rPr>
              <a:t> </a:t>
            </a:r>
            <a:r>
              <a:rPr sz="2400" spc="-20" dirty="0">
                <a:solidFill>
                  <a:srgbClr val="292929"/>
                </a:solidFill>
                <a:latin typeface="Calibri"/>
                <a:cs typeface="Calibri"/>
              </a:rPr>
              <a:t>for</a:t>
            </a:r>
            <a:r>
              <a:rPr sz="2400" spc="-15" dirty="0">
                <a:solidFill>
                  <a:srgbClr val="292929"/>
                </a:solidFill>
                <a:latin typeface="Calibri"/>
                <a:cs typeface="Calibri"/>
              </a:rPr>
              <a:t> </a:t>
            </a:r>
            <a:r>
              <a:rPr sz="2400" spc="-5" dirty="0">
                <a:solidFill>
                  <a:srgbClr val="292929"/>
                </a:solidFill>
                <a:latin typeface="Calibri"/>
                <a:cs typeface="Calibri"/>
              </a:rPr>
              <a:t>delivering</a:t>
            </a:r>
            <a:r>
              <a:rPr sz="2400" dirty="0">
                <a:solidFill>
                  <a:srgbClr val="292929"/>
                </a:solidFill>
                <a:latin typeface="Calibri"/>
                <a:cs typeface="Calibri"/>
              </a:rPr>
              <a:t> it.</a:t>
            </a:r>
            <a:r>
              <a:rPr sz="2400" spc="5" dirty="0">
                <a:solidFill>
                  <a:srgbClr val="292929"/>
                </a:solidFill>
                <a:latin typeface="Calibri"/>
                <a:cs typeface="Calibri"/>
              </a:rPr>
              <a:t> </a:t>
            </a:r>
            <a:r>
              <a:rPr sz="2400" spc="-5" dirty="0">
                <a:solidFill>
                  <a:srgbClr val="292929"/>
                </a:solidFill>
                <a:latin typeface="Calibri"/>
                <a:cs typeface="Calibri"/>
              </a:rPr>
              <a:t>In</a:t>
            </a:r>
            <a:r>
              <a:rPr sz="2400" dirty="0">
                <a:solidFill>
                  <a:srgbClr val="292929"/>
                </a:solidFill>
                <a:latin typeface="Calibri"/>
                <a:cs typeface="Calibri"/>
              </a:rPr>
              <a:t> </a:t>
            </a:r>
            <a:r>
              <a:rPr sz="2400" spc="-10" dirty="0">
                <a:solidFill>
                  <a:srgbClr val="292929"/>
                </a:solidFill>
                <a:latin typeface="Calibri"/>
                <a:cs typeface="Calibri"/>
              </a:rPr>
              <a:t>this</a:t>
            </a:r>
            <a:r>
              <a:rPr sz="2400" spc="-5" dirty="0">
                <a:solidFill>
                  <a:srgbClr val="292929"/>
                </a:solidFill>
                <a:latin typeface="Calibri"/>
                <a:cs typeface="Calibri"/>
              </a:rPr>
              <a:t> </a:t>
            </a:r>
            <a:r>
              <a:rPr sz="2400" spc="-15" dirty="0">
                <a:solidFill>
                  <a:srgbClr val="292929"/>
                </a:solidFill>
                <a:latin typeface="Calibri"/>
                <a:cs typeface="Calibri"/>
              </a:rPr>
              <a:t>form</a:t>
            </a:r>
            <a:r>
              <a:rPr sz="2400" spc="-10" dirty="0">
                <a:solidFill>
                  <a:srgbClr val="292929"/>
                </a:solidFill>
                <a:latin typeface="Calibri"/>
                <a:cs typeface="Calibri"/>
              </a:rPr>
              <a:t> of </a:t>
            </a:r>
            <a:r>
              <a:rPr sz="2400" spc="-5" dirty="0">
                <a:solidFill>
                  <a:srgbClr val="292929"/>
                </a:solidFill>
                <a:latin typeface="Calibri"/>
                <a:cs typeface="Calibri"/>
              </a:rPr>
              <a:t> </a:t>
            </a:r>
            <a:r>
              <a:rPr sz="2400" spc="-10" dirty="0">
                <a:solidFill>
                  <a:srgbClr val="292929"/>
                </a:solidFill>
                <a:latin typeface="Calibri"/>
                <a:cs typeface="Calibri"/>
              </a:rPr>
              <a:t>project </a:t>
            </a:r>
            <a:r>
              <a:rPr sz="2400" spc="-15" dirty="0">
                <a:solidFill>
                  <a:srgbClr val="292929"/>
                </a:solidFill>
                <a:latin typeface="Calibri"/>
                <a:cs typeface="Calibri"/>
              </a:rPr>
              <a:t>life </a:t>
            </a:r>
            <a:r>
              <a:rPr sz="2400" spc="-10" dirty="0">
                <a:solidFill>
                  <a:srgbClr val="292929"/>
                </a:solidFill>
                <a:latin typeface="Calibri"/>
                <a:cs typeface="Calibri"/>
              </a:rPr>
              <a:t>cycle, you determine </a:t>
            </a:r>
            <a:r>
              <a:rPr sz="2400" dirty="0">
                <a:solidFill>
                  <a:srgbClr val="292929"/>
                </a:solidFill>
                <a:latin typeface="Calibri"/>
                <a:cs typeface="Calibri"/>
              </a:rPr>
              <a:t>the </a:t>
            </a:r>
            <a:r>
              <a:rPr sz="2400" spc="-15" dirty="0">
                <a:solidFill>
                  <a:srgbClr val="292929"/>
                </a:solidFill>
                <a:latin typeface="Calibri"/>
                <a:cs typeface="Calibri"/>
              </a:rPr>
              <a:t>cost, </a:t>
            </a:r>
            <a:r>
              <a:rPr sz="2400" spc="-10" dirty="0">
                <a:solidFill>
                  <a:srgbClr val="292929"/>
                </a:solidFill>
                <a:latin typeface="Calibri"/>
                <a:cs typeface="Calibri"/>
              </a:rPr>
              <a:t>scope, </a:t>
            </a:r>
            <a:r>
              <a:rPr sz="2400" spc="-5" dirty="0">
                <a:solidFill>
                  <a:srgbClr val="292929"/>
                </a:solidFill>
                <a:latin typeface="Calibri"/>
                <a:cs typeface="Calibri"/>
              </a:rPr>
              <a:t> </a:t>
            </a:r>
            <a:r>
              <a:rPr sz="2400" dirty="0">
                <a:solidFill>
                  <a:srgbClr val="292929"/>
                </a:solidFill>
                <a:latin typeface="Calibri"/>
                <a:cs typeface="Calibri"/>
              </a:rPr>
              <a:t>and</a:t>
            </a:r>
            <a:r>
              <a:rPr sz="2400" spc="-10" dirty="0">
                <a:solidFill>
                  <a:srgbClr val="292929"/>
                </a:solidFill>
                <a:latin typeface="Calibri"/>
                <a:cs typeface="Calibri"/>
              </a:rPr>
              <a:t> </a:t>
            </a:r>
            <a:r>
              <a:rPr sz="2400" dirty="0">
                <a:solidFill>
                  <a:srgbClr val="292929"/>
                </a:solidFill>
                <a:latin typeface="Calibri"/>
                <a:cs typeface="Calibri"/>
              </a:rPr>
              <a:t>timeline</a:t>
            </a:r>
            <a:r>
              <a:rPr sz="2400" spc="-10" dirty="0">
                <a:solidFill>
                  <a:srgbClr val="292929"/>
                </a:solidFill>
                <a:latin typeface="Calibri"/>
                <a:cs typeface="Calibri"/>
              </a:rPr>
              <a:t> </a:t>
            </a:r>
            <a:r>
              <a:rPr sz="2400" dirty="0">
                <a:solidFill>
                  <a:srgbClr val="292929"/>
                </a:solidFill>
                <a:latin typeface="Calibri"/>
                <a:cs typeface="Calibri"/>
              </a:rPr>
              <a:t>in</a:t>
            </a:r>
            <a:r>
              <a:rPr sz="2400" spc="-25" dirty="0">
                <a:solidFill>
                  <a:srgbClr val="292929"/>
                </a:solidFill>
                <a:latin typeface="Calibri"/>
                <a:cs typeface="Calibri"/>
              </a:rPr>
              <a:t> </a:t>
            </a:r>
            <a:r>
              <a:rPr sz="2400" dirty="0">
                <a:solidFill>
                  <a:srgbClr val="292929"/>
                </a:solidFill>
                <a:latin typeface="Calibri"/>
                <a:cs typeface="Calibri"/>
              </a:rPr>
              <a:t>the</a:t>
            </a:r>
            <a:r>
              <a:rPr sz="2400" spc="-5" dirty="0">
                <a:solidFill>
                  <a:srgbClr val="292929"/>
                </a:solidFill>
                <a:latin typeface="Calibri"/>
                <a:cs typeface="Calibri"/>
              </a:rPr>
              <a:t> </a:t>
            </a:r>
            <a:r>
              <a:rPr sz="2400" dirty="0">
                <a:solidFill>
                  <a:srgbClr val="292929"/>
                </a:solidFill>
                <a:latin typeface="Calibri"/>
                <a:cs typeface="Calibri"/>
              </a:rPr>
              <a:t>early</a:t>
            </a:r>
            <a:r>
              <a:rPr sz="2400" spc="-10" dirty="0">
                <a:solidFill>
                  <a:srgbClr val="292929"/>
                </a:solidFill>
                <a:latin typeface="Calibri"/>
                <a:cs typeface="Calibri"/>
              </a:rPr>
              <a:t> </a:t>
            </a:r>
            <a:r>
              <a:rPr sz="2400" spc="-5" dirty="0">
                <a:solidFill>
                  <a:srgbClr val="292929"/>
                </a:solidFill>
                <a:latin typeface="Calibri"/>
                <a:cs typeface="Calibri"/>
              </a:rPr>
              <a:t>phases of</a:t>
            </a:r>
            <a:r>
              <a:rPr sz="2400" dirty="0">
                <a:solidFill>
                  <a:srgbClr val="292929"/>
                </a:solidFill>
                <a:latin typeface="Calibri"/>
                <a:cs typeface="Calibri"/>
              </a:rPr>
              <a:t> the</a:t>
            </a:r>
            <a:r>
              <a:rPr sz="2400" spc="-20" dirty="0">
                <a:solidFill>
                  <a:srgbClr val="292929"/>
                </a:solidFill>
                <a:latin typeface="Calibri"/>
                <a:cs typeface="Calibri"/>
              </a:rPr>
              <a:t> </a:t>
            </a:r>
            <a:r>
              <a:rPr sz="2400" spc="-10" dirty="0">
                <a:solidFill>
                  <a:srgbClr val="292929"/>
                </a:solidFill>
                <a:latin typeface="Calibri"/>
                <a:cs typeface="Calibri"/>
              </a:rPr>
              <a:t>project.</a:t>
            </a:r>
            <a:endParaRPr sz="2400">
              <a:latin typeface="Calibri"/>
              <a:cs typeface="Calibri"/>
            </a:endParaRPr>
          </a:p>
        </p:txBody>
      </p:sp>
      <p:sp>
        <p:nvSpPr>
          <p:cNvPr id="5" name="object 5"/>
          <p:cNvSpPr txBox="1"/>
          <p:nvPr/>
        </p:nvSpPr>
        <p:spPr>
          <a:xfrm>
            <a:off x="918768" y="3767708"/>
            <a:ext cx="6385560" cy="391160"/>
          </a:xfrm>
          <a:prstGeom prst="rect">
            <a:avLst/>
          </a:prstGeom>
        </p:spPr>
        <p:txBody>
          <a:bodyPr vert="horz" wrap="square" lIns="0" tIns="12700" rIns="0" bIns="0" rtlCol="0">
            <a:spAutoFit/>
          </a:bodyPr>
          <a:lstStyle/>
          <a:p>
            <a:pPr marL="299085" indent="-287020">
              <a:lnSpc>
                <a:spcPct val="100000"/>
              </a:lnSpc>
              <a:spcBef>
                <a:spcPts val="100"/>
              </a:spcBef>
              <a:buFont typeface="Wingdings"/>
              <a:buChar char=""/>
              <a:tabLst>
                <a:tab pos="299720" algn="l"/>
                <a:tab pos="1647825" algn="l"/>
                <a:tab pos="2512060" algn="l"/>
                <a:tab pos="4196080" algn="l"/>
                <a:tab pos="5033010" algn="l"/>
                <a:tab pos="5427980" algn="l"/>
                <a:tab pos="6122670" algn="l"/>
              </a:tabLst>
            </a:pPr>
            <a:r>
              <a:rPr sz="2400" dirty="0">
                <a:solidFill>
                  <a:srgbClr val="292929"/>
                </a:solidFill>
                <a:latin typeface="Calibri"/>
                <a:cs typeface="Calibri"/>
              </a:rPr>
              <a:t>Adapti</a:t>
            </a:r>
            <a:r>
              <a:rPr sz="2400" spc="-40" dirty="0">
                <a:solidFill>
                  <a:srgbClr val="292929"/>
                </a:solidFill>
                <a:latin typeface="Calibri"/>
                <a:cs typeface="Calibri"/>
              </a:rPr>
              <a:t>v</a:t>
            </a:r>
            <a:r>
              <a:rPr sz="2400" dirty="0">
                <a:solidFill>
                  <a:srgbClr val="292929"/>
                </a:solidFill>
                <a:latin typeface="Calibri"/>
                <a:cs typeface="Calibri"/>
              </a:rPr>
              <a:t>e	</a:t>
            </a:r>
            <a:r>
              <a:rPr sz="2400" spc="-5" dirty="0">
                <a:solidFill>
                  <a:srgbClr val="292929"/>
                </a:solidFill>
                <a:latin typeface="Calibri"/>
                <a:cs typeface="Calibri"/>
              </a:rPr>
              <a:t>SD</a:t>
            </a:r>
            <a:r>
              <a:rPr sz="2400" spc="-25" dirty="0">
                <a:solidFill>
                  <a:srgbClr val="292929"/>
                </a:solidFill>
                <a:latin typeface="Calibri"/>
                <a:cs typeface="Calibri"/>
              </a:rPr>
              <a:t>L</a:t>
            </a:r>
            <a:r>
              <a:rPr sz="2400" dirty="0">
                <a:solidFill>
                  <a:srgbClr val="292929"/>
                </a:solidFill>
                <a:latin typeface="Calibri"/>
                <a:cs typeface="Calibri"/>
              </a:rPr>
              <a:t>C	app</a:t>
            </a:r>
            <a:r>
              <a:rPr sz="2400" spc="-35" dirty="0">
                <a:solidFill>
                  <a:srgbClr val="292929"/>
                </a:solidFill>
                <a:latin typeface="Calibri"/>
                <a:cs typeface="Calibri"/>
              </a:rPr>
              <a:t>r</a:t>
            </a:r>
            <a:r>
              <a:rPr sz="2400" spc="-5" dirty="0">
                <a:solidFill>
                  <a:srgbClr val="292929"/>
                </a:solidFill>
                <a:latin typeface="Calibri"/>
                <a:cs typeface="Calibri"/>
              </a:rPr>
              <a:t>oach</a:t>
            </a:r>
            <a:r>
              <a:rPr sz="2400" dirty="0">
                <a:solidFill>
                  <a:srgbClr val="292929"/>
                </a:solidFill>
                <a:latin typeface="Calibri"/>
                <a:cs typeface="Calibri"/>
              </a:rPr>
              <a:t>es	</a:t>
            </a:r>
            <a:r>
              <a:rPr sz="2400" spc="-5" dirty="0">
                <a:solidFill>
                  <a:srgbClr val="292929"/>
                </a:solidFill>
                <a:latin typeface="Calibri"/>
                <a:cs typeface="Calibri"/>
              </a:rPr>
              <a:t>h</a:t>
            </a:r>
            <a:r>
              <a:rPr sz="2400" spc="-35" dirty="0">
                <a:solidFill>
                  <a:srgbClr val="292929"/>
                </a:solidFill>
                <a:latin typeface="Calibri"/>
                <a:cs typeface="Calibri"/>
              </a:rPr>
              <a:t>a</a:t>
            </a:r>
            <a:r>
              <a:rPr sz="2400" spc="-30" dirty="0">
                <a:solidFill>
                  <a:srgbClr val="292929"/>
                </a:solidFill>
                <a:latin typeface="Calibri"/>
                <a:cs typeface="Calibri"/>
              </a:rPr>
              <a:t>v</a:t>
            </a:r>
            <a:r>
              <a:rPr sz="2400" dirty="0">
                <a:solidFill>
                  <a:srgbClr val="292929"/>
                </a:solidFill>
                <a:latin typeface="Calibri"/>
                <a:cs typeface="Calibri"/>
              </a:rPr>
              <a:t>e	a	mix	</a:t>
            </a:r>
            <a:r>
              <a:rPr sz="2400" spc="-20" dirty="0">
                <a:solidFill>
                  <a:srgbClr val="292929"/>
                </a:solidFill>
                <a:latin typeface="Calibri"/>
                <a:cs typeface="Calibri"/>
              </a:rPr>
              <a:t>of</a:t>
            </a:r>
            <a:endParaRPr sz="2400" dirty="0">
              <a:latin typeface="Calibri"/>
              <a:cs typeface="Calibri"/>
            </a:endParaRPr>
          </a:p>
        </p:txBody>
      </p:sp>
      <p:sp>
        <p:nvSpPr>
          <p:cNvPr id="6" name="object 6"/>
          <p:cNvSpPr txBox="1"/>
          <p:nvPr/>
        </p:nvSpPr>
        <p:spPr>
          <a:xfrm>
            <a:off x="1205280" y="4060317"/>
            <a:ext cx="6101715" cy="391160"/>
          </a:xfrm>
          <a:prstGeom prst="rect">
            <a:avLst/>
          </a:prstGeom>
        </p:spPr>
        <p:txBody>
          <a:bodyPr vert="horz" wrap="square" lIns="0" tIns="12700" rIns="0" bIns="0" rtlCol="0">
            <a:spAutoFit/>
          </a:bodyPr>
          <a:lstStyle/>
          <a:p>
            <a:pPr marL="12700">
              <a:lnSpc>
                <a:spcPct val="100000"/>
              </a:lnSpc>
              <a:spcBef>
                <a:spcPts val="100"/>
              </a:spcBef>
              <a:tabLst>
                <a:tab pos="1793875" algn="l"/>
                <a:tab pos="2562225" algn="l"/>
                <a:tab pos="3888104" algn="l"/>
                <a:tab pos="5910580" algn="l"/>
              </a:tabLst>
            </a:pPr>
            <a:r>
              <a:rPr sz="2400" dirty="0">
                <a:solidFill>
                  <a:srgbClr val="292929"/>
                </a:solidFill>
                <a:latin typeface="Calibri"/>
                <a:cs typeface="Calibri"/>
              </a:rPr>
              <a:t>inc</a:t>
            </a:r>
            <a:r>
              <a:rPr sz="2400" spc="-30" dirty="0">
                <a:solidFill>
                  <a:srgbClr val="292929"/>
                </a:solidFill>
                <a:latin typeface="Calibri"/>
                <a:cs typeface="Calibri"/>
              </a:rPr>
              <a:t>r</a:t>
            </a:r>
            <a:r>
              <a:rPr sz="2400" dirty="0">
                <a:solidFill>
                  <a:srgbClr val="292929"/>
                </a:solidFill>
                <a:latin typeface="Calibri"/>
                <a:cs typeface="Calibri"/>
              </a:rPr>
              <a:t>em</a:t>
            </a:r>
            <a:r>
              <a:rPr sz="2400" spc="10" dirty="0">
                <a:solidFill>
                  <a:srgbClr val="292929"/>
                </a:solidFill>
                <a:latin typeface="Calibri"/>
                <a:cs typeface="Calibri"/>
              </a:rPr>
              <a:t>e</a:t>
            </a:r>
            <a:r>
              <a:rPr sz="2400" spc="-40" dirty="0">
                <a:solidFill>
                  <a:srgbClr val="292929"/>
                </a:solidFill>
                <a:latin typeface="Calibri"/>
                <a:cs typeface="Calibri"/>
              </a:rPr>
              <a:t>n</a:t>
            </a:r>
            <a:r>
              <a:rPr sz="2400" spc="-25" dirty="0">
                <a:solidFill>
                  <a:srgbClr val="292929"/>
                </a:solidFill>
                <a:latin typeface="Calibri"/>
                <a:cs typeface="Calibri"/>
              </a:rPr>
              <a:t>t</a:t>
            </a:r>
            <a:r>
              <a:rPr sz="2400" dirty="0">
                <a:solidFill>
                  <a:srgbClr val="292929"/>
                </a:solidFill>
                <a:latin typeface="Calibri"/>
                <a:cs typeface="Calibri"/>
              </a:rPr>
              <a:t>al	and	i</a:t>
            </a:r>
            <a:r>
              <a:rPr sz="2400" spc="-25" dirty="0">
                <a:solidFill>
                  <a:srgbClr val="292929"/>
                </a:solidFill>
                <a:latin typeface="Calibri"/>
                <a:cs typeface="Calibri"/>
              </a:rPr>
              <a:t>t</a:t>
            </a:r>
            <a:r>
              <a:rPr sz="2400" dirty="0">
                <a:solidFill>
                  <a:srgbClr val="292929"/>
                </a:solidFill>
                <a:latin typeface="Calibri"/>
                <a:cs typeface="Calibri"/>
              </a:rPr>
              <a:t>e</a:t>
            </a:r>
            <a:r>
              <a:rPr sz="2400" spc="-40" dirty="0">
                <a:solidFill>
                  <a:srgbClr val="292929"/>
                </a:solidFill>
                <a:latin typeface="Calibri"/>
                <a:cs typeface="Calibri"/>
              </a:rPr>
              <a:t>r</a:t>
            </a:r>
            <a:r>
              <a:rPr sz="2400" spc="-25" dirty="0">
                <a:solidFill>
                  <a:srgbClr val="292929"/>
                </a:solidFill>
                <a:latin typeface="Calibri"/>
                <a:cs typeface="Calibri"/>
              </a:rPr>
              <a:t>a</a:t>
            </a:r>
            <a:r>
              <a:rPr sz="2400" dirty="0">
                <a:solidFill>
                  <a:srgbClr val="292929"/>
                </a:solidFill>
                <a:latin typeface="Calibri"/>
                <a:cs typeface="Calibri"/>
              </a:rPr>
              <a:t>ti</a:t>
            </a:r>
            <a:r>
              <a:rPr sz="2400" spc="-30" dirty="0">
                <a:solidFill>
                  <a:srgbClr val="292929"/>
                </a:solidFill>
                <a:latin typeface="Calibri"/>
                <a:cs typeface="Calibri"/>
              </a:rPr>
              <a:t>v</a:t>
            </a:r>
            <a:r>
              <a:rPr sz="2400" dirty="0">
                <a:solidFill>
                  <a:srgbClr val="292929"/>
                </a:solidFill>
                <a:latin typeface="Calibri"/>
                <a:cs typeface="Calibri"/>
              </a:rPr>
              <a:t>e	</a:t>
            </a:r>
            <a:r>
              <a:rPr sz="2400" spc="-5" dirty="0">
                <a:solidFill>
                  <a:srgbClr val="292929"/>
                </a:solidFill>
                <a:latin typeface="Calibri"/>
                <a:cs typeface="Calibri"/>
              </a:rPr>
              <a:t>d</a:t>
            </a:r>
            <a:r>
              <a:rPr sz="2400" spc="-10" dirty="0">
                <a:solidFill>
                  <a:srgbClr val="292929"/>
                </a:solidFill>
                <a:latin typeface="Calibri"/>
                <a:cs typeface="Calibri"/>
              </a:rPr>
              <a:t>e</a:t>
            </a:r>
            <a:r>
              <a:rPr sz="2400" spc="-30" dirty="0">
                <a:solidFill>
                  <a:srgbClr val="292929"/>
                </a:solidFill>
                <a:latin typeface="Calibri"/>
                <a:cs typeface="Calibri"/>
              </a:rPr>
              <a:t>v</a:t>
            </a:r>
            <a:r>
              <a:rPr sz="2400" spc="15" dirty="0">
                <a:solidFill>
                  <a:srgbClr val="292929"/>
                </a:solidFill>
                <a:latin typeface="Calibri"/>
                <a:cs typeface="Calibri"/>
              </a:rPr>
              <a:t>e</a:t>
            </a:r>
            <a:r>
              <a:rPr sz="2400" dirty="0">
                <a:solidFill>
                  <a:srgbClr val="292929"/>
                </a:solidFill>
                <a:latin typeface="Calibri"/>
                <a:cs typeface="Calibri"/>
              </a:rPr>
              <a:t>lopme</a:t>
            </a:r>
            <a:r>
              <a:rPr sz="2400" spc="-25" dirty="0">
                <a:solidFill>
                  <a:srgbClr val="292929"/>
                </a:solidFill>
                <a:latin typeface="Calibri"/>
                <a:cs typeface="Calibri"/>
              </a:rPr>
              <a:t>n</a:t>
            </a:r>
            <a:r>
              <a:rPr sz="2400" spc="-5" dirty="0">
                <a:solidFill>
                  <a:srgbClr val="292929"/>
                </a:solidFill>
                <a:latin typeface="Calibri"/>
                <a:cs typeface="Calibri"/>
              </a:rPr>
              <a:t>t</a:t>
            </a:r>
            <a:r>
              <a:rPr sz="2400" dirty="0">
                <a:solidFill>
                  <a:srgbClr val="292929"/>
                </a:solidFill>
                <a:latin typeface="Calibri"/>
                <a:cs typeface="Calibri"/>
              </a:rPr>
              <a:t>.	</a:t>
            </a:r>
            <a:r>
              <a:rPr sz="2400" spc="-5" dirty="0">
                <a:solidFill>
                  <a:srgbClr val="292929"/>
                </a:solidFill>
                <a:latin typeface="Calibri"/>
                <a:cs typeface="Calibri"/>
              </a:rPr>
              <a:t>It</a:t>
            </a:r>
            <a:endParaRPr sz="2400" dirty="0">
              <a:latin typeface="Calibri"/>
              <a:cs typeface="Calibri"/>
            </a:endParaRPr>
          </a:p>
        </p:txBody>
      </p:sp>
      <p:sp>
        <p:nvSpPr>
          <p:cNvPr id="7" name="object 7"/>
          <p:cNvSpPr txBox="1"/>
          <p:nvPr/>
        </p:nvSpPr>
        <p:spPr>
          <a:xfrm>
            <a:off x="1205280" y="4352925"/>
            <a:ext cx="6101080" cy="391160"/>
          </a:xfrm>
          <a:prstGeom prst="rect">
            <a:avLst/>
          </a:prstGeom>
        </p:spPr>
        <p:txBody>
          <a:bodyPr vert="horz" wrap="square" lIns="0" tIns="12700" rIns="0" bIns="0" rtlCol="0">
            <a:spAutoFit/>
          </a:bodyPr>
          <a:lstStyle/>
          <a:p>
            <a:pPr marL="12700">
              <a:lnSpc>
                <a:spcPct val="100000"/>
              </a:lnSpc>
              <a:spcBef>
                <a:spcPts val="100"/>
              </a:spcBef>
              <a:tabLst>
                <a:tab pos="1274445" algn="l"/>
                <a:tab pos="2382520" algn="l"/>
                <a:tab pos="3665854" algn="l"/>
                <a:tab pos="5622925" algn="l"/>
              </a:tabLst>
            </a:pPr>
            <a:r>
              <a:rPr sz="2400" dirty="0">
                <a:solidFill>
                  <a:srgbClr val="292929"/>
                </a:solidFill>
                <a:latin typeface="Calibri"/>
                <a:cs typeface="Calibri"/>
              </a:rPr>
              <a:t>i</a:t>
            </a:r>
            <a:r>
              <a:rPr sz="2400" spc="-35" dirty="0">
                <a:solidFill>
                  <a:srgbClr val="292929"/>
                </a:solidFill>
                <a:latin typeface="Calibri"/>
                <a:cs typeface="Calibri"/>
              </a:rPr>
              <a:t>n</a:t>
            </a:r>
            <a:r>
              <a:rPr sz="2400" spc="-30" dirty="0">
                <a:solidFill>
                  <a:srgbClr val="292929"/>
                </a:solidFill>
                <a:latin typeface="Calibri"/>
                <a:cs typeface="Calibri"/>
              </a:rPr>
              <a:t>v</a:t>
            </a:r>
            <a:r>
              <a:rPr sz="2400" spc="-5" dirty="0">
                <a:solidFill>
                  <a:srgbClr val="292929"/>
                </a:solidFill>
                <a:latin typeface="Calibri"/>
                <a:cs typeface="Calibri"/>
              </a:rPr>
              <a:t>ol</a:t>
            </a:r>
            <a:r>
              <a:rPr sz="2400" spc="-35" dirty="0">
                <a:solidFill>
                  <a:srgbClr val="292929"/>
                </a:solidFill>
                <a:latin typeface="Calibri"/>
                <a:cs typeface="Calibri"/>
              </a:rPr>
              <a:t>v</a:t>
            </a:r>
            <a:r>
              <a:rPr sz="2400" dirty="0">
                <a:solidFill>
                  <a:srgbClr val="292929"/>
                </a:solidFill>
                <a:latin typeface="Calibri"/>
                <a:cs typeface="Calibri"/>
              </a:rPr>
              <a:t>es	</a:t>
            </a:r>
            <a:r>
              <a:rPr sz="2400" spc="10" dirty="0">
                <a:solidFill>
                  <a:srgbClr val="292929"/>
                </a:solidFill>
                <a:latin typeface="Calibri"/>
                <a:cs typeface="Calibri"/>
              </a:rPr>
              <a:t>a</a:t>
            </a:r>
            <a:r>
              <a:rPr sz="2400" spc="-5" dirty="0">
                <a:solidFill>
                  <a:srgbClr val="292929"/>
                </a:solidFill>
                <a:latin typeface="Calibri"/>
                <a:cs typeface="Calibri"/>
              </a:rPr>
              <a:t>ddin</a:t>
            </a:r>
            <a:r>
              <a:rPr sz="2400" dirty="0">
                <a:solidFill>
                  <a:srgbClr val="292929"/>
                </a:solidFill>
                <a:latin typeface="Calibri"/>
                <a:cs typeface="Calibri"/>
              </a:rPr>
              <a:t>g	</a:t>
            </a:r>
            <a:r>
              <a:rPr sz="2400" spc="-65" dirty="0">
                <a:solidFill>
                  <a:srgbClr val="292929"/>
                </a:solidFill>
                <a:latin typeface="Calibri"/>
                <a:cs typeface="Calibri"/>
              </a:rPr>
              <a:t>f</a:t>
            </a:r>
            <a:r>
              <a:rPr sz="2400" dirty="0">
                <a:solidFill>
                  <a:srgbClr val="292929"/>
                </a:solidFill>
                <a:latin typeface="Calibri"/>
                <a:cs typeface="Calibri"/>
              </a:rPr>
              <a:t>e</a:t>
            </a:r>
            <a:r>
              <a:rPr sz="2400" spc="-20" dirty="0">
                <a:solidFill>
                  <a:srgbClr val="292929"/>
                </a:solidFill>
                <a:latin typeface="Calibri"/>
                <a:cs typeface="Calibri"/>
              </a:rPr>
              <a:t>a</a:t>
            </a:r>
            <a:r>
              <a:rPr sz="2400" dirty="0">
                <a:solidFill>
                  <a:srgbClr val="292929"/>
                </a:solidFill>
                <a:latin typeface="Calibri"/>
                <a:cs typeface="Calibri"/>
              </a:rPr>
              <a:t>tu</a:t>
            </a:r>
            <a:r>
              <a:rPr sz="2400" spc="-35" dirty="0">
                <a:solidFill>
                  <a:srgbClr val="292929"/>
                </a:solidFill>
                <a:latin typeface="Calibri"/>
                <a:cs typeface="Calibri"/>
              </a:rPr>
              <a:t>r</a:t>
            </a:r>
            <a:r>
              <a:rPr sz="2400" dirty="0">
                <a:solidFill>
                  <a:srgbClr val="292929"/>
                </a:solidFill>
                <a:latin typeface="Calibri"/>
                <a:cs typeface="Calibri"/>
              </a:rPr>
              <a:t>es	inc</a:t>
            </a:r>
            <a:r>
              <a:rPr sz="2400" spc="-30" dirty="0">
                <a:solidFill>
                  <a:srgbClr val="292929"/>
                </a:solidFill>
                <a:latin typeface="Calibri"/>
                <a:cs typeface="Calibri"/>
              </a:rPr>
              <a:t>r</a:t>
            </a:r>
            <a:r>
              <a:rPr sz="2400" dirty="0">
                <a:solidFill>
                  <a:srgbClr val="292929"/>
                </a:solidFill>
                <a:latin typeface="Calibri"/>
                <a:cs typeface="Calibri"/>
              </a:rPr>
              <a:t>em</a:t>
            </a:r>
            <a:r>
              <a:rPr sz="2400" spc="10" dirty="0">
                <a:solidFill>
                  <a:srgbClr val="292929"/>
                </a:solidFill>
                <a:latin typeface="Calibri"/>
                <a:cs typeface="Calibri"/>
              </a:rPr>
              <a:t>e</a:t>
            </a:r>
            <a:r>
              <a:rPr sz="2400" spc="-25" dirty="0">
                <a:solidFill>
                  <a:srgbClr val="292929"/>
                </a:solidFill>
                <a:latin typeface="Calibri"/>
                <a:cs typeface="Calibri"/>
              </a:rPr>
              <a:t>nt</a:t>
            </a:r>
            <a:r>
              <a:rPr sz="2400" dirty="0">
                <a:solidFill>
                  <a:srgbClr val="292929"/>
                </a:solidFill>
                <a:latin typeface="Calibri"/>
                <a:cs typeface="Calibri"/>
              </a:rPr>
              <a:t>a</a:t>
            </a:r>
            <a:r>
              <a:rPr sz="2400" spc="-10" dirty="0">
                <a:solidFill>
                  <a:srgbClr val="292929"/>
                </a:solidFill>
                <a:latin typeface="Calibri"/>
                <a:cs typeface="Calibri"/>
              </a:rPr>
              <a:t>l</a:t>
            </a:r>
            <a:r>
              <a:rPr sz="2400" dirty="0">
                <a:solidFill>
                  <a:srgbClr val="292929"/>
                </a:solidFill>
                <a:latin typeface="Calibri"/>
                <a:cs typeface="Calibri"/>
              </a:rPr>
              <a:t>ly	</a:t>
            </a:r>
            <a:r>
              <a:rPr sz="2400" spc="-10" dirty="0">
                <a:solidFill>
                  <a:srgbClr val="292929"/>
                </a:solidFill>
                <a:latin typeface="Calibri"/>
                <a:cs typeface="Calibri"/>
              </a:rPr>
              <a:t>a</a:t>
            </a:r>
            <a:r>
              <a:rPr sz="2400" spc="-5" dirty="0">
                <a:solidFill>
                  <a:srgbClr val="292929"/>
                </a:solidFill>
                <a:latin typeface="Calibri"/>
                <a:cs typeface="Calibri"/>
              </a:rPr>
              <a:t>nd</a:t>
            </a:r>
            <a:endParaRPr sz="2400">
              <a:latin typeface="Calibri"/>
              <a:cs typeface="Calibri"/>
            </a:endParaRPr>
          </a:p>
        </p:txBody>
      </p:sp>
      <p:sp>
        <p:nvSpPr>
          <p:cNvPr id="8" name="object 8"/>
          <p:cNvSpPr txBox="1"/>
          <p:nvPr/>
        </p:nvSpPr>
        <p:spPr>
          <a:xfrm>
            <a:off x="1205280" y="4645228"/>
            <a:ext cx="6101715" cy="1270000"/>
          </a:xfrm>
          <a:prstGeom prst="rect">
            <a:avLst/>
          </a:prstGeom>
        </p:spPr>
        <p:txBody>
          <a:bodyPr vert="horz" wrap="square" lIns="0" tIns="85725" rIns="0" bIns="0" rtlCol="0">
            <a:spAutoFit/>
          </a:bodyPr>
          <a:lstStyle/>
          <a:p>
            <a:pPr marL="12700" marR="5080" algn="just">
              <a:lnSpc>
                <a:spcPct val="80000"/>
              </a:lnSpc>
              <a:spcBef>
                <a:spcPts val="675"/>
              </a:spcBef>
            </a:pPr>
            <a:r>
              <a:rPr sz="2400" dirty="0">
                <a:solidFill>
                  <a:srgbClr val="292929"/>
                </a:solidFill>
                <a:latin typeface="Calibri"/>
                <a:cs typeface="Calibri"/>
              </a:rPr>
              <a:t>making</a:t>
            </a:r>
            <a:r>
              <a:rPr sz="2400" spc="5" dirty="0">
                <a:solidFill>
                  <a:srgbClr val="292929"/>
                </a:solidFill>
                <a:latin typeface="Calibri"/>
                <a:cs typeface="Calibri"/>
              </a:rPr>
              <a:t> </a:t>
            </a:r>
            <a:r>
              <a:rPr sz="2400" spc="-10" dirty="0">
                <a:solidFill>
                  <a:srgbClr val="292929"/>
                </a:solidFill>
                <a:latin typeface="Calibri"/>
                <a:cs typeface="Calibri"/>
              </a:rPr>
              <a:t>changes</a:t>
            </a:r>
            <a:r>
              <a:rPr sz="2400" spc="-5" dirty="0">
                <a:solidFill>
                  <a:srgbClr val="292929"/>
                </a:solidFill>
                <a:latin typeface="Calibri"/>
                <a:cs typeface="Calibri"/>
              </a:rPr>
              <a:t> </a:t>
            </a:r>
            <a:r>
              <a:rPr sz="2400" dirty="0">
                <a:solidFill>
                  <a:srgbClr val="292929"/>
                </a:solidFill>
                <a:latin typeface="Calibri"/>
                <a:cs typeface="Calibri"/>
              </a:rPr>
              <a:t>and</a:t>
            </a:r>
            <a:r>
              <a:rPr sz="2400" spc="5" dirty="0">
                <a:solidFill>
                  <a:srgbClr val="292929"/>
                </a:solidFill>
                <a:latin typeface="Calibri"/>
                <a:cs typeface="Calibri"/>
              </a:rPr>
              <a:t> </a:t>
            </a:r>
            <a:r>
              <a:rPr sz="2400" spc="-10" dirty="0">
                <a:solidFill>
                  <a:srgbClr val="292929"/>
                </a:solidFill>
                <a:latin typeface="Calibri"/>
                <a:cs typeface="Calibri"/>
              </a:rPr>
              <a:t>refinements</a:t>
            </a:r>
            <a:r>
              <a:rPr sz="2400" spc="-5" dirty="0">
                <a:solidFill>
                  <a:srgbClr val="292929"/>
                </a:solidFill>
                <a:latin typeface="Calibri"/>
                <a:cs typeface="Calibri"/>
              </a:rPr>
              <a:t> </a:t>
            </a:r>
            <a:r>
              <a:rPr sz="2400" spc="-10" dirty="0">
                <a:solidFill>
                  <a:srgbClr val="292929"/>
                </a:solidFill>
                <a:latin typeface="Calibri"/>
                <a:cs typeface="Calibri"/>
              </a:rPr>
              <a:t>according</a:t>
            </a:r>
            <a:r>
              <a:rPr sz="2400" spc="-5" dirty="0">
                <a:solidFill>
                  <a:srgbClr val="292929"/>
                </a:solidFill>
                <a:latin typeface="Calibri"/>
                <a:cs typeface="Calibri"/>
              </a:rPr>
              <a:t> </a:t>
            </a:r>
            <a:r>
              <a:rPr sz="2400" spc="-40" dirty="0">
                <a:solidFill>
                  <a:srgbClr val="292929"/>
                </a:solidFill>
                <a:latin typeface="Calibri"/>
                <a:cs typeface="Calibri"/>
              </a:rPr>
              <a:t>to </a:t>
            </a:r>
            <a:r>
              <a:rPr sz="2400" spc="-35" dirty="0">
                <a:solidFill>
                  <a:srgbClr val="292929"/>
                </a:solidFill>
                <a:latin typeface="Calibri"/>
                <a:cs typeface="Calibri"/>
              </a:rPr>
              <a:t> </a:t>
            </a:r>
            <a:r>
              <a:rPr sz="2400" spc="-10" dirty="0">
                <a:solidFill>
                  <a:srgbClr val="292929"/>
                </a:solidFill>
                <a:latin typeface="Calibri"/>
                <a:cs typeface="Calibri"/>
              </a:rPr>
              <a:t>feedback.</a:t>
            </a:r>
            <a:r>
              <a:rPr sz="2400" spc="-5" dirty="0">
                <a:solidFill>
                  <a:srgbClr val="292929"/>
                </a:solidFill>
                <a:latin typeface="Calibri"/>
                <a:cs typeface="Calibri"/>
              </a:rPr>
              <a:t> In</a:t>
            </a:r>
            <a:r>
              <a:rPr sz="2400" dirty="0">
                <a:solidFill>
                  <a:srgbClr val="292929"/>
                </a:solidFill>
                <a:latin typeface="Calibri"/>
                <a:cs typeface="Calibri"/>
              </a:rPr>
              <a:t> </a:t>
            </a:r>
            <a:r>
              <a:rPr sz="2400" spc="-5" dirty="0">
                <a:solidFill>
                  <a:srgbClr val="292929"/>
                </a:solidFill>
                <a:latin typeface="Calibri"/>
                <a:cs typeface="Calibri"/>
              </a:rPr>
              <a:t>other</a:t>
            </a:r>
            <a:r>
              <a:rPr sz="2400" dirty="0">
                <a:solidFill>
                  <a:srgbClr val="292929"/>
                </a:solidFill>
                <a:latin typeface="Calibri"/>
                <a:cs typeface="Calibri"/>
              </a:rPr>
              <a:t> </a:t>
            </a:r>
            <a:r>
              <a:rPr sz="2400" spc="-15" dirty="0">
                <a:solidFill>
                  <a:srgbClr val="292929"/>
                </a:solidFill>
                <a:latin typeface="Calibri"/>
                <a:cs typeface="Calibri"/>
              </a:rPr>
              <a:t>words,</a:t>
            </a:r>
            <a:r>
              <a:rPr sz="2400" spc="-10" dirty="0">
                <a:solidFill>
                  <a:srgbClr val="292929"/>
                </a:solidFill>
                <a:latin typeface="Calibri"/>
                <a:cs typeface="Calibri"/>
              </a:rPr>
              <a:t> </a:t>
            </a:r>
            <a:r>
              <a:rPr sz="2400" dirty="0">
                <a:solidFill>
                  <a:srgbClr val="292929"/>
                </a:solidFill>
                <a:latin typeface="Calibri"/>
                <a:cs typeface="Calibri"/>
              </a:rPr>
              <a:t>the</a:t>
            </a:r>
            <a:r>
              <a:rPr sz="2400" spc="5" dirty="0">
                <a:solidFill>
                  <a:srgbClr val="292929"/>
                </a:solidFill>
                <a:latin typeface="Calibri"/>
                <a:cs typeface="Calibri"/>
              </a:rPr>
              <a:t> </a:t>
            </a:r>
            <a:r>
              <a:rPr sz="2400" spc="-10" dirty="0">
                <a:solidFill>
                  <a:srgbClr val="292929"/>
                </a:solidFill>
                <a:latin typeface="Calibri"/>
                <a:cs typeface="Calibri"/>
              </a:rPr>
              <a:t>work</a:t>
            </a:r>
            <a:r>
              <a:rPr sz="2400" spc="-5" dirty="0">
                <a:solidFill>
                  <a:srgbClr val="292929"/>
                </a:solidFill>
                <a:latin typeface="Calibri"/>
                <a:cs typeface="Calibri"/>
              </a:rPr>
              <a:t> </a:t>
            </a:r>
            <a:r>
              <a:rPr sz="2400" spc="-10" dirty="0">
                <a:solidFill>
                  <a:srgbClr val="292929"/>
                </a:solidFill>
                <a:latin typeface="Calibri"/>
                <a:cs typeface="Calibri"/>
              </a:rPr>
              <a:t>can</a:t>
            </a:r>
            <a:r>
              <a:rPr sz="2400" spc="-5" dirty="0">
                <a:solidFill>
                  <a:srgbClr val="292929"/>
                </a:solidFill>
                <a:latin typeface="Calibri"/>
                <a:cs typeface="Calibri"/>
              </a:rPr>
              <a:t> easily </a:t>
            </a:r>
            <a:r>
              <a:rPr sz="2400" spc="-530" dirty="0">
                <a:solidFill>
                  <a:srgbClr val="292929"/>
                </a:solidFill>
                <a:latin typeface="Calibri"/>
                <a:cs typeface="Calibri"/>
              </a:rPr>
              <a:t> </a:t>
            </a:r>
            <a:r>
              <a:rPr sz="2400" dirty="0">
                <a:solidFill>
                  <a:srgbClr val="292929"/>
                </a:solidFill>
                <a:latin typeface="Calibri"/>
                <a:cs typeface="Calibri"/>
              </a:rPr>
              <a:t>adapt</a:t>
            </a:r>
            <a:r>
              <a:rPr sz="2400" spc="5" dirty="0">
                <a:solidFill>
                  <a:srgbClr val="292929"/>
                </a:solidFill>
                <a:latin typeface="Calibri"/>
                <a:cs typeface="Calibri"/>
              </a:rPr>
              <a:t> </a:t>
            </a:r>
            <a:r>
              <a:rPr sz="2400" spc="-15" dirty="0">
                <a:solidFill>
                  <a:srgbClr val="292929"/>
                </a:solidFill>
                <a:latin typeface="Calibri"/>
                <a:cs typeface="Calibri"/>
              </a:rPr>
              <a:t>to</a:t>
            </a:r>
            <a:r>
              <a:rPr sz="2400" spc="-10" dirty="0">
                <a:solidFill>
                  <a:srgbClr val="292929"/>
                </a:solidFill>
                <a:latin typeface="Calibri"/>
                <a:cs typeface="Calibri"/>
              </a:rPr>
              <a:t> </a:t>
            </a:r>
            <a:r>
              <a:rPr sz="2400" dirty="0">
                <a:solidFill>
                  <a:srgbClr val="292929"/>
                </a:solidFill>
                <a:latin typeface="Calibri"/>
                <a:cs typeface="Calibri"/>
              </a:rPr>
              <a:t>the</a:t>
            </a:r>
            <a:r>
              <a:rPr sz="2400" spc="5" dirty="0">
                <a:solidFill>
                  <a:srgbClr val="292929"/>
                </a:solidFill>
                <a:latin typeface="Calibri"/>
                <a:cs typeface="Calibri"/>
              </a:rPr>
              <a:t> </a:t>
            </a:r>
            <a:r>
              <a:rPr sz="2400" dirty="0">
                <a:solidFill>
                  <a:srgbClr val="292929"/>
                </a:solidFill>
                <a:latin typeface="Calibri"/>
                <a:cs typeface="Calibri"/>
              </a:rPr>
              <a:t>changing</a:t>
            </a:r>
            <a:r>
              <a:rPr sz="2400" spc="5" dirty="0">
                <a:solidFill>
                  <a:srgbClr val="292929"/>
                </a:solidFill>
                <a:latin typeface="Calibri"/>
                <a:cs typeface="Calibri"/>
              </a:rPr>
              <a:t> </a:t>
            </a:r>
            <a:r>
              <a:rPr sz="2400" spc="-10" dirty="0">
                <a:solidFill>
                  <a:srgbClr val="292929"/>
                </a:solidFill>
                <a:latin typeface="Calibri"/>
                <a:cs typeface="Calibri"/>
              </a:rPr>
              <a:t>requirements</a:t>
            </a:r>
            <a:r>
              <a:rPr sz="2400" spc="-5" dirty="0">
                <a:solidFill>
                  <a:srgbClr val="292929"/>
                </a:solidFill>
                <a:latin typeface="Calibri"/>
                <a:cs typeface="Calibri"/>
              </a:rPr>
              <a:t> based</a:t>
            </a:r>
            <a:r>
              <a:rPr sz="2400" dirty="0">
                <a:solidFill>
                  <a:srgbClr val="292929"/>
                </a:solidFill>
                <a:latin typeface="Calibri"/>
                <a:cs typeface="Calibri"/>
              </a:rPr>
              <a:t> </a:t>
            </a:r>
            <a:r>
              <a:rPr sz="2400" spc="-10" dirty="0">
                <a:solidFill>
                  <a:srgbClr val="292929"/>
                </a:solidFill>
                <a:latin typeface="Calibri"/>
                <a:cs typeface="Calibri"/>
              </a:rPr>
              <a:t>on </a:t>
            </a:r>
            <a:r>
              <a:rPr sz="2400" spc="-530" dirty="0">
                <a:solidFill>
                  <a:srgbClr val="292929"/>
                </a:solidFill>
                <a:latin typeface="Calibri"/>
                <a:cs typeface="Calibri"/>
              </a:rPr>
              <a:t> </a:t>
            </a:r>
            <a:r>
              <a:rPr sz="2400" spc="-5" dirty="0">
                <a:solidFill>
                  <a:srgbClr val="292929"/>
                </a:solidFill>
                <a:latin typeface="Calibri"/>
                <a:cs typeface="Calibri"/>
              </a:rPr>
              <a:t>new</a:t>
            </a:r>
            <a:r>
              <a:rPr sz="2400" spc="-10" dirty="0">
                <a:solidFill>
                  <a:srgbClr val="292929"/>
                </a:solidFill>
                <a:latin typeface="Calibri"/>
                <a:cs typeface="Calibri"/>
              </a:rPr>
              <a:t> feedback received</a:t>
            </a:r>
            <a:r>
              <a:rPr sz="2400" spc="-5" dirty="0">
                <a:solidFill>
                  <a:srgbClr val="292929"/>
                </a:solidFill>
                <a:latin typeface="Calibri"/>
                <a:cs typeface="Calibri"/>
              </a:rPr>
              <a:t> </a:t>
            </a:r>
            <a:r>
              <a:rPr sz="2400" spc="-15" dirty="0">
                <a:solidFill>
                  <a:srgbClr val="292929"/>
                </a:solidFill>
                <a:latin typeface="Calibri"/>
                <a:cs typeface="Calibri"/>
              </a:rPr>
              <a:t>from</a:t>
            </a:r>
            <a:r>
              <a:rPr sz="2400" spc="-10" dirty="0">
                <a:solidFill>
                  <a:srgbClr val="292929"/>
                </a:solidFill>
                <a:latin typeface="Calibri"/>
                <a:cs typeface="Calibri"/>
              </a:rPr>
              <a:t> </a:t>
            </a:r>
            <a:r>
              <a:rPr sz="2400" dirty="0">
                <a:solidFill>
                  <a:srgbClr val="292929"/>
                </a:solidFill>
                <a:latin typeface="Calibri"/>
                <a:cs typeface="Calibri"/>
              </a:rPr>
              <a:t>the</a:t>
            </a:r>
            <a:r>
              <a:rPr sz="2400" spc="-10" dirty="0">
                <a:solidFill>
                  <a:srgbClr val="292929"/>
                </a:solidFill>
                <a:latin typeface="Calibri"/>
                <a:cs typeface="Calibri"/>
              </a:rPr>
              <a:t> </a:t>
            </a:r>
            <a:r>
              <a:rPr sz="2400" spc="-5" dirty="0">
                <a:solidFill>
                  <a:srgbClr val="292929"/>
                </a:solidFill>
                <a:latin typeface="Calibri"/>
                <a:cs typeface="Calibri"/>
              </a:rPr>
              <a:t>client.</a:t>
            </a:r>
            <a:endParaRPr sz="2400" dirty="0">
              <a:latin typeface="Calibri"/>
              <a:cs typeface="Calibri"/>
            </a:endParaRPr>
          </a:p>
        </p:txBody>
      </p:sp>
      <p:grpSp>
        <p:nvGrpSpPr>
          <p:cNvPr id="9" name="object 9"/>
          <p:cNvGrpSpPr/>
          <p:nvPr/>
        </p:nvGrpSpPr>
        <p:grpSpPr>
          <a:xfrm>
            <a:off x="8438133" y="2413761"/>
            <a:ext cx="2072639" cy="1220470"/>
            <a:chOff x="8438133" y="2413761"/>
            <a:chExt cx="2072639" cy="1220470"/>
          </a:xfrm>
        </p:grpSpPr>
        <p:sp>
          <p:nvSpPr>
            <p:cNvPr id="10" name="object 10"/>
            <p:cNvSpPr/>
            <p:nvPr/>
          </p:nvSpPr>
          <p:spPr>
            <a:xfrm>
              <a:off x="8444483" y="3270503"/>
              <a:ext cx="2059939" cy="357505"/>
            </a:xfrm>
            <a:custGeom>
              <a:avLst/>
              <a:gdLst/>
              <a:ahLst/>
              <a:cxnLst/>
              <a:rect l="l" t="t" r="r" b="b"/>
              <a:pathLst>
                <a:path w="2059940" h="357504">
                  <a:moveTo>
                    <a:pt x="1030224" y="0"/>
                  </a:moveTo>
                  <a:lnTo>
                    <a:pt x="1030224" y="178688"/>
                  </a:lnTo>
                  <a:lnTo>
                    <a:pt x="2059686" y="178688"/>
                  </a:lnTo>
                  <a:lnTo>
                    <a:pt x="2059686" y="357378"/>
                  </a:lnTo>
                </a:path>
                <a:path w="2059940" h="357504">
                  <a:moveTo>
                    <a:pt x="1029462" y="0"/>
                  </a:moveTo>
                  <a:lnTo>
                    <a:pt x="1029462" y="178688"/>
                  </a:lnTo>
                  <a:lnTo>
                    <a:pt x="0" y="178688"/>
                  </a:lnTo>
                  <a:lnTo>
                    <a:pt x="0" y="357378"/>
                  </a:lnTo>
                </a:path>
              </a:pathLst>
            </a:custGeom>
            <a:ln w="12700">
              <a:solidFill>
                <a:srgbClr val="34589C"/>
              </a:solidFill>
            </a:ln>
          </p:spPr>
          <p:txBody>
            <a:bodyPr wrap="square" lIns="0" tIns="0" rIns="0" bIns="0" rtlCol="0"/>
            <a:lstStyle/>
            <a:p>
              <a:endParaRPr/>
            </a:p>
          </p:txBody>
        </p:sp>
        <p:sp>
          <p:nvSpPr>
            <p:cNvPr id="11" name="object 11"/>
            <p:cNvSpPr/>
            <p:nvPr/>
          </p:nvSpPr>
          <p:spPr>
            <a:xfrm>
              <a:off x="8622791" y="2420111"/>
              <a:ext cx="1702435" cy="850900"/>
            </a:xfrm>
            <a:custGeom>
              <a:avLst/>
              <a:gdLst/>
              <a:ahLst/>
              <a:cxnLst/>
              <a:rect l="l" t="t" r="r" b="b"/>
              <a:pathLst>
                <a:path w="1702434" h="850900">
                  <a:moveTo>
                    <a:pt x="1702307" y="0"/>
                  </a:moveTo>
                  <a:lnTo>
                    <a:pt x="0" y="0"/>
                  </a:lnTo>
                  <a:lnTo>
                    <a:pt x="0" y="850391"/>
                  </a:lnTo>
                  <a:lnTo>
                    <a:pt x="1702307" y="850391"/>
                  </a:lnTo>
                  <a:lnTo>
                    <a:pt x="1702307" y="0"/>
                  </a:lnTo>
                  <a:close/>
                </a:path>
              </a:pathLst>
            </a:custGeom>
            <a:solidFill>
              <a:srgbClr val="4471C4"/>
            </a:solidFill>
          </p:spPr>
          <p:txBody>
            <a:bodyPr wrap="square" lIns="0" tIns="0" rIns="0" bIns="0" rtlCol="0"/>
            <a:lstStyle/>
            <a:p>
              <a:endParaRPr/>
            </a:p>
          </p:txBody>
        </p:sp>
        <p:sp>
          <p:nvSpPr>
            <p:cNvPr id="12" name="object 12"/>
            <p:cNvSpPr/>
            <p:nvPr/>
          </p:nvSpPr>
          <p:spPr>
            <a:xfrm>
              <a:off x="8622791" y="2420111"/>
              <a:ext cx="1702435" cy="850900"/>
            </a:xfrm>
            <a:custGeom>
              <a:avLst/>
              <a:gdLst/>
              <a:ahLst/>
              <a:cxnLst/>
              <a:rect l="l" t="t" r="r" b="b"/>
              <a:pathLst>
                <a:path w="1702434" h="850900">
                  <a:moveTo>
                    <a:pt x="0" y="850391"/>
                  </a:moveTo>
                  <a:lnTo>
                    <a:pt x="1702307" y="850391"/>
                  </a:lnTo>
                  <a:lnTo>
                    <a:pt x="1702307" y="0"/>
                  </a:lnTo>
                  <a:lnTo>
                    <a:pt x="0" y="0"/>
                  </a:lnTo>
                  <a:lnTo>
                    <a:pt x="0" y="850391"/>
                  </a:lnTo>
                  <a:close/>
                </a:path>
              </a:pathLst>
            </a:custGeom>
            <a:ln w="12700">
              <a:solidFill>
                <a:srgbClr val="FFFFFF"/>
              </a:solidFill>
            </a:ln>
          </p:spPr>
          <p:txBody>
            <a:bodyPr wrap="square" lIns="0" tIns="0" rIns="0" bIns="0" rtlCol="0"/>
            <a:lstStyle/>
            <a:p>
              <a:endParaRPr/>
            </a:p>
          </p:txBody>
        </p:sp>
      </p:grpSp>
      <p:sp>
        <p:nvSpPr>
          <p:cNvPr id="13" name="object 13"/>
          <p:cNvSpPr txBox="1"/>
          <p:nvPr/>
        </p:nvSpPr>
        <p:spPr>
          <a:xfrm>
            <a:off x="8622792" y="2420111"/>
            <a:ext cx="1702435" cy="850900"/>
          </a:xfrm>
          <a:prstGeom prst="rect">
            <a:avLst/>
          </a:prstGeom>
        </p:spPr>
        <p:txBody>
          <a:bodyPr vert="horz" wrap="square" lIns="0" tIns="635" rIns="0" bIns="0" rtlCol="0">
            <a:spAutoFit/>
          </a:bodyPr>
          <a:lstStyle/>
          <a:p>
            <a:pPr>
              <a:lnSpc>
                <a:spcPct val="100000"/>
              </a:lnSpc>
              <a:spcBef>
                <a:spcPts val="5"/>
              </a:spcBef>
            </a:pPr>
            <a:endParaRPr sz="1850">
              <a:latin typeface="Times New Roman"/>
              <a:cs typeface="Times New Roman"/>
            </a:endParaRPr>
          </a:p>
          <a:p>
            <a:pPr marL="280035">
              <a:lnSpc>
                <a:spcPct val="100000"/>
              </a:lnSpc>
            </a:pPr>
            <a:r>
              <a:rPr sz="1700" spc="-10" dirty="0">
                <a:solidFill>
                  <a:srgbClr val="FFFFFF"/>
                </a:solidFill>
                <a:latin typeface="Calibri"/>
                <a:cs typeface="Calibri"/>
              </a:rPr>
              <a:t>SDLC</a:t>
            </a:r>
            <a:r>
              <a:rPr sz="1700" spc="-35" dirty="0">
                <a:solidFill>
                  <a:srgbClr val="FFFFFF"/>
                </a:solidFill>
                <a:latin typeface="Calibri"/>
                <a:cs typeface="Calibri"/>
              </a:rPr>
              <a:t> </a:t>
            </a:r>
            <a:r>
              <a:rPr sz="1700" dirty="0">
                <a:solidFill>
                  <a:srgbClr val="FFFFFF"/>
                </a:solidFill>
                <a:latin typeface="Calibri"/>
                <a:cs typeface="Calibri"/>
              </a:rPr>
              <a:t>Models</a:t>
            </a:r>
            <a:endParaRPr sz="1700">
              <a:latin typeface="Calibri"/>
              <a:cs typeface="Calibri"/>
            </a:endParaRPr>
          </a:p>
        </p:txBody>
      </p:sp>
      <p:grpSp>
        <p:nvGrpSpPr>
          <p:cNvPr id="14" name="object 14"/>
          <p:cNvGrpSpPr/>
          <p:nvPr/>
        </p:nvGrpSpPr>
        <p:grpSpPr>
          <a:xfrm>
            <a:off x="7587742" y="3622294"/>
            <a:ext cx="1713864" cy="863600"/>
            <a:chOff x="7587742" y="3622294"/>
            <a:chExt cx="1713864" cy="863600"/>
          </a:xfrm>
        </p:grpSpPr>
        <p:sp>
          <p:nvSpPr>
            <p:cNvPr id="15" name="object 15"/>
            <p:cNvSpPr/>
            <p:nvPr/>
          </p:nvSpPr>
          <p:spPr>
            <a:xfrm>
              <a:off x="7594092" y="3628644"/>
              <a:ext cx="1701164" cy="850900"/>
            </a:xfrm>
            <a:custGeom>
              <a:avLst/>
              <a:gdLst/>
              <a:ahLst/>
              <a:cxnLst/>
              <a:rect l="l" t="t" r="r" b="b"/>
              <a:pathLst>
                <a:path w="1701165" h="850900">
                  <a:moveTo>
                    <a:pt x="1700783" y="0"/>
                  </a:moveTo>
                  <a:lnTo>
                    <a:pt x="0" y="0"/>
                  </a:lnTo>
                  <a:lnTo>
                    <a:pt x="0" y="850391"/>
                  </a:lnTo>
                  <a:lnTo>
                    <a:pt x="1700783" y="850391"/>
                  </a:lnTo>
                  <a:lnTo>
                    <a:pt x="1700783" y="0"/>
                  </a:lnTo>
                  <a:close/>
                </a:path>
              </a:pathLst>
            </a:custGeom>
            <a:solidFill>
              <a:srgbClr val="4471C4"/>
            </a:solidFill>
          </p:spPr>
          <p:txBody>
            <a:bodyPr wrap="square" lIns="0" tIns="0" rIns="0" bIns="0" rtlCol="0"/>
            <a:lstStyle/>
            <a:p>
              <a:endParaRPr/>
            </a:p>
          </p:txBody>
        </p:sp>
        <p:sp>
          <p:nvSpPr>
            <p:cNvPr id="16" name="object 16"/>
            <p:cNvSpPr/>
            <p:nvPr/>
          </p:nvSpPr>
          <p:spPr>
            <a:xfrm>
              <a:off x="7594092" y="3628644"/>
              <a:ext cx="1701164" cy="850900"/>
            </a:xfrm>
            <a:custGeom>
              <a:avLst/>
              <a:gdLst/>
              <a:ahLst/>
              <a:cxnLst/>
              <a:rect l="l" t="t" r="r" b="b"/>
              <a:pathLst>
                <a:path w="1701165" h="850900">
                  <a:moveTo>
                    <a:pt x="0" y="850391"/>
                  </a:moveTo>
                  <a:lnTo>
                    <a:pt x="1700783" y="850391"/>
                  </a:lnTo>
                  <a:lnTo>
                    <a:pt x="1700783" y="0"/>
                  </a:lnTo>
                  <a:lnTo>
                    <a:pt x="0" y="0"/>
                  </a:lnTo>
                  <a:lnTo>
                    <a:pt x="0" y="850391"/>
                  </a:lnTo>
                  <a:close/>
                </a:path>
              </a:pathLst>
            </a:custGeom>
            <a:ln w="12700">
              <a:solidFill>
                <a:srgbClr val="FFFFFF"/>
              </a:solidFill>
            </a:ln>
          </p:spPr>
          <p:txBody>
            <a:bodyPr wrap="square" lIns="0" tIns="0" rIns="0" bIns="0" rtlCol="0"/>
            <a:lstStyle/>
            <a:p>
              <a:endParaRPr/>
            </a:p>
          </p:txBody>
        </p:sp>
      </p:grpSp>
      <p:sp>
        <p:nvSpPr>
          <p:cNvPr id="17" name="object 17"/>
          <p:cNvSpPr txBox="1"/>
          <p:nvPr/>
        </p:nvSpPr>
        <p:spPr>
          <a:xfrm>
            <a:off x="7594092" y="3628644"/>
            <a:ext cx="1701164" cy="850900"/>
          </a:xfrm>
          <a:prstGeom prst="rect">
            <a:avLst/>
          </a:prstGeom>
        </p:spPr>
        <p:txBody>
          <a:bodyPr vert="horz" wrap="square" lIns="0" tIns="0" rIns="0" bIns="0" rtlCol="0">
            <a:spAutoFit/>
          </a:bodyPr>
          <a:lstStyle/>
          <a:p>
            <a:pPr marL="413384">
              <a:lnSpc>
                <a:spcPts val="1945"/>
              </a:lnSpc>
            </a:pPr>
            <a:r>
              <a:rPr sz="1700" spc="-5" dirty="0">
                <a:solidFill>
                  <a:srgbClr val="FFFFFF"/>
                </a:solidFill>
                <a:latin typeface="Calibri"/>
                <a:cs typeface="Calibri"/>
              </a:rPr>
              <a:t>Predictive</a:t>
            </a:r>
            <a:endParaRPr sz="1700">
              <a:latin typeface="Calibri"/>
              <a:cs typeface="Calibri"/>
            </a:endParaRPr>
          </a:p>
          <a:p>
            <a:pPr marL="95250" marR="85725" indent="156845">
              <a:lnSpc>
                <a:spcPts val="1860"/>
              </a:lnSpc>
              <a:spcBef>
                <a:spcPts val="760"/>
              </a:spcBef>
            </a:pPr>
            <a:r>
              <a:rPr sz="1700" spc="5" dirty="0">
                <a:solidFill>
                  <a:srgbClr val="FFFFFF"/>
                </a:solidFill>
                <a:latin typeface="Calibri"/>
                <a:cs typeface="Calibri"/>
              </a:rPr>
              <a:t>e.g. </a:t>
            </a:r>
            <a:r>
              <a:rPr sz="1700" spc="-10" dirty="0">
                <a:solidFill>
                  <a:srgbClr val="FFFFFF"/>
                </a:solidFill>
                <a:latin typeface="Calibri"/>
                <a:cs typeface="Calibri"/>
              </a:rPr>
              <a:t>waterfall, </a:t>
            </a:r>
            <a:r>
              <a:rPr sz="1700" spc="-5" dirty="0">
                <a:solidFill>
                  <a:srgbClr val="FFFFFF"/>
                </a:solidFill>
                <a:latin typeface="Calibri"/>
                <a:cs typeface="Calibri"/>
              </a:rPr>
              <a:t> prototyping,</a:t>
            </a:r>
            <a:r>
              <a:rPr sz="1700" spc="-90" dirty="0">
                <a:solidFill>
                  <a:srgbClr val="FFFFFF"/>
                </a:solidFill>
                <a:latin typeface="Calibri"/>
                <a:cs typeface="Calibri"/>
              </a:rPr>
              <a:t> </a:t>
            </a:r>
            <a:r>
              <a:rPr sz="1700" dirty="0">
                <a:solidFill>
                  <a:srgbClr val="FFFFFF"/>
                </a:solidFill>
                <a:latin typeface="Calibri"/>
                <a:cs typeface="Calibri"/>
              </a:rPr>
              <a:t>RAD</a:t>
            </a:r>
            <a:endParaRPr sz="1700">
              <a:latin typeface="Calibri"/>
              <a:cs typeface="Calibri"/>
            </a:endParaRPr>
          </a:p>
        </p:txBody>
      </p:sp>
      <p:grpSp>
        <p:nvGrpSpPr>
          <p:cNvPr id="18" name="object 18"/>
          <p:cNvGrpSpPr/>
          <p:nvPr/>
        </p:nvGrpSpPr>
        <p:grpSpPr>
          <a:xfrm>
            <a:off x="9646666" y="3622294"/>
            <a:ext cx="1713864" cy="863600"/>
            <a:chOff x="9646666" y="3622294"/>
            <a:chExt cx="1713864" cy="863600"/>
          </a:xfrm>
        </p:grpSpPr>
        <p:sp>
          <p:nvSpPr>
            <p:cNvPr id="19" name="object 19"/>
            <p:cNvSpPr/>
            <p:nvPr/>
          </p:nvSpPr>
          <p:spPr>
            <a:xfrm>
              <a:off x="9653016" y="3628644"/>
              <a:ext cx="1701164" cy="850900"/>
            </a:xfrm>
            <a:custGeom>
              <a:avLst/>
              <a:gdLst/>
              <a:ahLst/>
              <a:cxnLst/>
              <a:rect l="l" t="t" r="r" b="b"/>
              <a:pathLst>
                <a:path w="1701165" h="850900">
                  <a:moveTo>
                    <a:pt x="1700783" y="0"/>
                  </a:moveTo>
                  <a:lnTo>
                    <a:pt x="0" y="0"/>
                  </a:lnTo>
                  <a:lnTo>
                    <a:pt x="0" y="850391"/>
                  </a:lnTo>
                  <a:lnTo>
                    <a:pt x="1700783" y="850391"/>
                  </a:lnTo>
                  <a:lnTo>
                    <a:pt x="1700783" y="0"/>
                  </a:lnTo>
                  <a:close/>
                </a:path>
              </a:pathLst>
            </a:custGeom>
            <a:solidFill>
              <a:srgbClr val="4471C4"/>
            </a:solidFill>
          </p:spPr>
          <p:txBody>
            <a:bodyPr wrap="square" lIns="0" tIns="0" rIns="0" bIns="0" rtlCol="0"/>
            <a:lstStyle/>
            <a:p>
              <a:endParaRPr/>
            </a:p>
          </p:txBody>
        </p:sp>
        <p:sp>
          <p:nvSpPr>
            <p:cNvPr id="20" name="object 20"/>
            <p:cNvSpPr/>
            <p:nvPr/>
          </p:nvSpPr>
          <p:spPr>
            <a:xfrm>
              <a:off x="9653016" y="3628644"/>
              <a:ext cx="1701164" cy="850900"/>
            </a:xfrm>
            <a:custGeom>
              <a:avLst/>
              <a:gdLst/>
              <a:ahLst/>
              <a:cxnLst/>
              <a:rect l="l" t="t" r="r" b="b"/>
              <a:pathLst>
                <a:path w="1701165" h="850900">
                  <a:moveTo>
                    <a:pt x="0" y="850391"/>
                  </a:moveTo>
                  <a:lnTo>
                    <a:pt x="1700783" y="850391"/>
                  </a:lnTo>
                  <a:lnTo>
                    <a:pt x="1700783" y="0"/>
                  </a:lnTo>
                  <a:lnTo>
                    <a:pt x="0" y="0"/>
                  </a:lnTo>
                  <a:lnTo>
                    <a:pt x="0" y="850391"/>
                  </a:lnTo>
                  <a:close/>
                </a:path>
              </a:pathLst>
            </a:custGeom>
            <a:ln w="12700">
              <a:solidFill>
                <a:srgbClr val="FFFFFF"/>
              </a:solidFill>
            </a:ln>
          </p:spPr>
          <p:txBody>
            <a:bodyPr wrap="square" lIns="0" tIns="0" rIns="0" bIns="0" rtlCol="0"/>
            <a:lstStyle/>
            <a:p>
              <a:endParaRPr/>
            </a:p>
          </p:txBody>
        </p:sp>
      </p:grpSp>
      <p:sp>
        <p:nvSpPr>
          <p:cNvPr id="21" name="object 21"/>
          <p:cNvSpPr txBox="1"/>
          <p:nvPr/>
        </p:nvSpPr>
        <p:spPr>
          <a:xfrm>
            <a:off x="9525001" y="3628644"/>
            <a:ext cx="2116274" cy="833562"/>
          </a:xfrm>
          <a:prstGeom prst="rect">
            <a:avLst/>
          </a:prstGeom>
        </p:spPr>
        <p:txBody>
          <a:bodyPr vert="horz" wrap="square" lIns="0" tIns="0" rIns="0" bIns="0" rtlCol="0">
            <a:spAutoFit/>
          </a:bodyPr>
          <a:lstStyle/>
          <a:p>
            <a:pPr marL="459740">
              <a:lnSpc>
                <a:spcPts val="1945"/>
              </a:lnSpc>
            </a:pPr>
            <a:r>
              <a:rPr sz="1700" spc="-5" dirty="0">
                <a:solidFill>
                  <a:srgbClr val="FFFFFF"/>
                </a:solidFill>
                <a:latin typeface="Calibri"/>
                <a:cs typeface="Calibri"/>
              </a:rPr>
              <a:t>Adaptive</a:t>
            </a:r>
            <a:endParaRPr sz="1700" dirty="0">
              <a:latin typeface="Calibri"/>
              <a:cs typeface="Calibri"/>
            </a:endParaRPr>
          </a:p>
          <a:p>
            <a:pPr marL="509905" marR="118745" indent="-382905">
              <a:lnSpc>
                <a:spcPts val="1860"/>
              </a:lnSpc>
              <a:spcBef>
                <a:spcPts val="760"/>
              </a:spcBef>
            </a:pPr>
            <a:r>
              <a:rPr sz="1700" spc="5" dirty="0">
                <a:solidFill>
                  <a:srgbClr val="FFFFFF"/>
                </a:solidFill>
                <a:latin typeface="Calibri"/>
                <a:cs typeface="Calibri"/>
              </a:rPr>
              <a:t>e.g.</a:t>
            </a:r>
            <a:r>
              <a:rPr sz="1700" spc="-55" dirty="0">
                <a:solidFill>
                  <a:srgbClr val="FFFFFF"/>
                </a:solidFill>
                <a:latin typeface="Calibri"/>
                <a:cs typeface="Calibri"/>
              </a:rPr>
              <a:t> </a:t>
            </a:r>
            <a:r>
              <a:rPr sz="1700" spc="-5" dirty="0">
                <a:solidFill>
                  <a:srgbClr val="FFFFFF"/>
                </a:solidFill>
                <a:latin typeface="Calibri"/>
                <a:cs typeface="Calibri"/>
              </a:rPr>
              <a:t>Spiral,</a:t>
            </a:r>
            <a:r>
              <a:rPr sz="1700" spc="-65" dirty="0">
                <a:solidFill>
                  <a:srgbClr val="FFFFFF"/>
                </a:solidFill>
                <a:latin typeface="Calibri"/>
                <a:cs typeface="Calibri"/>
              </a:rPr>
              <a:t> </a:t>
            </a:r>
            <a:r>
              <a:rPr sz="1700" dirty="0">
                <a:solidFill>
                  <a:srgbClr val="FFFFFF"/>
                </a:solidFill>
                <a:latin typeface="Calibri"/>
                <a:cs typeface="Calibri"/>
              </a:rPr>
              <a:t>Agile, </a:t>
            </a:r>
            <a:r>
              <a:rPr sz="1700" spc="-365" dirty="0">
                <a:solidFill>
                  <a:srgbClr val="FFFFFF"/>
                </a:solidFill>
                <a:latin typeface="Calibri"/>
                <a:cs typeface="Calibri"/>
              </a:rPr>
              <a:t> </a:t>
            </a:r>
            <a:r>
              <a:rPr sz="1700" spc="-5" dirty="0" err="1">
                <a:solidFill>
                  <a:srgbClr val="FFFFFF"/>
                </a:solidFill>
                <a:latin typeface="Calibri"/>
                <a:cs typeface="Calibri"/>
              </a:rPr>
              <a:t>DDSDM</a:t>
            </a:r>
            <a:r>
              <a:rPr lang="en-US" sz="1700" spc="-5" dirty="0" err="1">
                <a:solidFill>
                  <a:srgbClr val="FFFFFF"/>
                </a:solidFill>
                <a:latin typeface="Calibri"/>
                <a:cs typeface="Calibri"/>
              </a:rPr>
              <a:t>,Scrum</a:t>
            </a:r>
            <a:endParaRPr sz="1700" dirty="0">
              <a:latin typeface="Calibri"/>
              <a:cs typeface="Calibri"/>
            </a:endParaRPr>
          </a:p>
        </p:txBody>
      </p:sp>
      <p:sp>
        <p:nvSpPr>
          <p:cNvPr id="22" name="object 22"/>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76680" y="381457"/>
            <a:ext cx="4875530" cy="635000"/>
          </a:xfrm>
          <a:prstGeom prst="rect">
            <a:avLst/>
          </a:prstGeom>
        </p:spPr>
        <p:txBody>
          <a:bodyPr vert="horz" wrap="square" lIns="0" tIns="12065" rIns="0" bIns="0" rtlCol="0">
            <a:spAutoFit/>
          </a:bodyPr>
          <a:lstStyle/>
          <a:p>
            <a:pPr marL="12700">
              <a:lnSpc>
                <a:spcPct val="100000"/>
              </a:lnSpc>
              <a:spcBef>
                <a:spcPts val="95"/>
              </a:spcBef>
            </a:pPr>
            <a:r>
              <a:rPr sz="4000" spc="-40" dirty="0"/>
              <a:t>Adaptive</a:t>
            </a:r>
            <a:r>
              <a:rPr sz="4000" spc="-105" dirty="0"/>
              <a:t> </a:t>
            </a:r>
            <a:r>
              <a:rPr sz="4000" spc="-30" dirty="0"/>
              <a:t>Models</a:t>
            </a:r>
            <a:r>
              <a:rPr sz="4000" spc="-75" dirty="0"/>
              <a:t> </a:t>
            </a:r>
            <a:r>
              <a:rPr sz="4000" spc="-5" dirty="0"/>
              <a:t>-</a:t>
            </a:r>
            <a:r>
              <a:rPr sz="4000" spc="-60" dirty="0"/>
              <a:t> </a:t>
            </a:r>
            <a:r>
              <a:rPr sz="4000" spc="-40" dirty="0"/>
              <a:t>Spiral</a:t>
            </a:r>
            <a:endParaRPr sz="4000"/>
          </a:p>
        </p:txBody>
      </p:sp>
      <p:sp>
        <p:nvSpPr>
          <p:cNvPr id="3" name="object 3"/>
          <p:cNvSpPr/>
          <p:nvPr/>
        </p:nvSpPr>
        <p:spPr>
          <a:xfrm>
            <a:off x="321563" y="1239011"/>
            <a:ext cx="6172200" cy="2091055"/>
          </a:xfrm>
          <a:custGeom>
            <a:avLst/>
            <a:gdLst/>
            <a:ahLst/>
            <a:cxnLst/>
            <a:rect l="l" t="t" r="r" b="b"/>
            <a:pathLst>
              <a:path w="6172200" h="2091054">
                <a:moveTo>
                  <a:pt x="5823712" y="0"/>
                </a:moveTo>
                <a:lnTo>
                  <a:pt x="348500" y="0"/>
                </a:lnTo>
                <a:lnTo>
                  <a:pt x="301211" y="3182"/>
                </a:lnTo>
                <a:lnTo>
                  <a:pt x="255856" y="12452"/>
                </a:lnTo>
                <a:lnTo>
                  <a:pt x="212849" y="27394"/>
                </a:lnTo>
                <a:lnTo>
                  <a:pt x="172607" y="47592"/>
                </a:lnTo>
                <a:lnTo>
                  <a:pt x="135543" y="72629"/>
                </a:lnTo>
                <a:lnTo>
                  <a:pt x="102074" y="102092"/>
                </a:lnTo>
                <a:lnTo>
                  <a:pt x="72615" y="135562"/>
                </a:lnTo>
                <a:lnTo>
                  <a:pt x="47581" y="172625"/>
                </a:lnTo>
                <a:lnTo>
                  <a:pt x="27387" y="212865"/>
                </a:lnTo>
                <a:lnTo>
                  <a:pt x="12448" y="255866"/>
                </a:lnTo>
                <a:lnTo>
                  <a:pt x="3181" y="301212"/>
                </a:lnTo>
                <a:lnTo>
                  <a:pt x="0" y="348488"/>
                </a:lnTo>
                <a:lnTo>
                  <a:pt x="0" y="1742439"/>
                </a:lnTo>
                <a:lnTo>
                  <a:pt x="3181" y="1789715"/>
                </a:lnTo>
                <a:lnTo>
                  <a:pt x="12448" y="1835061"/>
                </a:lnTo>
                <a:lnTo>
                  <a:pt x="27387" y="1878062"/>
                </a:lnTo>
                <a:lnTo>
                  <a:pt x="47581" y="1918302"/>
                </a:lnTo>
                <a:lnTo>
                  <a:pt x="72615" y="1955365"/>
                </a:lnTo>
                <a:lnTo>
                  <a:pt x="102074" y="1988835"/>
                </a:lnTo>
                <a:lnTo>
                  <a:pt x="135543" y="2018298"/>
                </a:lnTo>
                <a:lnTo>
                  <a:pt x="172607" y="2043335"/>
                </a:lnTo>
                <a:lnTo>
                  <a:pt x="212849" y="2063533"/>
                </a:lnTo>
                <a:lnTo>
                  <a:pt x="255856" y="2078475"/>
                </a:lnTo>
                <a:lnTo>
                  <a:pt x="301211" y="2087745"/>
                </a:lnTo>
                <a:lnTo>
                  <a:pt x="348500" y="2090927"/>
                </a:lnTo>
                <a:lnTo>
                  <a:pt x="5823712" y="2090927"/>
                </a:lnTo>
                <a:lnTo>
                  <a:pt x="5870987" y="2087745"/>
                </a:lnTo>
                <a:lnTo>
                  <a:pt x="5916333" y="2078475"/>
                </a:lnTo>
                <a:lnTo>
                  <a:pt x="5959334" y="2063533"/>
                </a:lnTo>
                <a:lnTo>
                  <a:pt x="5999574" y="2043335"/>
                </a:lnTo>
                <a:lnTo>
                  <a:pt x="6036637" y="2018298"/>
                </a:lnTo>
                <a:lnTo>
                  <a:pt x="6070107" y="1988835"/>
                </a:lnTo>
                <a:lnTo>
                  <a:pt x="6099570" y="1955365"/>
                </a:lnTo>
                <a:lnTo>
                  <a:pt x="6124607" y="1918302"/>
                </a:lnTo>
                <a:lnTo>
                  <a:pt x="6144805" y="1878062"/>
                </a:lnTo>
                <a:lnTo>
                  <a:pt x="6159747" y="1835061"/>
                </a:lnTo>
                <a:lnTo>
                  <a:pt x="6169017" y="1789715"/>
                </a:lnTo>
                <a:lnTo>
                  <a:pt x="6172200" y="1742439"/>
                </a:lnTo>
                <a:lnTo>
                  <a:pt x="6172200" y="348488"/>
                </a:lnTo>
                <a:lnTo>
                  <a:pt x="6169017" y="301212"/>
                </a:lnTo>
                <a:lnTo>
                  <a:pt x="6159747" y="255866"/>
                </a:lnTo>
                <a:lnTo>
                  <a:pt x="6144805" y="212865"/>
                </a:lnTo>
                <a:lnTo>
                  <a:pt x="6124607" y="172625"/>
                </a:lnTo>
                <a:lnTo>
                  <a:pt x="6099570" y="135562"/>
                </a:lnTo>
                <a:lnTo>
                  <a:pt x="6070107" y="102092"/>
                </a:lnTo>
                <a:lnTo>
                  <a:pt x="6036637" y="72629"/>
                </a:lnTo>
                <a:lnTo>
                  <a:pt x="5999574" y="47592"/>
                </a:lnTo>
                <a:lnTo>
                  <a:pt x="5959334" y="27394"/>
                </a:lnTo>
                <a:lnTo>
                  <a:pt x="5916333" y="12452"/>
                </a:lnTo>
                <a:lnTo>
                  <a:pt x="5870987" y="3182"/>
                </a:lnTo>
                <a:lnTo>
                  <a:pt x="5823712" y="0"/>
                </a:lnTo>
                <a:close/>
              </a:path>
            </a:pathLst>
          </a:custGeom>
          <a:solidFill>
            <a:srgbClr val="4471C4"/>
          </a:solidFill>
        </p:spPr>
        <p:txBody>
          <a:bodyPr wrap="square" lIns="0" tIns="0" rIns="0" bIns="0" rtlCol="0"/>
          <a:lstStyle/>
          <a:p>
            <a:endParaRPr/>
          </a:p>
        </p:txBody>
      </p:sp>
      <p:sp>
        <p:nvSpPr>
          <p:cNvPr id="4" name="object 4"/>
          <p:cNvSpPr txBox="1"/>
          <p:nvPr/>
        </p:nvSpPr>
        <p:spPr>
          <a:xfrm>
            <a:off x="495096" y="1457324"/>
            <a:ext cx="5585460" cy="1589405"/>
          </a:xfrm>
          <a:prstGeom prst="rect">
            <a:avLst/>
          </a:prstGeom>
        </p:spPr>
        <p:txBody>
          <a:bodyPr vert="horz" wrap="square" lIns="0" tIns="40005" rIns="0" bIns="0" rtlCol="0">
            <a:spAutoFit/>
          </a:bodyPr>
          <a:lstStyle/>
          <a:p>
            <a:pPr marL="12700" marR="5080">
              <a:lnSpc>
                <a:spcPct val="91600"/>
              </a:lnSpc>
              <a:spcBef>
                <a:spcPts val="315"/>
              </a:spcBef>
            </a:pPr>
            <a:r>
              <a:rPr sz="2200" b="1" spc="-10" dirty="0">
                <a:solidFill>
                  <a:srgbClr val="FFFFFF"/>
                </a:solidFill>
                <a:latin typeface="Calibri"/>
                <a:cs typeface="Calibri"/>
              </a:rPr>
              <a:t>Spiral</a:t>
            </a:r>
            <a:r>
              <a:rPr sz="2200" b="1" spc="-5" dirty="0">
                <a:solidFill>
                  <a:srgbClr val="FFFFFF"/>
                </a:solidFill>
                <a:latin typeface="Calibri"/>
                <a:cs typeface="Calibri"/>
              </a:rPr>
              <a:t> </a:t>
            </a:r>
            <a:r>
              <a:rPr sz="2200" b="1" spc="-10" dirty="0">
                <a:solidFill>
                  <a:srgbClr val="FFFFFF"/>
                </a:solidFill>
                <a:latin typeface="Calibri"/>
                <a:cs typeface="Calibri"/>
              </a:rPr>
              <a:t>model</a:t>
            </a:r>
            <a:r>
              <a:rPr sz="2200" b="1" spc="15" dirty="0">
                <a:solidFill>
                  <a:srgbClr val="FFFFFF"/>
                </a:solidFill>
                <a:latin typeface="Calibri"/>
                <a:cs typeface="Calibri"/>
              </a:rPr>
              <a:t> </a:t>
            </a:r>
            <a:r>
              <a:rPr sz="2200" spc="-5" dirty="0">
                <a:solidFill>
                  <a:srgbClr val="FFFFFF"/>
                </a:solidFill>
                <a:latin typeface="Calibri"/>
                <a:cs typeface="Calibri"/>
              </a:rPr>
              <a:t>is</a:t>
            </a:r>
            <a:r>
              <a:rPr sz="2200" dirty="0">
                <a:solidFill>
                  <a:srgbClr val="FFFFFF"/>
                </a:solidFill>
                <a:latin typeface="Calibri"/>
                <a:cs typeface="Calibri"/>
              </a:rPr>
              <a:t> </a:t>
            </a:r>
            <a:r>
              <a:rPr sz="2200" spc="-5" dirty="0">
                <a:solidFill>
                  <a:srgbClr val="FFFFFF"/>
                </a:solidFill>
                <a:latin typeface="Calibri"/>
                <a:cs typeface="Calibri"/>
              </a:rPr>
              <a:t>one </a:t>
            </a:r>
            <a:r>
              <a:rPr sz="2200" dirty="0">
                <a:solidFill>
                  <a:srgbClr val="FFFFFF"/>
                </a:solidFill>
                <a:latin typeface="Calibri"/>
                <a:cs typeface="Calibri"/>
              </a:rPr>
              <a:t>of</a:t>
            </a:r>
            <a:r>
              <a:rPr sz="2200" spc="-5" dirty="0">
                <a:solidFill>
                  <a:srgbClr val="FFFFFF"/>
                </a:solidFill>
                <a:latin typeface="Calibri"/>
                <a:cs typeface="Calibri"/>
              </a:rPr>
              <a:t> </a:t>
            </a:r>
            <a:r>
              <a:rPr sz="2200" spc="-10" dirty="0">
                <a:solidFill>
                  <a:srgbClr val="FFFFFF"/>
                </a:solidFill>
                <a:latin typeface="Calibri"/>
                <a:cs typeface="Calibri"/>
              </a:rPr>
              <a:t>the</a:t>
            </a:r>
            <a:r>
              <a:rPr sz="2200" dirty="0">
                <a:solidFill>
                  <a:srgbClr val="FFFFFF"/>
                </a:solidFill>
                <a:latin typeface="Calibri"/>
                <a:cs typeface="Calibri"/>
              </a:rPr>
              <a:t> </a:t>
            </a:r>
            <a:r>
              <a:rPr sz="2200" spc="-10" dirty="0">
                <a:solidFill>
                  <a:srgbClr val="FFFFFF"/>
                </a:solidFill>
                <a:latin typeface="Calibri"/>
                <a:cs typeface="Calibri"/>
              </a:rPr>
              <a:t>most</a:t>
            </a:r>
            <a:r>
              <a:rPr sz="2200" spc="-5" dirty="0">
                <a:solidFill>
                  <a:srgbClr val="FFFFFF"/>
                </a:solidFill>
                <a:latin typeface="Calibri"/>
                <a:cs typeface="Calibri"/>
              </a:rPr>
              <a:t> </a:t>
            </a:r>
            <a:r>
              <a:rPr sz="2200" spc="-10" dirty="0">
                <a:solidFill>
                  <a:srgbClr val="FFFFFF"/>
                </a:solidFill>
                <a:latin typeface="Calibri"/>
                <a:cs typeface="Calibri"/>
              </a:rPr>
              <a:t>important </a:t>
            </a:r>
            <a:r>
              <a:rPr sz="2200" spc="-5" dirty="0">
                <a:solidFill>
                  <a:srgbClr val="FFFFFF"/>
                </a:solidFill>
                <a:latin typeface="Calibri"/>
                <a:cs typeface="Calibri"/>
              </a:rPr>
              <a:t> </a:t>
            </a:r>
            <a:r>
              <a:rPr sz="2200" spc="-10" dirty="0">
                <a:solidFill>
                  <a:srgbClr val="FFFFFF"/>
                </a:solidFill>
                <a:latin typeface="Calibri"/>
                <a:cs typeface="Calibri"/>
              </a:rPr>
              <a:t>Software</a:t>
            </a:r>
            <a:r>
              <a:rPr sz="2200" spc="-5" dirty="0">
                <a:solidFill>
                  <a:srgbClr val="FFFFFF"/>
                </a:solidFill>
                <a:latin typeface="Calibri"/>
                <a:cs typeface="Calibri"/>
              </a:rPr>
              <a:t> </a:t>
            </a:r>
            <a:r>
              <a:rPr sz="2200" spc="-10" dirty="0">
                <a:solidFill>
                  <a:srgbClr val="FFFFFF"/>
                </a:solidFill>
                <a:latin typeface="Calibri"/>
                <a:cs typeface="Calibri"/>
              </a:rPr>
              <a:t>Development</a:t>
            </a:r>
            <a:r>
              <a:rPr sz="2200" spc="20" dirty="0">
                <a:solidFill>
                  <a:srgbClr val="FFFFFF"/>
                </a:solidFill>
                <a:latin typeface="Calibri"/>
                <a:cs typeface="Calibri"/>
              </a:rPr>
              <a:t> </a:t>
            </a:r>
            <a:r>
              <a:rPr sz="2200" spc="-20" dirty="0">
                <a:solidFill>
                  <a:srgbClr val="FFFFFF"/>
                </a:solidFill>
                <a:latin typeface="Calibri"/>
                <a:cs typeface="Calibri"/>
              </a:rPr>
              <a:t>Life</a:t>
            </a:r>
            <a:r>
              <a:rPr sz="2200" dirty="0">
                <a:solidFill>
                  <a:srgbClr val="FFFFFF"/>
                </a:solidFill>
                <a:latin typeface="Calibri"/>
                <a:cs typeface="Calibri"/>
              </a:rPr>
              <a:t> </a:t>
            </a:r>
            <a:r>
              <a:rPr sz="2200" spc="-10" dirty="0">
                <a:solidFill>
                  <a:srgbClr val="FFFFFF"/>
                </a:solidFill>
                <a:latin typeface="Calibri"/>
                <a:cs typeface="Calibri"/>
              </a:rPr>
              <a:t>Cycle </a:t>
            </a:r>
            <a:r>
              <a:rPr sz="2200" spc="-5" dirty="0">
                <a:solidFill>
                  <a:srgbClr val="FFFFFF"/>
                </a:solidFill>
                <a:latin typeface="Calibri"/>
                <a:cs typeface="Calibri"/>
              </a:rPr>
              <a:t>models,</a:t>
            </a:r>
            <a:r>
              <a:rPr sz="2200" dirty="0">
                <a:solidFill>
                  <a:srgbClr val="FFFFFF"/>
                </a:solidFill>
                <a:latin typeface="Calibri"/>
                <a:cs typeface="Calibri"/>
              </a:rPr>
              <a:t> </a:t>
            </a:r>
            <a:r>
              <a:rPr sz="2200" spc="-5" dirty="0">
                <a:solidFill>
                  <a:srgbClr val="FFFFFF"/>
                </a:solidFill>
                <a:latin typeface="Calibri"/>
                <a:cs typeface="Calibri"/>
              </a:rPr>
              <a:t>which </a:t>
            </a:r>
            <a:r>
              <a:rPr sz="2200" dirty="0">
                <a:solidFill>
                  <a:srgbClr val="FFFFFF"/>
                </a:solidFill>
                <a:latin typeface="Calibri"/>
                <a:cs typeface="Calibri"/>
              </a:rPr>
              <a:t> </a:t>
            </a:r>
            <a:r>
              <a:rPr sz="2200" spc="-15" dirty="0">
                <a:solidFill>
                  <a:srgbClr val="FFFFFF"/>
                </a:solidFill>
                <a:latin typeface="Calibri"/>
                <a:cs typeface="Calibri"/>
              </a:rPr>
              <a:t>provides</a:t>
            </a:r>
            <a:r>
              <a:rPr sz="2200" dirty="0">
                <a:solidFill>
                  <a:srgbClr val="FFFFFF"/>
                </a:solidFill>
                <a:latin typeface="Calibri"/>
                <a:cs typeface="Calibri"/>
              </a:rPr>
              <a:t> </a:t>
            </a:r>
            <a:r>
              <a:rPr sz="2200" spc="-5" dirty="0">
                <a:solidFill>
                  <a:srgbClr val="FFFFFF"/>
                </a:solidFill>
                <a:latin typeface="Calibri"/>
                <a:cs typeface="Calibri"/>
              </a:rPr>
              <a:t>support</a:t>
            </a:r>
            <a:r>
              <a:rPr sz="2200" dirty="0">
                <a:solidFill>
                  <a:srgbClr val="FFFFFF"/>
                </a:solidFill>
                <a:latin typeface="Calibri"/>
                <a:cs typeface="Calibri"/>
              </a:rPr>
              <a:t> </a:t>
            </a:r>
            <a:r>
              <a:rPr sz="2200" spc="-15" dirty="0">
                <a:solidFill>
                  <a:srgbClr val="FFFFFF"/>
                </a:solidFill>
                <a:latin typeface="Calibri"/>
                <a:cs typeface="Calibri"/>
              </a:rPr>
              <a:t>for</a:t>
            </a:r>
            <a:r>
              <a:rPr sz="2200" spc="10" dirty="0">
                <a:solidFill>
                  <a:srgbClr val="FFFFFF"/>
                </a:solidFill>
                <a:latin typeface="Calibri"/>
                <a:cs typeface="Calibri"/>
              </a:rPr>
              <a:t> </a:t>
            </a:r>
            <a:r>
              <a:rPr sz="2200" spc="-5" dirty="0">
                <a:solidFill>
                  <a:srgbClr val="FFFFFF"/>
                </a:solidFill>
                <a:latin typeface="Calibri"/>
                <a:cs typeface="Calibri"/>
              </a:rPr>
              <a:t>Risk </a:t>
            </a:r>
            <a:r>
              <a:rPr sz="2200" spc="-10" dirty="0">
                <a:solidFill>
                  <a:srgbClr val="FFFFFF"/>
                </a:solidFill>
                <a:latin typeface="Calibri"/>
                <a:cs typeface="Calibri"/>
              </a:rPr>
              <a:t>Handling.</a:t>
            </a:r>
            <a:r>
              <a:rPr sz="2200" spc="10" dirty="0">
                <a:solidFill>
                  <a:srgbClr val="FFFFFF"/>
                </a:solidFill>
                <a:latin typeface="Calibri"/>
                <a:cs typeface="Calibri"/>
              </a:rPr>
              <a:t> </a:t>
            </a:r>
            <a:r>
              <a:rPr sz="2200" spc="-5" dirty="0">
                <a:solidFill>
                  <a:srgbClr val="FFFFFF"/>
                </a:solidFill>
                <a:latin typeface="Calibri"/>
                <a:cs typeface="Calibri"/>
              </a:rPr>
              <a:t>In its </a:t>
            </a:r>
            <a:r>
              <a:rPr sz="2200" dirty="0">
                <a:solidFill>
                  <a:srgbClr val="FFFFFF"/>
                </a:solidFill>
                <a:latin typeface="Calibri"/>
                <a:cs typeface="Calibri"/>
              </a:rPr>
              <a:t> </a:t>
            </a:r>
            <a:r>
              <a:rPr sz="2200" spc="-10" dirty="0">
                <a:solidFill>
                  <a:srgbClr val="FFFFFF"/>
                </a:solidFill>
                <a:latin typeface="Calibri"/>
                <a:cs typeface="Calibri"/>
              </a:rPr>
              <a:t>diagrammatic</a:t>
            </a:r>
            <a:r>
              <a:rPr sz="2200" spc="10" dirty="0">
                <a:solidFill>
                  <a:srgbClr val="FFFFFF"/>
                </a:solidFill>
                <a:latin typeface="Calibri"/>
                <a:cs typeface="Calibri"/>
              </a:rPr>
              <a:t> </a:t>
            </a:r>
            <a:r>
              <a:rPr sz="2200" spc="-10" dirty="0">
                <a:solidFill>
                  <a:srgbClr val="FFFFFF"/>
                </a:solidFill>
                <a:latin typeface="Calibri"/>
                <a:cs typeface="Calibri"/>
              </a:rPr>
              <a:t>representation,</a:t>
            </a:r>
            <a:r>
              <a:rPr sz="2200" spc="-5" dirty="0">
                <a:solidFill>
                  <a:srgbClr val="FFFFFF"/>
                </a:solidFill>
                <a:latin typeface="Calibri"/>
                <a:cs typeface="Calibri"/>
              </a:rPr>
              <a:t> it </a:t>
            </a:r>
            <a:r>
              <a:rPr sz="2200" spc="-10" dirty="0">
                <a:solidFill>
                  <a:srgbClr val="FFFFFF"/>
                </a:solidFill>
                <a:latin typeface="Calibri"/>
                <a:cs typeface="Calibri"/>
              </a:rPr>
              <a:t>looks</a:t>
            </a:r>
            <a:r>
              <a:rPr sz="2200" dirty="0">
                <a:solidFill>
                  <a:srgbClr val="FFFFFF"/>
                </a:solidFill>
                <a:latin typeface="Calibri"/>
                <a:cs typeface="Calibri"/>
              </a:rPr>
              <a:t> </a:t>
            </a:r>
            <a:r>
              <a:rPr sz="2200" spc="-25" dirty="0">
                <a:solidFill>
                  <a:srgbClr val="FFFFFF"/>
                </a:solidFill>
                <a:latin typeface="Calibri"/>
                <a:cs typeface="Calibri"/>
              </a:rPr>
              <a:t>like</a:t>
            </a:r>
            <a:r>
              <a:rPr sz="2200" spc="-5" dirty="0">
                <a:solidFill>
                  <a:srgbClr val="FFFFFF"/>
                </a:solidFill>
                <a:latin typeface="Calibri"/>
                <a:cs typeface="Calibri"/>
              </a:rPr>
              <a:t> a</a:t>
            </a:r>
            <a:r>
              <a:rPr sz="2200" dirty="0">
                <a:solidFill>
                  <a:srgbClr val="FFFFFF"/>
                </a:solidFill>
                <a:latin typeface="Calibri"/>
                <a:cs typeface="Calibri"/>
              </a:rPr>
              <a:t> </a:t>
            </a:r>
            <a:r>
              <a:rPr sz="2200" spc="-15" dirty="0">
                <a:solidFill>
                  <a:srgbClr val="FFFFFF"/>
                </a:solidFill>
                <a:latin typeface="Calibri"/>
                <a:cs typeface="Calibri"/>
              </a:rPr>
              <a:t>spiral </a:t>
            </a:r>
            <a:r>
              <a:rPr sz="2200" spc="-484" dirty="0">
                <a:solidFill>
                  <a:srgbClr val="FFFFFF"/>
                </a:solidFill>
                <a:latin typeface="Calibri"/>
                <a:cs typeface="Calibri"/>
              </a:rPr>
              <a:t> </a:t>
            </a:r>
            <a:r>
              <a:rPr sz="2200" spc="-5" dirty="0">
                <a:solidFill>
                  <a:srgbClr val="FFFFFF"/>
                </a:solidFill>
                <a:latin typeface="Calibri"/>
                <a:cs typeface="Calibri"/>
              </a:rPr>
              <a:t>with</a:t>
            </a:r>
            <a:r>
              <a:rPr sz="2200" spc="-10" dirty="0">
                <a:solidFill>
                  <a:srgbClr val="FFFFFF"/>
                </a:solidFill>
                <a:latin typeface="Calibri"/>
                <a:cs typeface="Calibri"/>
              </a:rPr>
              <a:t> </a:t>
            </a:r>
            <a:r>
              <a:rPr sz="2200" spc="-15" dirty="0">
                <a:solidFill>
                  <a:srgbClr val="FFFFFF"/>
                </a:solidFill>
                <a:latin typeface="Calibri"/>
                <a:cs typeface="Calibri"/>
              </a:rPr>
              <a:t>many</a:t>
            </a:r>
            <a:r>
              <a:rPr sz="2200" spc="5" dirty="0">
                <a:solidFill>
                  <a:srgbClr val="FFFFFF"/>
                </a:solidFill>
                <a:latin typeface="Calibri"/>
                <a:cs typeface="Calibri"/>
              </a:rPr>
              <a:t> </a:t>
            </a:r>
            <a:r>
              <a:rPr sz="2200" spc="-5" dirty="0">
                <a:solidFill>
                  <a:srgbClr val="FFFFFF"/>
                </a:solidFill>
                <a:latin typeface="Calibri"/>
                <a:cs typeface="Calibri"/>
              </a:rPr>
              <a:t>loops.</a:t>
            </a:r>
            <a:endParaRPr sz="2200" dirty="0">
              <a:latin typeface="Calibri"/>
              <a:cs typeface="Calibri"/>
            </a:endParaRPr>
          </a:p>
        </p:txBody>
      </p:sp>
      <p:sp>
        <p:nvSpPr>
          <p:cNvPr id="5" name="object 5"/>
          <p:cNvSpPr/>
          <p:nvPr/>
        </p:nvSpPr>
        <p:spPr>
          <a:xfrm>
            <a:off x="321563" y="3582923"/>
            <a:ext cx="6172200" cy="2849880"/>
          </a:xfrm>
          <a:custGeom>
            <a:avLst/>
            <a:gdLst/>
            <a:ahLst/>
            <a:cxnLst/>
            <a:rect l="l" t="t" r="r" b="b"/>
            <a:pathLst>
              <a:path w="6172200" h="2849879">
                <a:moveTo>
                  <a:pt x="5697220" y="0"/>
                </a:moveTo>
                <a:lnTo>
                  <a:pt x="474992" y="0"/>
                </a:lnTo>
                <a:lnTo>
                  <a:pt x="426427" y="2451"/>
                </a:lnTo>
                <a:lnTo>
                  <a:pt x="379265" y="9647"/>
                </a:lnTo>
                <a:lnTo>
                  <a:pt x="333744" y="21349"/>
                </a:lnTo>
                <a:lnTo>
                  <a:pt x="290104" y="37318"/>
                </a:lnTo>
                <a:lnTo>
                  <a:pt x="248582" y="57315"/>
                </a:lnTo>
                <a:lnTo>
                  <a:pt x="209419" y="81103"/>
                </a:lnTo>
                <a:lnTo>
                  <a:pt x="172853" y="108443"/>
                </a:lnTo>
                <a:lnTo>
                  <a:pt x="139122" y="139096"/>
                </a:lnTo>
                <a:lnTo>
                  <a:pt x="108465" y="172824"/>
                </a:lnTo>
                <a:lnTo>
                  <a:pt x="81121" y="209388"/>
                </a:lnTo>
                <a:lnTo>
                  <a:pt x="57329" y="248550"/>
                </a:lnTo>
                <a:lnTo>
                  <a:pt x="37327" y="290071"/>
                </a:lnTo>
                <a:lnTo>
                  <a:pt x="21354" y="333714"/>
                </a:lnTo>
                <a:lnTo>
                  <a:pt x="9650" y="379238"/>
                </a:lnTo>
                <a:lnTo>
                  <a:pt x="2452" y="426406"/>
                </a:lnTo>
                <a:lnTo>
                  <a:pt x="0" y="474980"/>
                </a:lnTo>
                <a:lnTo>
                  <a:pt x="0" y="2374887"/>
                </a:lnTo>
                <a:lnTo>
                  <a:pt x="2452" y="2423452"/>
                </a:lnTo>
                <a:lnTo>
                  <a:pt x="9650" y="2470614"/>
                </a:lnTo>
                <a:lnTo>
                  <a:pt x="21354" y="2516135"/>
                </a:lnTo>
                <a:lnTo>
                  <a:pt x="37327" y="2559775"/>
                </a:lnTo>
                <a:lnTo>
                  <a:pt x="57329" y="2601297"/>
                </a:lnTo>
                <a:lnTo>
                  <a:pt x="81121" y="2640460"/>
                </a:lnTo>
                <a:lnTo>
                  <a:pt x="108465" y="2677026"/>
                </a:lnTo>
                <a:lnTo>
                  <a:pt x="139122" y="2710757"/>
                </a:lnTo>
                <a:lnTo>
                  <a:pt x="172853" y="2741414"/>
                </a:lnTo>
                <a:lnTo>
                  <a:pt x="209419" y="2768758"/>
                </a:lnTo>
                <a:lnTo>
                  <a:pt x="248582" y="2792550"/>
                </a:lnTo>
                <a:lnTo>
                  <a:pt x="290104" y="2812552"/>
                </a:lnTo>
                <a:lnTo>
                  <a:pt x="333744" y="2828525"/>
                </a:lnTo>
                <a:lnTo>
                  <a:pt x="379265" y="2840229"/>
                </a:lnTo>
                <a:lnTo>
                  <a:pt x="426427" y="2847427"/>
                </a:lnTo>
                <a:lnTo>
                  <a:pt x="474992" y="2849880"/>
                </a:lnTo>
                <a:lnTo>
                  <a:pt x="5697220" y="2849880"/>
                </a:lnTo>
                <a:lnTo>
                  <a:pt x="5745793" y="2847427"/>
                </a:lnTo>
                <a:lnTo>
                  <a:pt x="5792961" y="2840229"/>
                </a:lnTo>
                <a:lnTo>
                  <a:pt x="5838485" y="2828525"/>
                </a:lnTo>
                <a:lnTo>
                  <a:pt x="5882128" y="2812552"/>
                </a:lnTo>
                <a:lnTo>
                  <a:pt x="5923649" y="2792550"/>
                </a:lnTo>
                <a:lnTo>
                  <a:pt x="5962811" y="2768758"/>
                </a:lnTo>
                <a:lnTo>
                  <a:pt x="5999375" y="2741414"/>
                </a:lnTo>
                <a:lnTo>
                  <a:pt x="6033103" y="2710757"/>
                </a:lnTo>
                <a:lnTo>
                  <a:pt x="6063756" y="2677026"/>
                </a:lnTo>
                <a:lnTo>
                  <a:pt x="6091096" y="2640460"/>
                </a:lnTo>
                <a:lnTo>
                  <a:pt x="6114884" y="2601297"/>
                </a:lnTo>
                <a:lnTo>
                  <a:pt x="6134881" y="2559775"/>
                </a:lnTo>
                <a:lnTo>
                  <a:pt x="6150850" y="2516135"/>
                </a:lnTo>
                <a:lnTo>
                  <a:pt x="6162552" y="2470614"/>
                </a:lnTo>
                <a:lnTo>
                  <a:pt x="6169748" y="2423452"/>
                </a:lnTo>
                <a:lnTo>
                  <a:pt x="6172200" y="2374887"/>
                </a:lnTo>
                <a:lnTo>
                  <a:pt x="6172200" y="474980"/>
                </a:lnTo>
                <a:lnTo>
                  <a:pt x="6169748" y="426406"/>
                </a:lnTo>
                <a:lnTo>
                  <a:pt x="6162552" y="379238"/>
                </a:lnTo>
                <a:lnTo>
                  <a:pt x="6150850" y="333714"/>
                </a:lnTo>
                <a:lnTo>
                  <a:pt x="6134881" y="290071"/>
                </a:lnTo>
                <a:lnTo>
                  <a:pt x="6114884" y="248550"/>
                </a:lnTo>
                <a:lnTo>
                  <a:pt x="6091096" y="209388"/>
                </a:lnTo>
                <a:lnTo>
                  <a:pt x="6063756" y="172824"/>
                </a:lnTo>
                <a:lnTo>
                  <a:pt x="6033103" y="139096"/>
                </a:lnTo>
                <a:lnTo>
                  <a:pt x="5999375" y="108443"/>
                </a:lnTo>
                <a:lnTo>
                  <a:pt x="5962811" y="81103"/>
                </a:lnTo>
                <a:lnTo>
                  <a:pt x="5923649" y="57315"/>
                </a:lnTo>
                <a:lnTo>
                  <a:pt x="5882128" y="37318"/>
                </a:lnTo>
                <a:lnTo>
                  <a:pt x="5838485" y="21349"/>
                </a:lnTo>
                <a:lnTo>
                  <a:pt x="5792961" y="9647"/>
                </a:lnTo>
                <a:lnTo>
                  <a:pt x="5745793" y="2451"/>
                </a:lnTo>
                <a:lnTo>
                  <a:pt x="5697220" y="0"/>
                </a:lnTo>
                <a:close/>
              </a:path>
            </a:pathLst>
          </a:custGeom>
          <a:solidFill>
            <a:srgbClr val="4471C4"/>
          </a:solidFill>
        </p:spPr>
        <p:txBody>
          <a:bodyPr wrap="square" lIns="0" tIns="0" rIns="0" bIns="0" rtlCol="0"/>
          <a:lstStyle/>
          <a:p>
            <a:endParaRPr/>
          </a:p>
        </p:txBody>
      </p:sp>
      <p:sp>
        <p:nvSpPr>
          <p:cNvPr id="6" name="object 6"/>
          <p:cNvSpPr txBox="1"/>
          <p:nvPr/>
        </p:nvSpPr>
        <p:spPr>
          <a:xfrm>
            <a:off x="520700" y="3761994"/>
            <a:ext cx="5758180" cy="2436495"/>
          </a:xfrm>
          <a:prstGeom prst="rect">
            <a:avLst/>
          </a:prstGeom>
        </p:spPr>
        <p:txBody>
          <a:bodyPr vert="horz" wrap="square" lIns="0" tIns="36195" rIns="0" bIns="0" rtlCol="0">
            <a:spAutoFit/>
          </a:bodyPr>
          <a:lstStyle/>
          <a:p>
            <a:pPr marL="12700" marR="5080">
              <a:lnSpc>
                <a:spcPct val="91600"/>
              </a:lnSpc>
              <a:spcBef>
                <a:spcPts val="285"/>
              </a:spcBef>
            </a:pPr>
            <a:r>
              <a:rPr sz="1900" spc="-10" dirty="0">
                <a:solidFill>
                  <a:srgbClr val="FFFFFF"/>
                </a:solidFill>
                <a:latin typeface="Calibri"/>
                <a:cs typeface="Calibri"/>
              </a:rPr>
              <a:t>The</a:t>
            </a:r>
            <a:r>
              <a:rPr sz="1900" spc="5" dirty="0">
                <a:solidFill>
                  <a:srgbClr val="FFFFFF"/>
                </a:solidFill>
                <a:latin typeface="Calibri"/>
                <a:cs typeface="Calibri"/>
              </a:rPr>
              <a:t> </a:t>
            </a:r>
            <a:r>
              <a:rPr sz="1900" spc="-15" dirty="0">
                <a:solidFill>
                  <a:srgbClr val="FFFFFF"/>
                </a:solidFill>
                <a:latin typeface="Calibri"/>
                <a:cs typeface="Calibri"/>
              </a:rPr>
              <a:t>exact</a:t>
            </a:r>
            <a:r>
              <a:rPr sz="1900" dirty="0">
                <a:solidFill>
                  <a:srgbClr val="FFFFFF"/>
                </a:solidFill>
                <a:latin typeface="Calibri"/>
                <a:cs typeface="Calibri"/>
              </a:rPr>
              <a:t> </a:t>
            </a:r>
            <a:r>
              <a:rPr sz="1900" spc="-10" dirty="0">
                <a:solidFill>
                  <a:srgbClr val="FFFFFF"/>
                </a:solidFill>
                <a:latin typeface="Calibri"/>
                <a:cs typeface="Calibri"/>
              </a:rPr>
              <a:t>number</a:t>
            </a:r>
            <a:r>
              <a:rPr sz="1900" dirty="0">
                <a:solidFill>
                  <a:srgbClr val="FFFFFF"/>
                </a:solidFill>
                <a:latin typeface="Calibri"/>
                <a:cs typeface="Calibri"/>
              </a:rPr>
              <a:t> </a:t>
            </a:r>
            <a:r>
              <a:rPr sz="1900" spc="-5" dirty="0">
                <a:solidFill>
                  <a:srgbClr val="FFFFFF"/>
                </a:solidFill>
                <a:latin typeface="Calibri"/>
                <a:cs typeface="Calibri"/>
              </a:rPr>
              <a:t>of</a:t>
            </a:r>
            <a:r>
              <a:rPr sz="1900" spc="10" dirty="0">
                <a:solidFill>
                  <a:srgbClr val="FFFFFF"/>
                </a:solidFill>
                <a:latin typeface="Calibri"/>
                <a:cs typeface="Calibri"/>
              </a:rPr>
              <a:t> </a:t>
            </a:r>
            <a:r>
              <a:rPr sz="1900" spc="-10" dirty="0">
                <a:solidFill>
                  <a:srgbClr val="FFFFFF"/>
                </a:solidFill>
                <a:latin typeface="Calibri"/>
                <a:cs typeface="Calibri"/>
              </a:rPr>
              <a:t>loops</a:t>
            </a:r>
            <a:r>
              <a:rPr sz="1900" spc="15" dirty="0">
                <a:solidFill>
                  <a:srgbClr val="FFFFFF"/>
                </a:solidFill>
                <a:latin typeface="Calibri"/>
                <a:cs typeface="Calibri"/>
              </a:rPr>
              <a:t> </a:t>
            </a:r>
            <a:r>
              <a:rPr sz="1900" spc="-5" dirty="0">
                <a:solidFill>
                  <a:srgbClr val="FFFFFF"/>
                </a:solidFill>
                <a:latin typeface="Calibri"/>
                <a:cs typeface="Calibri"/>
              </a:rPr>
              <a:t>of</a:t>
            </a:r>
            <a:r>
              <a:rPr sz="1900" spc="10" dirty="0">
                <a:solidFill>
                  <a:srgbClr val="FFFFFF"/>
                </a:solidFill>
                <a:latin typeface="Calibri"/>
                <a:cs typeface="Calibri"/>
              </a:rPr>
              <a:t> </a:t>
            </a:r>
            <a:r>
              <a:rPr sz="1900" spc="-5" dirty="0">
                <a:solidFill>
                  <a:srgbClr val="FFFFFF"/>
                </a:solidFill>
                <a:latin typeface="Calibri"/>
                <a:cs typeface="Calibri"/>
              </a:rPr>
              <a:t>the</a:t>
            </a:r>
            <a:r>
              <a:rPr sz="1900" spc="5" dirty="0">
                <a:solidFill>
                  <a:srgbClr val="FFFFFF"/>
                </a:solidFill>
                <a:latin typeface="Calibri"/>
                <a:cs typeface="Calibri"/>
              </a:rPr>
              <a:t> </a:t>
            </a:r>
            <a:r>
              <a:rPr sz="1900" spc="-15" dirty="0">
                <a:solidFill>
                  <a:srgbClr val="FFFFFF"/>
                </a:solidFill>
                <a:latin typeface="Calibri"/>
                <a:cs typeface="Calibri"/>
              </a:rPr>
              <a:t>spiral</a:t>
            </a:r>
            <a:r>
              <a:rPr sz="1900" dirty="0">
                <a:solidFill>
                  <a:srgbClr val="FFFFFF"/>
                </a:solidFill>
                <a:latin typeface="Calibri"/>
                <a:cs typeface="Calibri"/>
              </a:rPr>
              <a:t> </a:t>
            </a:r>
            <a:r>
              <a:rPr sz="1900" spc="-5" dirty="0">
                <a:solidFill>
                  <a:srgbClr val="FFFFFF"/>
                </a:solidFill>
                <a:latin typeface="Calibri"/>
                <a:cs typeface="Calibri"/>
              </a:rPr>
              <a:t>is</a:t>
            </a:r>
            <a:r>
              <a:rPr sz="1900" dirty="0">
                <a:solidFill>
                  <a:srgbClr val="FFFFFF"/>
                </a:solidFill>
                <a:latin typeface="Calibri"/>
                <a:cs typeface="Calibri"/>
              </a:rPr>
              <a:t> </a:t>
            </a:r>
            <a:r>
              <a:rPr sz="1900" spc="-10" dirty="0">
                <a:solidFill>
                  <a:srgbClr val="FFFFFF"/>
                </a:solidFill>
                <a:highlight>
                  <a:srgbClr val="FFFF00"/>
                </a:highlight>
                <a:latin typeface="Calibri"/>
                <a:cs typeface="Calibri"/>
              </a:rPr>
              <a:t>unknown</a:t>
            </a:r>
            <a:r>
              <a:rPr sz="1900" spc="30" dirty="0">
                <a:solidFill>
                  <a:srgbClr val="FFFFFF"/>
                </a:solidFill>
                <a:latin typeface="Calibri"/>
                <a:cs typeface="Calibri"/>
              </a:rPr>
              <a:t> </a:t>
            </a:r>
            <a:r>
              <a:rPr sz="1900" spc="-5" dirty="0">
                <a:solidFill>
                  <a:srgbClr val="FFFFFF"/>
                </a:solidFill>
                <a:latin typeface="Calibri"/>
                <a:cs typeface="Calibri"/>
              </a:rPr>
              <a:t>and </a:t>
            </a:r>
            <a:r>
              <a:rPr sz="1900" dirty="0">
                <a:solidFill>
                  <a:srgbClr val="FFFFFF"/>
                </a:solidFill>
                <a:latin typeface="Calibri"/>
                <a:cs typeface="Calibri"/>
              </a:rPr>
              <a:t> </a:t>
            </a:r>
            <a:r>
              <a:rPr sz="1900" spc="-10" dirty="0">
                <a:solidFill>
                  <a:srgbClr val="FFFFFF"/>
                </a:solidFill>
                <a:latin typeface="Calibri"/>
                <a:cs typeface="Calibri"/>
              </a:rPr>
              <a:t>can</a:t>
            </a:r>
            <a:r>
              <a:rPr sz="1900" spc="-5" dirty="0">
                <a:solidFill>
                  <a:srgbClr val="FFFFFF"/>
                </a:solidFill>
                <a:latin typeface="Calibri"/>
                <a:cs typeface="Calibri"/>
              </a:rPr>
              <a:t> </a:t>
            </a:r>
            <a:r>
              <a:rPr sz="1900" spc="-10" dirty="0">
                <a:solidFill>
                  <a:srgbClr val="FFFFFF"/>
                </a:solidFill>
                <a:latin typeface="Calibri"/>
                <a:cs typeface="Calibri"/>
              </a:rPr>
              <a:t>vary</a:t>
            </a:r>
            <a:r>
              <a:rPr sz="1900" spc="10" dirty="0">
                <a:solidFill>
                  <a:srgbClr val="FFFFFF"/>
                </a:solidFill>
                <a:latin typeface="Calibri"/>
                <a:cs typeface="Calibri"/>
              </a:rPr>
              <a:t> </a:t>
            </a:r>
            <a:r>
              <a:rPr sz="1900" spc="-20" dirty="0">
                <a:solidFill>
                  <a:srgbClr val="FFFFFF"/>
                </a:solidFill>
                <a:latin typeface="Calibri"/>
                <a:cs typeface="Calibri"/>
              </a:rPr>
              <a:t>from</a:t>
            </a:r>
            <a:r>
              <a:rPr sz="1900" spc="15" dirty="0">
                <a:solidFill>
                  <a:srgbClr val="FFFFFF"/>
                </a:solidFill>
                <a:latin typeface="Calibri"/>
                <a:cs typeface="Calibri"/>
              </a:rPr>
              <a:t> </a:t>
            </a:r>
            <a:r>
              <a:rPr sz="1900" spc="-15" dirty="0">
                <a:solidFill>
                  <a:srgbClr val="FFFFFF"/>
                </a:solidFill>
                <a:latin typeface="Calibri"/>
                <a:cs typeface="Calibri"/>
              </a:rPr>
              <a:t>project</a:t>
            </a:r>
            <a:r>
              <a:rPr sz="1900" spc="5" dirty="0">
                <a:solidFill>
                  <a:srgbClr val="FFFFFF"/>
                </a:solidFill>
                <a:latin typeface="Calibri"/>
                <a:cs typeface="Calibri"/>
              </a:rPr>
              <a:t> </a:t>
            </a:r>
            <a:r>
              <a:rPr sz="1900" spc="-15" dirty="0">
                <a:solidFill>
                  <a:srgbClr val="FFFFFF"/>
                </a:solidFill>
                <a:latin typeface="Calibri"/>
                <a:cs typeface="Calibri"/>
              </a:rPr>
              <a:t>to</a:t>
            </a:r>
            <a:r>
              <a:rPr sz="1900" spc="5" dirty="0">
                <a:solidFill>
                  <a:srgbClr val="FFFFFF"/>
                </a:solidFill>
                <a:latin typeface="Calibri"/>
                <a:cs typeface="Calibri"/>
              </a:rPr>
              <a:t> </a:t>
            </a:r>
            <a:r>
              <a:rPr sz="1900" spc="-10" dirty="0">
                <a:solidFill>
                  <a:srgbClr val="FFFFFF"/>
                </a:solidFill>
                <a:latin typeface="Calibri"/>
                <a:cs typeface="Calibri"/>
              </a:rPr>
              <a:t>project.</a:t>
            </a:r>
            <a:r>
              <a:rPr sz="1900" spc="15" dirty="0">
                <a:solidFill>
                  <a:srgbClr val="FFFFFF"/>
                </a:solidFill>
                <a:latin typeface="Calibri"/>
                <a:cs typeface="Calibri"/>
              </a:rPr>
              <a:t> </a:t>
            </a:r>
            <a:r>
              <a:rPr sz="1900" spc="-15" dirty="0">
                <a:solidFill>
                  <a:srgbClr val="FFFFFF"/>
                </a:solidFill>
                <a:latin typeface="Calibri"/>
                <a:cs typeface="Calibri"/>
              </a:rPr>
              <a:t>Each</a:t>
            </a:r>
            <a:r>
              <a:rPr sz="1900" dirty="0">
                <a:solidFill>
                  <a:srgbClr val="FFFFFF"/>
                </a:solidFill>
                <a:latin typeface="Calibri"/>
                <a:cs typeface="Calibri"/>
              </a:rPr>
              <a:t> </a:t>
            </a:r>
            <a:r>
              <a:rPr sz="1900" spc="-5" dirty="0">
                <a:solidFill>
                  <a:srgbClr val="FFFFFF"/>
                </a:solidFill>
                <a:latin typeface="Calibri"/>
                <a:cs typeface="Calibri"/>
              </a:rPr>
              <a:t>loop</a:t>
            </a:r>
            <a:r>
              <a:rPr sz="1900" spc="20" dirty="0">
                <a:solidFill>
                  <a:srgbClr val="FFFFFF"/>
                </a:solidFill>
                <a:latin typeface="Calibri"/>
                <a:cs typeface="Calibri"/>
              </a:rPr>
              <a:t> </a:t>
            </a:r>
            <a:r>
              <a:rPr sz="1900" spc="-5" dirty="0">
                <a:solidFill>
                  <a:srgbClr val="FFFFFF"/>
                </a:solidFill>
                <a:latin typeface="Calibri"/>
                <a:cs typeface="Calibri"/>
              </a:rPr>
              <a:t>of</a:t>
            </a:r>
            <a:r>
              <a:rPr sz="1900" dirty="0">
                <a:solidFill>
                  <a:srgbClr val="FFFFFF"/>
                </a:solidFill>
                <a:latin typeface="Calibri"/>
                <a:cs typeface="Calibri"/>
              </a:rPr>
              <a:t> </a:t>
            </a:r>
            <a:r>
              <a:rPr sz="1900" spc="-5" dirty="0">
                <a:solidFill>
                  <a:srgbClr val="FFFFFF"/>
                </a:solidFill>
                <a:latin typeface="Calibri"/>
                <a:cs typeface="Calibri"/>
              </a:rPr>
              <a:t>the</a:t>
            </a:r>
            <a:r>
              <a:rPr sz="1900" dirty="0">
                <a:solidFill>
                  <a:srgbClr val="FFFFFF"/>
                </a:solidFill>
                <a:latin typeface="Calibri"/>
                <a:cs typeface="Calibri"/>
              </a:rPr>
              <a:t> </a:t>
            </a:r>
            <a:r>
              <a:rPr sz="1900" spc="-15" dirty="0">
                <a:solidFill>
                  <a:srgbClr val="FFFFFF"/>
                </a:solidFill>
                <a:latin typeface="Calibri"/>
                <a:cs typeface="Calibri"/>
              </a:rPr>
              <a:t>spiral</a:t>
            </a:r>
            <a:r>
              <a:rPr sz="1900" dirty="0">
                <a:solidFill>
                  <a:srgbClr val="FFFFFF"/>
                </a:solidFill>
                <a:latin typeface="Calibri"/>
                <a:cs typeface="Calibri"/>
              </a:rPr>
              <a:t> </a:t>
            </a:r>
            <a:r>
              <a:rPr sz="1900" spc="-5" dirty="0">
                <a:solidFill>
                  <a:srgbClr val="FFFFFF"/>
                </a:solidFill>
                <a:latin typeface="Calibri"/>
                <a:cs typeface="Calibri"/>
              </a:rPr>
              <a:t>is </a:t>
            </a:r>
            <a:r>
              <a:rPr sz="1900" dirty="0">
                <a:solidFill>
                  <a:srgbClr val="FFFFFF"/>
                </a:solidFill>
                <a:latin typeface="Calibri"/>
                <a:cs typeface="Calibri"/>
              </a:rPr>
              <a:t> </a:t>
            </a:r>
            <a:r>
              <a:rPr sz="1900" spc="-5" dirty="0">
                <a:solidFill>
                  <a:srgbClr val="FFFFFF"/>
                </a:solidFill>
                <a:latin typeface="Calibri"/>
                <a:cs typeface="Calibri"/>
              </a:rPr>
              <a:t>called a </a:t>
            </a:r>
            <a:r>
              <a:rPr sz="1900" b="1" spc="-10" dirty="0">
                <a:solidFill>
                  <a:srgbClr val="FFFFFF"/>
                </a:solidFill>
                <a:highlight>
                  <a:srgbClr val="FF0000"/>
                </a:highlight>
                <a:latin typeface="Calibri"/>
                <a:cs typeface="Calibri"/>
              </a:rPr>
              <a:t>Phase</a:t>
            </a:r>
            <a:r>
              <a:rPr sz="1900" b="1" spc="25" dirty="0">
                <a:solidFill>
                  <a:srgbClr val="FFFFFF"/>
                </a:solidFill>
                <a:highlight>
                  <a:srgbClr val="FF0000"/>
                </a:highlight>
                <a:latin typeface="Calibri"/>
                <a:cs typeface="Calibri"/>
              </a:rPr>
              <a:t> </a:t>
            </a:r>
            <a:r>
              <a:rPr sz="1900" spc="-5" dirty="0">
                <a:solidFill>
                  <a:srgbClr val="FFFFFF"/>
                </a:solidFill>
                <a:highlight>
                  <a:srgbClr val="FF0000"/>
                </a:highlight>
                <a:latin typeface="Calibri"/>
                <a:cs typeface="Calibri"/>
              </a:rPr>
              <a:t>of the</a:t>
            </a:r>
            <a:r>
              <a:rPr sz="1900" dirty="0">
                <a:solidFill>
                  <a:srgbClr val="FFFFFF"/>
                </a:solidFill>
                <a:highlight>
                  <a:srgbClr val="FF0000"/>
                </a:highlight>
                <a:latin typeface="Calibri"/>
                <a:cs typeface="Calibri"/>
              </a:rPr>
              <a:t> </a:t>
            </a:r>
            <a:r>
              <a:rPr sz="1900" spc="-15" dirty="0">
                <a:solidFill>
                  <a:srgbClr val="FFFFFF"/>
                </a:solidFill>
                <a:highlight>
                  <a:srgbClr val="FF0000"/>
                </a:highlight>
                <a:latin typeface="Calibri"/>
                <a:cs typeface="Calibri"/>
              </a:rPr>
              <a:t>software</a:t>
            </a:r>
            <a:r>
              <a:rPr sz="1900" spc="20" dirty="0">
                <a:solidFill>
                  <a:srgbClr val="FFFFFF"/>
                </a:solidFill>
                <a:highlight>
                  <a:srgbClr val="FF0000"/>
                </a:highlight>
                <a:latin typeface="Calibri"/>
                <a:cs typeface="Calibri"/>
              </a:rPr>
              <a:t> </a:t>
            </a:r>
            <a:r>
              <a:rPr sz="1900" spc="-10" dirty="0">
                <a:solidFill>
                  <a:srgbClr val="FFFFFF"/>
                </a:solidFill>
                <a:highlight>
                  <a:srgbClr val="FF0000"/>
                </a:highlight>
                <a:latin typeface="Calibri"/>
                <a:cs typeface="Calibri"/>
              </a:rPr>
              <a:t>development</a:t>
            </a:r>
            <a:r>
              <a:rPr sz="1900" spc="10" dirty="0">
                <a:solidFill>
                  <a:srgbClr val="FFFFFF"/>
                </a:solidFill>
                <a:highlight>
                  <a:srgbClr val="FF0000"/>
                </a:highlight>
                <a:latin typeface="Calibri"/>
                <a:cs typeface="Calibri"/>
              </a:rPr>
              <a:t> </a:t>
            </a:r>
            <a:r>
              <a:rPr sz="1900" spc="-10" dirty="0">
                <a:solidFill>
                  <a:srgbClr val="FFFFFF"/>
                </a:solidFill>
                <a:highlight>
                  <a:srgbClr val="FF0000"/>
                </a:highlight>
                <a:latin typeface="Calibri"/>
                <a:cs typeface="Calibri"/>
              </a:rPr>
              <a:t>process.</a:t>
            </a:r>
            <a:r>
              <a:rPr sz="1900" spc="30" dirty="0">
                <a:solidFill>
                  <a:srgbClr val="FFFFFF"/>
                </a:solidFill>
                <a:latin typeface="Calibri"/>
                <a:cs typeface="Calibri"/>
              </a:rPr>
              <a:t> </a:t>
            </a:r>
            <a:r>
              <a:rPr sz="1900" spc="-10" dirty="0">
                <a:solidFill>
                  <a:srgbClr val="FFFFFF"/>
                </a:solidFill>
                <a:latin typeface="Calibri"/>
                <a:cs typeface="Calibri"/>
              </a:rPr>
              <a:t>The </a:t>
            </a:r>
            <a:r>
              <a:rPr sz="1900" spc="-5" dirty="0">
                <a:solidFill>
                  <a:srgbClr val="FFFFFF"/>
                </a:solidFill>
                <a:latin typeface="Calibri"/>
                <a:cs typeface="Calibri"/>
              </a:rPr>
              <a:t> </a:t>
            </a:r>
            <a:r>
              <a:rPr sz="1900" spc="-15" dirty="0">
                <a:solidFill>
                  <a:srgbClr val="FFFFFF"/>
                </a:solidFill>
                <a:latin typeface="Calibri"/>
                <a:cs typeface="Calibri"/>
              </a:rPr>
              <a:t>exact</a:t>
            </a:r>
            <a:r>
              <a:rPr sz="1900" spc="60" dirty="0">
                <a:solidFill>
                  <a:srgbClr val="FFFFFF"/>
                </a:solidFill>
                <a:latin typeface="Calibri"/>
                <a:cs typeface="Calibri"/>
              </a:rPr>
              <a:t> </a:t>
            </a:r>
            <a:r>
              <a:rPr sz="1900" spc="-10" dirty="0">
                <a:solidFill>
                  <a:srgbClr val="FFFFFF"/>
                </a:solidFill>
                <a:latin typeface="Calibri"/>
                <a:cs typeface="Calibri"/>
              </a:rPr>
              <a:t>number</a:t>
            </a:r>
            <a:r>
              <a:rPr sz="1900" spc="65" dirty="0">
                <a:solidFill>
                  <a:srgbClr val="FFFFFF"/>
                </a:solidFill>
                <a:latin typeface="Calibri"/>
                <a:cs typeface="Calibri"/>
              </a:rPr>
              <a:t> </a:t>
            </a:r>
            <a:r>
              <a:rPr sz="1900" spc="-5" dirty="0">
                <a:solidFill>
                  <a:srgbClr val="FFFFFF"/>
                </a:solidFill>
                <a:latin typeface="Calibri"/>
                <a:cs typeface="Calibri"/>
              </a:rPr>
              <a:t>of</a:t>
            </a:r>
            <a:r>
              <a:rPr sz="1900" spc="75" dirty="0">
                <a:solidFill>
                  <a:srgbClr val="FFFFFF"/>
                </a:solidFill>
                <a:latin typeface="Calibri"/>
                <a:cs typeface="Calibri"/>
              </a:rPr>
              <a:t> </a:t>
            </a:r>
            <a:r>
              <a:rPr sz="1900" spc="-5" dirty="0">
                <a:solidFill>
                  <a:srgbClr val="FFFFFF"/>
                </a:solidFill>
                <a:latin typeface="Calibri"/>
                <a:cs typeface="Calibri"/>
              </a:rPr>
              <a:t>phases</a:t>
            </a:r>
            <a:r>
              <a:rPr sz="1900" spc="65" dirty="0">
                <a:solidFill>
                  <a:srgbClr val="FFFFFF"/>
                </a:solidFill>
                <a:latin typeface="Calibri"/>
                <a:cs typeface="Calibri"/>
              </a:rPr>
              <a:t> </a:t>
            </a:r>
            <a:r>
              <a:rPr sz="1900" spc="-5" dirty="0">
                <a:solidFill>
                  <a:srgbClr val="FFFFFF"/>
                </a:solidFill>
                <a:latin typeface="Calibri"/>
                <a:cs typeface="Calibri"/>
              </a:rPr>
              <a:t>needed</a:t>
            </a:r>
            <a:r>
              <a:rPr sz="1900" spc="50" dirty="0">
                <a:solidFill>
                  <a:srgbClr val="FFFFFF"/>
                </a:solidFill>
                <a:latin typeface="Calibri"/>
                <a:cs typeface="Calibri"/>
              </a:rPr>
              <a:t> </a:t>
            </a:r>
            <a:r>
              <a:rPr sz="1900" spc="-15" dirty="0">
                <a:solidFill>
                  <a:srgbClr val="FFFFFF"/>
                </a:solidFill>
                <a:latin typeface="Calibri"/>
                <a:cs typeface="Calibri"/>
              </a:rPr>
              <a:t>to</a:t>
            </a:r>
            <a:r>
              <a:rPr sz="1900" spc="75" dirty="0">
                <a:solidFill>
                  <a:srgbClr val="FFFFFF"/>
                </a:solidFill>
                <a:latin typeface="Calibri"/>
                <a:cs typeface="Calibri"/>
              </a:rPr>
              <a:t> </a:t>
            </a:r>
            <a:r>
              <a:rPr sz="1900" spc="-10" dirty="0">
                <a:solidFill>
                  <a:srgbClr val="FFFFFF"/>
                </a:solidFill>
                <a:latin typeface="Calibri"/>
                <a:cs typeface="Calibri"/>
              </a:rPr>
              <a:t>develop</a:t>
            </a:r>
            <a:r>
              <a:rPr sz="1900" spc="85" dirty="0">
                <a:solidFill>
                  <a:srgbClr val="FFFFFF"/>
                </a:solidFill>
                <a:latin typeface="Calibri"/>
                <a:cs typeface="Calibri"/>
              </a:rPr>
              <a:t> </a:t>
            </a:r>
            <a:r>
              <a:rPr sz="1900" spc="-5" dirty="0">
                <a:solidFill>
                  <a:srgbClr val="FFFFFF"/>
                </a:solidFill>
                <a:latin typeface="Calibri"/>
                <a:cs typeface="Calibri"/>
              </a:rPr>
              <a:t>the</a:t>
            </a:r>
            <a:r>
              <a:rPr sz="1900" spc="75" dirty="0">
                <a:solidFill>
                  <a:srgbClr val="FFFFFF"/>
                </a:solidFill>
                <a:latin typeface="Calibri"/>
                <a:cs typeface="Calibri"/>
              </a:rPr>
              <a:t> </a:t>
            </a:r>
            <a:r>
              <a:rPr sz="1900" spc="-15" dirty="0">
                <a:solidFill>
                  <a:srgbClr val="FFFFFF"/>
                </a:solidFill>
                <a:latin typeface="Calibri"/>
                <a:cs typeface="Calibri"/>
              </a:rPr>
              <a:t>project </a:t>
            </a:r>
            <a:r>
              <a:rPr sz="1900" spc="-10" dirty="0">
                <a:solidFill>
                  <a:srgbClr val="FFFFFF"/>
                </a:solidFill>
                <a:latin typeface="Calibri"/>
                <a:cs typeface="Calibri"/>
              </a:rPr>
              <a:t> can</a:t>
            </a:r>
            <a:r>
              <a:rPr sz="1900" spc="-15" dirty="0">
                <a:solidFill>
                  <a:srgbClr val="FFFFFF"/>
                </a:solidFill>
                <a:latin typeface="Calibri"/>
                <a:cs typeface="Calibri"/>
              </a:rPr>
              <a:t> </a:t>
            </a:r>
            <a:r>
              <a:rPr sz="1900" spc="-5" dirty="0">
                <a:solidFill>
                  <a:srgbClr val="FFFFFF"/>
                </a:solidFill>
                <a:latin typeface="Calibri"/>
                <a:cs typeface="Calibri"/>
              </a:rPr>
              <a:t>be varied</a:t>
            </a:r>
            <a:r>
              <a:rPr sz="1900" spc="-10" dirty="0">
                <a:solidFill>
                  <a:srgbClr val="FFFFFF"/>
                </a:solidFill>
                <a:latin typeface="Calibri"/>
                <a:cs typeface="Calibri"/>
              </a:rPr>
              <a:t> by</a:t>
            </a:r>
            <a:r>
              <a:rPr sz="1900" spc="5" dirty="0">
                <a:solidFill>
                  <a:srgbClr val="FFFFFF"/>
                </a:solidFill>
                <a:latin typeface="Calibri"/>
                <a:cs typeface="Calibri"/>
              </a:rPr>
              <a:t> </a:t>
            </a:r>
            <a:r>
              <a:rPr sz="1900" spc="-5" dirty="0">
                <a:solidFill>
                  <a:srgbClr val="FFFFFF"/>
                </a:solidFill>
                <a:latin typeface="Calibri"/>
                <a:cs typeface="Calibri"/>
              </a:rPr>
              <a:t>the </a:t>
            </a:r>
            <a:r>
              <a:rPr sz="1900" spc="-10" dirty="0">
                <a:solidFill>
                  <a:srgbClr val="FFFFFF"/>
                </a:solidFill>
                <a:latin typeface="Calibri"/>
                <a:cs typeface="Calibri"/>
              </a:rPr>
              <a:t>project</a:t>
            </a:r>
            <a:r>
              <a:rPr sz="1900" spc="5" dirty="0">
                <a:solidFill>
                  <a:srgbClr val="FFFFFF"/>
                </a:solidFill>
                <a:latin typeface="Calibri"/>
                <a:cs typeface="Calibri"/>
              </a:rPr>
              <a:t> </a:t>
            </a:r>
            <a:r>
              <a:rPr sz="1900" spc="-5" dirty="0">
                <a:solidFill>
                  <a:srgbClr val="FFFFFF"/>
                </a:solidFill>
                <a:latin typeface="Calibri"/>
                <a:cs typeface="Calibri"/>
              </a:rPr>
              <a:t>manager</a:t>
            </a:r>
            <a:r>
              <a:rPr sz="1900" dirty="0">
                <a:solidFill>
                  <a:srgbClr val="FFFFFF"/>
                </a:solidFill>
                <a:latin typeface="Calibri"/>
                <a:cs typeface="Calibri"/>
              </a:rPr>
              <a:t> </a:t>
            </a:r>
            <a:r>
              <a:rPr sz="1900" spc="-5" dirty="0">
                <a:solidFill>
                  <a:srgbClr val="FFFFFF"/>
                </a:solidFill>
                <a:latin typeface="Calibri"/>
                <a:cs typeface="Calibri"/>
              </a:rPr>
              <a:t>depending </a:t>
            </a:r>
            <a:r>
              <a:rPr sz="1900" spc="-10" dirty="0">
                <a:solidFill>
                  <a:srgbClr val="FFFFFF"/>
                </a:solidFill>
                <a:latin typeface="Calibri"/>
                <a:cs typeface="Calibri"/>
              </a:rPr>
              <a:t>upon</a:t>
            </a:r>
            <a:r>
              <a:rPr sz="1900" spc="10" dirty="0">
                <a:solidFill>
                  <a:srgbClr val="FFFFFF"/>
                </a:solidFill>
                <a:latin typeface="Calibri"/>
                <a:cs typeface="Calibri"/>
              </a:rPr>
              <a:t> </a:t>
            </a:r>
            <a:r>
              <a:rPr sz="1900" spc="-5" dirty="0">
                <a:solidFill>
                  <a:srgbClr val="FFFFFF"/>
                </a:solidFill>
                <a:latin typeface="Calibri"/>
                <a:cs typeface="Calibri"/>
              </a:rPr>
              <a:t>the </a:t>
            </a:r>
            <a:r>
              <a:rPr sz="1900" dirty="0">
                <a:solidFill>
                  <a:srgbClr val="FFFFFF"/>
                </a:solidFill>
                <a:latin typeface="Calibri"/>
                <a:cs typeface="Calibri"/>
              </a:rPr>
              <a:t> </a:t>
            </a:r>
            <a:r>
              <a:rPr sz="1900" spc="-15" dirty="0">
                <a:solidFill>
                  <a:srgbClr val="FFFFFF"/>
                </a:solidFill>
                <a:latin typeface="Calibri"/>
                <a:cs typeface="Calibri"/>
              </a:rPr>
              <a:t>project</a:t>
            </a:r>
            <a:r>
              <a:rPr sz="1900" spc="15" dirty="0">
                <a:solidFill>
                  <a:srgbClr val="FFFFFF"/>
                </a:solidFill>
                <a:latin typeface="Calibri"/>
                <a:cs typeface="Calibri"/>
              </a:rPr>
              <a:t> </a:t>
            </a:r>
            <a:r>
              <a:rPr sz="1900" spc="-10" dirty="0">
                <a:solidFill>
                  <a:srgbClr val="FFFFFF"/>
                </a:solidFill>
                <a:latin typeface="Calibri"/>
                <a:cs typeface="Calibri"/>
              </a:rPr>
              <a:t>risks.</a:t>
            </a:r>
            <a:r>
              <a:rPr sz="1900" spc="-5" dirty="0">
                <a:solidFill>
                  <a:srgbClr val="FFFFFF"/>
                </a:solidFill>
                <a:latin typeface="Calibri"/>
                <a:cs typeface="Calibri"/>
              </a:rPr>
              <a:t> </a:t>
            </a:r>
            <a:r>
              <a:rPr sz="1900" spc="-10" dirty="0">
                <a:solidFill>
                  <a:srgbClr val="FFFFFF"/>
                </a:solidFill>
                <a:latin typeface="Calibri"/>
                <a:cs typeface="Calibri"/>
              </a:rPr>
              <a:t>As</a:t>
            </a:r>
            <a:r>
              <a:rPr sz="1900" spc="20" dirty="0">
                <a:solidFill>
                  <a:srgbClr val="FFFFFF"/>
                </a:solidFill>
                <a:latin typeface="Calibri"/>
                <a:cs typeface="Calibri"/>
              </a:rPr>
              <a:t> </a:t>
            </a:r>
            <a:r>
              <a:rPr sz="1900" spc="-5" dirty="0">
                <a:solidFill>
                  <a:srgbClr val="FFFFFF"/>
                </a:solidFill>
                <a:latin typeface="Calibri"/>
                <a:cs typeface="Calibri"/>
              </a:rPr>
              <a:t>the</a:t>
            </a:r>
            <a:r>
              <a:rPr sz="1900" spc="5" dirty="0">
                <a:solidFill>
                  <a:srgbClr val="FFFFFF"/>
                </a:solidFill>
                <a:latin typeface="Calibri"/>
                <a:cs typeface="Calibri"/>
              </a:rPr>
              <a:t> </a:t>
            </a:r>
            <a:r>
              <a:rPr sz="1900" spc="-15" dirty="0">
                <a:solidFill>
                  <a:srgbClr val="FFFFFF"/>
                </a:solidFill>
                <a:latin typeface="Calibri"/>
                <a:cs typeface="Calibri"/>
              </a:rPr>
              <a:t>project</a:t>
            </a:r>
            <a:r>
              <a:rPr sz="1900" spc="5" dirty="0">
                <a:solidFill>
                  <a:srgbClr val="FFFFFF"/>
                </a:solidFill>
                <a:latin typeface="Calibri"/>
                <a:cs typeface="Calibri"/>
              </a:rPr>
              <a:t> </a:t>
            </a:r>
            <a:r>
              <a:rPr sz="1900" spc="-5" dirty="0">
                <a:solidFill>
                  <a:srgbClr val="FFFFFF"/>
                </a:solidFill>
                <a:latin typeface="Calibri"/>
                <a:cs typeface="Calibri"/>
              </a:rPr>
              <a:t>manager</a:t>
            </a:r>
            <a:r>
              <a:rPr sz="1900" spc="15" dirty="0">
                <a:solidFill>
                  <a:srgbClr val="FFFFFF"/>
                </a:solidFill>
                <a:latin typeface="Calibri"/>
                <a:cs typeface="Calibri"/>
              </a:rPr>
              <a:t> </a:t>
            </a:r>
            <a:r>
              <a:rPr sz="1900" spc="-10" dirty="0">
                <a:solidFill>
                  <a:srgbClr val="FFFFFF"/>
                </a:solidFill>
                <a:latin typeface="Calibri"/>
                <a:cs typeface="Calibri"/>
              </a:rPr>
              <a:t>dynamically </a:t>
            </a:r>
            <a:r>
              <a:rPr sz="1900" spc="-5" dirty="0">
                <a:solidFill>
                  <a:srgbClr val="FFFFFF"/>
                </a:solidFill>
                <a:latin typeface="Calibri"/>
                <a:cs typeface="Calibri"/>
              </a:rPr>
              <a:t> </a:t>
            </a:r>
            <a:r>
              <a:rPr sz="1900" spc="-10" dirty="0">
                <a:solidFill>
                  <a:srgbClr val="FFFFFF"/>
                </a:solidFill>
                <a:latin typeface="Calibri"/>
                <a:cs typeface="Calibri"/>
              </a:rPr>
              <a:t>determines</a:t>
            </a:r>
            <a:r>
              <a:rPr sz="1900" spc="15" dirty="0">
                <a:solidFill>
                  <a:srgbClr val="FFFFFF"/>
                </a:solidFill>
                <a:latin typeface="Calibri"/>
                <a:cs typeface="Calibri"/>
              </a:rPr>
              <a:t> </a:t>
            </a:r>
            <a:r>
              <a:rPr sz="1900" spc="-5" dirty="0">
                <a:solidFill>
                  <a:srgbClr val="FFFFFF"/>
                </a:solidFill>
                <a:latin typeface="Calibri"/>
                <a:cs typeface="Calibri"/>
              </a:rPr>
              <a:t>the</a:t>
            </a:r>
            <a:r>
              <a:rPr sz="1900" spc="10" dirty="0">
                <a:solidFill>
                  <a:srgbClr val="FFFFFF"/>
                </a:solidFill>
                <a:latin typeface="Calibri"/>
                <a:cs typeface="Calibri"/>
              </a:rPr>
              <a:t> </a:t>
            </a:r>
            <a:r>
              <a:rPr sz="1900" spc="-10" dirty="0">
                <a:solidFill>
                  <a:srgbClr val="FFFFFF"/>
                </a:solidFill>
                <a:latin typeface="Calibri"/>
                <a:cs typeface="Calibri"/>
              </a:rPr>
              <a:t>number</a:t>
            </a:r>
            <a:r>
              <a:rPr sz="1900" spc="15" dirty="0">
                <a:solidFill>
                  <a:srgbClr val="FFFFFF"/>
                </a:solidFill>
                <a:latin typeface="Calibri"/>
                <a:cs typeface="Calibri"/>
              </a:rPr>
              <a:t> </a:t>
            </a:r>
            <a:r>
              <a:rPr sz="1900" spc="-5" dirty="0">
                <a:solidFill>
                  <a:srgbClr val="FFFFFF"/>
                </a:solidFill>
                <a:latin typeface="Calibri"/>
                <a:cs typeface="Calibri"/>
              </a:rPr>
              <a:t>of phases, so</a:t>
            </a:r>
            <a:r>
              <a:rPr sz="1900" dirty="0">
                <a:solidFill>
                  <a:srgbClr val="FFFFFF"/>
                </a:solidFill>
                <a:latin typeface="Calibri"/>
                <a:cs typeface="Calibri"/>
              </a:rPr>
              <a:t> </a:t>
            </a:r>
            <a:r>
              <a:rPr sz="1900" spc="-5" dirty="0">
                <a:solidFill>
                  <a:srgbClr val="FFFFFF"/>
                </a:solidFill>
                <a:latin typeface="Calibri"/>
                <a:cs typeface="Calibri"/>
              </a:rPr>
              <a:t>the</a:t>
            </a:r>
            <a:r>
              <a:rPr sz="1900" spc="10" dirty="0">
                <a:solidFill>
                  <a:srgbClr val="FFFFFF"/>
                </a:solidFill>
                <a:latin typeface="Calibri"/>
                <a:cs typeface="Calibri"/>
              </a:rPr>
              <a:t> </a:t>
            </a:r>
            <a:r>
              <a:rPr sz="1900" spc="-15" dirty="0">
                <a:solidFill>
                  <a:srgbClr val="FFFFFF"/>
                </a:solidFill>
                <a:latin typeface="Calibri"/>
                <a:cs typeface="Calibri"/>
              </a:rPr>
              <a:t>project</a:t>
            </a:r>
            <a:r>
              <a:rPr sz="1900" spc="15" dirty="0">
                <a:solidFill>
                  <a:srgbClr val="FFFFFF"/>
                </a:solidFill>
                <a:latin typeface="Calibri"/>
                <a:cs typeface="Calibri"/>
              </a:rPr>
              <a:t> </a:t>
            </a:r>
            <a:r>
              <a:rPr sz="1900" spc="-5" dirty="0">
                <a:solidFill>
                  <a:srgbClr val="FFFFFF"/>
                </a:solidFill>
                <a:latin typeface="Calibri"/>
                <a:cs typeface="Calibri"/>
              </a:rPr>
              <a:t>manager </a:t>
            </a:r>
            <a:r>
              <a:rPr sz="1900" spc="-415" dirty="0">
                <a:solidFill>
                  <a:srgbClr val="FFFFFF"/>
                </a:solidFill>
                <a:latin typeface="Calibri"/>
                <a:cs typeface="Calibri"/>
              </a:rPr>
              <a:t> </a:t>
            </a:r>
            <a:r>
              <a:rPr sz="1900" spc="-10" dirty="0">
                <a:solidFill>
                  <a:srgbClr val="FFFFFF"/>
                </a:solidFill>
                <a:latin typeface="Calibri"/>
                <a:cs typeface="Calibri"/>
              </a:rPr>
              <a:t>has</a:t>
            </a:r>
            <a:r>
              <a:rPr sz="1900" dirty="0">
                <a:solidFill>
                  <a:srgbClr val="FFFFFF"/>
                </a:solidFill>
                <a:latin typeface="Calibri"/>
                <a:cs typeface="Calibri"/>
              </a:rPr>
              <a:t> an</a:t>
            </a:r>
            <a:r>
              <a:rPr sz="1900" spc="-10" dirty="0">
                <a:solidFill>
                  <a:srgbClr val="FFFFFF"/>
                </a:solidFill>
                <a:latin typeface="Calibri"/>
                <a:cs typeface="Calibri"/>
              </a:rPr>
              <a:t> important</a:t>
            </a:r>
            <a:r>
              <a:rPr sz="1900" spc="30" dirty="0">
                <a:solidFill>
                  <a:srgbClr val="FFFFFF"/>
                </a:solidFill>
                <a:latin typeface="Calibri"/>
                <a:cs typeface="Calibri"/>
              </a:rPr>
              <a:t> </a:t>
            </a:r>
            <a:r>
              <a:rPr sz="1900" spc="-20" dirty="0">
                <a:solidFill>
                  <a:srgbClr val="FFFFFF"/>
                </a:solidFill>
                <a:latin typeface="Calibri"/>
                <a:cs typeface="Calibri"/>
              </a:rPr>
              <a:t>role</a:t>
            </a:r>
            <a:r>
              <a:rPr sz="1900" spc="20" dirty="0">
                <a:solidFill>
                  <a:srgbClr val="FFFFFF"/>
                </a:solidFill>
                <a:latin typeface="Calibri"/>
                <a:cs typeface="Calibri"/>
              </a:rPr>
              <a:t> </a:t>
            </a:r>
            <a:r>
              <a:rPr sz="1900" spc="-15" dirty="0">
                <a:solidFill>
                  <a:srgbClr val="FFFFFF"/>
                </a:solidFill>
                <a:latin typeface="Calibri"/>
                <a:cs typeface="Calibri"/>
              </a:rPr>
              <a:t>to</a:t>
            </a:r>
            <a:r>
              <a:rPr sz="1900" spc="10" dirty="0">
                <a:solidFill>
                  <a:srgbClr val="FFFFFF"/>
                </a:solidFill>
                <a:latin typeface="Calibri"/>
                <a:cs typeface="Calibri"/>
              </a:rPr>
              <a:t> </a:t>
            </a:r>
            <a:r>
              <a:rPr sz="1900" spc="-10" dirty="0">
                <a:solidFill>
                  <a:srgbClr val="FFFFFF"/>
                </a:solidFill>
                <a:latin typeface="Calibri"/>
                <a:cs typeface="Calibri"/>
              </a:rPr>
              <a:t>develop</a:t>
            </a:r>
            <a:r>
              <a:rPr sz="1900" spc="15" dirty="0">
                <a:solidFill>
                  <a:srgbClr val="FFFFFF"/>
                </a:solidFill>
                <a:latin typeface="Calibri"/>
                <a:cs typeface="Calibri"/>
              </a:rPr>
              <a:t> </a:t>
            </a:r>
            <a:r>
              <a:rPr sz="1900" spc="-5" dirty="0">
                <a:solidFill>
                  <a:srgbClr val="FFFFFF"/>
                </a:solidFill>
                <a:latin typeface="Calibri"/>
                <a:cs typeface="Calibri"/>
              </a:rPr>
              <a:t>a</a:t>
            </a:r>
            <a:r>
              <a:rPr sz="1900" dirty="0">
                <a:solidFill>
                  <a:srgbClr val="FFFFFF"/>
                </a:solidFill>
                <a:latin typeface="Calibri"/>
                <a:cs typeface="Calibri"/>
              </a:rPr>
              <a:t> </a:t>
            </a:r>
            <a:r>
              <a:rPr sz="1900" spc="-15" dirty="0">
                <a:solidFill>
                  <a:srgbClr val="FFFFFF"/>
                </a:solidFill>
                <a:latin typeface="Calibri"/>
                <a:cs typeface="Calibri"/>
              </a:rPr>
              <a:t>product</a:t>
            </a:r>
            <a:r>
              <a:rPr sz="1900" spc="15" dirty="0">
                <a:solidFill>
                  <a:srgbClr val="FFFFFF"/>
                </a:solidFill>
                <a:latin typeface="Calibri"/>
                <a:cs typeface="Calibri"/>
              </a:rPr>
              <a:t> </a:t>
            </a:r>
            <a:r>
              <a:rPr sz="1900" spc="-10" dirty="0">
                <a:solidFill>
                  <a:srgbClr val="FFFFFF"/>
                </a:solidFill>
                <a:latin typeface="Calibri"/>
                <a:cs typeface="Calibri"/>
              </a:rPr>
              <a:t>using</a:t>
            </a:r>
            <a:r>
              <a:rPr sz="1900" spc="10" dirty="0">
                <a:solidFill>
                  <a:srgbClr val="FFFFFF"/>
                </a:solidFill>
                <a:latin typeface="Calibri"/>
                <a:cs typeface="Calibri"/>
              </a:rPr>
              <a:t> </a:t>
            </a:r>
            <a:r>
              <a:rPr sz="1900" spc="-5" dirty="0">
                <a:solidFill>
                  <a:srgbClr val="FFFFFF"/>
                </a:solidFill>
                <a:latin typeface="Calibri"/>
                <a:cs typeface="Calibri"/>
              </a:rPr>
              <a:t>the</a:t>
            </a:r>
            <a:r>
              <a:rPr sz="1900" spc="10" dirty="0">
                <a:solidFill>
                  <a:srgbClr val="FFFFFF"/>
                </a:solidFill>
                <a:latin typeface="Calibri"/>
                <a:cs typeface="Calibri"/>
              </a:rPr>
              <a:t> </a:t>
            </a:r>
            <a:r>
              <a:rPr sz="1900" spc="-15" dirty="0">
                <a:solidFill>
                  <a:srgbClr val="FFFFFF"/>
                </a:solidFill>
                <a:latin typeface="Calibri"/>
                <a:cs typeface="Calibri"/>
              </a:rPr>
              <a:t>spiral </a:t>
            </a:r>
            <a:r>
              <a:rPr sz="1900" spc="-415" dirty="0">
                <a:solidFill>
                  <a:srgbClr val="FFFFFF"/>
                </a:solidFill>
                <a:latin typeface="Calibri"/>
                <a:cs typeface="Calibri"/>
              </a:rPr>
              <a:t> </a:t>
            </a:r>
            <a:r>
              <a:rPr sz="1900" spc="-10" dirty="0">
                <a:solidFill>
                  <a:srgbClr val="FFFFFF"/>
                </a:solidFill>
                <a:latin typeface="Calibri"/>
                <a:cs typeface="Calibri"/>
              </a:rPr>
              <a:t>model.</a:t>
            </a:r>
            <a:endParaRPr sz="1900" dirty="0">
              <a:latin typeface="Calibri"/>
              <a:cs typeface="Calibri"/>
            </a:endParaRPr>
          </a:p>
        </p:txBody>
      </p:sp>
      <p:pic>
        <p:nvPicPr>
          <p:cNvPr id="7" name="object 7"/>
          <p:cNvPicPr/>
          <p:nvPr/>
        </p:nvPicPr>
        <p:blipFill>
          <a:blip r:embed="rId2" cstate="print"/>
          <a:stretch>
            <a:fillRect/>
          </a:stretch>
        </p:blipFill>
        <p:spPr>
          <a:xfrm>
            <a:off x="6690385" y="1790912"/>
            <a:ext cx="4901149" cy="3934661"/>
          </a:xfrm>
          <a:prstGeom prst="rect">
            <a:avLst/>
          </a:prstGeom>
        </p:spPr>
      </p:pic>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
        <p:nvSpPr>
          <p:cNvPr id="2" name="object 2"/>
          <p:cNvSpPr txBox="1">
            <a:spLocks noGrp="1"/>
          </p:cNvSpPr>
          <p:nvPr>
            <p:ph type="title"/>
          </p:nvPr>
        </p:nvSpPr>
        <p:spPr>
          <a:xfrm>
            <a:off x="823671" y="492074"/>
            <a:ext cx="4876165" cy="635000"/>
          </a:xfrm>
          <a:prstGeom prst="rect">
            <a:avLst/>
          </a:prstGeom>
        </p:spPr>
        <p:txBody>
          <a:bodyPr vert="horz" wrap="square" lIns="0" tIns="12065" rIns="0" bIns="0" rtlCol="0">
            <a:spAutoFit/>
          </a:bodyPr>
          <a:lstStyle/>
          <a:p>
            <a:pPr marL="12700">
              <a:lnSpc>
                <a:spcPct val="100000"/>
              </a:lnSpc>
              <a:spcBef>
                <a:spcPts val="95"/>
              </a:spcBef>
            </a:pPr>
            <a:r>
              <a:rPr sz="4000" spc="-40" dirty="0"/>
              <a:t>Adaptive</a:t>
            </a:r>
            <a:r>
              <a:rPr sz="4000" spc="-105" dirty="0"/>
              <a:t> </a:t>
            </a:r>
            <a:r>
              <a:rPr sz="4000" spc="-30" dirty="0"/>
              <a:t>Models</a:t>
            </a:r>
            <a:r>
              <a:rPr sz="4000" spc="-75" dirty="0"/>
              <a:t> </a:t>
            </a:r>
            <a:r>
              <a:rPr sz="4000" spc="-5" dirty="0"/>
              <a:t>-</a:t>
            </a:r>
            <a:r>
              <a:rPr sz="4000" spc="-60" dirty="0"/>
              <a:t> </a:t>
            </a:r>
            <a:r>
              <a:rPr sz="4000" spc="-40" dirty="0"/>
              <a:t>Spiral</a:t>
            </a:r>
            <a:endParaRPr sz="4000"/>
          </a:p>
        </p:txBody>
      </p:sp>
      <p:sp>
        <p:nvSpPr>
          <p:cNvPr id="3" name="object 3"/>
          <p:cNvSpPr txBox="1"/>
          <p:nvPr/>
        </p:nvSpPr>
        <p:spPr>
          <a:xfrm>
            <a:off x="562762" y="1450593"/>
            <a:ext cx="11072495" cy="3649979"/>
          </a:xfrm>
          <a:prstGeom prst="rect">
            <a:avLst/>
          </a:prstGeom>
        </p:spPr>
        <p:txBody>
          <a:bodyPr vert="horz" wrap="square" lIns="0" tIns="54610" rIns="0" bIns="0" rtlCol="0">
            <a:spAutoFit/>
          </a:bodyPr>
          <a:lstStyle/>
          <a:p>
            <a:pPr marL="241300" marR="5080" indent="-228600" algn="just">
              <a:lnSpc>
                <a:spcPct val="90000"/>
              </a:lnSpc>
              <a:spcBef>
                <a:spcPts val="430"/>
              </a:spcBef>
              <a:buFont typeface="Arial MT"/>
              <a:buChar char="•"/>
              <a:tabLst>
                <a:tab pos="241300" algn="l"/>
              </a:tabLst>
            </a:pPr>
            <a:r>
              <a:rPr sz="2800" spc="-10" dirty="0">
                <a:latin typeface="Calibri"/>
                <a:cs typeface="Calibri"/>
              </a:rPr>
              <a:t>The Radius </a:t>
            </a:r>
            <a:r>
              <a:rPr sz="2800" spc="-5" dirty="0">
                <a:latin typeface="Calibri"/>
                <a:cs typeface="Calibri"/>
              </a:rPr>
              <a:t>of the </a:t>
            </a:r>
            <a:r>
              <a:rPr sz="2800" spc="-15" dirty="0">
                <a:latin typeface="Calibri"/>
                <a:cs typeface="Calibri"/>
              </a:rPr>
              <a:t>spiral at </a:t>
            </a:r>
            <a:r>
              <a:rPr sz="2800" spc="-20" dirty="0">
                <a:latin typeface="Calibri"/>
                <a:cs typeface="Calibri"/>
              </a:rPr>
              <a:t>any </a:t>
            </a:r>
            <a:r>
              <a:rPr sz="2800" spc="-15" dirty="0">
                <a:latin typeface="Calibri"/>
                <a:cs typeface="Calibri"/>
              </a:rPr>
              <a:t>point represents </a:t>
            </a:r>
            <a:r>
              <a:rPr sz="2800" spc="-5" dirty="0">
                <a:latin typeface="Calibri"/>
                <a:cs typeface="Calibri"/>
              </a:rPr>
              <a:t>the </a:t>
            </a:r>
            <a:r>
              <a:rPr sz="2800" spc="-10" dirty="0">
                <a:latin typeface="Calibri"/>
                <a:cs typeface="Calibri"/>
              </a:rPr>
              <a:t>expenses(cost) </a:t>
            </a:r>
            <a:r>
              <a:rPr sz="2800" spc="-5" dirty="0">
                <a:latin typeface="Calibri"/>
                <a:cs typeface="Calibri"/>
              </a:rPr>
              <a:t>of the </a:t>
            </a:r>
            <a:r>
              <a:rPr sz="2800" dirty="0">
                <a:latin typeface="Calibri"/>
                <a:cs typeface="Calibri"/>
              </a:rPr>
              <a:t> </a:t>
            </a:r>
            <a:r>
              <a:rPr sz="2800" spc="-15" dirty="0">
                <a:latin typeface="Calibri"/>
                <a:cs typeface="Calibri"/>
              </a:rPr>
              <a:t>project </a:t>
            </a:r>
            <a:r>
              <a:rPr sz="2800" spc="-5" dirty="0">
                <a:latin typeface="Calibri"/>
                <a:cs typeface="Calibri"/>
              </a:rPr>
              <a:t>so </a:t>
            </a:r>
            <a:r>
              <a:rPr sz="2800" spc="-80" dirty="0">
                <a:latin typeface="Calibri"/>
                <a:cs typeface="Calibri"/>
              </a:rPr>
              <a:t>far, </a:t>
            </a:r>
            <a:r>
              <a:rPr sz="2800" dirty="0">
                <a:latin typeface="Calibri"/>
                <a:cs typeface="Calibri"/>
              </a:rPr>
              <a:t>and </a:t>
            </a:r>
            <a:r>
              <a:rPr sz="2800" spc="-5" dirty="0">
                <a:latin typeface="Calibri"/>
                <a:cs typeface="Calibri"/>
              </a:rPr>
              <a:t>the angular dimension </a:t>
            </a:r>
            <a:r>
              <a:rPr sz="2800" spc="-15" dirty="0">
                <a:latin typeface="Calibri"/>
                <a:cs typeface="Calibri"/>
              </a:rPr>
              <a:t>represents </a:t>
            </a:r>
            <a:r>
              <a:rPr sz="2800" spc="-5" dirty="0">
                <a:latin typeface="Calibri"/>
                <a:cs typeface="Calibri"/>
              </a:rPr>
              <a:t>the </a:t>
            </a:r>
            <a:r>
              <a:rPr sz="2800" spc="-15" dirty="0">
                <a:latin typeface="Calibri"/>
                <a:cs typeface="Calibri"/>
              </a:rPr>
              <a:t>progress </a:t>
            </a:r>
            <a:r>
              <a:rPr sz="2800" spc="-5" dirty="0">
                <a:latin typeface="Calibri"/>
                <a:cs typeface="Calibri"/>
              </a:rPr>
              <a:t>made </a:t>
            </a:r>
            <a:r>
              <a:rPr sz="2800" spc="-10" dirty="0">
                <a:latin typeface="Calibri"/>
                <a:cs typeface="Calibri"/>
              </a:rPr>
              <a:t>so </a:t>
            </a:r>
            <a:r>
              <a:rPr sz="2800" spc="-5" dirty="0">
                <a:latin typeface="Calibri"/>
                <a:cs typeface="Calibri"/>
              </a:rPr>
              <a:t> </a:t>
            </a:r>
            <a:r>
              <a:rPr sz="2800" spc="-25" dirty="0">
                <a:latin typeface="Calibri"/>
                <a:cs typeface="Calibri"/>
              </a:rPr>
              <a:t>far</a:t>
            </a:r>
            <a:r>
              <a:rPr sz="2800" dirty="0">
                <a:latin typeface="Calibri"/>
                <a:cs typeface="Calibri"/>
              </a:rPr>
              <a:t> </a:t>
            </a:r>
            <a:r>
              <a:rPr sz="2800" spc="-10" dirty="0">
                <a:latin typeface="Calibri"/>
                <a:cs typeface="Calibri"/>
              </a:rPr>
              <a:t>in</a:t>
            </a:r>
            <a:r>
              <a:rPr sz="2800" spc="10" dirty="0">
                <a:latin typeface="Calibri"/>
                <a:cs typeface="Calibri"/>
              </a:rPr>
              <a:t> </a:t>
            </a:r>
            <a:r>
              <a:rPr sz="2800" spc="-5" dirty="0">
                <a:latin typeface="Calibri"/>
                <a:cs typeface="Calibri"/>
              </a:rPr>
              <a:t>the</a:t>
            </a:r>
            <a:r>
              <a:rPr sz="2800" spc="10" dirty="0">
                <a:latin typeface="Calibri"/>
                <a:cs typeface="Calibri"/>
              </a:rPr>
              <a:t> </a:t>
            </a:r>
            <a:r>
              <a:rPr sz="2800" spc="-15" dirty="0">
                <a:latin typeface="Calibri"/>
                <a:cs typeface="Calibri"/>
              </a:rPr>
              <a:t>current</a:t>
            </a:r>
            <a:r>
              <a:rPr sz="2800" spc="25" dirty="0">
                <a:latin typeface="Calibri"/>
                <a:cs typeface="Calibri"/>
              </a:rPr>
              <a:t> </a:t>
            </a:r>
            <a:r>
              <a:rPr sz="2800" spc="-10" dirty="0">
                <a:latin typeface="Calibri"/>
                <a:cs typeface="Calibri"/>
              </a:rPr>
              <a:t>phase.</a:t>
            </a:r>
            <a:endParaRPr sz="2800" dirty="0">
              <a:latin typeface="Calibri"/>
              <a:cs typeface="Calibri"/>
            </a:endParaRPr>
          </a:p>
          <a:p>
            <a:pPr>
              <a:lnSpc>
                <a:spcPct val="100000"/>
              </a:lnSpc>
              <a:spcBef>
                <a:spcPts val="55"/>
              </a:spcBef>
              <a:buFont typeface="Arial MT"/>
              <a:buChar char="•"/>
            </a:pPr>
            <a:endParaRPr sz="3800" dirty="0">
              <a:latin typeface="Calibri"/>
              <a:cs typeface="Calibri"/>
            </a:endParaRPr>
          </a:p>
          <a:p>
            <a:pPr marL="241300" indent="-228600">
              <a:lnSpc>
                <a:spcPct val="100000"/>
              </a:lnSpc>
              <a:buFont typeface="Arial MT"/>
              <a:buChar char="•"/>
              <a:tabLst>
                <a:tab pos="241300" algn="l"/>
              </a:tabLst>
            </a:pPr>
            <a:r>
              <a:rPr sz="2800" spc="-5" dirty="0">
                <a:latin typeface="Calibri"/>
                <a:cs typeface="Calibri"/>
              </a:rPr>
              <a:t>Also</a:t>
            </a:r>
            <a:r>
              <a:rPr sz="2800" spc="15" dirty="0">
                <a:latin typeface="Calibri"/>
                <a:cs typeface="Calibri"/>
              </a:rPr>
              <a:t> </a:t>
            </a:r>
            <a:r>
              <a:rPr sz="2800" spc="-10" dirty="0">
                <a:latin typeface="Calibri"/>
                <a:cs typeface="Calibri"/>
              </a:rPr>
              <a:t>called</a:t>
            </a:r>
            <a:r>
              <a:rPr sz="2800" spc="10" dirty="0">
                <a:latin typeface="Calibri"/>
                <a:cs typeface="Calibri"/>
              </a:rPr>
              <a:t> </a:t>
            </a:r>
            <a:r>
              <a:rPr sz="2800" spc="-5" dirty="0">
                <a:latin typeface="Calibri"/>
                <a:cs typeface="Calibri"/>
              </a:rPr>
              <a:t>a</a:t>
            </a:r>
            <a:r>
              <a:rPr sz="2800" dirty="0">
                <a:latin typeface="Calibri"/>
                <a:cs typeface="Calibri"/>
              </a:rPr>
              <a:t> </a:t>
            </a:r>
            <a:r>
              <a:rPr sz="2800" spc="-20" dirty="0">
                <a:latin typeface="Calibri"/>
                <a:cs typeface="Calibri"/>
              </a:rPr>
              <a:t>meta</a:t>
            </a:r>
            <a:r>
              <a:rPr sz="2800" spc="10" dirty="0">
                <a:latin typeface="Calibri"/>
                <a:cs typeface="Calibri"/>
              </a:rPr>
              <a:t> </a:t>
            </a:r>
            <a:r>
              <a:rPr sz="2800" spc="-5" dirty="0">
                <a:latin typeface="Calibri"/>
                <a:cs typeface="Calibri"/>
              </a:rPr>
              <a:t>model</a:t>
            </a:r>
            <a:r>
              <a:rPr sz="2800" spc="10" dirty="0">
                <a:latin typeface="Calibri"/>
                <a:cs typeface="Calibri"/>
              </a:rPr>
              <a:t> </a:t>
            </a:r>
            <a:r>
              <a:rPr sz="2800" spc="-10" dirty="0">
                <a:latin typeface="Calibri"/>
                <a:cs typeface="Calibri"/>
              </a:rPr>
              <a:t>since</a:t>
            </a:r>
            <a:r>
              <a:rPr sz="2800" spc="35" dirty="0">
                <a:latin typeface="Calibri"/>
                <a:cs typeface="Calibri"/>
              </a:rPr>
              <a:t> </a:t>
            </a:r>
            <a:r>
              <a:rPr sz="2800" spc="-10" dirty="0">
                <a:latin typeface="Calibri"/>
                <a:cs typeface="Calibri"/>
              </a:rPr>
              <a:t>it</a:t>
            </a:r>
            <a:r>
              <a:rPr sz="2800" dirty="0">
                <a:latin typeface="Calibri"/>
                <a:cs typeface="Calibri"/>
              </a:rPr>
              <a:t> </a:t>
            </a:r>
            <a:r>
              <a:rPr sz="2800" spc="-10" dirty="0">
                <a:latin typeface="Calibri"/>
                <a:cs typeface="Calibri"/>
              </a:rPr>
              <a:t>encompasses</a:t>
            </a:r>
            <a:r>
              <a:rPr sz="2800" spc="40" dirty="0">
                <a:latin typeface="Calibri"/>
                <a:cs typeface="Calibri"/>
              </a:rPr>
              <a:t> </a:t>
            </a:r>
            <a:r>
              <a:rPr sz="2800" spc="-5" dirty="0">
                <a:latin typeface="Calibri"/>
                <a:cs typeface="Calibri"/>
              </a:rPr>
              <a:t>all other</a:t>
            </a:r>
            <a:r>
              <a:rPr sz="2800" spc="10" dirty="0">
                <a:latin typeface="Calibri"/>
                <a:cs typeface="Calibri"/>
              </a:rPr>
              <a:t> </a:t>
            </a:r>
            <a:r>
              <a:rPr sz="2800" spc="-25" dirty="0">
                <a:latin typeface="Calibri"/>
                <a:cs typeface="Calibri"/>
              </a:rPr>
              <a:t>life</a:t>
            </a:r>
            <a:r>
              <a:rPr sz="2800" spc="5" dirty="0">
                <a:latin typeface="Calibri"/>
                <a:cs typeface="Calibri"/>
              </a:rPr>
              <a:t> </a:t>
            </a:r>
            <a:r>
              <a:rPr sz="2800" spc="-10" dirty="0">
                <a:latin typeface="Calibri"/>
                <a:cs typeface="Calibri"/>
              </a:rPr>
              <a:t>cycle</a:t>
            </a:r>
            <a:r>
              <a:rPr sz="2800" spc="5" dirty="0">
                <a:latin typeface="Calibri"/>
                <a:cs typeface="Calibri"/>
              </a:rPr>
              <a:t> </a:t>
            </a:r>
            <a:r>
              <a:rPr sz="2800" spc="-5" dirty="0">
                <a:latin typeface="Calibri"/>
                <a:cs typeface="Calibri"/>
              </a:rPr>
              <a:t>models.</a:t>
            </a:r>
            <a:endParaRPr sz="2800" dirty="0">
              <a:latin typeface="Calibri"/>
              <a:cs typeface="Calibri"/>
            </a:endParaRPr>
          </a:p>
          <a:p>
            <a:pPr>
              <a:lnSpc>
                <a:spcPct val="100000"/>
              </a:lnSpc>
              <a:spcBef>
                <a:spcPts val="10"/>
              </a:spcBef>
              <a:buFont typeface="Arial MT"/>
              <a:buChar char="•"/>
            </a:pPr>
            <a:endParaRPr sz="4150" dirty="0">
              <a:latin typeface="Calibri"/>
              <a:cs typeface="Calibri"/>
            </a:endParaRPr>
          </a:p>
          <a:p>
            <a:pPr marL="241300" marR="5715" indent="-228600" algn="just">
              <a:lnSpc>
                <a:spcPts val="3020"/>
              </a:lnSpc>
              <a:buFont typeface="Arial MT"/>
              <a:buChar char="•"/>
              <a:tabLst>
                <a:tab pos="241300" algn="l"/>
              </a:tabLst>
            </a:pPr>
            <a:r>
              <a:rPr sz="2800" spc="-15" dirty="0">
                <a:latin typeface="Calibri"/>
                <a:cs typeface="Calibri"/>
              </a:rPr>
              <a:t>Spiral</a:t>
            </a:r>
            <a:r>
              <a:rPr sz="2800" spc="415" dirty="0">
                <a:latin typeface="Calibri"/>
                <a:cs typeface="Calibri"/>
              </a:rPr>
              <a:t> </a:t>
            </a:r>
            <a:r>
              <a:rPr sz="2800" spc="-5" dirty="0">
                <a:latin typeface="Calibri"/>
                <a:cs typeface="Calibri"/>
              </a:rPr>
              <a:t>Model</a:t>
            </a:r>
            <a:r>
              <a:rPr sz="2800" spc="415" dirty="0">
                <a:latin typeface="Calibri"/>
                <a:cs typeface="Calibri"/>
              </a:rPr>
              <a:t> </a:t>
            </a:r>
            <a:r>
              <a:rPr sz="2800" spc="-5" dirty="0">
                <a:latin typeface="Calibri"/>
                <a:cs typeface="Calibri"/>
              </a:rPr>
              <a:t>includes</a:t>
            </a:r>
            <a:r>
              <a:rPr sz="2800" spc="415" dirty="0">
                <a:latin typeface="Calibri"/>
                <a:cs typeface="Calibri"/>
              </a:rPr>
              <a:t> </a:t>
            </a:r>
            <a:r>
              <a:rPr sz="2800" spc="-5" dirty="0">
                <a:latin typeface="Calibri"/>
                <a:cs typeface="Calibri"/>
              </a:rPr>
              <a:t>the</a:t>
            </a:r>
            <a:r>
              <a:rPr sz="2800" spc="409" dirty="0">
                <a:latin typeface="Calibri"/>
                <a:cs typeface="Calibri"/>
              </a:rPr>
              <a:t> </a:t>
            </a:r>
            <a:r>
              <a:rPr sz="2800" spc="-20" dirty="0">
                <a:latin typeface="Calibri"/>
                <a:cs typeface="Calibri"/>
              </a:rPr>
              <a:t>iterative</a:t>
            </a:r>
            <a:r>
              <a:rPr sz="2800" spc="420" dirty="0">
                <a:latin typeface="Calibri"/>
                <a:cs typeface="Calibri"/>
              </a:rPr>
              <a:t> </a:t>
            </a:r>
            <a:r>
              <a:rPr sz="2800" spc="-15" dirty="0">
                <a:latin typeface="Calibri"/>
                <a:cs typeface="Calibri"/>
              </a:rPr>
              <a:t>nature</a:t>
            </a:r>
            <a:r>
              <a:rPr sz="2800" spc="415" dirty="0">
                <a:latin typeface="Calibri"/>
                <a:cs typeface="Calibri"/>
              </a:rPr>
              <a:t> </a:t>
            </a:r>
            <a:r>
              <a:rPr sz="2800" spc="-5" dirty="0">
                <a:latin typeface="Calibri"/>
                <a:cs typeface="Calibri"/>
              </a:rPr>
              <a:t>of</a:t>
            </a:r>
            <a:r>
              <a:rPr sz="2800" spc="409" dirty="0">
                <a:latin typeface="Calibri"/>
                <a:cs typeface="Calibri"/>
              </a:rPr>
              <a:t> </a:t>
            </a:r>
            <a:r>
              <a:rPr sz="2800" spc="-5" dirty="0">
                <a:latin typeface="Calibri"/>
                <a:cs typeface="Calibri"/>
              </a:rPr>
              <a:t>the</a:t>
            </a:r>
            <a:r>
              <a:rPr sz="2800" spc="425" dirty="0">
                <a:latin typeface="Calibri"/>
                <a:cs typeface="Calibri"/>
              </a:rPr>
              <a:t> </a:t>
            </a:r>
            <a:r>
              <a:rPr sz="2800" spc="-15" dirty="0">
                <a:latin typeface="Calibri"/>
                <a:cs typeface="Calibri"/>
              </a:rPr>
              <a:t>prototyping</a:t>
            </a:r>
            <a:r>
              <a:rPr sz="2800" spc="434" dirty="0">
                <a:latin typeface="Calibri"/>
                <a:cs typeface="Calibri"/>
              </a:rPr>
              <a:t> </a:t>
            </a:r>
            <a:r>
              <a:rPr sz="2800" spc="-5" dirty="0">
                <a:latin typeface="Calibri"/>
                <a:cs typeface="Calibri"/>
              </a:rPr>
              <a:t>model</a:t>
            </a:r>
            <a:r>
              <a:rPr sz="2800" spc="405" dirty="0">
                <a:latin typeface="Calibri"/>
                <a:cs typeface="Calibri"/>
              </a:rPr>
              <a:t> </a:t>
            </a:r>
            <a:r>
              <a:rPr sz="2800" dirty="0">
                <a:latin typeface="Calibri"/>
                <a:cs typeface="Calibri"/>
              </a:rPr>
              <a:t>and </a:t>
            </a:r>
            <a:r>
              <a:rPr sz="2800" spc="-620" dirty="0">
                <a:latin typeface="Calibri"/>
                <a:cs typeface="Calibri"/>
              </a:rPr>
              <a:t> </a:t>
            </a:r>
            <a:r>
              <a:rPr sz="2800" spc="-5" dirty="0">
                <a:latin typeface="Calibri"/>
                <a:cs typeface="Calibri"/>
              </a:rPr>
              <a:t>the</a:t>
            </a:r>
            <a:r>
              <a:rPr sz="2800" dirty="0">
                <a:latin typeface="Calibri"/>
                <a:cs typeface="Calibri"/>
              </a:rPr>
              <a:t> </a:t>
            </a:r>
            <a:r>
              <a:rPr sz="2800" spc="-10" dirty="0">
                <a:latin typeface="Calibri"/>
                <a:cs typeface="Calibri"/>
              </a:rPr>
              <a:t>linear</a:t>
            </a:r>
            <a:r>
              <a:rPr sz="2800" spc="-5" dirty="0">
                <a:latin typeface="Calibri"/>
                <a:cs typeface="Calibri"/>
              </a:rPr>
              <a:t> </a:t>
            </a:r>
            <a:r>
              <a:rPr sz="2800" spc="-15" dirty="0">
                <a:latin typeface="Calibri"/>
                <a:cs typeface="Calibri"/>
              </a:rPr>
              <a:t>nature</a:t>
            </a:r>
            <a:r>
              <a:rPr sz="2800" spc="30" dirty="0">
                <a:latin typeface="Calibri"/>
                <a:cs typeface="Calibri"/>
              </a:rPr>
              <a:t> </a:t>
            </a:r>
            <a:r>
              <a:rPr sz="2800" spc="-5" dirty="0">
                <a:latin typeface="Calibri"/>
                <a:cs typeface="Calibri"/>
              </a:rPr>
              <a:t>of</a:t>
            </a:r>
            <a:r>
              <a:rPr sz="2800" spc="-15" dirty="0">
                <a:latin typeface="Calibri"/>
                <a:cs typeface="Calibri"/>
              </a:rPr>
              <a:t> </a:t>
            </a:r>
            <a:r>
              <a:rPr sz="2800" spc="-5" dirty="0">
                <a:latin typeface="Calibri"/>
                <a:cs typeface="Calibri"/>
              </a:rPr>
              <a:t>the</a:t>
            </a:r>
            <a:r>
              <a:rPr sz="2800" spc="5" dirty="0">
                <a:latin typeface="Calibri"/>
                <a:cs typeface="Calibri"/>
              </a:rPr>
              <a:t> </a:t>
            </a:r>
            <a:r>
              <a:rPr sz="2800" spc="-20" dirty="0">
                <a:latin typeface="Calibri"/>
                <a:cs typeface="Calibri"/>
              </a:rPr>
              <a:t>waterfall </a:t>
            </a:r>
            <a:r>
              <a:rPr sz="2800" spc="-5" dirty="0">
                <a:latin typeface="Calibri"/>
                <a:cs typeface="Calibri"/>
              </a:rPr>
              <a:t>model.</a:t>
            </a:r>
            <a:endParaRPr sz="2800" dirty="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216152"/>
            <a:ext cx="196850" cy="673735"/>
          </a:xfrm>
          <a:custGeom>
            <a:avLst/>
            <a:gdLst/>
            <a:ahLst/>
            <a:cxnLst/>
            <a:rect l="l" t="t" r="r" b="b"/>
            <a:pathLst>
              <a:path w="196850" h="673735">
                <a:moveTo>
                  <a:pt x="196596" y="0"/>
                </a:moveTo>
                <a:lnTo>
                  <a:pt x="0" y="0"/>
                </a:lnTo>
                <a:lnTo>
                  <a:pt x="0" y="673608"/>
                </a:lnTo>
                <a:lnTo>
                  <a:pt x="196596" y="673608"/>
                </a:lnTo>
                <a:lnTo>
                  <a:pt x="196596" y="0"/>
                </a:lnTo>
                <a:close/>
              </a:path>
            </a:pathLst>
          </a:custGeom>
          <a:solidFill>
            <a:srgbClr val="FFC000"/>
          </a:solidFill>
        </p:spPr>
        <p:txBody>
          <a:bodyPr wrap="square" lIns="0" tIns="0" rIns="0" bIns="0" rtlCol="0"/>
          <a:lstStyle/>
          <a:p>
            <a:endParaRPr/>
          </a:p>
        </p:txBody>
      </p:sp>
      <p:sp>
        <p:nvSpPr>
          <p:cNvPr id="3" name="object 3"/>
          <p:cNvSpPr/>
          <p:nvPr/>
        </p:nvSpPr>
        <p:spPr>
          <a:xfrm>
            <a:off x="268224" y="1216152"/>
            <a:ext cx="195580" cy="673735"/>
          </a:xfrm>
          <a:custGeom>
            <a:avLst/>
            <a:gdLst/>
            <a:ahLst/>
            <a:cxnLst/>
            <a:rect l="l" t="t" r="r" b="b"/>
            <a:pathLst>
              <a:path w="195579" h="673735">
                <a:moveTo>
                  <a:pt x="195072" y="0"/>
                </a:moveTo>
                <a:lnTo>
                  <a:pt x="0" y="0"/>
                </a:lnTo>
                <a:lnTo>
                  <a:pt x="0" y="673608"/>
                </a:lnTo>
                <a:lnTo>
                  <a:pt x="195072" y="673608"/>
                </a:lnTo>
                <a:lnTo>
                  <a:pt x="195072" y="0"/>
                </a:lnTo>
                <a:close/>
              </a:path>
            </a:pathLst>
          </a:custGeom>
          <a:solidFill>
            <a:srgbClr val="FFC000"/>
          </a:solidFill>
        </p:spPr>
        <p:txBody>
          <a:bodyPr wrap="square" lIns="0" tIns="0" rIns="0" bIns="0" rtlCol="0"/>
          <a:lstStyle/>
          <a:p>
            <a:endParaRPr/>
          </a:p>
        </p:txBody>
      </p:sp>
      <p:grpSp>
        <p:nvGrpSpPr>
          <p:cNvPr id="4" name="object 4"/>
          <p:cNvGrpSpPr/>
          <p:nvPr/>
        </p:nvGrpSpPr>
        <p:grpSpPr>
          <a:xfrm>
            <a:off x="498348" y="598931"/>
            <a:ext cx="11181715" cy="2169160"/>
            <a:chOff x="498348" y="598931"/>
            <a:chExt cx="11181715" cy="2169160"/>
          </a:xfrm>
        </p:grpSpPr>
        <p:sp>
          <p:nvSpPr>
            <p:cNvPr id="5" name="object 5"/>
            <p:cNvSpPr/>
            <p:nvPr/>
          </p:nvSpPr>
          <p:spPr>
            <a:xfrm>
              <a:off x="534924" y="1216151"/>
              <a:ext cx="105410" cy="673735"/>
            </a:xfrm>
            <a:custGeom>
              <a:avLst/>
              <a:gdLst/>
              <a:ahLst/>
              <a:cxnLst/>
              <a:rect l="l" t="t" r="r" b="b"/>
              <a:pathLst>
                <a:path w="105409" h="673735">
                  <a:moveTo>
                    <a:pt x="0" y="673608"/>
                  </a:moveTo>
                  <a:lnTo>
                    <a:pt x="105156" y="673608"/>
                  </a:lnTo>
                  <a:lnTo>
                    <a:pt x="105156" y="0"/>
                  </a:lnTo>
                  <a:lnTo>
                    <a:pt x="0" y="0"/>
                  </a:lnTo>
                  <a:lnTo>
                    <a:pt x="0" y="673608"/>
                  </a:lnTo>
                  <a:close/>
                </a:path>
              </a:pathLst>
            </a:custGeom>
            <a:solidFill>
              <a:srgbClr val="FFC000"/>
            </a:solidFill>
          </p:spPr>
          <p:txBody>
            <a:bodyPr wrap="square" lIns="0" tIns="0" rIns="0" bIns="0" rtlCol="0"/>
            <a:lstStyle/>
            <a:p>
              <a:endParaRPr/>
            </a:p>
          </p:txBody>
        </p:sp>
        <p:pic>
          <p:nvPicPr>
            <p:cNvPr id="6" name="object 6"/>
            <p:cNvPicPr/>
            <p:nvPr/>
          </p:nvPicPr>
          <p:blipFill>
            <a:blip r:embed="rId2" cstate="print"/>
            <a:stretch>
              <a:fillRect/>
            </a:stretch>
          </p:blipFill>
          <p:spPr>
            <a:xfrm>
              <a:off x="498348" y="598931"/>
              <a:ext cx="11181588" cy="2168652"/>
            </a:xfrm>
            <a:prstGeom prst="rect">
              <a:avLst/>
            </a:prstGeom>
          </p:spPr>
        </p:pic>
        <p:sp>
          <p:nvSpPr>
            <p:cNvPr id="7" name="object 7"/>
            <p:cNvSpPr/>
            <p:nvPr/>
          </p:nvSpPr>
          <p:spPr>
            <a:xfrm>
              <a:off x="640080" y="614171"/>
              <a:ext cx="10907395" cy="1894839"/>
            </a:xfrm>
            <a:custGeom>
              <a:avLst/>
              <a:gdLst/>
              <a:ahLst/>
              <a:cxnLst/>
              <a:rect l="l" t="t" r="r" b="b"/>
              <a:pathLst>
                <a:path w="10907395" h="1894839">
                  <a:moveTo>
                    <a:pt x="10907268" y="0"/>
                  </a:moveTo>
                  <a:lnTo>
                    <a:pt x="0" y="0"/>
                  </a:lnTo>
                  <a:lnTo>
                    <a:pt x="0" y="1894331"/>
                  </a:lnTo>
                  <a:lnTo>
                    <a:pt x="10907268" y="1894331"/>
                  </a:lnTo>
                  <a:lnTo>
                    <a:pt x="10907268" y="0"/>
                  </a:lnTo>
                  <a:close/>
                </a:path>
              </a:pathLst>
            </a:custGeom>
            <a:solidFill>
              <a:srgbClr val="FFFFFF"/>
            </a:solidFill>
          </p:spPr>
          <p:txBody>
            <a:bodyPr wrap="square" lIns="0" tIns="0" rIns="0" bIns="0" rtlCol="0"/>
            <a:lstStyle/>
            <a:p>
              <a:endParaRPr/>
            </a:p>
          </p:txBody>
        </p:sp>
      </p:grpSp>
      <p:sp>
        <p:nvSpPr>
          <p:cNvPr id="8" name="object 8"/>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40" dirty="0"/>
              <a:t>Adaptive</a:t>
            </a:r>
            <a:r>
              <a:rPr spc="-120" dirty="0"/>
              <a:t> </a:t>
            </a:r>
            <a:r>
              <a:rPr spc="-40" dirty="0"/>
              <a:t>Models</a:t>
            </a:r>
            <a:r>
              <a:rPr spc="-130" dirty="0"/>
              <a:t> </a:t>
            </a:r>
            <a:r>
              <a:rPr dirty="0"/>
              <a:t>-</a:t>
            </a:r>
            <a:r>
              <a:rPr spc="-75" dirty="0"/>
              <a:t> </a:t>
            </a:r>
            <a:r>
              <a:rPr spc="-40" dirty="0"/>
              <a:t>Spiral</a:t>
            </a:r>
          </a:p>
        </p:txBody>
      </p:sp>
      <p:sp>
        <p:nvSpPr>
          <p:cNvPr id="9" name="object 9"/>
          <p:cNvSpPr/>
          <p:nvPr/>
        </p:nvSpPr>
        <p:spPr>
          <a:xfrm>
            <a:off x="838200" y="6484620"/>
            <a:ext cx="10515600" cy="0"/>
          </a:xfrm>
          <a:custGeom>
            <a:avLst/>
            <a:gdLst/>
            <a:ahLst/>
            <a:cxnLst/>
            <a:rect l="l" t="t" r="r" b="b"/>
            <a:pathLst>
              <a:path w="10515600">
                <a:moveTo>
                  <a:pt x="10515600" y="0"/>
                </a:moveTo>
                <a:lnTo>
                  <a:pt x="0" y="0"/>
                </a:lnTo>
              </a:path>
            </a:pathLst>
          </a:custGeom>
          <a:ln w="57150">
            <a:solidFill>
              <a:srgbClr val="FFC000"/>
            </a:solidFill>
          </a:ln>
        </p:spPr>
        <p:txBody>
          <a:bodyPr wrap="square" lIns="0" tIns="0" rIns="0" bIns="0" rtlCol="0"/>
          <a:lstStyle/>
          <a:p>
            <a:endParaRPr/>
          </a:p>
        </p:txBody>
      </p:sp>
      <p:sp>
        <p:nvSpPr>
          <p:cNvPr id="10" name="object 10"/>
          <p:cNvSpPr txBox="1"/>
          <p:nvPr/>
        </p:nvSpPr>
        <p:spPr>
          <a:xfrm>
            <a:off x="5598414" y="6563055"/>
            <a:ext cx="995044"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88888"/>
                </a:solidFill>
                <a:latin typeface="Calibri"/>
                <a:cs typeface="Calibri"/>
              </a:rPr>
              <a:t>Eng.</a:t>
            </a:r>
            <a:r>
              <a:rPr sz="1200" spc="-55" dirty="0">
                <a:solidFill>
                  <a:srgbClr val="888888"/>
                </a:solidFill>
                <a:latin typeface="Calibri"/>
                <a:cs typeface="Calibri"/>
              </a:rPr>
              <a:t> </a:t>
            </a:r>
            <a:r>
              <a:rPr sz="1200" dirty="0">
                <a:solidFill>
                  <a:srgbClr val="888888"/>
                </a:solidFill>
                <a:latin typeface="Calibri"/>
                <a:cs typeface="Calibri"/>
              </a:rPr>
              <a:t>Asmaa</a:t>
            </a:r>
            <a:r>
              <a:rPr sz="1200" spc="-25" dirty="0">
                <a:solidFill>
                  <a:srgbClr val="888888"/>
                </a:solidFill>
                <a:latin typeface="Calibri"/>
                <a:cs typeface="Calibri"/>
              </a:rPr>
              <a:t> </a:t>
            </a:r>
            <a:r>
              <a:rPr sz="1200" spc="-5" dirty="0">
                <a:solidFill>
                  <a:srgbClr val="888888"/>
                </a:solidFill>
                <a:latin typeface="Calibri"/>
                <a:cs typeface="Calibri"/>
              </a:rPr>
              <a:t>Lafi</a:t>
            </a:r>
            <a:endParaRPr sz="1200">
              <a:latin typeface="Calibri"/>
              <a:cs typeface="Calibri"/>
            </a:endParaRPr>
          </a:p>
        </p:txBody>
      </p:sp>
      <p:grpSp>
        <p:nvGrpSpPr>
          <p:cNvPr id="11" name="object 11"/>
          <p:cNvGrpSpPr/>
          <p:nvPr/>
        </p:nvGrpSpPr>
        <p:grpSpPr>
          <a:xfrm>
            <a:off x="898905" y="1514602"/>
            <a:ext cx="10913745" cy="4848225"/>
            <a:chOff x="898905" y="1514602"/>
            <a:chExt cx="10913745" cy="4848225"/>
          </a:xfrm>
        </p:grpSpPr>
        <p:sp>
          <p:nvSpPr>
            <p:cNvPr id="12" name="object 12"/>
            <p:cNvSpPr/>
            <p:nvPr/>
          </p:nvSpPr>
          <p:spPr>
            <a:xfrm>
              <a:off x="905255" y="1520952"/>
              <a:ext cx="9271000" cy="2057400"/>
            </a:xfrm>
            <a:custGeom>
              <a:avLst/>
              <a:gdLst/>
              <a:ahLst/>
              <a:cxnLst/>
              <a:rect l="l" t="t" r="r" b="b"/>
              <a:pathLst>
                <a:path w="9271000" h="2057400">
                  <a:moveTo>
                    <a:pt x="9064752" y="0"/>
                  </a:moveTo>
                  <a:lnTo>
                    <a:pt x="205740" y="0"/>
                  </a:lnTo>
                  <a:lnTo>
                    <a:pt x="158565" y="5431"/>
                  </a:lnTo>
                  <a:lnTo>
                    <a:pt x="115260" y="20905"/>
                  </a:lnTo>
                  <a:lnTo>
                    <a:pt x="77060" y="45186"/>
                  </a:lnTo>
                  <a:lnTo>
                    <a:pt x="45198" y="77044"/>
                  </a:lnTo>
                  <a:lnTo>
                    <a:pt x="20911" y="115244"/>
                  </a:lnTo>
                  <a:lnTo>
                    <a:pt x="5433" y="158553"/>
                  </a:lnTo>
                  <a:lnTo>
                    <a:pt x="0" y="205739"/>
                  </a:lnTo>
                  <a:lnTo>
                    <a:pt x="0" y="1851660"/>
                  </a:lnTo>
                  <a:lnTo>
                    <a:pt x="5433" y="1898846"/>
                  </a:lnTo>
                  <a:lnTo>
                    <a:pt x="20911" y="1942155"/>
                  </a:lnTo>
                  <a:lnTo>
                    <a:pt x="45198" y="1980355"/>
                  </a:lnTo>
                  <a:lnTo>
                    <a:pt x="77060" y="2012213"/>
                  </a:lnTo>
                  <a:lnTo>
                    <a:pt x="115260" y="2036494"/>
                  </a:lnTo>
                  <a:lnTo>
                    <a:pt x="158565" y="2051968"/>
                  </a:lnTo>
                  <a:lnTo>
                    <a:pt x="205740" y="2057400"/>
                  </a:lnTo>
                  <a:lnTo>
                    <a:pt x="9064752" y="2057400"/>
                  </a:lnTo>
                  <a:lnTo>
                    <a:pt x="9111938" y="2051968"/>
                  </a:lnTo>
                  <a:lnTo>
                    <a:pt x="9155247" y="2036494"/>
                  </a:lnTo>
                  <a:lnTo>
                    <a:pt x="9193447" y="2012213"/>
                  </a:lnTo>
                  <a:lnTo>
                    <a:pt x="9225305" y="1980355"/>
                  </a:lnTo>
                  <a:lnTo>
                    <a:pt x="9249586" y="1942155"/>
                  </a:lnTo>
                  <a:lnTo>
                    <a:pt x="9265060" y="1898846"/>
                  </a:lnTo>
                  <a:lnTo>
                    <a:pt x="9270492" y="1851660"/>
                  </a:lnTo>
                  <a:lnTo>
                    <a:pt x="9270492" y="205739"/>
                  </a:lnTo>
                  <a:lnTo>
                    <a:pt x="9265060" y="158553"/>
                  </a:lnTo>
                  <a:lnTo>
                    <a:pt x="9249586" y="115244"/>
                  </a:lnTo>
                  <a:lnTo>
                    <a:pt x="9225305" y="77044"/>
                  </a:lnTo>
                  <a:lnTo>
                    <a:pt x="9193447" y="45186"/>
                  </a:lnTo>
                  <a:lnTo>
                    <a:pt x="9155247" y="20905"/>
                  </a:lnTo>
                  <a:lnTo>
                    <a:pt x="9111938" y="5431"/>
                  </a:lnTo>
                  <a:lnTo>
                    <a:pt x="9064752" y="0"/>
                  </a:lnTo>
                  <a:close/>
                </a:path>
              </a:pathLst>
            </a:custGeom>
            <a:solidFill>
              <a:srgbClr val="A4A4A4"/>
            </a:solidFill>
          </p:spPr>
          <p:txBody>
            <a:bodyPr wrap="square" lIns="0" tIns="0" rIns="0" bIns="0" rtlCol="0"/>
            <a:lstStyle/>
            <a:p>
              <a:endParaRPr/>
            </a:p>
          </p:txBody>
        </p:sp>
        <p:sp>
          <p:nvSpPr>
            <p:cNvPr id="13" name="object 13"/>
            <p:cNvSpPr/>
            <p:nvPr/>
          </p:nvSpPr>
          <p:spPr>
            <a:xfrm>
              <a:off x="905255" y="1520952"/>
              <a:ext cx="9271000" cy="2057400"/>
            </a:xfrm>
            <a:custGeom>
              <a:avLst/>
              <a:gdLst/>
              <a:ahLst/>
              <a:cxnLst/>
              <a:rect l="l" t="t" r="r" b="b"/>
              <a:pathLst>
                <a:path w="9271000" h="2057400">
                  <a:moveTo>
                    <a:pt x="0" y="205739"/>
                  </a:moveTo>
                  <a:lnTo>
                    <a:pt x="5433" y="158553"/>
                  </a:lnTo>
                  <a:lnTo>
                    <a:pt x="20911" y="115244"/>
                  </a:lnTo>
                  <a:lnTo>
                    <a:pt x="45198" y="77044"/>
                  </a:lnTo>
                  <a:lnTo>
                    <a:pt x="77060" y="45186"/>
                  </a:lnTo>
                  <a:lnTo>
                    <a:pt x="115260" y="20905"/>
                  </a:lnTo>
                  <a:lnTo>
                    <a:pt x="158565" y="5431"/>
                  </a:lnTo>
                  <a:lnTo>
                    <a:pt x="205740" y="0"/>
                  </a:lnTo>
                  <a:lnTo>
                    <a:pt x="9064752" y="0"/>
                  </a:lnTo>
                  <a:lnTo>
                    <a:pt x="9111938" y="5431"/>
                  </a:lnTo>
                  <a:lnTo>
                    <a:pt x="9155247" y="20905"/>
                  </a:lnTo>
                  <a:lnTo>
                    <a:pt x="9193447" y="45186"/>
                  </a:lnTo>
                  <a:lnTo>
                    <a:pt x="9225305" y="77044"/>
                  </a:lnTo>
                  <a:lnTo>
                    <a:pt x="9249586" y="115244"/>
                  </a:lnTo>
                  <a:lnTo>
                    <a:pt x="9265060" y="158553"/>
                  </a:lnTo>
                  <a:lnTo>
                    <a:pt x="9270492" y="205739"/>
                  </a:lnTo>
                  <a:lnTo>
                    <a:pt x="9270492" y="1851660"/>
                  </a:lnTo>
                  <a:lnTo>
                    <a:pt x="9265060" y="1898846"/>
                  </a:lnTo>
                  <a:lnTo>
                    <a:pt x="9249586" y="1942155"/>
                  </a:lnTo>
                  <a:lnTo>
                    <a:pt x="9225305" y="1980355"/>
                  </a:lnTo>
                  <a:lnTo>
                    <a:pt x="9193447" y="2012213"/>
                  </a:lnTo>
                  <a:lnTo>
                    <a:pt x="9155247" y="2036494"/>
                  </a:lnTo>
                  <a:lnTo>
                    <a:pt x="9111938" y="2051968"/>
                  </a:lnTo>
                  <a:lnTo>
                    <a:pt x="9064752" y="2057400"/>
                  </a:lnTo>
                  <a:lnTo>
                    <a:pt x="205740" y="2057400"/>
                  </a:lnTo>
                  <a:lnTo>
                    <a:pt x="158565" y="2051968"/>
                  </a:lnTo>
                  <a:lnTo>
                    <a:pt x="115260" y="2036494"/>
                  </a:lnTo>
                  <a:lnTo>
                    <a:pt x="77060" y="2012213"/>
                  </a:lnTo>
                  <a:lnTo>
                    <a:pt x="45198" y="1980355"/>
                  </a:lnTo>
                  <a:lnTo>
                    <a:pt x="20911" y="1942155"/>
                  </a:lnTo>
                  <a:lnTo>
                    <a:pt x="5433" y="1898846"/>
                  </a:lnTo>
                  <a:lnTo>
                    <a:pt x="0" y="1851660"/>
                  </a:lnTo>
                  <a:lnTo>
                    <a:pt x="0" y="205739"/>
                  </a:lnTo>
                  <a:close/>
                </a:path>
              </a:pathLst>
            </a:custGeom>
            <a:ln w="12700">
              <a:solidFill>
                <a:srgbClr val="FFFFFF"/>
              </a:solidFill>
            </a:ln>
          </p:spPr>
          <p:txBody>
            <a:bodyPr wrap="square" lIns="0" tIns="0" rIns="0" bIns="0" rtlCol="0"/>
            <a:lstStyle/>
            <a:p>
              <a:endParaRPr/>
            </a:p>
          </p:txBody>
        </p:sp>
        <p:sp>
          <p:nvSpPr>
            <p:cNvPr id="14" name="object 14"/>
            <p:cNvSpPr/>
            <p:nvPr/>
          </p:nvSpPr>
          <p:spPr>
            <a:xfrm>
              <a:off x="2540507" y="3765803"/>
              <a:ext cx="9272270" cy="2597150"/>
            </a:xfrm>
            <a:custGeom>
              <a:avLst/>
              <a:gdLst/>
              <a:ahLst/>
              <a:cxnLst/>
              <a:rect l="l" t="t" r="r" b="b"/>
              <a:pathLst>
                <a:path w="9272270" h="2597150">
                  <a:moveTo>
                    <a:pt x="9012301" y="0"/>
                  </a:moveTo>
                  <a:lnTo>
                    <a:pt x="259715" y="0"/>
                  </a:lnTo>
                  <a:lnTo>
                    <a:pt x="213011" y="4181"/>
                  </a:lnTo>
                  <a:lnTo>
                    <a:pt x="169062" y="16239"/>
                  </a:lnTo>
                  <a:lnTo>
                    <a:pt x="128599" y="35442"/>
                  </a:lnTo>
                  <a:lnTo>
                    <a:pt x="92353" y="61057"/>
                  </a:lnTo>
                  <a:lnTo>
                    <a:pt x="61057" y="92353"/>
                  </a:lnTo>
                  <a:lnTo>
                    <a:pt x="35442" y="128599"/>
                  </a:lnTo>
                  <a:lnTo>
                    <a:pt x="16239" y="169062"/>
                  </a:lnTo>
                  <a:lnTo>
                    <a:pt x="4181" y="213011"/>
                  </a:lnTo>
                  <a:lnTo>
                    <a:pt x="0" y="259715"/>
                  </a:lnTo>
                  <a:lnTo>
                    <a:pt x="0" y="2337206"/>
                  </a:lnTo>
                  <a:lnTo>
                    <a:pt x="4181" y="2383885"/>
                  </a:lnTo>
                  <a:lnTo>
                    <a:pt x="16239" y="2427819"/>
                  </a:lnTo>
                  <a:lnTo>
                    <a:pt x="35442" y="2468276"/>
                  </a:lnTo>
                  <a:lnTo>
                    <a:pt x="61057" y="2504520"/>
                  </a:lnTo>
                  <a:lnTo>
                    <a:pt x="92353" y="2535819"/>
                  </a:lnTo>
                  <a:lnTo>
                    <a:pt x="128599" y="2561440"/>
                  </a:lnTo>
                  <a:lnTo>
                    <a:pt x="169062" y="2580648"/>
                  </a:lnTo>
                  <a:lnTo>
                    <a:pt x="213011" y="2592712"/>
                  </a:lnTo>
                  <a:lnTo>
                    <a:pt x="259715" y="2596896"/>
                  </a:lnTo>
                  <a:lnTo>
                    <a:pt x="9012301" y="2596896"/>
                  </a:lnTo>
                  <a:lnTo>
                    <a:pt x="9059004" y="2592712"/>
                  </a:lnTo>
                  <a:lnTo>
                    <a:pt x="9102953" y="2580648"/>
                  </a:lnTo>
                  <a:lnTo>
                    <a:pt x="9143416" y="2561440"/>
                  </a:lnTo>
                  <a:lnTo>
                    <a:pt x="9179662" y="2535819"/>
                  </a:lnTo>
                  <a:lnTo>
                    <a:pt x="9210958" y="2504520"/>
                  </a:lnTo>
                  <a:lnTo>
                    <a:pt x="9236573" y="2468276"/>
                  </a:lnTo>
                  <a:lnTo>
                    <a:pt x="9255776" y="2427819"/>
                  </a:lnTo>
                  <a:lnTo>
                    <a:pt x="9267834" y="2383885"/>
                  </a:lnTo>
                  <a:lnTo>
                    <a:pt x="9272016" y="2337206"/>
                  </a:lnTo>
                  <a:lnTo>
                    <a:pt x="9272016" y="259715"/>
                  </a:lnTo>
                  <a:lnTo>
                    <a:pt x="9267834" y="213011"/>
                  </a:lnTo>
                  <a:lnTo>
                    <a:pt x="9255776" y="169062"/>
                  </a:lnTo>
                  <a:lnTo>
                    <a:pt x="9236573" y="128599"/>
                  </a:lnTo>
                  <a:lnTo>
                    <a:pt x="9210958" y="92353"/>
                  </a:lnTo>
                  <a:lnTo>
                    <a:pt x="9179662" y="61057"/>
                  </a:lnTo>
                  <a:lnTo>
                    <a:pt x="9143416" y="35442"/>
                  </a:lnTo>
                  <a:lnTo>
                    <a:pt x="9102953" y="16239"/>
                  </a:lnTo>
                  <a:lnTo>
                    <a:pt x="9059004" y="4181"/>
                  </a:lnTo>
                  <a:lnTo>
                    <a:pt x="9012301" y="0"/>
                  </a:lnTo>
                  <a:close/>
                </a:path>
              </a:pathLst>
            </a:custGeom>
            <a:solidFill>
              <a:srgbClr val="A4A4A4"/>
            </a:solidFill>
          </p:spPr>
          <p:txBody>
            <a:bodyPr wrap="square" lIns="0" tIns="0" rIns="0" bIns="0" rtlCol="0"/>
            <a:lstStyle/>
            <a:p>
              <a:endParaRPr/>
            </a:p>
          </p:txBody>
        </p:sp>
      </p:grpSp>
      <p:sp>
        <p:nvSpPr>
          <p:cNvPr id="15" name="object 15"/>
          <p:cNvSpPr txBox="1"/>
          <p:nvPr/>
        </p:nvSpPr>
        <p:spPr>
          <a:xfrm>
            <a:off x="1028496" y="1516126"/>
            <a:ext cx="7609840" cy="4660900"/>
          </a:xfrm>
          <a:prstGeom prst="rect">
            <a:avLst/>
          </a:prstGeom>
        </p:spPr>
        <p:txBody>
          <a:bodyPr vert="horz" wrap="square" lIns="0" tIns="38735" rIns="0" bIns="0" rtlCol="0">
            <a:spAutoFit/>
          </a:bodyPr>
          <a:lstStyle/>
          <a:p>
            <a:pPr marL="12700" marR="847090">
              <a:lnSpc>
                <a:spcPct val="91600"/>
              </a:lnSpc>
              <a:spcBef>
                <a:spcPts val="305"/>
              </a:spcBef>
            </a:pPr>
            <a:r>
              <a:rPr sz="2000" dirty="0">
                <a:latin typeface="Calibri"/>
                <a:cs typeface="Calibri"/>
              </a:rPr>
              <a:t>A</a:t>
            </a:r>
            <a:r>
              <a:rPr sz="2000" u="heavy" spc="-10" dirty="0">
                <a:uFill>
                  <a:solidFill>
                    <a:srgbClr val="000000"/>
                  </a:solidFill>
                </a:uFill>
                <a:latin typeface="Calibri"/>
                <a:cs typeface="Calibri"/>
              </a:rPr>
              <a:t> </a:t>
            </a:r>
            <a:r>
              <a:rPr sz="2000" b="1" u="heavy" spc="-5" dirty="0">
                <a:uFill>
                  <a:solidFill>
                    <a:srgbClr val="000000"/>
                  </a:solidFill>
                </a:uFill>
                <a:latin typeface="Calibri"/>
                <a:cs typeface="Calibri"/>
              </a:rPr>
              <a:t>risk</a:t>
            </a:r>
            <a:r>
              <a:rPr sz="2000" b="1" u="heavy" spc="-10" dirty="0">
                <a:uFill>
                  <a:solidFill>
                    <a:srgbClr val="000000"/>
                  </a:solidFill>
                </a:uFill>
                <a:latin typeface="Calibri"/>
                <a:cs typeface="Calibri"/>
              </a:rPr>
              <a:t> </a:t>
            </a:r>
            <a:r>
              <a:rPr sz="2000" dirty="0">
                <a:latin typeface="Calibri"/>
                <a:cs typeface="Calibri"/>
              </a:rPr>
              <a:t>is</a:t>
            </a:r>
            <a:r>
              <a:rPr sz="2000" spc="-10" dirty="0">
                <a:latin typeface="Calibri"/>
                <a:cs typeface="Calibri"/>
              </a:rPr>
              <a:t> any</a:t>
            </a:r>
            <a:r>
              <a:rPr sz="2000" dirty="0">
                <a:latin typeface="Calibri"/>
                <a:cs typeface="Calibri"/>
              </a:rPr>
              <a:t> </a:t>
            </a:r>
            <a:r>
              <a:rPr sz="2000" spc="-15" dirty="0">
                <a:latin typeface="Calibri"/>
                <a:cs typeface="Calibri"/>
              </a:rPr>
              <a:t>adverse</a:t>
            </a:r>
            <a:r>
              <a:rPr sz="2000" dirty="0">
                <a:latin typeface="Calibri"/>
                <a:cs typeface="Calibri"/>
              </a:rPr>
              <a:t> </a:t>
            </a:r>
            <a:r>
              <a:rPr sz="2000" spc="-5" dirty="0">
                <a:latin typeface="Calibri"/>
                <a:cs typeface="Calibri"/>
              </a:rPr>
              <a:t>situation</a:t>
            </a:r>
            <a:r>
              <a:rPr sz="2000" spc="-10" dirty="0">
                <a:latin typeface="Calibri"/>
                <a:cs typeface="Calibri"/>
              </a:rPr>
              <a:t> </a:t>
            </a:r>
            <a:r>
              <a:rPr sz="2000" spc="-5" dirty="0">
                <a:latin typeface="Calibri"/>
                <a:cs typeface="Calibri"/>
              </a:rPr>
              <a:t>that</a:t>
            </a:r>
            <a:r>
              <a:rPr sz="2000" spc="5" dirty="0">
                <a:latin typeface="Calibri"/>
                <a:cs typeface="Calibri"/>
              </a:rPr>
              <a:t> </a:t>
            </a:r>
            <a:r>
              <a:rPr sz="2000" spc="-5" dirty="0">
                <a:latin typeface="Calibri"/>
                <a:cs typeface="Calibri"/>
              </a:rPr>
              <a:t>might</a:t>
            </a:r>
            <a:r>
              <a:rPr sz="2000" spc="-10" dirty="0">
                <a:latin typeface="Calibri"/>
                <a:cs typeface="Calibri"/>
              </a:rPr>
              <a:t> </a:t>
            </a:r>
            <a:r>
              <a:rPr sz="2000" spc="-15" dirty="0">
                <a:latin typeface="Calibri"/>
                <a:cs typeface="Calibri"/>
              </a:rPr>
              <a:t>affect</a:t>
            </a:r>
            <a:r>
              <a:rPr sz="2000" dirty="0">
                <a:latin typeface="Calibri"/>
                <a:cs typeface="Calibri"/>
              </a:rPr>
              <a:t> the</a:t>
            </a:r>
            <a:r>
              <a:rPr sz="2000" spc="-15" dirty="0">
                <a:latin typeface="Calibri"/>
                <a:cs typeface="Calibri"/>
              </a:rPr>
              <a:t> </a:t>
            </a:r>
            <a:r>
              <a:rPr sz="2000" spc="-5" dirty="0">
                <a:latin typeface="Calibri"/>
                <a:cs typeface="Calibri"/>
              </a:rPr>
              <a:t>successful </a:t>
            </a:r>
            <a:r>
              <a:rPr sz="2000" dirty="0">
                <a:latin typeface="Calibri"/>
                <a:cs typeface="Calibri"/>
              </a:rPr>
              <a:t> </a:t>
            </a:r>
            <a:r>
              <a:rPr sz="2000" spc="-5" dirty="0">
                <a:latin typeface="Calibri"/>
                <a:cs typeface="Calibri"/>
              </a:rPr>
              <a:t>completion</a:t>
            </a:r>
            <a:r>
              <a:rPr sz="2000" spc="-25" dirty="0">
                <a:latin typeface="Calibri"/>
                <a:cs typeface="Calibri"/>
              </a:rPr>
              <a:t> </a:t>
            </a:r>
            <a:r>
              <a:rPr sz="2000" spc="-5" dirty="0">
                <a:latin typeface="Calibri"/>
                <a:cs typeface="Calibri"/>
              </a:rPr>
              <a:t>of</a:t>
            </a:r>
            <a:r>
              <a:rPr sz="2000" dirty="0">
                <a:latin typeface="Calibri"/>
                <a:cs typeface="Calibri"/>
              </a:rPr>
              <a:t> a </a:t>
            </a:r>
            <a:r>
              <a:rPr sz="2000" spc="-10" dirty="0">
                <a:latin typeface="Calibri"/>
                <a:cs typeface="Calibri"/>
              </a:rPr>
              <a:t>software</a:t>
            </a:r>
            <a:r>
              <a:rPr sz="2000" spc="-5" dirty="0">
                <a:latin typeface="Calibri"/>
                <a:cs typeface="Calibri"/>
              </a:rPr>
              <a:t> </a:t>
            </a:r>
            <a:r>
              <a:rPr sz="2000" spc="-10" dirty="0">
                <a:latin typeface="Calibri"/>
                <a:cs typeface="Calibri"/>
              </a:rPr>
              <a:t>project.</a:t>
            </a:r>
            <a:r>
              <a:rPr sz="2000" spc="-5" dirty="0">
                <a:latin typeface="Calibri"/>
                <a:cs typeface="Calibri"/>
              </a:rPr>
              <a:t> The</a:t>
            </a:r>
            <a:r>
              <a:rPr sz="2000" dirty="0">
                <a:latin typeface="Calibri"/>
                <a:cs typeface="Calibri"/>
              </a:rPr>
              <a:t> </a:t>
            </a:r>
            <a:r>
              <a:rPr sz="2000" spc="-10" dirty="0">
                <a:latin typeface="Calibri"/>
                <a:cs typeface="Calibri"/>
              </a:rPr>
              <a:t>most important</a:t>
            </a:r>
            <a:r>
              <a:rPr sz="2000" spc="-5" dirty="0">
                <a:latin typeface="Calibri"/>
                <a:cs typeface="Calibri"/>
              </a:rPr>
              <a:t> </a:t>
            </a:r>
            <a:r>
              <a:rPr sz="2000" spc="-15" dirty="0">
                <a:latin typeface="Calibri"/>
                <a:cs typeface="Calibri"/>
              </a:rPr>
              <a:t>feature</a:t>
            </a:r>
            <a:r>
              <a:rPr sz="2000" spc="-10" dirty="0">
                <a:latin typeface="Calibri"/>
                <a:cs typeface="Calibri"/>
              </a:rPr>
              <a:t> </a:t>
            </a:r>
            <a:r>
              <a:rPr sz="2000" spc="-5" dirty="0">
                <a:latin typeface="Calibri"/>
                <a:cs typeface="Calibri"/>
              </a:rPr>
              <a:t>of </a:t>
            </a:r>
            <a:r>
              <a:rPr sz="2000" dirty="0">
                <a:latin typeface="Calibri"/>
                <a:cs typeface="Calibri"/>
              </a:rPr>
              <a:t> the </a:t>
            </a:r>
            <a:r>
              <a:rPr sz="2000" spc="-10" dirty="0">
                <a:latin typeface="Calibri"/>
                <a:cs typeface="Calibri"/>
              </a:rPr>
              <a:t>spiral </a:t>
            </a:r>
            <a:r>
              <a:rPr sz="2000" dirty="0">
                <a:latin typeface="Calibri"/>
                <a:cs typeface="Calibri"/>
              </a:rPr>
              <a:t>model is </a:t>
            </a:r>
            <a:r>
              <a:rPr sz="2000" spc="-5" dirty="0">
                <a:latin typeface="Calibri"/>
                <a:cs typeface="Calibri"/>
              </a:rPr>
              <a:t>handling </a:t>
            </a:r>
            <a:r>
              <a:rPr sz="2000" dirty="0">
                <a:latin typeface="Calibri"/>
                <a:cs typeface="Calibri"/>
              </a:rPr>
              <a:t>these unknown </a:t>
            </a:r>
            <a:r>
              <a:rPr sz="2000" spc="-10" dirty="0">
                <a:latin typeface="Calibri"/>
                <a:cs typeface="Calibri"/>
              </a:rPr>
              <a:t>risks after </a:t>
            </a:r>
            <a:r>
              <a:rPr sz="2000" dirty="0">
                <a:latin typeface="Calibri"/>
                <a:cs typeface="Calibri"/>
              </a:rPr>
              <a:t>the </a:t>
            </a:r>
            <a:r>
              <a:rPr sz="2000" spc="-10" dirty="0">
                <a:latin typeface="Calibri"/>
                <a:cs typeface="Calibri"/>
              </a:rPr>
              <a:t>project </a:t>
            </a:r>
            <a:r>
              <a:rPr sz="2000" spc="-440" dirty="0">
                <a:latin typeface="Calibri"/>
                <a:cs typeface="Calibri"/>
              </a:rPr>
              <a:t> </a:t>
            </a:r>
            <a:r>
              <a:rPr sz="2000" spc="-5" dirty="0">
                <a:latin typeface="Calibri"/>
                <a:cs typeface="Calibri"/>
              </a:rPr>
              <a:t>has </a:t>
            </a:r>
            <a:r>
              <a:rPr sz="2000" spc="-10" dirty="0">
                <a:latin typeface="Calibri"/>
                <a:cs typeface="Calibri"/>
              </a:rPr>
              <a:t>started. </a:t>
            </a:r>
            <a:r>
              <a:rPr sz="2000" dirty="0">
                <a:latin typeface="Calibri"/>
                <a:cs typeface="Calibri"/>
              </a:rPr>
              <a:t>Such </a:t>
            </a:r>
            <a:r>
              <a:rPr sz="2000" spc="-5" dirty="0">
                <a:latin typeface="Calibri"/>
                <a:cs typeface="Calibri"/>
              </a:rPr>
              <a:t>risk resolutions </a:t>
            </a:r>
            <a:r>
              <a:rPr sz="2000" spc="-10" dirty="0">
                <a:latin typeface="Calibri"/>
                <a:cs typeface="Calibri"/>
              </a:rPr>
              <a:t>are </a:t>
            </a:r>
            <a:r>
              <a:rPr sz="2000" dirty="0">
                <a:latin typeface="Calibri"/>
                <a:cs typeface="Calibri"/>
              </a:rPr>
              <a:t>easier </a:t>
            </a:r>
            <a:r>
              <a:rPr sz="2000" spc="-5" dirty="0">
                <a:latin typeface="Calibri"/>
                <a:cs typeface="Calibri"/>
              </a:rPr>
              <a:t>done by </a:t>
            </a:r>
            <a:r>
              <a:rPr sz="2000" spc="-10" dirty="0">
                <a:latin typeface="Calibri"/>
                <a:cs typeface="Calibri"/>
              </a:rPr>
              <a:t>developing </a:t>
            </a:r>
            <a:r>
              <a:rPr sz="2000" dirty="0">
                <a:latin typeface="Calibri"/>
                <a:cs typeface="Calibri"/>
              </a:rPr>
              <a:t>a </a:t>
            </a:r>
            <a:r>
              <a:rPr sz="2000" spc="-440" dirty="0">
                <a:latin typeface="Calibri"/>
                <a:cs typeface="Calibri"/>
              </a:rPr>
              <a:t> </a:t>
            </a:r>
            <a:r>
              <a:rPr sz="2000" spc="-10" dirty="0">
                <a:latin typeface="Calibri"/>
                <a:cs typeface="Calibri"/>
              </a:rPr>
              <a:t>prototype. </a:t>
            </a:r>
            <a:r>
              <a:rPr sz="2000" spc="-5" dirty="0">
                <a:latin typeface="Calibri"/>
                <a:cs typeface="Calibri"/>
              </a:rPr>
              <a:t>The </a:t>
            </a:r>
            <a:r>
              <a:rPr sz="2000" spc="-10" dirty="0">
                <a:latin typeface="Calibri"/>
                <a:cs typeface="Calibri"/>
              </a:rPr>
              <a:t>spiral </a:t>
            </a:r>
            <a:r>
              <a:rPr sz="2000" spc="-5" dirty="0">
                <a:latin typeface="Calibri"/>
                <a:cs typeface="Calibri"/>
              </a:rPr>
              <a:t>model supports coping </a:t>
            </a:r>
            <a:r>
              <a:rPr sz="2000" dirty="0">
                <a:latin typeface="Calibri"/>
                <a:cs typeface="Calibri"/>
              </a:rPr>
              <a:t>up with </a:t>
            </a:r>
            <a:r>
              <a:rPr sz="2000" spc="-10" dirty="0">
                <a:latin typeface="Calibri"/>
                <a:cs typeface="Calibri"/>
              </a:rPr>
              <a:t>risks </a:t>
            </a:r>
            <a:r>
              <a:rPr sz="2000" spc="-5" dirty="0">
                <a:latin typeface="Calibri"/>
                <a:cs typeface="Calibri"/>
              </a:rPr>
              <a:t>by </a:t>
            </a:r>
            <a:r>
              <a:rPr sz="2000" dirty="0">
                <a:latin typeface="Calibri"/>
                <a:cs typeface="Calibri"/>
              </a:rPr>
              <a:t> </a:t>
            </a:r>
            <a:r>
              <a:rPr sz="2000" spc="-10" dirty="0">
                <a:latin typeface="Calibri"/>
                <a:cs typeface="Calibri"/>
              </a:rPr>
              <a:t>providing</a:t>
            </a:r>
            <a:r>
              <a:rPr sz="2000" spc="-5" dirty="0">
                <a:latin typeface="Calibri"/>
                <a:cs typeface="Calibri"/>
              </a:rPr>
              <a:t> </a:t>
            </a:r>
            <a:r>
              <a:rPr sz="2000" dirty="0">
                <a:latin typeface="Calibri"/>
                <a:cs typeface="Calibri"/>
              </a:rPr>
              <a:t>the</a:t>
            </a:r>
            <a:r>
              <a:rPr sz="2000" spc="-10" dirty="0">
                <a:latin typeface="Calibri"/>
                <a:cs typeface="Calibri"/>
              </a:rPr>
              <a:t> </a:t>
            </a:r>
            <a:r>
              <a:rPr sz="2000" spc="-5" dirty="0">
                <a:latin typeface="Calibri"/>
                <a:cs typeface="Calibri"/>
              </a:rPr>
              <a:t>scope </a:t>
            </a:r>
            <a:r>
              <a:rPr sz="2000" spc="-15" dirty="0">
                <a:latin typeface="Calibri"/>
                <a:cs typeface="Calibri"/>
              </a:rPr>
              <a:t>to</a:t>
            </a:r>
            <a:r>
              <a:rPr sz="2000" spc="-10" dirty="0">
                <a:latin typeface="Calibri"/>
                <a:cs typeface="Calibri"/>
              </a:rPr>
              <a:t> </a:t>
            </a:r>
            <a:r>
              <a:rPr sz="2000" spc="-5" dirty="0">
                <a:latin typeface="Calibri"/>
                <a:cs typeface="Calibri"/>
              </a:rPr>
              <a:t>build</a:t>
            </a:r>
            <a:r>
              <a:rPr sz="2000" dirty="0">
                <a:latin typeface="Calibri"/>
                <a:cs typeface="Calibri"/>
              </a:rPr>
              <a:t> a </a:t>
            </a:r>
            <a:r>
              <a:rPr sz="2000" spc="-10" dirty="0">
                <a:latin typeface="Calibri"/>
                <a:cs typeface="Calibri"/>
              </a:rPr>
              <a:t>prototype</a:t>
            </a:r>
            <a:r>
              <a:rPr sz="2000" spc="-15" dirty="0">
                <a:latin typeface="Calibri"/>
                <a:cs typeface="Calibri"/>
              </a:rPr>
              <a:t> at</a:t>
            </a:r>
            <a:r>
              <a:rPr sz="2000" dirty="0">
                <a:latin typeface="Calibri"/>
                <a:cs typeface="Calibri"/>
              </a:rPr>
              <a:t> </a:t>
            </a:r>
            <a:r>
              <a:rPr sz="2000" spc="-10" dirty="0">
                <a:latin typeface="Calibri"/>
                <a:cs typeface="Calibri"/>
              </a:rPr>
              <a:t>every</a:t>
            </a:r>
            <a:r>
              <a:rPr sz="2000" spc="10" dirty="0">
                <a:latin typeface="Calibri"/>
                <a:cs typeface="Calibri"/>
              </a:rPr>
              <a:t> </a:t>
            </a:r>
            <a:r>
              <a:rPr sz="2000" dirty="0">
                <a:latin typeface="Calibri"/>
                <a:cs typeface="Calibri"/>
              </a:rPr>
              <a:t>phase</a:t>
            </a:r>
            <a:r>
              <a:rPr sz="2000" spc="-30" dirty="0">
                <a:latin typeface="Calibri"/>
                <a:cs typeface="Calibri"/>
              </a:rPr>
              <a:t> </a:t>
            </a:r>
            <a:r>
              <a:rPr sz="2000" spc="-5" dirty="0">
                <a:latin typeface="Calibri"/>
                <a:cs typeface="Calibri"/>
              </a:rPr>
              <a:t>of</a:t>
            </a:r>
            <a:r>
              <a:rPr sz="2000" dirty="0">
                <a:latin typeface="Calibri"/>
                <a:cs typeface="Calibri"/>
              </a:rPr>
              <a:t> the </a:t>
            </a:r>
            <a:r>
              <a:rPr sz="2000" spc="5" dirty="0">
                <a:latin typeface="Calibri"/>
                <a:cs typeface="Calibri"/>
              </a:rPr>
              <a:t> </a:t>
            </a:r>
            <a:r>
              <a:rPr sz="2000" spc="-10" dirty="0">
                <a:latin typeface="Calibri"/>
                <a:cs typeface="Calibri"/>
              </a:rPr>
              <a:t>software</a:t>
            </a:r>
            <a:r>
              <a:rPr sz="2000" spc="-15" dirty="0">
                <a:latin typeface="Calibri"/>
                <a:cs typeface="Calibri"/>
              </a:rPr>
              <a:t> </a:t>
            </a:r>
            <a:r>
              <a:rPr sz="2000" spc="-10" dirty="0">
                <a:latin typeface="Calibri"/>
                <a:cs typeface="Calibri"/>
              </a:rPr>
              <a:t>development.</a:t>
            </a:r>
            <a:endParaRPr sz="2000" dirty="0">
              <a:latin typeface="Calibri"/>
              <a:cs typeface="Calibri"/>
            </a:endParaRPr>
          </a:p>
          <a:p>
            <a:pPr>
              <a:lnSpc>
                <a:spcPct val="100000"/>
              </a:lnSpc>
              <a:spcBef>
                <a:spcPts val="20"/>
              </a:spcBef>
            </a:pPr>
            <a:endParaRPr sz="2700" dirty="0">
              <a:latin typeface="Calibri"/>
              <a:cs typeface="Calibri"/>
            </a:endParaRPr>
          </a:p>
          <a:p>
            <a:pPr marL="1664335" marR="5080">
              <a:lnSpc>
                <a:spcPct val="91600"/>
              </a:lnSpc>
            </a:pPr>
            <a:r>
              <a:rPr sz="2000" spc="-5" dirty="0">
                <a:latin typeface="Calibri"/>
                <a:cs typeface="Calibri"/>
              </a:rPr>
              <a:t>The Prototyping </a:t>
            </a:r>
            <a:r>
              <a:rPr sz="2000" dirty="0">
                <a:latin typeface="Calibri"/>
                <a:cs typeface="Calibri"/>
              </a:rPr>
              <a:t>Model </a:t>
            </a:r>
            <a:r>
              <a:rPr sz="2000" spc="-5" dirty="0">
                <a:latin typeface="Calibri"/>
                <a:cs typeface="Calibri"/>
              </a:rPr>
              <a:t>also supports risk </a:t>
            </a:r>
            <a:r>
              <a:rPr sz="2000" dirty="0">
                <a:latin typeface="Calibri"/>
                <a:cs typeface="Calibri"/>
              </a:rPr>
              <a:t>handling, but </a:t>
            </a:r>
            <a:r>
              <a:rPr sz="2000" spc="5" dirty="0">
                <a:latin typeface="Calibri"/>
                <a:cs typeface="Calibri"/>
              </a:rPr>
              <a:t> </a:t>
            </a:r>
            <a:r>
              <a:rPr sz="2000" dirty="0">
                <a:latin typeface="Calibri"/>
                <a:cs typeface="Calibri"/>
              </a:rPr>
              <a:t>the</a:t>
            </a:r>
            <a:r>
              <a:rPr sz="2000" spc="-10" dirty="0">
                <a:latin typeface="Calibri"/>
                <a:cs typeface="Calibri"/>
              </a:rPr>
              <a:t> risks</a:t>
            </a:r>
            <a:r>
              <a:rPr sz="2000" spc="15" dirty="0">
                <a:latin typeface="Calibri"/>
                <a:cs typeface="Calibri"/>
              </a:rPr>
              <a:t> </a:t>
            </a:r>
            <a:r>
              <a:rPr sz="2000" spc="-10" dirty="0">
                <a:latin typeface="Calibri"/>
                <a:cs typeface="Calibri"/>
              </a:rPr>
              <a:t>must </a:t>
            </a:r>
            <a:r>
              <a:rPr sz="2000" spc="-5" dirty="0">
                <a:latin typeface="Calibri"/>
                <a:cs typeface="Calibri"/>
              </a:rPr>
              <a:t>be identified </a:t>
            </a:r>
            <a:r>
              <a:rPr sz="2000" spc="-10" dirty="0">
                <a:latin typeface="Calibri"/>
                <a:cs typeface="Calibri"/>
              </a:rPr>
              <a:t>completely</a:t>
            </a:r>
            <a:r>
              <a:rPr sz="2000" spc="5" dirty="0">
                <a:latin typeface="Calibri"/>
                <a:cs typeface="Calibri"/>
              </a:rPr>
              <a:t> </a:t>
            </a:r>
            <a:r>
              <a:rPr sz="2000" spc="-15" dirty="0">
                <a:latin typeface="Calibri"/>
                <a:cs typeface="Calibri"/>
              </a:rPr>
              <a:t>before</a:t>
            </a:r>
            <a:r>
              <a:rPr sz="2000" spc="-20" dirty="0">
                <a:latin typeface="Calibri"/>
                <a:cs typeface="Calibri"/>
              </a:rPr>
              <a:t> </a:t>
            </a:r>
            <a:r>
              <a:rPr sz="2000" dirty="0">
                <a:latin typeface="Calibri"/>
                <a:cs typeface="Calibri"/>
              </a:rPr>
              <a:t>the</a:t>
            </a:r>
            <a:r>
              <a:rPr sz="2000" spc="-5" dirty="0">
                <a:latin typeface="Calibri"/>
                <a:cs typeface="Calibri"/>
              </a:rPr>
              <a:t> </a:t>
            </a:r>
            <a:r>
              <a:rPr sz="2000" spc="-10" dirty="0">
                <a:latin typeface="Calibri"/>
                <a:cs typeface="Calibri"/>
              </a:rPr>
              <a:t>start </a:t>
            </a:r>
            <a:r>
              <a:rPr sz="2000" spc="-5" dirty="0">
                <a:latin typeface="Calibri"/>
                <a:cs typeface="Calibri"/>
              </a:rPr>
              <a:t>of </a:t>
            </a:r>
            <a:r>
              <a:rPr sz="2000" spc="-440" dirty="0">
                <a:latin typeface="Calibri"/>
                <a:cs typeface="Calibri"/>
              </a:rPr>
              <a:t> </a:t>
            </a:r>
            <a:r>
              <a:rPr sz="2000" dirty="0">
                <a:latin typeface="Calibri"/>
                <a:cs typeface="Calibri"/>
              </a:rPr>
              <a:t>the </a:t>
            </a:r>
            <a:r>
              <a:rPr sz="2000" spc="-10" dirty="0">
                <a:latin typeface="Calibri"/>
                <a:cs typeface="Calibri"/>
              </a:rPr>
              <a:t>development work </a:t>
            </a:r>
            <a:r>
              <a:rPr sz="2000" dirty="0">
                <a:latin typeface="Calibri"/>
                <a:cs typeface="Calibri"/>
              </a:rPr>
              <a:t>of the </a:t>
            </a:r>
            <a:r>
              <a:rPr sz="2000" spc="-10" dirty="0">
                <a:latin typeface="Calibri"/>
                <a:cs typeface="Calibri"/>
              </a:rPr>
              <a:t>project. </a:t>
            </a:r>
            <a:r>
              <a:rPr sz="2000" dirty="0">
                <a:latin typeface="Calibri"/>
                <a:cs typeface="Calibri"/>
              </a:rPr>
              <a:t>But in </a:t>
            </a:r>
            <a:r>
              <a:rPr sz="2000" spc="-5" dirty="0">
                <a:latin typeface="Calibri"/>
                <a:cs typeface="Calibri"/>
              </a:rPr>
              <a:t>real </a:t>
            </a:r>
            <a:r>
              <a:rPr sz="2000" spc="-15" dirty="0">
                <a:latin typeface="Calibri"/>
                <a:cs typeface="Calibri"/>
              </a:rPr>
              <a:t>life </a:t>
            </a:r>
            <a:r>
              <a:rPr sz="2000" spc="-10" dirty="0">
                <a:latin typeface="Calibri"/>
                <a:cs typeface="Calibri"/>
              </a:rPr>
              <a:t> project</a:t>
            </a:r>
            <a:r>
              <a:rPr sz="2000" spc="-5" dirty="0">
                <a:latin typeface="Calibri"/>
                <a:cs typeface="Calibri"/>
              </a:rPr>
              <a:t> risk</a:t>
            </a:r>
            <a:r>
              <a:rPr sz="2000" spc="5" dirty="0">
                <a:latin typeface="Calibri"/>
                <a:cs typeface="Calibri"/>
              </a:rPr>
              <a:t> </a:t>
            </a:r>
            <a:r>
              <a:rPr sz="2000" spc="-15" dirty="0">
                <a:latin typeface="Calibri"/>
                <a:cs typeface="Calibri"/>
              </a:rPr>
              <a:t>may</a:t>
            </a:r>
            <a:r>
              <a:rPr sz="2000" dirty="0">
                <a:latin typeface="Calibri"/>
                <a:cs typeface="Calibri"/>
              </a:rPr>
              <a:t> </a:t>
            </a:r>
            <a:r>
              <a:rPr sz="2000" spc="-5" dirty="0">
                <a:latin typeface="Calibri"/>
                <a:cs typeface="Calibri"/>
              </a:rPr>
              <a:t>occur</a:t>
            </a:r>
            <a:r>
              <a:rPr sz="2000" spc="-20" dirty="0">
                <a:latin typeface="Calibri"/>
                <a:cs typeface="Calibri"/>
              </a:rPr>
              <a:t> </a:t>
            </a:r>
            <a:r>
              <a:rPr sz="2000" spc="-10" dirty="0">
                <a:latin typeface="Calibri"/>
                <a:cs typeface="Calibri"/>
              </a:rPr>
              <a:t>after </a:t>
            </a:r>
            <a:r>
              <a:rPr sz="2000" dirty="0">
                <a:latin typeface="Calibri"/>
                <a:cs typeface="Calibri"/>
              </a:rPr>
              <a:t>the</a:t>
            </a:r>
            <a:r>
              <a:rPr sz="2000" spc="-10" dirty="0">
                <a:latin typeface="Calibri"/>
                <a:cs typeface="Calibri"/>
              </a:rPr>
              <a:t> development</a:t>
            </a:r>
            <a:r>
              <a:rPr sz="2000" spc="5" dirty="0">
                <a:latin typeface="Calibri"/>
                <a:cs typeface="Calibri"/>
              </a:rPr>
              <a:t> </a:t>
            </a:r>
            <a:r>
              <a:rPr sz="2000" spc="-10" dirty="0">
                <a:latin typeface="Calibri"/>
                <a:cs typeface="Calibri"/>
              </a:rPr>
              <a:t>work</a:t>
            </a:r>
            <a:r>
              <a:rPr sz="2000" spc="-5" dirty="0">
                <a:latin typeface="Calibri"/>
                <a:cs typeface="Calibri"/>
              </a:rPr>
              <a:t> </a:t>
            </a:r>
            <a:r>
              <a:rPr sz="2000" spc="-10" dirty="0">
                <a:latin typeface="Calibri"/>
                <a:cs typeface="Calibri"/>
              </a:rPr>
              <a:t>starts, </a:t>
            </a:r>
            <a:r>
              <a:rPr sz="2000" spc="-434" dirty="0">
                <a:latin typeface="Calibri"/>
                <a:cs typeface="Calibri"/>
              </a:rPr>
              <a:t> </a:t>
            </a:r>
            <a:r>
              <a:rPr sz="2000" dirty="0">
                <a:latin typeface="Calibri"/>
                <a:cs typeface="Calibri"/>
              </a:rPr>
              <a:t>in </a:t>
            </a:r>
            <a:r>
              <a:rPr sz="2000" spc="-5" dirty="0">
                <a:latin typeface="Calibri"/>
                <a:cs typeface="Calibri"/>
              </a:rPr>
              <a:t>that case, </a:t>
            </a:r>
            <a:r>
              <a:rPr sz="2000" spc="-10" dirty="0">
                <a:latin typeface="Calibri"/>
                <a:cs typeface="Calibri"/>
              </a:rPr>
              <a:t>we </a:t>
            </a:r>
            <a:r>
              <a:rPr sz="2000" dirty="0">
                <a:latin typeface="Calibri"/>
                <a:cs typeface="Calibri"/>
              </a:rPr>
              <a:t>cannot </a:t>
            </a:r>
            <a:r>
              <a:rPr sz="2000" spc="-5" dirty="0">
                <a:latin typeface="Calibri"/>
                <a:cs typeface="Calibri"/>
              </a:rPr>
              <a:t>use </a:t>
            </a:r>
            <a:r>
              <a:rPr sz="2000" dirty="0">
                <a:latin typeface="Calibri"/>
                <a:cs typeface="Calibri"/>
              </a:rPr>
              <a:t>the </a:t>
            </a:r>
            <a:r>
              <a:rPr sz="2000" spc="-10" dirty="0">
                <a:latin typeface="Calibri"/>
                <a:cs typeface="Calibri"/>
              </a:rPr>
              <a:t>Prototyping </a:t>
            </a:r>
            <a:r>
              <a:rPr sz="2000" dirty="0">
                <a:latin typeface="Calibri"/>
                <a:cs typeface="Calibri"/>
              </a:rPr>
              <a:t>Model. In </a:t>
            </a:r>
            <a:r>
              <a:rPr sz="2000" spc="5" dirty="0">
                <a:latin typeface="Calibri"/>
                <a:cs typeface="Calibri"/>
              </a:rPr>
              <a:t> </a:t>
            </a:r>
            <a:r>
              <a:rPr sz="2000" dirty="0">
                <a:latin typeface="Calibri"/>
                <a:cs typeface="Calibri"/>
              </a:rPr>
              <a:t>each phase </a:t>
            </a:r>
            <a:r>
              <a:rPr sz="2000" spc="-5" dirty="0">
                <a:latin typeface="Calibri"/>
                <a:cs typeface="Calibri"/>
              </a:rPr>
              <a:t>of </a:t>
            </a:r>
            <a:r>
              <a:rPr sz="2000" dirty="0">
                <a:latin typeface="Calibri"/>
                <a:cs typeface="Calibri"/>
              </a:rPr>
              <a:t>the </a:t>
            </a:r>
            <a:r>
              <a:rPr sz="2000" spc="-10" dirty="0">
                <a:latin typeface="Calibri"/>
                <a:cs typeface="Calibri"/>
              </a:rPr>
              <a:t>Spiral </a:t>
            </a:r>
            <a:r>
              <a:rPr sz="2000" dirty="0">
                <a:latin typeface="Calibri"/>
                <a:cs typeface="Calibri"/>
              </a:rPr>
              <a:t>Model, the </a:t>
            </a:r>
            <a:r>
              <a:rPr sz="2000" spc="-10" dirty="0">
                <a:latin typeface="Calibri"/>
                <a:cs typeface="Calibri"/>
              </a:rPr>
              <a:t>risks are </a:t>
            </a:r>
            <a:r>
              <a:rPr sz="2000" spc="-5" dirty="0">
                <a:latin typeface="Calibri"/>
                <a:cs typeface="Calibri"/>
              </a:rPr>
              <a:t>identified </a:t>
            </a:r>
            <a:r>
              <a:rPr sz="2000" dirty="0">
                <a:latin typeface="Calibri"/>
                <a:cs typeface="Calibri"/>
              </a:rPr>
              <a:t> and </a:t>
            </a:r>
            <a:r>
              <a:rPr sz="2000" spc="-10" dirty="0">
                <a:latin typeface="Calibri"/>
                <a:cs typeface="Calibri"/>
              </a:rPr>
              <a:t>are resolved </a:t>
            </a:r>
            <a:r>
              <a:rPr sz="2000" spc="-5" dirty="0">
                <a:latin typeface="Calibri"/>
                <a:cs typeface="Calibri"/>
              </a:rPr>
              <a:t>through </a:t>
            </a:r>
            <a:r>
              <a:rPr sz="2000" spc="-10" dirty="0">
                <a:latin typeface="Calibri"/>
                <a:cs typeface="Calibri"/>
              </a:rPr>
              <a:t>prototyping. </a:t>
            </a:r>
            <a:r>
              <a:rPr sz="2000" spc="-5" dirty="0">
                <a:latin typeface="Calibri"/>
                <a:cs typeface="Calibri"/>
              </a:rPr>
              <a:t>Thus, </a:t>
            </a:r>
            <a:r>
              <a:rPr sz="2000" dirty="0">
                <a:latin typeface="Calibri"/>
                <a:cs typeface="Calibri"/>
              </a:rPr>
              <a:t>this model is </a:t>
            </a:r>
            <a:r>
              <a:rPr sz="2000" spc="-440" dirty="0">
                <a:latin typeface="Calibri"/>
                <a:cs typeface="Calibri"/>
              </a:rPr>
              <a:t> </a:t>
            </a:r>
            <a:r>
              <a:rPr sz="2000" spc="-5" dirty="0">
                <a:latin typeface="Calibri"/>
                <a:cs typeface="Calibri"/>
              </a:rPr>
              <a:t>much</a:t>
            </a:r>
            <a:r>
              <a:rPr sz="2000" spc="-25" dirty="0">
                <a:latin typeface="Calibri"/>
                <a:cs typeface="Calibri"/>
              </a:rPr>
              <a:t> </a:t>
            </a:r>
            <a:r>
              <a:rPr sz="2000" spc="-10" dirty="0">
                <a:latin typeface="Calibri"/>
                <a:cs typeface="Calibri"/>
              </a:rPr>
              <a:t>more</a:t>
            </a:r>
            <a:r>
              <a:rPr sz="2000" dirty="0">
                <a:latin typeface="Calibri"/>
                <a:cs typeface="Calibri"/>
              </a:rPr>
              <a:t> </a:t>
            </a:r>
            <a:r>
              <a:rPr sz="2000" spc="-10" dirty="0">
                <a:latin typeface="Calibri"/>
                <a:cs typeface="Calibri"/>
              </a:rPr>
              <a:t>flexible </a:t>
            </a:r>
            <a:r>
              <a:rPr sz="2000" spc="-5" dirty="0">
                <a:latin typeface="Calibri"/>
                <a:cs typeface="Calibri"/>
              </a:rPr>
              <a:t>compared</a:t>
            </a:r>
            <a:r>
              <a:rPr sz="2000" spc="-20" dirty="0">
                <a:latin typeface="Calibri"/>
                <a:cs typeface="Calibri"/>
              </a:rPr>
              <a:t> </a:t>
            </a:r>
            <a:r>
              <a:rPr sz="2000" spc="-10" dirty="0">
                <a:latin typeface="Calibri"/>
                <a:cs typeface="Calibri"/>
              </a:rPr>
              <a:t>to </a:t>
            </a:r>
            <a:r>
              <a:rPr sz="2000" spc="-5" dirty="0">
                <a:latin typeface="Calibri"/>
                <a:cs typeface="Calibri"/>
              </a:rPr>
              <a:t>other</a:t>
            </a:r>
            <a:r>
              <a:rPr sz="2000" spc="-15" dirty="0">
                <a:latin typeface="Calibri"/>
                <a:cs typeface="Calibri"/>
              </a:rPr>
              <a:t> </a:t>
            </a:r>
            <a:r>
              <a:rPr sz="2000" spc="-10" dirty="0">
                <a:latin typeface="Calibri"/>
                <a:cs typeface="Calibri"/>
              </a:rPr>
              <a:t>SDLC </a:t>
            </a:r>
            <a:r>
              <a:rPr sz="2000" spc="-5" dirty="0">
                <a:latin typeface="Calibri"/>
                <a:cs typeface="Calibri"/>
              </a:rPr>
              <a:t>models.</a:t>
            </a:r>
            <a:endParaRPr sz="2000" dirty="0">
              <a:latin typeface="Calibri"/>
              <a:cs typeface="Calibri"/>
            </a:endParaRPr>
          </a:p>
        </p:txBody>
      </p:sp>
      <p:grpSp>
        <p:nvGrpSpPr>
          <p:cNvPr id="16" name="object 16"/>
          <p:cNvGrpSpPr/>
          <p:nvPr/>
        </p:nvGrpSpPr>
        <p:grpSpPr>
          <a:xfrm>
            <a:off x="8832850" y="3131566"/>
            <a:ext cx="1349375" cy="1351280"/>
            <a:chOff x="8832850" y="3131566"/>
            <a:chExt cx="1349375" cy="1351280"/>
          </a:xfrm>
        </p:grpSpPr>
        <p:sp>
          <p:nvSpPr>
            <p:cNvPr id="17" name="object 17"/>
            <p:cNvSpPr/>
            <p:nvPr/>
          </p:nvSpPr>
          <p:spPr>
            <a:xfrm>
              <a:off x="8839200" y="3137916"/>
              <a:ext cx="1336675" cy="1338580"/>
            </a:xfrm>
            <a:custGeom>
              <a:avLst/>
              <a:gdLst/>
              <a:ahLst/>
              <a:cxnLst/>
              <a:rect l="l" t="t" r="r" b="b"/>
              <a:pathLst>
                <a:path w="1336675" h="1338579">
                  <a:moveTo>
                    <a:pt x="1035811" y="0"/>
                  </a:moveTo>
                  <a:lnTo>
                    <a:pt x="300735" y="0"/>
                  </a:lnTo>
                  <a:lnTo>
                    <a:pt x="300735" y="736600"/>
                  </a:lnTo>
                  <a:lnTo>
                    <a:pt x="0" y="736600"/>
                  </a:lnTo>
                  <a:lnTo>
                    <a:pt x="668274" y="1338072"/>
                  </a:lnTo>
                  <a:lnTo>
                    <a:pt x="1336548" y="736600"/>
                  </a:lnTo>
                  <a:lnTo>
                    <a:pt x="1035811" y="736600"/>
                  </a:lnTo>
                  <a:lnTo>
                    <a:pt x="1035811" y="0"/>
                  </a:lnTo>
                  <a:close/>
                </a:path>
              </a:pathLst>
            </a:custGeom>
            <a:solidFill>
              <a:srgbClr val="E0E0E0">
                <a:alpha val="90194"/>
              </a:srgbClr>
            </a:solidFill>
          </p:spPr>
          <p:txBody>
            <a:bodyPr wrap="square" lIns="0" tIns="0" rIns="0" bIns="0" rtlCol="0"/>
            <a:lstStyle/>
            <a:p>
              <a:endParaRPr/>
            </a:p>
          </p:txBody>
        </p:sp>
        <p:sp>
          <p:nvSpPr>
            <p:cNvPr id="18" name="object 18"/>
            <p:cNvSpPr/>
            <p:nvPr/>
          </p:nvSpPr>
          <p:spPr>
            <a:xfrm>
              <a:off x="8839200" y="3137916"/>
              <a:ext cx="1336675" cy="1338580"/>
            </a:xfrm>
            <a:custGeom>
              <a:avLst/>
              <a:gdLst/>
              <a:ahLst/>
              <a:cxnLst/>
              <a:rect l="l" t="t" r="r" b="b"/>
              <a:pathLst>
                <a:path w="1336675" h="1338579">
                  <a:moveTo>
                    <a:pt x="0" y="736600"/>
                  </a:moveTo>
                  <a:lnTo>
                    <a:pt x="300735" y="736600"/>
                  </a:lnTo>
                  <a:lnTo>
                    <a:pt x="300735" y="0"/>
                  </a:lnTo>
                  <a:lnTo>
                    <a:pt x="1035811" y="0"/>
                  </a:lnTo>
                  <a:lnTo>
                    <a:pt x="1035811" y="736600"/>
                  </a:lnTo>
                  <a:lnTo>
                    <a:pt x="1336548" y="736600"/>
                  </a:lnTo>
                  <a:lnTo>
                    <a:pt x="668274" y="1338072"/>
                  </a:lnTo>
                  <a:lnTo>
                    <a:pt x="0" y="736600"/>
                  </a:lnTo>
                  <a:close/>
                </a:path>
              </a:pathLst>
            </a:custGeom>
            <a:ln w="12700">
              <a:solidFill>
                <a:srgbClr val="E0E0E0"/>
              </a:solidFill>
            </a:ln>
          </p:spPr>
          <p:txBody>
            <a:bodyPr wrap="square" lIns="0" tIns="0" rIns="0" bIns="0" rtlCol="0"/>
            <a:lstStyle/>
            <a:p>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
        <p:nvSpPr>
          <p:cNvPr id="2" name="object 2"/>
          <p:cNvSpPr txBox="1">
            <a:spLocks noGrp="1"/>
          </p:cNvSpPr>
          <p:nvPr>
            <p:ph type="title"/>
          </p:nvPr>
        </p:nvSpPr>
        <p:spPr>
          <a:xfrm>
            <a:off x="1043432" y="470103"/>
            <a:ext cx="7914005" cy="635000"/>
          </a:xfrm>
          <a:prstGeom prst="rect">
            <a:avLst/>
          </a:prstGeom>
        </p:spPr>
        <p:txBody>
          <a:bodyPr vert="horz" wrap="square" lIns="0" tIns="12065" rIns="0" bIns="0" rtlCol="0">
            <a:spAutoFit/>
          </a:bodyPr>
          <a:lstStyle/>
          <a:p>
            <a:pPr marL="12700">
              <a:lnSpc>
                <a:spcPct val="100000"/>
              </a:lnSpc>
              <a:spcBef>
                <a:spcPts val="95"/>
              </a:spcBef>
            </a:pPr>
            <a:r>
              <a:rPr sz="4000" spc="-25" dirty="0"/>
              <a:t>Kinds</a:t>
            </a:r>
            <a:r>
              <a:rPr sz="4000" spc="-70" dirty="0"/>
              <a:t> </a:t>
            </a:r>
            <a:r>
              <a:rPr sz="4000" spc="-15" dirty="0"/>
              <a:t>of</a:t>
            </a:r>
            <a:r>
              <a:rPr sz="4000" spc="-45" dirty="0"/>
              <a:t> </a:t>
            </a:r>
            <a:r>
              <a:rPr sz="4000" spc="-25" dirty="0"/>
              <a:t>Risks</a:t>
            </a:r>
            <a:r>
              <a:rPr sz="4000" spc="-70" dirty="0"/>
              <a:t> </a:t>
            </a:r>
            <a:r>
              <a:rPr sz="4000" spc="-5" dirty="0"/>
              <a:t>in</a:t>
            </a:r>
            <a:r>
              <a:rPr sz="4000" spc="-75" dirty="0"/>
              <a:t> </a:t>
            </a:r>
            <a:r>
              <a:rPr sz="4000" spc="-40" dirty="0"/>
              <a:t>Software</a:t>
            </a:r>
            <a:r>
              <a:rPr sz="4000" spc="-90" dirty="0"/>
              <a:t> </a:t>
            </a:r>
            <a:r>
              <a:rPr sz="4000" spc="-45" dirty="0"/>
              <a:t>Development</a:t>
            </a:r>
            <a:endParaRPr sz="4000"/>
          </a:p>
        </p:txBody>
      </p:sp>
      <p:sp>
        <p:nvSpPr>
          <p:cNvPr id="3" name="object 3"/>
          <p:cNvSpPr txBox="1"/>
          <p:nvPr/>
        </p:nvSpPr>
        <p:spPr>
          <a:xfrm>
            <a:off x="916939" y="1335151"/>
            <a:ext cx="10302240" cy="5044440"/>
          </a:xfrm>
          <a:prstGeom prst="rect">
            <a:avLst/>
          </a:prstGeom>
        </p:spPr>
        <p:txBody>
          <a:bodyPr vert="horz" wrap="square" lIns="0" tIns="13335" rIns="0" bIns="0" rtlCol="0">
            <a:spAutoFit/>
          </a:bodyPr>
          <a:lstStyle/>
          <a:p>
            <a:pPr marL="241300" indent="-228600">
              <a:lnSpc>
                <a:spcPts val="2650"/>
              </a:lnSpc>
              <a:spcBef>
                <a:spcPts val="105"/>
              </a:spcBef>
              <a:buFont typeface="Arial MT"/>
              <a:buChar char="•"/>
              <a:tabLst>
                <a:tab pos="241300" algn="l"/>
              </a:tabLst>
            </a:pPr>
            <a:r>
              <a:rPr sz="2600" b="1" dirty="0">
                <a:latin typeface="Calibri"/>
                <a:cs typeface="Calibri"/>
              </a:rPr>
              <a:t>Schedule</a:t>
            </a:r>
            <a:r>
              <a:rPr sz="2600" b="1" spc="25" dirty="0">
                <a:latin typeface="Calibri"/>
                <a:cs typeface="Calibri"/>
              </a:rPr>
              <a:t> </a:t>
            </a:r>
            <a:r>
              <a:rPr sz="2600" b="1" dirty="0">
                <a:latin typeface="Calibri"/>
                <a:cs typeface="Calibri"/>
              </a:rPr>
              <a:t>Risk</a:t>
            </a:r>
            <a:r>
              <a:rPr sz="2600" b="1" spc="5" dirty="0">
                <a:latin typeface="Calibri"/>
                <a:cs typeface="Calibri"/>
              </a:rPr>
              <a:t> </a:t>
            </a:r>
            <a:r>
              <a:rPr sz="2600" b="1" spc="-10" dirty="0">
                <a:latin typeface="Calibri"/>
                <a:cs typeface="Calibri"/>
              </a:rPr>
              <a:t>:</a:t>
            </a:r>
            <a:r>
              <a:rPr sz="2600" spc="-10" dirty="0">
                <a:latin typeface="Calibri"/>
                <a:cs typeface="Calibri"/>
              </a:rPr>
              <a:t>Time</a:t>
            </a:r>
            <a:r>
              <a:rPr sz="2600" spc="-30" dirty="0">
                <a:latin typeface="Calibri"/>
                <a:cs typeface="Calibri"/>
              </a:rPr>
              <a:t> </a:t>
            </a:r>
            <a:r>
              <a:rPr sz="2600" dirty="0">
                <a:latin typeface="Calibri"/>
                <a:cs typeface="Calibri"/>
              </a:rPr>
              <a:t>is</a:t>
            </a:r>
            <a:r>
              <a:rPr sz="2600" spc="-5" dirty="0">
                <a:latin typeface="Calibri"/>
                <a:cs typeface="Calibri"/>
              </a:rPr>
              <a:t> not</a:t>
            </a:r>
            <a:r>
              <a:rPr sz="2600" dirty="0">
                <a:latin typeface="Calibri"/>
                <a:cs typeface="Calibri"/>
              </a:rPr>
              <a:t> </a:t>
            </a:r>
            <a:r>
              <a:rPr sz="2600" spc="-10" dirty="0">
                <a:latin typeface="Calibri"/>
                <a:cs typeface="Calibri"/>
              </a:rPr>
              <a:t>estimated</a:t>
            </a:r>
            <a:r>
              <a:rPr sz="2600" spc="-30" dirty="0">
                <a:latin typeface="Calibri"/>
                <a:cs typeface="Calibri"/>
              </a:rPr>
              <a:t> perfectly,</a:t>
            </a:r>
            <a:r>
              <a:rPr sz="2600" spc="-35" dirty="0">
                <a:latin typeface="Calibri"/>
                <a:cs typeface="Calibri"/>
              </a:rPr>
              <a:t> </a:t>
            </a:r>
            <a:r>
              <a:rPr sz="2600" spc="-5" dirty="0">
                <a:latin typeface="Calibri"/>
                <a:cs typeface="Calibri"/>
              </a:rPr>
              <a:t>Improper</a:t>
            </a:r>
            <a:r>
              <a:rPr sz="2600" spc="-25" dirty="0">
                <a:latin typeface="Calibri"/>
                <a:cs typeface="Calibri"/>
              </a:rPr>
              <a:t> </a:t>
            </a:r>
            <a:r>
              <a:rPr sz="2600" spc="-10" dirty="0">
                <a:latin typeface="Calibri"/>
                <a:cs typeface="Calibri"/>
              </a:rPr>
              <a:t>resource</a:t>
            </a:r>
            <a:endParaRPr sz="2600" dirty="0">
              <a:latin typeface="Calibri"/>
              <a:cs typeface="Calibri"/>
            </a:endParaRPr>
          </a:p>
          <a:p>
            <a:pPr marL="241300">
              <a:lnSpc>
                <a:spcPts val="2650"/>
              </a:lnSpc>
            </a:pPr>
            <a:r>
              <a:rPr sz="2600" spc="-5" dirty="0">
                <a:latin typeface="Calibri"/>
                <a:cs typeface="Calibri"/>
              </a:rPr>
              <a:t>allocation,</a:t>
            </a:r>
            <a:r>
              <a:rPr sz="2600" spc="10" dirty="0">
                <a:latin typeface="Calibri"/>
                <a:cs typeface="Calibri"/>
              </a:rPr>
              <a:t> </a:t>
            </a:r>
            <a:r>
              <a:rPr sz="2600" spc="-15" dirty="0">
                <a:latin typeface="Calibri"/>
                <a:cs typeface="Calibri"/>
              </a:rPr>
              <a:t>Failure</a:t>
            </a:r>
            <a:r>
              <a:rPr sz="2600" spc="-5" dirty="0">
                <a:latin typeface="Calibri"/>
                <a:cs typeface="Calibri"/>
              </a:rPr>
              <a:t> </a:t>
            </a:r>
            <a:r>
              <a:rPr sz="2600" dirty="0">
                <a:latin typeface="Calibri"/>
                <a:cs typeface="Calibri"/>
              </a:rPr>
              <a:t>in</a:t>
            </a:r>
            <a:r>
              <a:rPr sz="2600" spc="5" dirty="0">
                <a:latin typeface="Calibri"/>
                <a:cs typeface="Calibri"/>
              </a:rPr>
              <a:t> </a:t>
            </a:r>
            <a:r>
              <a:rPr sz="2600" dirty="0">
                <a:latin typeface="Calibri"/>
                <a:cs typeface="Calibri"/>
              </a:rPr>
              <a:t>function</a:t>
            </a:r>
            <a:r>
              <a:rPr sz="2600" spc="-15" dirty="0">
                <a:latin typeface="Calibri"/>
                <a:cs typeface="Calibri"/>
              </a:rPr>
              <a:t> </a:t>
            </a:r>
            <a:r>
              <a:rPr sz="2600" spc="-5" dirty="0">
                <a:latin typeface="Calibri"/>
                <a:cs typeface="Calibri"/>
              </a:rPr>
              <a:t>identification</a:t>
            </a:r>
            <a:r>
              <a:rPr sz="2600" spc="-15" dirty="0">
                <a:latin typeface="Calibri"/>
                <a:cs typeface="Calibri"/>
              </a:rPr>
              <a:t> </a:t>
            </a:r>
            <a:r>
              <a:rPr sz="2600" dirty="0">
                <a:latin typeface="Calibri"/>
                <a:cs typeface="Calibri"/>
              </a:rPr>
              <a:t>and</a:t>
            </a:r>
            <a:r>
              <a:rPr sz="2600" spc="5" dirty="0">
                <a:latin typeface="Calibri"/>
                <a:cs typeface="Calibri"/>
              </a:rPr>
              <a:t> </a:t>
            </a:r>
            <a:r>
              <a:rPr sz="2600" dirty="0">
                <a:latin typeface="Calibri"/>
                <a:cs typeface="Calibri"/>
              </a:rPr>
              <a:t>its’</a:t>
            </a:r>
            <a:r>
              <a:rPr sz="2600" spc="5" dirty="0">
                <a:latin typeface="Calibri"/>
                <a:cs typeface="Calibri"/>
              </a:rPr>
              <a:t> </a:t>
            </a:r>
            <a:r>
              <a:rPr sz="2600" spc="-5" dirty="0">
                <a:latin typeface="Calibri"/>
                <a:cs typeface="Calibri"/>
              </a:rPr>
              <a:t>completion</a:t>
            </a:r>
            <a:endParaRPr sz="2600" dirty="0">
              <a:latin typeface="Calibri"/>
              <a:cs typeface="Calibri"/>
            </a:endParaRPr>
          </a:p>
          <a:p>
            <a:pPr>
              <a:lnSpc>
                <a:spcPct val="100000"/>
              </a:lnSpc>
              <a:spcBef>
                <a:spcPts val="5"/>
              </a:spcBef>
            </a:pPr>
            <a:endParaRPr sz="2650" dirty="0">
              <a:latin typeface="Calibri"/>
              <a:cs typeface="Calibri"/>
            </a:endParaRPr>
          </a:p>
          <a:p>
            <a:pPr marL="241300" indent="-228600">
              <a:lnSpc>
                <a:spcPct val="100000"/>
              </a:lnSpc>
              <a:buFont typeface="Arial MT"/>
              <a:buChar char="•"/>
              <a:tabLst>
                <a:tab pos="241300" algn="l"/>
              </a:tabLst>
            </a:pPr>
            <a:r>
              <a:rPr sz="2600" b="1" spc="-5" dirty="0">
                <a:latin typeface="Calibri"/>
                <a:cs typeface="Calibri"/>
              </a:rPr>
              <a:t>Budget</a:t>
            </a:r>
            <a:r>
              <a:rPr sz="2600" b="1" spc="5" dirty="0">
                <a:latin typeface="Calibri"/>
                <a:cs typeface="Calibri"/>
              </a:rPr>
              <a:t> </a:t>
            </a:r>
            <a:r>
              <a:rPr sz="2600" b="1" dirty="0">
                <a:latin typeface="Calibri"/>
                <a:cs typeface="Calibri"/>
              </a:rPr>
              <a:t>Risk:</a:t>
            </a:r>
            <a:r>
              <a:rPr sz="2600" b="1" spc="-25" dirty="0">
                <a:latin typeface="Calibri"/>
                <a:cs typeface="Calibri"/>
              </a:rPr>
              <a:t> </a:t>
            </a:r>
            <a:r>
              <a:rPr sz="2600" spc="-25" dirty="0">
                <a:latin typeface="Calibri"/>
                <a:cs typeface="Calibri"/>
              </a:rPr>
              <a:t>Wrong </a:t>
            </a:r>
            <a:r>
              <a:rPr sz="2600" spc="-10" dirty="0">
                <a:latin typeface="Calibri"/>
                <a:cs typeface="Calibri"/>
              </a:rPr>
              <a:t>budget</a:t>
            </a:r>
            <a:r>
              <a:rPr sz="2600" spc="-20" dirty="0">
                <a:latin typeface="Calibri"/>
                <a:cs typeface="Calibri"/>
              </a:rPr>
              <a:t> </a:t>
            </a:r>
            <a:r>
              <a:rPr sz="2600" spc="-5" dirty="0">
                <a:latin typeface="Calibri"/>
                <a:cs typeface="Calibri"/>
              </a:rPr>
              <a:t>estimation,</a:t>
            </a:r>
            <a:r>
              <a:rPr sz="2600" spc="-35" dirty="0">
                <a:latin typeface="Calibri"/>
                <a:cs typeface="Calibri"/>
              </a:rPr>
              <a:t> </a:t>
            </a:r>
            <a:r>
              <a:rPr sz="2600" spc="-10" dirty="0">
                <a:latin typeface="Calibri"/>
                <a:cs typeface="Calibri"/>
              </a:rPr>
              <a:t>Cost </a:t>
            </a:r>
            <a:r>
              <a:rPr sz="2600" spc="-5" dirty="0">
                <a:latin typeface="Calibri"/>
                <a:cs typeface="Calibri"/>
              </a:rPr>
              <a:t>overruns</a:t>
            </a:r>
            <a:endParaRPr sz="2600" dirty="0">
              <a:latin typeface="Calibri"/>
              <a:cs typeface="Calibri"/>
            </a:endParaRPr>
          </a:p>
          <a:p>
            <a:pPr>
              <a:lnSpc>
                <a:spcPct val="100000"/>
              </a:lnSpc>
              <a:spcBef>
                <a:spcPts val="40"/>
              </a:spcBef>
              <a:buFont typeface="Arial MT"/>
              <a:buChar char="•"/>
            </a:pPr>
            <a:endParaRPr sz="3400" dirty="0">
              <a:latin typeface="Calibri"/>
              <a:cs typeface="Calibri"/>
            </a:endParaRPr>
          </a:p>
          <a:p>
            <a:pPr marL="241300" marR="5080" indent="-228600">
              <a:lnSpc>
                <a:spcPct val="70000"/>
              </a:lnSpc>
              <a:buFont typeface="Arial MT"/>
              <a:buChar char="•"/>
              <a:tabLst>
                <a:tab pos="241300" algn="l"/>
              </a:tabLst>
            </a:pPr>
            <a:r>
              <a:rPr sz="2600" b="1" spc="-10" dirty="0">
                <a:latin typeface="Calibri"/>
                <a:cs typeface="Calibri"/>
              </a:rPr>
              <a:t>Operational</a:t>
            </a:r>
            <a:r>
              <a:rPr sz="2600" b="1" spc="20" dirty="0">
                <a:latin typeface="Calibri"/>
                <a:cs typeface="Calibri"/>
              </a:rPr>
              <a:t> </a:t>
            </a:r>
            <a:r>
              <a:rPr sz="2600" b="1" spc="-5" dirty="0">
                <a:latin typeface="Calibri"/>
                <a:cs typeface="Calibri"/>
              </a:rPr>
              <a:t>Risks:</a:t>
            </a:r>
            <a:r>
              <a:rPr sz="2600" b="1" spc="-35" dirty="0">
                <a:latin typeface="Calibri"/>
                <a:cs typeface="Calibri"/>
              </a:rPr>
              <a:t> </a:t>
            </a:r>
            <a:r>
              <a:rPr sz="2600" spc="-15" dirty="0">
                <a:latin typeface="Calibri"/>
                <a:cs typeface="Calibri"/>
              </a:rPr>
              <a:t>Failure</a:t>
            </a:r>
            <a:r>
              <a:rPr sz="2600" spc="-5" dirty="0">
                <a:latin typeface="Calibri"/>
                <a:cs typeface="Calibri"/>
              </a:rPr>
              <a:t> </a:t>
            </a:r>
            <a:r>
              <a:rPr sz="2600" spc="-15" dirty="0">
                <a:latin typeface="Calibri"/>
                <a:cs typeface="Calibri"/>
              </a:rPr>
              <a:t>to</a:t>
            </a:r>
            <a:r>
              <a:rPr sz="2600" dirty="0">
                <a:latin typeface="Calibri"/>
                <a:cs typeface="Calibri"/>
              </a:rPr>
              <a:t> </a:t>
            </a:r>
            <a:r>
              <a:rPr sz="2600" spc="-5" dirty="0">
                <a:latin typeface="Calibri"/>
                <a:cs typeface="Calibri"/>
              </a:rPr>
              <a:t>address</a:t>
            </a:r>
            <a:r>
              <a:rPr sz="2600" spc="-30" dirty="0">
                <a:latin typeface="Calibri"/>
                <a:cs typeface="Calibri"/>
              </a:rPr>
              <a:t> </a:t>
            </a:r>
            <a:r>
              <a:rPr sz="2600" spc="-5" dirty="0">
                <a:latin typeface="Calibri"/>
                <a:cs typeface="Calibri"/>
              </a:rPr>
              <a:t>priority</a:t>
            </a:r>
            <a:r>
              <a:rPr sz="2600" spc="5" dirty="0">
                <a:latin typeface="Calibri"/>
                <a:cs typeface="Calibri"/>
              </a:rPr>
              <a:t> </a:t>
            </a:r>
            <a:r>
              <a:rPr sz="2600" spc="-10" dirty="0">
                <a:latin typeface="Calibri"/>
                <a:cs typeface="Calibri"/>
              </a:rPr>
              <a:t>conflicts, </a:t>
            </a:r>
            <a:r>
              <a:rPr sz="2600" spc="-15" dirty="0">
                <a:latin typeface="Calibri"/>
                <a:cs typeface="Calibri"/>
              </a:rPr>
              <a:t>Failure</a:t>
            </a:r>
            <a:r>
              <a:rPr sz="2600" spc="-5" dirty="0">
                <a:latin typeface="Calibri"/>
                <a:cs typeface="Calibri"/>
              </a:rPr>
              <a:t> </a:t>
            </a:r>
            <a:r>
              <a:rPr sz="2600" spc="-15" dirty="0">
                <a:latin typeface="Calibri"/>
                <a:cs typeface="Calibri"/>
              </a:rPr>
              <a:t>to</a:t>
            </a:r>
            <a:r>
              <a:rPr sz="2600" dirty="0">
                <a:latin typeface="Calibri"/>
                <a:cs typeface="Calibri"/>
              </a:rPr>
              <a:t> </a:t>
            </a:r>
            <a:r>
              <a:rPr sz="2600" spc="-10" dirty="0">
                <a:latin typeface="Calibri"/>
                <a:cs typeface="Calibri"/>
              </a:rPr>
              <a:t>resolve </a:t>
            </a:r>
            <a:r>
              <a:rPr sz="2600" spc="-5" dirty="0">
                <a:latin typeface="Calibri"/>
                <a:cs typeface="Calibri"/>
              </a:rPr>
              <a:t> responsibilities,</a:t>
            </a:r>
            <a:r>
              <a:rPr sz="2600" spc="-25" dirty="0">
                <a:latin typeface="Calibri"/>
                <a:cs typeface="Calibri"/>
              </a:rPr>
              <a:t> </a:t>
            </a:r>
            <a:r>
              <a:rPr sz="2600" spc="-10" dirty="0">
                <a:latin typeface="Calibri"/>
                <a:cs typeface="Calibri"/>
              </a:rPr>
              <a:t>Insufficient</a:t>
            </a:r>
            <a:r>
              <a:rPr sz="2600" spc="-20" dirty="0">
                <a:latin typeface="Calibri"/>
                <a:cs typeface="Calibri"/>
              </a:rPr>
              <a:t> </a:t>
            </a:r>
            <a:r>
              <a:rPr sz="2600" spc="-5" dirty="0">
                <a:latin typeface="Calibri"/>
                <a:cs typeface="Calibri"/>
              </a:rPr>
              <a:t>resources, </a:t>
            </a:r>
            <a:r>
              <a:rPr sz="2600" dirty="0">
                <a:latin typeface="Calibri"/>
                <a:cs typeface="Calibri"/>
              </a:rPr>
              <a:t>No</a:t>
            </a:r>
            <a:r>
              <a:rPr sz="2600" spc="20" dirty="0">
                <a:latin typeface="Calibri"/>
                <a:cs typeface="Calibri"/>
              </a:rPr>
              <a:t> </a:t>
            </a:r>
            <a:r>
              <a:rPr sz="2600" spc="-10" dirty="0">
                <a:latin typeface="Calibri"/>
                <a:cs typeface="Calibri"/>
              </a:rPr>
              <a:t>communication</a:t>
            </a:r>
            <a:r>
              <a:rPr sz="2600" spc="5" dirty="0">
                <a:latin typeface="Calibri"/>
                <a:cs typeface="Calibri"/>
              </a:rPr>
              <a:t> </a:t>
            </a:r>
            <a:r>
              <a:rPr sz="2600" dirty="0">
                <a:latin typeface="Calibri"/>
                <a:cs typeface="Calibri"/>
              </a:rPr>
              <a:t>within</a:t>
            </a:r>
            <a:r>
              <a:rPr sz="2600" spc="15" dirty="0">
                <a:latin typeface="Calibri"/>
                <a:cs typeface="Calibri"/>
              </a:rPr>
              <a:t> </a:t>
            </a:r>
            <a:r>
              <a:rPr sz="2600" dirty="0">
                <a:latin typeface="Calibri"/>
                <a:cs typeface="Calibri"/>
              </a:rPr>
              <a:t>the</a:t>
            </a:r>
            <a:r>
              <a:rPr sz="2600" spc="5" dirty="0">
                <a:latin typeface="Calibri"/>
                <a:cs typeface="Calibri"/>
              </a:rPr>
              <a:t> </a:t>
            </a:r>
            <a:r>
              <a:rPr sz="2600" spc="-5" dirty="0">
                <a:latin typeface="Calibri"/>
                <a:cs typeface="Calibri"/>
              </a:rPr>
              <a:t>team.</a:t>
            </a:r>
            <a:endParaRPr sz="2600" dirty="0">
              <a:latin typeface="Calibri"/>
              <a:cs typeface="Calibri"/>
            </a:endParaRPr>
          </a:p>
          <a:p>
            <a:pPr>
              <a:lnSpc>
                <a:spcPct val="100000"/>
              </a:lnSpc>
              <a:spcBef>
                <a:spcPts val="35"/>
              </a:spcBef>
              <a:buFont typeface="Arial MT"/>
              <a:buChar char="•"/>
            </a:pPr>
            <a:endParaRPr sz="3400" dirty="0">
              <a:latin typeface="Calibri"/>
              <a:cs typeface="Calibri"/>
            </a:endParaRPr>
          </a:p>
          <a:p>
            <a:pPr marL="241300" marR="577215" indent="-228600" algn="just">
              <a:lnSpc>
                <a:spcPct val="70000"/>
              </a:lnSpc>
              <a:spcBef>
                <a:spcPts val="5"/>
              </a:spcBef>
              <a:buFont typeface="Arial MT"/>
              <a:buChar char="•"/>
              <a:tabLst>
                <a:tab pos="316865" algn="l"/>
              </a:tabLst>
            </a:pPr>
            <a:r>
              <a:rPr dirty="0"/>
              <a:t>	</a:t>
            </a:r>
            <a:r>
              <a:rPr sz="2600" b="1" spc="-30" dirty="0">
                <a:latin typeface="Calibri"/>
                <a:cs typeface="Calibri"/>
              </a:rPr>
              <a:t>Technical </a:t>
            </a:r>
            <a:r>
              <a:rPr sz="2600" b="1" dirty="0">
                <a:latin typeface="Calibri"/>
                <a:cs typeface="Calibri"/>
              </a:rPr>
              <a:t>Risk : </a:t>
            </a:r>
            <a:r>
              <a:rPr sz="2600" spc="-15" dirty="0">
                <a:latin typeface="Calibri"/>
                <a:cs typeface="Calibri"/>
              </a:rPr>
              <a:t>failure </a:t>
            </a:r>
            <a:r>
              <a:rPr sz="2600" dirty="0">
                <a:latin typeface="Calibri"/>
                <a:cs typeface="Calibri"/>
              </a:rPr>
              <a:t>of </a:t>
            </a:r>
            <a:r>
              <a:rPr sz="2600" spc="-5" dirty="0">
                <a:latin typeface="Calibri"/>
                <a:cs typeface="Calibri"/>
              </a:rPr>
              <a:t>functionality </a:t>
            </a:r>
            <a:r>
              <a:rPr sz="2600" dirty="0">
                <a:latin typeface="Calibri"/>
                <a:cs typeface="Calibri"/>
              </a:rPr>
              <a:t>and </a:t>
            </a:r>
            <a:r>
              <a:rPr sz="2600" spc="-10" dirty="0">
                <a:latin typeface="Calibri"/>
                <a:cs typeface="Calibri"/>
              </a:rPr>
              <a:t>performance, </a:t>
            </a:r>
            <a:r>
              <a:rPr sz="2600" spc="-5" dirty="0">
                <a:latin typeface="Calibri"/>
                <a:cs typeface="Calibri"/>
              </a:rPr>
              <a:t>Continuously </a:t>
            </a:r>
            <a:r>
              <a:rPr sz="2600" spc="-575" dirty="0">
                <a:latin typeface="Calibri"/>
                <a:cs typeface="Calibri"/>
              </a:rPr>
              <a:t> </a:t>
            </a:r>
            <a:r>
              <a:rPr sz="2600" dirty="0">
                <a:latin typeface="Calibri"/>
                <a:cs typeface="Calibri"/>
              </a:rPr>
              <a:t>changing </a:t>
            </a:r>
            <a:r>
              <a:rPr sz="2600" spc="-10" dirty="0">
                <a:latin typeface="Calibri"/>
                <a:cs typeface="Calibri"/>
              </a:rPr>
              <a:t>requirements, </a:t>
            </a:r>
            <a:r>
              <a:rPr sz="2600" dirty="0">
                <a:latin typeface="Calibri"/>
                <a:cs typeface="Calibri"/>
              </a:rPr>
              <a:t>The </a:t>
            </a:r>
            <a:r>
              <a:rPr sz="2600" spc="-5" dirty="0">
                <a:latin typeface="Calibri"/>
                <a:cs typeface="Calibri"/>
              </a:rPr>
              <a:t>product </a:t>
            </a:r>
            <a:r>
              <a:rPr sz="2600" dirty="0">
                <a:latin typeface="Calibri"/>
                <a:cs typeface="Calibri"/>
              </a:rPr>
              <a:t>is </a:t>
            </a:r>
            <a:r>
              <a:rPr sz="2600" spc="-15" dirty="0">
                <a:latin typeface="Calibri"/>
                <a:cs typeface="Calibri"/>
              </a:rPr>
              <a:t>complex </a:t>
            </a:r>
            <a:r>
              <a:rPr sz="2600" spc="-10" dirty="0">
                <a:latin typeface="Calibri"/>
                <a:cs typeface="Calibri"/>
              </a:rPr>
              <a:t>to </a:t>
            </a:r>
            <a:r>
              <a:rPr sz="2600" spc="-5" dirty="0">
                <a:latin typeface="Calibri"/>
                <a:cs typeface="Calibri"/>
              </a:rPr>
              <a:t>implement, Difficult </a:t>
            </a:r>
            <a:r>
              <a:rPr sz="2600" spc="-575" dirty="0">
                <a:latin typeface="Calibri"/>
                <a:cs typeface="Calibri"/>
              </a:rPr>
              <a:t> </a:t>
            </a:r>
            <a:r>
              <a:rPr sz="2600" spc="-10" dirty="0">
                <a:latin typeface="Calibri"/>
                <a:cs typeface="Calibri"/>
              </a:rPr>
              <a:t>project</a:t>
            </a:r>
            <a:r>
              <a:rPr sz="2600" spc="-5" dirty="0">
                <a:latin typeface="Calibri"/>
                <a:cs typeface="Calibri"/>
              </a:rPr>
              <a:t> module</a:t>
            </a:r>
            <a:r>
              <a:rPr sz="2600" spc="-20" dirty="0">
                <a:latin typeface="Calibri"/>
                <a:cs typeface="Calibri"/>
              </a:rPr>
              <a:t> </a:t>
            </a:r>
            <a:r>
              <a:rPr sz="2600" spc="-10" dirty="0">
                <a:latin typeface="Calibri"/>
                <a:cs typeface="Calibri"/>
              </a:rPr>
              <a:t>integration.</a:t>
            </a:r>
            <a:endParaRPr sz="2600" dirty="0">
              <a:latin typeface="Calibri"/>
              <a:cs typeface="Calibri"/>
            </a:endParaRPr>
          </a:p>
          <a:p>
            <a:pPr>
              <a:lnSpc>
                <a:spcPct val="100000"/>
              </a:lnSpc>
              <a:spcBef>
                <a:spcPts val="20"/>
              </a:spcBef>
              <a:buFont typeface="Arial MT"/>
              <a:buChar char="•"/>
            </a:pPr>
            <a:endParaRPr sz="3400" dirty="0">
              <a:latin typeface="Calibri"/>
              <a:cs typeface="Calibri"/>
            </a:endParaRPr>
          </a:p>
          <a:p>
            <a:pPr marL="241300" marR="650875" indent="-228600" algn="just">
              <a:lnSpc>
                <a:spcPct val="70100"/>
              </a:lnSpc>
              <a:buFont typeface="Arial MT"/>
              <a:buChar char="•"/>
              <a:tabLst>
                <a:tab pos="241300" algn="l"/>
              </a:tabLst>
            </a:pPr>
            <a:r>
              <a:rPr sz="2600" b="1" spc="-10" dirty="0">
                <a:latin typeface="Calibri"/>
                <a:cs typeface="Calibri"/>
              </a:rPr>
              <a:t>Programmatic </a:t>
            </a:r>
            <a:r>
              <a:rPr sz="2600" b="1" dirty="0">
                <a:latin typeface="Calibri"/>
                <a:cs typeface="Calibri"/>
              </a:rPr>
              <a:t>Risk: </a:t>
            </a:r>
            <a:r>
              <a:rPr sz="2600" dirty="0">
                <a:latin typeface="Calibri"/>
                <a:cs typeface="Calibri"/>
              </a:rPr>
              <a:t>Running </a:t>
            </a:r>
            <a:r>
              <a:rPr sz="2600" spc="-5" dirty="0">
                <a:latin typeface="Calibri"/>
                <a:cs typeface="Calibri"/>
              </a:rPr>
              <a:t>out of funds, Changing </a:t>
            </a:r>
            <a:r>
              <a:rPr sz="2600" spc="-10" dirty="0">
                <a:latin typeface="Calibri"/>
                <a:cs typeface="Calibri"/>
              </a:rPr>
              <a:t>customer product </a:t>
            </a:r>
            <a:r>
              <a:rPr sz="2600" spc="-575" dirty="0">
                <a:latin typeface="Calibri"/>
                <a:cs typeface="Calibri"/>
              </a:rPr>
              <a:t> </a:t>
            </a:r>
            <a:r>
              <a:rPr sz="2600" spc="-15" dirty="0">
                <a:latin typeface="Calibri"/>
                <a:cs typeface="Calibri"/>
              </a:rPr>
              <a:t>strategy</a:t>
            </a:r>
            <a:r>
              <a:rPr sz="2600" spc="-35" dirty="0">
                <a:latin typeface="Calibri"/>
                <a:cs typeface="Calibri"/>
              </a:rPr>
              <a:t> </a:t>
            </a:r>
            <a:r>
              <a:rPr sz="2600" dirty="0">
                <a:latin typeface="Calibri"/>
                <a:cs typeface="Calibri"/>
              </a:rPr>
              <a:t>and</a:t>
            </a:r>
            <a:r>
              <a:rPr sz="2600" spc="5" dirty="0">
                <a:latin typeface="Calibri"/>
                <a:cs typeface="Calibri"/>
              </a:rPr>
              <a:t> </a:t>
            </a:r>
            <a:r>
              <a:rPr sz="2600" dirty="0">
                <a:latin typeface="Calibri"/>
                <a:cs typeface="Calibri"/>
              </a:rPr>
              <a:t>priorities, </a:t>
            </a:r>
            <a:r>
              <a:rPr sz="2600" spc="-5" dirty="0">
                <a:latin typeface="Calibri"/>
                <a:cs typeface="Calibri"/>
              </a:rPr>
              <a:t>Government</a:t>
            </a:r>
            <a:r>
              <a:rPr sz="2600" spc="-35" dirty="0">
                <a:latin typeface="Calibri"/>
                <a:cs typeface="Calibri"/>
              </a:rPr>
              <a:t> </a:t>
            </a:r>
            <a:r>
              <a:rPr sz="2600" dirty="0">
                <a:latin typeface="Calibri"/>
                <a:cs typeface="Calibri"/>
              </a:rPr>
              <a:t>rule</a:t>
            </a:r>
            <a:r>
              <a:rPr sz="2600" spc="-10" dirty="0">
                <a:latin typeface="Calibri"/>
                <a:cs typeface="Calibri"/>
              </a:rPr>
              <a:t> </a:t>
            </a:r>
            <a:r>
              <a:rPr sz="2600" spc="-5" dirty="0">
                <a:latin typeface="Calibri"/>
                <a:cs typeface="Calibri"/>
              </a:rPr>
              <a:t>changes.</a:t>
            </a:r>
            <a:endParaRPr sz="2600" dirty="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767839" y="0"/>
            <a:ext cx="10424160" cy="5920740"/>
          </a:xfrm>
          <a:custGeom>
            <a:avLst/>
            <a:gdLst/>
            <a:ahLst/>
            <a:cxnLst/>
            <a:rect l="l" t="t" r="r" b="b"/>
            <a:pathLst>
              <a:path w="10424160" h="5920740">
                <a:moveTo>
                  <a:pt x="10424160" y="0"/>
                </a:moveTo>
                <a:lnTo>
                  <a:pt x="3493262" y="0"/>
                </a:lnTo>
                <a:lnTo>
                  <a:pt x="3453456" y="6899"/>
                </a:lnTo>
                <a:lnTo>
                  <a:pt x="3412734" y="15446"/>
                </a:lnTo>
                <a:lnTo>
                  <a:pt x="3371278" y="27987"/>
                </a:lnTo>
                <a:lnTo>
                  <a:pt x="3329399" y="46867"/>
                </a:lnTo>
                <a:lnTo>
                  <a:pt x="3287406" y="74433"/>
                </a:lnTo>
                <a:lnTo>
                  <a:pt x="3245612" y="113029"/>
                </a:lnTo>
                <a:lnTo>
                  <a:pt x="3296268" y="119717"/>
                </a:lnTo>
                <a:lnTo>
                  <a:pt x="3346761" y="124866"/>
                </a:lnTo>
                <a:lnTo>
                  <a:pt x="3397078" y="128687"/>
                </a:lnTo>
                <a:lnTo>
                  <a:pt x="3447208" y="131393"/>
                </a:lnTo>
                <a:lnTo>
                  <a:pt x="3497138" y="133197"/>
                </a:lnTo>
                <a:lnTo>
                  <a:pt x="3546855" y="134311"/>
                </a:lnTo>
                <a:lnTo>
                  <a:pt x="3596348" y="134947"/>
                </a:lnTo>
                <a:lnTo>
                  <a:pt x="3743360" y="136113"/>
                </a:lnTo>
                <a:lnTo>
                  <a:pt x="3791834" y="136962"/>
                </a:lnTo>
                <a:lnTo>
                  <a:pt x="3840023" y="138396"/>
                </a:lnTo>
                <a:lnTo>
                  <a:pt x="3887914" y="140626"/>
                </a:lnTo>
                <a:lnTo>
                  <a:pt x="3935495" y="143865"/>
                </a:lnTo>
                <a:lnTo>
                  <a:pt x="3982755" y="148325"/>
                </a:lnTo>
                <a:lnTo>
                  <a:pt x="4029681" y="154220"/>
                </a:lnTo>
                <a:lnTo>
                  <a:pt x="4076260" y="161760"/>
                </a:lnTo>
                <a:lnTo>
                  <a:pt x="4122481" y="171159"/>
                </a:lnTo>
                <a:lnTo>
                  <a:pt x="4168331" y="182629"/>
                </a:lnTo>
                <a:lnTo>
                  <a:pt x="4213799" y="196382"/>
                </a:lnTo>
                <a:lnTo>
                  <a:pt x="4258871" y="212631"/>
                </a:lnTo>
                <a:lnTo>
                  <a:pt x="4303536" y="231588"/>
                </a:lnTo>
                <a:lnTo>
                  <a:pt x="4347782" y="253466"/>
                </a:lnTo>
                <a:lnTo>
                  <a:pt x="4391596" y="278476"/>
                </a:lnTo>
                <a:lnTo>
                  <a:pt x="4434967" y="306831"/>
                </a:lnTo>
                <a:lnTo>
                  <a:pt x="4390343" y="343199"/>
                </a:lnTo>
                <a:lnTo>
                  <a:pt x="4344725" y="369862"/>
                </a:lnTo>
                <a:lnTo>
                  <a:pt x="4298286" y="388507"/>
                </a:lnTo>
                <a:lnTo>
                  <a:pt x="4251198" y="400820"/>
                </a:lnTo>
                <a:lnTo>
                  <a:pt x="4203633" y="408489"/>
                </a:lnTo>
                <a:lnTo>
                  <a:pt x="4155764" y="413201"/>
                </a:lnTo>
                <a:lnTo>
                  <a:pt x="4107763" y="416643"/>
                </a:lnTo>
                <a:lnTo>
                  <a:pt x="4059803" y="420502"/>
                </a:lnTo>
                <a:lnTo>
                  <a:pt x="4012057" y="426465"/>
                </a:lnTo>
                <a:lnTo>
                  <a:pt x="3962883" y="434669"/>
                </a:lnTo>
                <a:lnTo>
                  <a:pt x="3914024" y="443852"/>
                </a:lnTo>
                <a:lnTo>
                  <a:pt x="3865390" y="453733"/>
                </a:lnTo>
                <a:lnTo>
                  <a:pt x="3719938" y="484754"/>
                </a:lnTo>
                <a:lnTo>
                  <a:pt x="3671304" y="494616"/>
                </a:lnTo>
                <a:lnTo>
                  <a:pt x="3622445" y="503771"/>
                </a:lnTo>
                <a:lnTo>
                  <a:pt x="3520435" y="520673"/>
                </a:lnTo>
                <a:lnTo>
                  <a:pt x="3467590" y="528086"/>
                </a:lnTo>
                <a:lnTo>
                  <a:pt x="3414738" y="534552"/>
                </a:lnTo>
                <a:lnTo>
                  <a:pt x="3256148" y="552059"/>
                </a:lnTo>
                <a:lnTo>
                  <a:pt x="3203277" y="558525"/>
                </a:lnTo>
                <a:lnTo>
                  <a:pt x="3150404" y="565938"/>
                </a:lnTo>
                <a:lnTo>
                  <a:pt x="3097530" y="574675"/>
                </a:lnTo>
                <a:lnTo>
                  <a:pt x="3057580" y="579861"/>
                </a:lnTo>
                <a:lnTo>
                  <a:pt x="3016960" y="582761"/>
                </a:lnTo>
                <a:lnTo>
                  <a:pt x="2975637" y="584844"/>
                </a:lnTo>
                <a:lnTo>
                  <a:pt x="2933580" y="587580"/>
                </a:lnTo>
                <a:lnTo>
                  <a:pt x="2890758" y="592439"/>
                </a:lnTo>
                <a:lnTo>
                  <a:pt x="2847139" y="600890"/>
                </a:lnTo>
                <a:lnTo>
                  <a:pt x="2802694" y="614405"/>
                </a:lnTo>
                <a:lnTo>
                  <a:pt x="2757389" y="634452"/>
                </a:lnTo>
                <a:lnTo>
                  <a:pt x="2711194" y="662501"/>
                </a:lnTo>
                <a:lnTo>
                  <a:pt x="2664079" y="700024"/>
                </a:lnTo>
                <a:lnTo>
                  <a:pt x="2714895" y="711996"/>
                </a:lnTo>
                <a:lnTo>
                  <a:pt x="2765327" y="721311"/>
                </a:lnTo>
                <a:lnTo>
                  <a:pt x="2815407" y="728222"/>
                </a:lnTo>
                <a:lnTo>
                  <a:pt x="2865169" y="732983"/>
                </a:lnTo>
                <a:lnTo>
                  <a:pt x="2914648" y="735847"/>
                </a:lnTo>
                <a:lnTo>
                  <a:pt x="2963876" y="737065"/>
                </a:lnTo>
                <a:lnTo>
                  <a:pt x="3012888" y="736893"/>
                </a:lnTo>
                <a:lnTo>
                  <a:pt x="3061718" y="735581"/>
                </a:lnTo>
                <a:lnTo>
                  <a:pt x="3110399" y="733384"/>
                </a:lnTo>
                <a:lnTo>
                  <a:pt x="3158965" y="730554"/>
                </a:lnTo>
                <a:lnTo>
                  <a:pt x="3304313" y="720801"/>
                </a:lnTo>
                <a:lnTo>
                  <a:pt x="3352759" y="717971"/>
                </a:lnTo>
                <a:lnTo>
                  <a:pt x="3401258" y="715774"/>
                </a:lnTo>
                <a:lnTo>
                  <a:pt x="3449846" y="714462"/>
                </a:lnTo>
                <a:lnTo>
                  <a:pt x="3498555" y="714290"/>
                </a:lnTo>
                <a:lnTo>
                  <a:pt x="3547421" y="715508"/>
                </a:lnTo>
                <a:lnTo>
                  <a:pt x="3596476" y="718372"/>
                </a:lnTo>
                <a:lnTo>
                  <a:pt x="3645754" y="723133"/>
                </a:lnTo>
                <a:lnTo>
                  <a:pt x="3695289" y="730044"/>
                </a:lnTo>
                <a:lnTo>
                  <a:pt x="3745116" y="739359"/>
                </a:lnTo>
                <a:lnTo>
                  <a:pt x="3795268" y="751332"/>
                </a:lnTo>
                <a:lnTo>
                  <a:pt x="3739327" y="771749"/>
                </a:lnTo>
                <a:lnTo>
                  <a:pt x="3685033" y="787869"/>
                </a:lnTo>
                <a:lnTo>
                  <a:pt x="3632277" y="800385"/>
                </a:lnTo>
                <a:lnTo>
                  <a:pt x="3580948" y="809991"/>
                </a:lnTo>
                <a:lnTo>
                  <a:pt x="3530937" y="817380"/>
                </a:lnTo>
                <a:lnTo>
                  <a:pt x="3482133" y="823245"/>
                </a:lnTo>
                <a:lnTo>
                  <a:pt x="3387710" y="833176"/>
                </a:lnTo>
                <a:lnTo>
                  <a:pt x="3341872" y="838628"/>
                </a:lnTo>
                <a:lnTo>
                  <a:pt x="3296801" y="845329"/>
                </a:lnTo>
                <a:lnTo>
                  <a:pt x="3252390" y="853972"/>
                </a:lnTo>
                <a:lnTo>
                  <a:pt x="3164579" y="876798"/>
                </a:lnTo>
                <a:lnTo>
                  <a:pt x="3119456" y="884412"/>
                </a:lnTo>
                <a:lnTo>
                  <a:pt x="3073565" y="889533"/>
                </a:lnTo>
                <a:lnTo>
                  <a:pt x="3027313" y="893601"/>
                </a:lnTo>
                <a:lnTo>
                  <a:pt x="2981106" y="898053"/>
                </a:lnTo>
                <a:lnTo>
                  <a:pt x="2935351" y="904331"/>
                </a:lnTo>
                <a:lnTo>
                  <a:pt x="2890455" y="913872"/>
                </a:lnTo>
                <a:lnTo>
                  <a:pt x="2846822" y="928116"/>
                </a:lnTo>
                <a:lnTo>
                  <a:pt x="2804861" y="948502"/>
                </a:lnTo>
                <a:lnTo>
                  <a:pt x="2764978" y="976470"/>
                </a:lnTo>
                <a:lnTo>
                  <a:pt x="2727579" y="1013460"/>
                </a:lnTo>
                <a:lnTo>
                  <a:pt x="2689621" y="1053551"/>
                </a:lnTo>
                <a:lnTo>
                  <a:pt x="2650926" y="1084234"/>
                </a:lnTo>
                <a:lnTo>
                  <a:pt x="2611243" y="1105708"/>
                </a:lnTo>
                <a:lnTo>
                  <a:pt x="2570321" y="1118171"/>
                </a:lnTo>
                <a:lnTo>
                  <a:pt x="2527911" y="1121824"/>
                </a:lnTo>
                <a:lnTo>
                  <a:pt x="2483762" y="1116865"/>
                </a:lnTo>
                <a:lnTo>
                  <a:pt x="2437626" y="1103495"/>
                </a:lnTo>
                <a:lnTo>
                  <a:pt x="2345173" y="1062063"/>
                </a:lnTo>
                <a:lnTo>
                  <a:pt x="2300356" y="1049299"/>
                </a:lnTo>
                <a:lnTo>
                  <a:pt x="2255048" y="1043218"/>
                </a:lnTo>
                <a:lnTo>
                  <a:pt x="2209498" y="1043416"/>
                </a:lnTo>
                <a:lnTo>
                  <a:pt x="2163953" y="1049489"/>
                </a:lnTo>
                <a:lnTo>
                  <a:pt x="2118663" y="1061035"/>
                </a:lnTo>
                <a:lnTo>
                  <a:pt x="2073876" y="1077650"/>
                </a:lnTo>
                <a:lnTo>
                  <a:pt x="2029840" y="1098930"/>
                </a:lnTo>
                <a:lnTo>
                  <a:pt x="1971690" y="1140285"/>
                </a:lnTo>
                <a:lnTo>
                  <a:pt x="1945259" y="1207262"/>
                </a:lnTo>
                <a:lnTo>
                  <a:pt x="1954422" y="1257101"/>
                </a:lnTo>
                <a:lnTo>
                  <a:pt x="1978945" y="1289843"/>
                </a:lnTo>
                <a:lnTo>
                  <a:pt x="2014374" y="1309774"/>
                </a:lnTo>
                <a:lnTo>
                  <a:pt x="2056257" y="1321180"/>
                </a:lnTo>
                <a:lnTo>
                  <a:pt x="2097530" y="1329396"/>
                </a:lnTo>
                <a:lnTo>
                  <a:pt x="2140791" y="1335468"/>
                </a:lnTo>
                <a:lnTo>
                  <a:pt x="2184076" y="1337254"/>
                </a:lnTo>
                <a:lnTo>
                  <a:pt x="2225421" y="1332611"/>
                </a:lnTo>
                <a:lnTo>
                  <a:pt x="2276131" y="1324405"/>
                </a:lnTo>
                <a:lnTo>
                  <a:pt x="2326769" y="1318470"/>
                </a:lnTo>
                <a:lnTo>
                  <a:pt x="2377344" y="1314597"/>
                </a:lnTo>
                <a:lnTo>
                  <a:pt x="2427862" y="1312575"/>
                </a:lnTo>
                <a:lnTo>
                  <a:pt x="2478331" y="1312195"/>
                </a:lnTo>
                <a:lnTo>
                  <a:pt x="2528760" y="1313248"/>
                </a:lnTo>
                <a:lnTo>
                  <a:pt x="2579157" y="1315524"/>
                </a:lnTo>
                <a:lnTo>
                  <a:pt x="2629528" y="1318813"/>
                </a:lnTo>
                <a:lnTo>
                  <a:pt x="2679883" y="1322906"/>
                </a:lnTo>
                <a:lnTo>
                  <a:pt x="2730230" y="1327594"/>
                </a:lnTo>
                <a:lnTo>
                  <a:pt x="2881294" y="1343127"/>
                </a:lnTo>
                <a:lnTo>
                  <a:pt x="2931684" y="1348097"/>
                </a:lnTo>
                <a:lnTo>
                  <a:pt x="2982104" y="1352613"/>
                </a:lnTo>
                <a:lnTo>
                  <a:pt x="3032563" y="1356466"/>
                </a:lnTo>
                <a:lnTo>
                  <a:pt x="3083069" y="1359447"/>
                </a:lnTo>
                <a:lnTo>
                  <a:pt x="3133629" y="1361346"/>
                </a:lnTo>
                <a:lnTo>
                  <a:pt x="3184251" y="1361953"/>
                </a:lnTo>
                <a:lnTo>
                  <a:pt x="3234944" y="1361059"/>
                </a:lnTo>
                <a:lnTo>
                  <a:pt x="3185132" y="1372312"/>
                </a:lnTo>
                <a:lnTo>
                  <a:pt x="3135304" y="1383101"/>
                </a:lnTo>
                <a:lnTo>
                  <a:pt x="3085461" y="1393436"/>
                </a:lnTo>
                <a:lnTo>
                  <a:pt x="3035601" y="1403329"/>
                </a:lnTo>
                <a:lnTo>
                  <a:pt x="2985724" y="1412791"/>
                </a:lnTo>
                <a:lnTo>
                  <a:pt x="2935829" y="1421834"/>
                </a:lnTo>
                <a:lnTo>
                  <a:pt x="2885918" y="1430467"/>
                </a:lnTo>
                <a:lnTo>
                  <a:pt x="2835988" y="1438704"/>
                </a:lnTo>
                <a:lnTo>
                  <a:pt x="2786039" y="1446554"/>
                </a:lnTo>
                <a:lnTo>
                  <a:pt x="2736072" y="1454029"/>
                </a:lnTo>
                <a:lnTo>
                  <a:pt x="2686086" y="1461141"/>
                </a:lnTo>
                <a:lnTo>
                  <a:pt x="2636081" y="1467900"/>
                </a:lnTo>
                <a:lnTo>
                  <a:pt x="2586056" y="1474318"/>
                </a:lnTo>
                <a:lnTo>
                  <a:pt x="2536010" y="1480406"/>
                </a:lnTo>
                <a:lnTo>
                  <a:pt x="2485944" y="1486175"/>
                </a:lnTo>
                <a:lnTo>
                  <a:pt x="2435858" y="1491636"/>
                </a:lnTo>
                <a:lnTo>
                  <a:pt x="2385749" y="1496801"/>
                </a:lnTo>
                <a:lnTo>
                  <a:pt x="2335620" y="1501681"/>
                </a:lnTo>
                <a:lnTo>
                  <a:pt x="2285468" y="1506287"/>
                </a:lnTo>
                <a:lnTo>
                  <a:pt x="2185097" y="1514722"/>
                </a:lnTo>
                <a:lnTo>
                  <a:pt x="2084634" y="1522195"/>
                </a:lnTo>
                <a:lnTo>
                  <a:pt x="1984076" y="1528797"/>
                </a:lnTo>
                <a:lnTo>
                  <a:pt x="1883420" y="1534617"/>
                </a:lnTo>
                <a:lnTo>
                  <a:pt x="1782662" y="1539745"/>
                </a:lnTo>
                <a:lnTo>
                  <a:pt x="1681801" y="1544271"/>
                </a:lnTo>
                <a:lnTo>
                  <a:pt x="1530308" y="1550126"/>
                </a:lnTo>
                <a:lnTo>
                  <a:pt x="1277259" y="1558145"/>
                </a:lnTo>
                <a:lnTo>
                  <a:pt x="819874" y="1571103"/>
                </a:lnTo>
                <a:lnTo>
                  <a:pt x="666833" y="1576144"/>
                </a:lnTo>
                <a:lnTo>
                  <a:pt x="513487" y="1582051"/>
                </a:lnTo>
                <a:lnTo>
                  <a:pt x="411082" y="1586620"/>
                </a:lnTo>
                <a:lnTo>
                  <a:pt x="308533" y="1591798"/>
                </a:lnTo>
                <a:lnTo>
                  <a:pt x="205839" y="1597674"/>
                </a:lnTo>
                <a:lnTo>
                  <a:pt x="102995" y="1604340"/>
                </a:lnTo>
                <a:lnTo>
                  <a:pt x="0" y="1611884"/>
                </a:lnTo>
                <a:lnTo>
                  <a:pt x="36500" y="1648425"/>
                </a:lnTo>
                <a:lnTo>
                  <a:pt x="74359" y="1673926"/>
                </a:lnTo>
                <a:lnTo>
                  <a:pt x="113172" y="1690403"/>
                </a:lnTo>
                <a:lnTo>
                  <a:pt x="152536" y="1699876"/>
                </a:lnTo>
                <a:lnTo>
                  <a:pt x="192046" y="1704362"/>
                </a:lnTo>
                <a:lnTo>
                  <a:pt x="231298" y="1705879"/>
                </a:lnTo>
                <a:lnTo>
                  <a:pt x="269889" y="1706447"/>
                </a:lnTo>
                <a:lnTo>
                  <a:pt x="307415" y="1708084"/>
                </a:lnTo>
                <a:lnTo>
                  <a:pt x="343471" y="1712807"/>
                </a:lnTo>
                <a:lnTo>
                  <a:pt x="377654" y="1722635"/>
                </a:lnTo>
                <a:lnTo>
                  <a:pt x="409560" y="1739587"/>
                </a:lnTo>
                <a:lnTo>
                  <a:pt x="438785" y="1765680"/>
                </a:lnTo>
                <a:lnTo>
                  <a:pt x="417009" y="1824070"/>
                </a:lnTo>
                <a:lnTo>
                  <a:pt x="400549" y="1878189"/>
                </a:lnTo>
                <a:lnTo>
                  <a:pt x="389462" y="1928022"/>
                </a:lnTo>
                <a:lnTo>
                  <a:pt x="383804" y="1973556"/>
                </a:lnTo>
                <a:lnTo>
                  <a:pt x="383634" y="2014774"/>
                </a:lnTo>
                <a:lnTo>
                  <a:pt x="389010" y="2051664"/>
                </a:lnTo>
                <a:lnTo>
                  <a:pt x="416626" y="2112396"/>
                </a:lnTo>
                <a:lnTo>
                  <a:pt x="467115" y="2155638"/>
                </a:lnTo>
                <a:lnTo>
                  <a:pt x="540936" y="2181271"/>
                </a:lnTo>
                <a:lnTo>
                  <a:pt x="586740" y="2187448"/>
                </a:lnTo>
                <a:lnTo>
                  <a:pt x="628138" y="2189584"/>
                </a:lnTo>
                <a:lnTo>
                  <a:pt x="669734" y="2189744"/>
                </a:lnTo>
                <a:lnTo>
                  <a:pt x="752617" y="2187780"/>
                </a:lnTo>
                <a:lnTo>
                  <a:pt x="793453" y="2187480"/>
                </a:lnTo>
                <a:lnTo>
                  <a:pt x="833585" y="2188852"/>
                </a:lnTo>
                <a:lnTo>
                  <a:pt x="872787" y="2192805"/>
                </a:lnTo>
                <a:lnTo>
                  <a:pt x="910833" y="2200254"/>
                </a:lnTo>
                <a:lnTo>
                  <a:pt x="947498" y="2212109"/>
                </a:lnTo>
                <a:lnTo>
                  <a:pt x="982556" y="2229282"/>
                </a:lnTo>
                <a:lnTo>
                  <a:pt x="1015782" y="2252686"/>
                </a:lnTo>
                <a:lnTo>
                  <a:pt x="1046951" y="2283232"/>
                </a:lnTo>
                <a:lnTo>
                  <a:pt x="1075836" y="2321832"/>
                </a:lnTo>
                <a:lnTo>
                  <a:pt x="1102213" y="2369398"/>
                </a:lnTo>
                <a:lnTo>
                  <a:pt x="1125855" y="2426842"/>
                </a:lnTo>
                <a:lnTo>
                  <a:pt x="1144976" y="2457633"/>
                </a:lnTo>
                <a:lnTo>
                  <a:pt x="1218145" y="2491949"/>
                </a:lnTo>
                <a:lnTo>
                  <a:pt x="1266618" y="2499487"/>
                </a:lnTo>
                <a:lnTo>
                  <a:pt x="1319300" y="2503286"/>
                </a:lnTo>
                <a:lnTo>
                  <a:pt x="1373403" y="2505352"/>
                </a:lnTo>
                <a:lnTo>
                  <a:pt x="1426140" y="2507693"/>
                </a:lnTo>
                <a:lnTo>
                  <a:pt x="1474724" y="2512314"/>
                </a:lnTo>
                <a:lnTo>
                  <a:pt x="1524474" y="2518916"/>
                </a:lnTo>
                <a:lnTo>
                  <a:pt x="1574529" y="2524008"/>
                </a:lnTo>
                <a:lnTo>
                  <a:pt x="1624828" y="2527948"/>
                </a:lnTo>
                <a:lnTo>
                  <a:pt x="1675308" y="2531096"/>
                </a:lnTo>
                <a:lnTo>
                  <a:pt x="1776569" y="2536448"/>
                </a:lnTo>
                <a:lnTo>
                  <a:pt x="1827227" y="2539371"/>
                </a:lnTo>
                <a:lnTo>
                  <a:pt x="1877821" y="2542936"/>
                </a:lnTo>
                <a:lnTo>
                  <a:pt x="1928291" y="2547503"/>
                </a:lnTo>
                <a:lnTo>
                  <a:pt x="1978574" y="2553431"/>
                </a:lnTo>
                <a:lnTo>
                  <a:pt x="2028609" y="2561078"/>
                </a:lnTo>
                <a:lnTo>
                  <a:pt x="2078335" y="2570803"/>
                </a:lnTo>
                <a:lnTo>
                  <a:pt x="2127690" y="2582965"/>
                </a:lnTo>
                <a:lnTo>
                  <a:pt x="2176613" y="2597923"/>
                </a:lnTo>
                <a:lnTo>
                  <a:pt x="2225043" y="2616036"/>
                </a:lnTo>
                <a:lnTo>
                  <a:pt x="2272919" y="2637663"/>
                </a:lnTo>
                <a:lnTo>
                  <a:pt x="2320085" y="2659982"/>
                </a:lnTo>
                <a:lnTo>
                  <a:pt x="2359467" y="2683246"/>
                </a:lnTo>
                <a:lnTo>
                  <a:pt x="2388568" y="2710307"/>
                </a:lnTo>
                <a:lnTo>
                  <a:pt x="2405954" y="2787217"/>
                </a:lnTo>
                <a:lnTo>
                  <a:pt x="2389251" y="2842767"/>
                </a:lnTo>
                <a:lnTo>
                  <a:pt x="2372474" y="2901652"/>
                </a:lnTo>
                <a:lnTo>
                  <a:pt x="2373018" y="2948803"/>
                </a:lnTo>
                <a:lnTo>
                  <a:pt x="2387949" y="2986754"/>
                </a:lnTo>
                <a:lnTo>
                  <a:pt x="2414331" y="3018037"/>
                </a:lnTo>
                <a:lnTo>
                  <a:pt x="2449229" y="3045186"/>
                </a:lnTo>
                <a:lnTo>
                  <a:pt x="2489708" y="3070733"/>
                </a:lnTo>
                <a:lnTo>
                  <a:pt x="2560926" y="3100352"/>
                </a:lnTo>
                <a:lnTo>
                  <a:pt x="2599340" y="3114976"/>
                </a:lnTo>
                <a:lnTo>
                  <a:pt x="2636886" y="3136236"/>
                </a:lnTo>
                <a:lnTo>
                  <a:pt x="2671512" y="3169202"/>
                </a:lnTo>
                <a:lnTo>
                  <a:pt x="2701163" y="3218941"/>
                </a:lnTo>
                <a:lnTo>
                  <a:pt x="2650741" y="3217182"/>
                </a:lnTo>
                <a:lnTo>
                  <a:pt x="2600403" y="3215027"/>
                </a:lnTo>
                <a:lnTo>
                  <a:pt x="2550144" y="3212521"/>
                </a:lnTo>
                <a:lnTo>
                  <a:pt x="2499960" y="3209709"/>
                </a:lnTo>
                <a:lnTo>
                  <a:pt x="2399798" y="3203347"/>
                </a:lnTo>
                <a:lnTo>
                  <a:pt x="2050935" y="3178021"/>
                </a:lnTo>
                <a:lnTo>
                  <a:pt x="1951599" y="3171387"/>
                </a:lnTo>
                <a:lnTo>
                  <a:pt x="1901965" y="3168394"/>
                </a:lnTo>
                <a:lnTo>
                  <a:pt x="1852348" y="3165677"/>
                </a:lnTo>
                <a:lnTo>
                  <a:pt x="1802744" y="3163281"/>
                </a:lnTo>
                <a:lnTo>
                  <a:pt x="1753148" y="3161249"/>
                </a:lnTo>
                <a:lnTo>
                  <a:pt x="1703555" y="3159628"/>
                </a:lnTo>
                <a:lnTo>
                  <a:pt x="1653961" y="3158461"/>
                </a:lnTo>
                <a:lnTo>
                  <a:pt x="1604362" y="3157793"/>
                </a:lnTo>
                <a:lnTo>
                  <a:pt x="1554754" y="3157670"/>
                </a:lnTo>
                <a:lnTo>
                  <a:pt x="1505131" y="3158136"/>
                </a:lnTo>
                <a:lnTo>
                  <a:pt x="1455489" y="3159235"/>
                </a:lnTo>
                <a:lnTo>
                  <a:pt x="1405824" y="3161013"/>
                </a:lnTo>
                <a:lnTo>
                  <a:pt x="1356131" y="3163513"/>
                </a:lnTo>
                <a:lnTo>
                  <a:pt x="1306407" y="3166782"/>
                </a:lnTo>
                <a:lnTo>
                  <a:pt x="1256646" y="3170863"/>
                </a:lnTo>
                <a:lnTo>
                  <a:pt x="1206844" y="3175802"/>
                </a:lnTo>
                <a:lnTo>
                  <a:pt x="1156996" y="3181642"/>
                </a:lnTo>
                <a:lnTo>
                  <a:pt x="1107099" y="3188430"/>
                </a:lnTo>
                <a:lnTo>
                  <a:pt x="1057148" y="3196209"/>
                </a:lnTo>
                <a:lnTo>
                  <a:pt x="1104841" y="3213718"/>
                </a:lnTo>
                <a:lnTo>
                  <a:pt x="1152762" y="3230288"/>
                </a:lnTo>
                <a:lnTo>
                  <a:pt x="1200897" y="3245976"/>
                </a:lnTo>
                <a:lnTo>
                  <a:pt x="1249232" y="3260838"/>
                </a:lnTo>
                <a:lnTo>
                  <a:pt x="1297754" y="3274929"/>
                </a:lnTo>
                <a:lnTo>
                  <a:pt x="1346448" y="3288306"/>
                </a:lnTo>
                <a:lnTo>
                  <a:pt x="1395300" y="3301025"/>
                </a:lnTo>
                <a:lnTo>
                  <a:pt x="1444297" y="3313142"/>
                </a:lnTo>
                <a:lnTo>
                  <a:pt x="1493424" y="3324712"/>
                </a:lnTo>
                <a:lnTo>
                  <a:pt x="1542668" y="3335793"/>
                </a:lnTo>
                <a:lnTo>
                  <a:pt x="1592016" y="3346440"/>
                </a:lnTo>
                <a:lnTo>
                  <a:pt x="1641452" y="3356709"/>
                </a:lnTo>
                <a:lnTo>
                  <a:pt x="1690964" y="3366657"/>
                </a:lnTo>
                <a:lnTo>
                  <a:pt x="1790157" y="3385812"/>
                </a:lnTo>
                <a:lnTo>
                  <a:pt x="2038485" y="3431995"/>
                </a:lnTo>
                <a:lnTo>
                  <a:pt x="2137663" y="3450966"/>
                </a:lnTo>
                <a:lnTo>
                  <a:pt x="2187164" y="3460782"/>
                </a:lnTo>
                <a:lnTo>
                  <a:pt x="2236587" y="3470893"/>
                </a:lnTo>
                <a:lnTo>
                  <a:pt x="2285919" y="3481356"/>
                </a:lnTo>
                <a:lnTo>
                  <a:pt x="2335146" y="3492226"/>
                </a:lnTo>
                <a:lnTo>
                  <a:pt x="2384254" y="3503560"/>
                </a:lnTo>
                <a:lnTo>
                  <a:pt x="2433229" y="3515414"/>
                </a:lnTo>
                <a:lnTo>
                  <a:pt x="2482057" y="3527843"/>
                </a:lnTo>
                <a:lnTo>
                  <a:pt x="2530724" y="3540904"/>
                </a:lnTo>
                <a:lnTo>
                  <a:pt x="2579217" y="3554653"/>
                </a:lnTo>
                <a:lnTo>
                  <a:pt x="2627522" y="3569146"/>
                </a:lnTo>
                <a:lnTo>
                  <a:pt x="2675625" y="3584440"/>
                </a:lnTo>
                <a:lnTo>
                  <a:pt x="2723511" y="3600589"/>
                </a:lnTo>
                <a:lnTo>
                  <a:pt x="2771167" y="3617651"/>
                </a:lnTo>
                <a:lnTo>
                  <a:pt x="2818580" y="3635681"/>
                </a:lnTo>
                <a:lnTo>
                  <a:pt x="2865734" y="3654736"/>
                </a:lnTo>
                <a:lnTo>
                  <a:pt x="2912618" y="3674872"/>
                </a:lnTo>
                <a:lnTo>
                  <a:pt x="2897137" y="3706824"/>
                </a:lnTo>
                <a:lnTo>
                  <a:pt x="2871771" y="3728111"/>
                </a:lnTo>
                <a:lnTo>
                  <a:pt x="2840862" y="3744115"/>
                </a:lnTo>
                <a:lnTo>
                  <a:pt x="2808753" y="3760218"/>
                </a:lnTo>
                <a:lnTo>
                  <a:pt x="2779788" y="3781805"/>
                </a:lnTo>
                <a:lnTo>
                  <a:pt x="2758309" y="3814258"/>
                </a:lnTo>
                <a:lnTo>
                  <a:pt x="2748661" y="3862958"/>
                </a:lnTo>
                <a:lnTo>
                  <a:pt x="2791576" y="3880957"/>
                </a:lnTo>
                <a:lnTo>
                  <a:pt x="2835215" y="3896296"/>
                </a:lnTo>
                <a:lnTo>
                  <a:pt x="2879515" y="3909284"/>
                </a:lnTo>
                <a:lnTo>
                  <a:pt x="2924413" y="3920229"/>
                </a:lnTo>
                <a:lnTo>
                  <a:pt x="2969846" y="3929440"/>
                </a:lnTo>
                <a:lnTo>
                  <a:pt x="3015753" y="3937224"/>
                </a:lnTo>
                <a:lnTo>
                  <a:pt x="3062071" y="3943891"/>
                </a:lnTo>
                <a:lnTo>
                  <a:pt x="3108737" y="3949747"/>
                </a:lnTo>
                <a:lnTo>
                  <a:pt x="3250199" y="3965543"/>
                </a:lnTo>
                <a:lnTo>
                  <a:pt x="3297634" y="3971244"/>
                </a:lnTo>
                <a:lnTo>
                  <a:pt x="3345104" y="3977677"/>
                </a:lnTo>
                <a:lnTo>
                  <a:pt x="3392548" y="3985150"/>
                </a:lnTo>
                <a:lnTo>
                  <a:pt x="3439902" y="3993971"/>
                </a:lnTo>
                <a:lnTo>
                  <a:pt x="3487105" y="4004449"/>
                </a:lnTo>
                <a:lnTo>
                  <a:pt x="3534095" y="4016892"/>
                </a:lnTo>
                <a:lnTo>
                  <a:pt x="3580807" y="4031608"/>
                </a:lnTo>
                <a:lnTo>
                  <a:pt x="3627181" y="4048906"/>
                </a:lnTo>
                <a:lnTo>
                  <a:pt x="3673154" y="4069094"/>
                </a:lnTo>
                <a:lnTo>
                  <a:pt x="3718662" y="4092479"/>
                </a:lnTo>
                <a:lnTo>
                  <a:pt x="3763645" y="4119372"/>
                </a:lnTo>
                <a:lnTo>
                  <a:pt x="3719987" y="4137412"/>
                </a:lnTo>
                <a:lnTo>
                  <a:pt x="3676839" y="4147735"/>
                </a:lnTo>
                <a:lnTo>
                  <a:pt x="3634142" y="4151724"/>
                </a:lnTo>
                <a:lnTo>
                  <a:pt x="3591839" y="4150764"/>
                </a:lnTo>
                <a:lnTo>
                  <a:pt x="3549871" y="4146240"/>
                </a:lnTo>
                <a:lnTo>
                  <a:pt x="3508180" y="4139538"/>
                </a:lnTo>
                <a:lnTo>
                  <a:pt x="3466707" y="4132041"/>
                </a:lnTo>
                <a:lnTo>
                  <a:pt x="3425394" y="4125136"/>
                </a:lnTo>
                <a:lnTo>
                  <a:pt x="3384184" y="4120207"/>
                </a:lnTo>
                <a:lnTo>
                  <a:pt x="3343017" y="4118638"/>
                </a:lnTo>
                <a:lnTo>
                  <a:pt x="3301835" y="4121815"/>
                </a:lnTo>
                <a:lnTo>
                  <a:pt x="3260581" y="4131123"/>
                </a:lnTo>
                <a:lnTo>
                  <a:pt x="3219196" y="4147947"/>
                </a:lnTo>
                <a:lnTo>
                  <a:pt x="3223499" y="4154538"/>
                </a:lnTo>
                <a:lnTo>
                  <a:pt x="3256112" y="4179690"/>
                </a:lnTo>
                <a:lnTo>
                  <a:pt x="3293328" y="4200646"/>
                </a:lnTo>
                <a:lnTo>
                  <a:pt x="3342043" y="4224682"/>
                </a:lnTo>
                <a:lnTo>
                  <a:pt x="3401501" y="4251564"/>
                </a:lnTo>
                <a:lnTo>
                  <a:pt x="3470948" y="4281061"/>
                </a:lnTo>
                <a:lnTo>
                  <a:pt x="3509181" y="4296716"/>
                </a:lnTo>
                <a:lnTo>
                  <a:pt x="3549629" y="4312938"/>
                </a:lnTo>
                <a:lnTo>
                  <a:pt x="3592196" y="4329697"/>
                </a:lnTo>
                <a:lnTo>
                  <a:pt x="3683311" y="4364709"/>
                </a:lnTo>
                <a:lnTo>
                  <a:pt x="3781772" y="4401520"/>
                </a:lnTo>
                <a:lnTo>
                  <a:pt x="3886823" y="4439897"/>
                </a:lnTo>
                <a:lnTo>
                  <a:pt x="3997711" y="4479607"/>
                </a:lnTo>
                <a:lnTo>
                  <a:pt x="4113679" y="4520418"/>
                </a:lnTo>
                <a:lnTo>
                  <a:pt x="4233973" y="4562097"/>
                </a:lnTo>
                <a:lnTo>
                  <a:pt x="4357837" y="4604410"/>
                </a:lnTo>
                <a:lnTo>
                  <a:pt x="4548676" y="4668561"/>
                </a:lnTo>
                <a:lnTo>
                  <a:pt x="4743302" y="4732830"/>
                </a:lnTo>
                <a:lnTo>
                  <a:pt x="4939167" y="4796433"/>
                </a:lnTo>
                <a:lnTo>
                  <a:pt x="5133721" y="4858582"/>
                </a:lnTo>
                <a:lnTo>
                  <a:pt x="5324416" y="4918493"/>
                </a:lnTo>
                <a:lnTo>
                  <a:pt x="5508705" y="4975380"/>
                </a:lnTo>
                <a:lnTo>
                  <a:pt x="5684039" y="5028456"/>
                </a:lnTo>
                <a:lnTo>
                  <a:pt x="5794695" y="5061335"/>
                </a:lnTo>
                <a:lnTo>
                  <a:pt x="5899483" y="5091939"/>
                </a:lnTo>
                <a:lnTo>
                  <a:pt x="5997648" y="5120034"/>
                </a:lnTo>
                <a:lnTo>
                  <a:pt x="6088435" y="5145388"/>
                </a:lnTo>
                <a:lnTo>
                  <a:pt x="6171090" y="5167769"/>
                </a:lnTo>
                <a:lnTo>
                  <a:pt x="6244856" y="5186942"/>
                </a:lnTo>
                <a:lnTo>
                  <a:pt x="6308980" y="5202676"/>
                </a:lnTo>
                <a:lnTo>
                  <a:pt x="6362705" y="5214738"/>
                </a:lnTo>
                <a:lnTo>
                  <a:pt x="6587188" y="5257820"/>
                </a:lnTo>
                <a:lnTo>
                  <a:pt x="7049095" y="5342887"/>
                </a:lnTo>
                <a:lnTo>
                  <a:pt x="7816761" y="5479761"/>
                </a:lnTo>
                <a:lnTo>
                  <a:pt x="8834475" y="5656272"/>
                </a:lnTo>
                <a:lnTo>
                  <a:pt x="9711892" y="5804485"/>
                </a:lnTo>
                <a:lnTo>
                  <a:pt x="10286111" y="5898730"/>
                </a:lnTo>
                <a:lnTo>
                  <a:pt x="10424160" y="5920740"/>
                </a:lnTo>
                <a:lnTo>
                  <a:pt x="10424160" y="0"/>
                </a:lnTo>
                <a:close/>
              </a:path>
            </a:pathLst>
          </a:custGeom>
          <a:solidFill>
            <a:srgbClr val="E7E6E6">
              <a:alpha val="50195"/>
            </a:srgbClr>
          </a:solidFill>
        </p:spPr>
        <p:txBody>
          <a:bodyPr wrap="square" lIns="0" tIns="0" rIns="0" bIns="0" rtlCol="0"/>
          <a:lstStyle/>
          <a:p>
            <a:endParaRPr/>
          </a:p>
        </p:txBody>
      </p:sp>
      <p:sp>
        <p:nvSpPr>
          <p:cNvPr id="3" name="object 3"/>
          <p:cNvSpPr txBox="1">
            <a:spLocks noGrp="1"/>
          </p:cNvSpPr>
          <p:nvPr>
            <p:ph type="title"/>
          </p:nvPr>
        </p:nvSpPr>
        <p:spPr>
          <a:xfrm>
            <a:off x="890727" y="352806"/>
            <a:ext cx="5365750" cy="696595"/>
          </a:xfrm>
          <a:prstGeom prst="rect">
            <a:avLst/>
          </a:prstGeom>
        </p:spPr>
        <p:txBody>
          <a:bodyPr vert="horz" wrap="square" lIns="0" tIns="12700" rIns="0" bIns="0" rtlCol="0">
            <a:spAutoFit/>
          </a:bodyPr>
          <a:lstStyle/>
          <a:p>
            <a:pPr marL="12700">
              <a:lnSpc>
                <a:spcPct val="100000"/>
              </a:lnSpc>
              <a:spcBef>
                <a:spcPts val="100"/>
              </a:spcBef>
            </a:pPr>
            <a:r>
              <a:rPr sz="4400" spc="-40" dirty="0"/>
              <a:t>Adaptive</a:t>
            </a:r>
            <a:r>
              <a:rPr sz="4400" spc="-114" dirty="0"/>
              <a:t> </a:t>
            </a:r>
            <a:r>
              <a:rPr sz="4400" spc="-35" dirty="0"/>
              <a:t>Models</a:t>
            </a:r>
            <a:r>
              <a:rPr sz="4400" spc="-100" dirty="0"/>
              <a:t> </a:t>
            </a:r>
            <a:r>
              <a:rPr sz="4400" dirty="0"/>
              <a:t>-</a:t>
            </a:r>
            <a:r>
              <a:rPr sz="4400" spc="-50" dirty="0"/>
              <a:t> </a:t>
            </a:r>
            <a:r>
              <a:rPr sz="4400" spc="-40" dirty="0"/>
              <a:t>Spiral</a:t>
            </a:r>
            <a:endParaRPr sz="4400" dirty="0"/>
          </a:p>
        </p:txBody>
      </p:sp>
      <p:pic>
        <p:nvPicPr>
          <p:cNvPr id="4" name="object 4"/>
          <p:cNvPicPr/>
          <p:nvPr/>
        </p:nvPicPr>
        <p:blipFill>
          <a:blip r:embed="rId2" cstate="print"/>
          <a:stretch>
            <a:fillRect/>
          </a:stretch>
        </p:blipFill>
        <p:spPr>
          <a:xfrm>
            <a:off x="89915" y="1156772"/>
            <a:ext cx="5421902" cy="5213563"/>
          </a:xfrm>
          <a:prstGeom prst="rect">
            <a:avLst/>
          </a:prstGeom>
        </p:spPr>
      </p:pic>
      <p:sp>
        <p:nvSpPr>
          <p:cNvPr id="5" name="object 5"/>
          <p:cNvSpPr txBox="1"/>
          <p:nvPr/>
        </p:nvSpPr>
        <p:spPr>
          <a:xfrm>
            <a:off x="5605653" y="1346454"/>
            <a:ext cx="6115050" cy="4497070"/>
          </a:xfrm>
          <a:prstGeom prst="rect">
            <a:avLst/>
          </a:prstGeom>
        </p:spPr>
        <p:txBody>
          <a:bodyPr vert="horz" wrap="square" lIns="0" tIns="12065" rIns="0" bIns="0" rtlCol="0">
            <a:spAutoFit/>
          </a:bodyPr>
          <a:lstStyle/>
          <a:p>
            <a:pPr marL="241300" indent="-228600">
              <a:lnSpc>
                <a:spcPts val="2245"/>
              </a:lnSpc>
              <a:spcBef>
                <a:spcPts val="95"/>
              </a:spcBef>
              <a:buFont typeface="Arial MT"/>
              <a:buChar char="•"/>
              <a:tabLst>
                <a:tab pos="240665" algn="l"/>
                <a:tab pos="241300" algn="l"/>
              </a:tabLst>
            </a:pPr>
            <a:r>
              <a:rPr sz="2200" b="1" u="heavy" spc="-10" dirty="0">
                <a:uFill>
                  <a:solidFill>
                    <a:srgbClr val="000000"/>
                  </a:solidFill>
                </a:uFill>
                <a:latin typeface="Calibri"/>
                <a:cs typeface="Calibri"/>
              </a:rPr>
              <a:t>Planning</a:t>
            </a:r>
            <a:r>
              <a:rPr sz="2200" b="1" u="heavy" spc="5" dirty="0">
                <a:uFill>
                  <a:solidFill>
                    <a:srgbClr val="000000"/>
                  </a:solidFill>
                </a:uFill>
                <a:latin typeface="Calibri"/>
                <a:cs typeface="Calibri"/>
              </a:rPr>
              <a:t> </a:t>
            </a:r>
            <a:r>
              <a:rPr sz="2200" b="1" u="heavy" spc="-5" dirty="0">
                <a:uFill>
                  <a:solidFill>
                    <a:srgbClr val="000000"/>
                  </a:solidFill>
                </a:uFill>
                <a:latin typeface="Calibri"/>
                <a:cs typeface="Calibri"/>
              </a:rPr>
              <a:t>Phase:</a:t>
            </a:r>
            <a:r>
              <a:rPr sz="2200" b="1" u="heavy" spc="30" dirty="0">
                <a:uFill>
                  <a:solidFill>
                    <a:srgbClr val="000000"/>
                  </a:solidFill>
                </a:uFill>
                <a:latin typeface="Calibri"/>
                <a:cs typeface="Calibri"/>
              </a:rPr>
              <a:t> </a:t>
            </a:r>
            <a:r>
              <a:rPr sz="2200" spc="-15" dirty="0">
                <a:latin typeface="Calibri"/>
                <a:cs typeface="Calibri"/>
              </a:rPr>
              <a:t>Requirements</a:t>
            </a:r>
            <a:r>
              <a:rPr sz="2200" spc="30" dirty="0">
                <a:latin typeface="Calibri"/>
                <a:cs typeface="Calibri"/>
              </a:rPr>
              <a:t> </a:t>
            </a:r>
            <a:r>
              <a:rPr sz="2200" spc="-10" dirty="0">
                <a:latin typeface="Calibri"/>
                <a:cs typeface="Calibri"/>
              </a:rPr>
              <a:t>are</a:t>
            </a:r>
            <a:r>
              <a:rPr sz="2200" spc="5" dirty="0">
                <a:latin typeface="Calibri"/>
                <a:cs typeface="Calibri"/>
              </a:rPr>
              <a:t> </a:t>
            </a:r>
            <a:r>
              <a:rPr sz="2200" spc="-15" dirty="0">
                <a:latin typeface="Calibri"/>
                <a:cs typeface="Calibri"/>
              </a:rPr>
              <a:t>gathered</a:t>
            </a:r>
            <a:r>
              <a:rPr sz="2200" spc="5" dirty="0">
                <a:latin typeface="Calibri"/>
                <a:cs typeface="Calibri"/>
              </a:rPr>
              <a:t> </a:t>
            </a:r>
            <a:r>
              <a:rPr sz="2200" spc="-10" dirty="0">
                <a:latin typeface="Calibri"/>
                <a:cs typeface="Calibri"/>
              </a:rPr>
              <a:t>during</a:t>
            </a:r>
            <a:endParaRPr sz="2200" dirty="0">
              <a:latin typeface="Calibri"/>
              <a:cs typeface="Calibri"/>
            </a:endParaRPr>
          </a:p>
          <a:p>
            <a:pPr marL="241300">
              <a:lnSpc>
                <a:spcPts val="1850"/>
              </a:lnSpc>
            </a:pPr>
            <a:r>
              <a:rPr sz="2200" spc="-5" dirty="0">
                <a:latin typeface="Calibri"/>
                <a:cs typeface="Calibri"/>
              </a:rPr>
              <a:t>the</a:t>
            </a:r>
            <a:r>
              <a:rPr sz="2200" spc="10" dirty="0">
                <a:latin typeface="Calibri"/>
                <a:cs typeface="Calibri"/>
              </a:rPr>
              <a:t> </a:t>
            </a:r>
            <a:r>
              <a:rPr sz="2200" spc="-10" dirty="0">
                <a:latin typeface="Calibri"/>
                <a:cs typeface="Calibri"/>
              </a:rPr>
              <a:t>planning</a:t>
            </a:r>
            <a:r>
              <a:rPr sz="2200" spc="-25" dirty="0">
                <a:latin typeface="Calibri"/>
                <a:cs typeface="Calibri"/>
              </a:rPr>
              <a:t> </a:t>
            </a:r>
            <a:r>
              <a:rPr sz="2200" spc="-5" dirty="0">
                <a:latin typeface="Calibri"/>
                <a:cs typeface="Calibri"/>
              </a:rPr>
              <a:t>phase</a:t>
            </a:r>
            <a:r>
              <a:rPr sz="2200" dirty="0">
                <a:latin typeface="Calibri"/>
                <a:cs typeface="Calibri"/>
              </a:rPr>
              <a:t> </a:t>
            </a:r>
            <a:r>
              <a:rPr sz="2200" spc="-5" dirty="0">
                <a:latin typeface="Calibri"/>
                <a:cs typeface="Calibri"/>
              </a:rPr>
              <a:t>(Business</a:t>
            </a:r>
            <a:r>
              <a:rPr sz="2200" spc="10" dirty="0">
                <a:latin typeface="Calibri"/>
                <a:cs typeface="Calibri"/>
              </a:rPr>
              <a:t> </a:t>
            </a:r>
            <a:r>
              <a:rPr sz="2200" spc="-15" dirty="0">
                <a:latin typeface="Calibri"/>
                <a:cs typeface="Calibri"/>
              </a:rPr>
              <a:t>Requirement</a:t>
            </a:r>
            <a:endParaRPr sz="2200" dirty="0">
              <a:latin typeface="Calibri"/>
              <a:cs typeface="Calibri"/>
            </a:endParaRPr>
          </a:p>
          <a:p>
            <a:pPr marL="241300">
              <a:lnSpc>
                <a:spcPts val="1850"/>
              </a:lnSpc>
            </a:pPr>
            <a:r>
              <a:rPr sz="2200" spc="-10" dirty="0">
                <a:latin typeface="Calibri"/>
                <a:cs typeface="Calibri"/>
              </a:rPr>
              <a:t>Specifications-BRS</a:t>
            </a:r>
            <a:r>
              <a:rPr sz="2200" spc="10" dirty="0">
                <a:latin typeface="Calibri"/>
                <a:cs typeface="Calibri"/>
              </a:rPr>
              <a:t> </a:t>
            </a:r>
            <a:r>
              <a:rPr sz="2200" spc="-5" dirty="0">
                <a:latin typeface="Calibri"/>
                <a:cs typeface="Calibri"/>
              </a:rPr>
              <a:t>&amp;</a:t>
            </a:r>
            <a:r>
              <a:rPr sz="2200" dirty="0">
                <a:latin typeface="Calibri"/>
                <a:cs typeface="Calibri"/>
              </a:rPr>
              <a:t> </a:t>
            </a:r>
            <a:r>
              <a:rPr sz="2200" spc="-20" dirty="0">
                <a:latin typeface="Calibri"/>
                <a:cs typeface="Calibri"/>
              </a:rPr>
              <a:t>System</a:t>
            </a:r>
            <a:r>
              <a:rPr sz="2200" spc="20" dirty="0">
                <a:latin typeface="Calibri"/>
                <a:cs typeface="Calibri"/>
              </a:rPr>
              <a:t> </a:t>
            </a:r>
            <a:r>
              <a:rPr sz="2200" spc="-10" dirty="0">
                <a:latin typeface="Calibri"/>
                <a:cs typeface="Calibri"/>
              </a:rPr>
              <a:t>Requirement</a:t>
            </a:r>
            <a:endParaRPr sz="2200" dirty="0">
              <a:latin typeface="Calibri"/>
              <a:cs typeface="Calibri"/>
            </a:endParaRPr>
          </a:p>
          <a:p>
            <a:pPr marL="241300">
              <a:lnSpc>
                <a:spcPts val="2245"/>
              </a:lnSpc>
            </a:pPr>
            <a:r>
              <a:rPr sz="2200" spc="-10" dirty="0">
                <a:latin typeface="Calibri"/>
                <a:cs typeface="Calibri"/>
              </a:rPr>
              <a:t>specifications-SRS)</a:t>
            </a:r>
            <a:endParaRPr sz="2200" dirty="0">
              <a:latin typeface="Calibri"/>
              <a:cs typeface="Calibri"/>
            </a:endParaRPr>
          </a:p>
          <a:p>
            <a:pPr marL="241300" indent="-228600">
              <a:lnSpc>
                <a:spcPts val="2245"/>
              </a:lnSpc>
              <a:spcBef>
                <a:spcPts val="204"/>
              </a:spcBef>
              <a:buFont typeface="Arial MT"/>
              <a:buChar char="•"/>
              <a:tabLst>
                <a:tab pos="240665" algn="l"/>
                <a:tab pos="241300" algn="l"/>
              </a:tabLst>
            </a:pPr>
            <a:r>
              <a:rPr sz="2200" b="1" u="heavy" spc="-5" dirty="0">
                <a:uFill>
                  <a:solidFill>
                    <a:srgbClr val="000000"/>
                  </a:solidFill>
                </a:uFill>
                <a:latin typeface="Calibri"/>
                <a:cs typeface="Calibri"/>
              </a:rPr>
              <a:t>Risk Analysis: </a:t>
            </a:r>
            <a:r>
              <a:rPr sz="2200" spc="-5" dirty="0">
                <a:latin typeface="Calibri"/>
                <a:cs typeface="Calibri"/>
              </a:rPr>
              <a:t>In</a:t>
            </a:r>
            <a:r>
              <a:rPr sz="2200" spc="10" dirty="0">
                <a:latin typeface="Calibri"/>
                <a:cs typeface="Calibri"/>
              </a:rPr>
              <a:t> </a:t>
            </a:r>
            <a:r>
              <a:rPr sz="2200" spc="-5" dirty="0">
                <a:latin typeface="Calibri"/>
                <a:cs typeface="Calibri"/>
              </a:rPr>
              <a:t>the</a:t>
            </a:r>
            <a:r>
              <a:rPr sz="2200" spc="5" dirty="0">
                <a:latin typeface="Calibri"/>
                <a:cs typeface="Calibri"/>
              </a:rPr>
              <a:t> </a:t>
            </a:r>
            <a:r>
              <a:rPr sz="2200" spc="-5" dirty="0">
                <a:latin typeface="Calibri"/>
                <a:cs typeface="Calibri"/>
              </a:rPr>
              <a:t>risk</a:t>
            </a:r>
            <a:r>
              <a:rPr sz="2200" spc="5" dirty="0">
                <a:latin typeface="Calibri"/>
                <a:cs typeface="Calibri"/>
              </a:rPr>
              <a:t> </a:t>
            </a:r>
            <a:r>
              <a:rPr sz="2200" spc="-5" dirty="0">
                <a:latin typeface="Calibri"/>
                <a:cs typeface="Calibri"/>
              </a:rPr>
              <a:t>analysis</a:t>
            </a:r>
            <a:r>
              <a:rPr sz="2200" dirty="0">
                <a:latin typeface="Calibri"/>
                <a:cs typeface="Calibri"/>
              </a:rPr>
              <a:t> </a:t>
            </a:r>
            <a:r>
              <a:rPr sz="2200" spc="-5" dirty="0">
                <a:latin typeface="Calibri"/>
                <a:cs typeface="Calibri"/>
              </a:rPr>
              <a:t>phase,</a:t>
            </a:r>
            <a:r>
              <a:rPr sz="2200" dirty="0">
                <a:latin typeface="Calibri"/>
                <a:cs typeface="Calibri"/>
              </a:rPr>
              <a:t> </a:t>
            </a:r>
            <a:r>
              <a:rPr sz="2200" spc="-5" dirty="0">
                <a:latin typeface="Calibri"/>
                <a:cs typeface="Calibri"/>
              </a:rPr>
              <a:t>a</a:t>
            </a:r>
            <a:r>
              <a:rPr sz="2200" dirty="0">
                <a:latin typeface="Calibri"/>
                <a:cs typeface="Calibri"/>
              </a:rPr>
              <a:t> </a:t>
            </a:r>
            <a:r>
              <a:rPr sz="2200" spc="-10" dirty="0">
                <a:latin typeface="Calibri"/>
                <a:cs typeface="Calibri"/>
              </a:rPr>
              <a:t>process</a:t>
            </a:r>
            <a:r>
              <a:rPr sz="2200" spc="15" dirty="0">
                <a:latin typeface="Calibri"/>
                <a:cs typeface="Calibri"/>
              </a:rPr>
              <a:t> </a:t>
            </a:r>
            <a:r>
              <a:rPr sz="2200" spc="-5" dirty="0">
                <a:latin typeface="Calibri"/>
                <a:cs typeface="Calibri"/>
              </a:rPr>
              <a:t>is</a:t>
            </a:r>
            <a:endParaRPr sz="2200" dirty="0">
              <a:latin typeface="Calibri"/>
              <a:cs typeface="Calibri"/>
            </a:endParaRPr>
          </a:p>
          <a:p>
            <a:pPr marL="241300">
              <a:lnSpc>
                <a:spcPts val="1850"/>
              </a:lnSpc>
            </a:pPr>
            <a:r>
              <a:rPr sz="2200" spc="-20" dirty="0">
                <a:latin typeface="Calibri"/>
                <a:cs typeface="Calibri"/>
              </a:rPr>
              <a:t>undertaken</a:t>
            </a:r>
            <a:r>
              <a:rPr sz="2200" dirty="0">
                <a:latin typeface="Calibri"/>
                <a:cs typeface="Calibri"/>
              </a:rPr>
              <a:t> </a:t>
            </a:r>
            <a:r>
              <a:rPr sz="2200" spc="-15" dirty="0">
                <a:latin typeface="Calibri"/>
                <a:cs typeface="Calibri"/>
              </a:rPr>
              <a:t>to</a:t>
            </a:r>
            <a:r>
              <a:rPr sz="2200" spc="10" dirty="0">
                <a:latin typeface="Calibri"/>
                <a:cs typeface="Calibri"/>
              </a:rPr>
              <a:t> </a:t>
            </a:r>
            <a:r>
              <a:rPr sz="2200" spc="-5" dirty="0">
                <a:latin typeface="Calibri"/>
                <a:cs typeface="Calibri"/>
              </a:rPr>
              <a:t>identify</a:t>
            </a:r>
            <a:r>
              <a:rPr sz="2200" spc="25" dirty="0">
                <a:latin typeface="Calibri"/>
                <a:cs typeface="Calibri"/>
              </a:rPr>
              <a:t> </a:t>
            </a:r>
            <a:r>
              <a:rPr sz="2200" spc="-5" dirty="0">
                <a:latin typeface="Calibri"/>
                <a:cs typeface="Calibri"/>
              </a:rPr>
              <a:t>risk</a:t>
            </a:r>
            <a:r>
              <a:rPr sz="2200" spc="5" dirty="0">
                <a:latin typeface="Calibri"/>
                <a:cs typeface="Calibri"/>
              </a:rPr>
              <a:t> </a:t>
            </a:r>
            <a:r>
              <a:rPr sz="2200" spc="-5" dirty="0">
                <a:latin typeface="Calibri"/>
                <a:cs typeface="Calibri"/>
              </a:rPr>
              <a:t>and </a:t>
            </a:r>
            <a:r>
              <a:rPr sz="2200" spc="-15" dirty="0">
                <a:latin typeface="Calibri"/>
                <a:cs typeface="Calibri"/>
              </a:rPr>
              <a:t>alternate</a:t>
            </a:r>
            <a:r>
              <a:rPr sz="2200" spc="5" dirty="0">
                <a:latin typeface="Calibri"/>
                <a:cs typeface="Calibri"/>
              </a:rPr>
              <a:t> </a:t>
            </a:r>
            <a:r>
              <a:rPr sz="2200" spc="-5" dirty="0">
                <a:latin typeface="Calibri"/>
                <a:cs typeface="Calibri"/>
              </a:rPr>
              <a:t>solutions</a:t>
            </a:r>
            <a:endParaRPr sz="2200" dirty="0">
              <a:latin typeface="Calibri"/>
              <a:cs typeface="Calibri"/>
            </a:endParaRPr>
          </a:p>
          <a:p>
            <a:pPr marL="241300">
              <a:lnSpc>
                <a:spcPts val="1850"/>
              </a:lnSpc>
            </a:pPr>
            <a:r>
              <a:rPr sz="2200" spc="-15" dirty="0">
                <a:latin typeface="Calibri"/>
                <a:cs typeface="Calibri"/>
              </a:rPr>
              <a:t>(prototype</a:t>
            </a:r>
            <a:r>
              <a:rPr sz="2200" spc="15" dirty="0">
                <a:latin typeface="Calibri"/>
                <a:cs typeface="Calibri"/>
              </a:rPr>
              <a:t> </a:t>
            </a:r>
            <a:r>
              <a:rPr sz="2200" spc="-5" dirty="0">
                <a:latin typeface="Calibri"/>
                <a:cs typeface="Calibri"/>
              </a:rPr>
              <a:t>is</a:t>
            </a:r>
            <a:r>
              <a:rPr sz="2200" spc="5" dirty="0">
                <a:latin typeface="Calibri"/>
                <a:cs typeface="Calibri"/>
              </a:rPr>
              <a:t> </a:t>
            </a:r>
            <a:r>
              <a:rPr sz="2200" spc="-15" dirty="0">
                <a:latin typeface="Calibri"/>
                <a:cs typeface="Calibri"/>
              </a:rPr>
              <a:t>produced</a:t>
            </a:r>
            <a:r>
              <a:rPr sz="2200" spc="-5" dirty="0">
                <a:latin typeface="Calibri"/>
                <a:cs typeface="Calibri"/>
              </a:rPr>
              <a:t> </a:t>
            </a:r>
            <a:r>
              <a:rPr sz="2200" spc="-15" dirty="0">
                <a:latin typeface="Calibri"/>
                <a:cs typeface="Calibri"/>
              </a:rPr>
              <a:t>at</a:t>
            </a:r>
            <a:r>
              <a:rPr sz="2200" dirty="0">
                <a:latin typeface="Calibri"/>
                <a:cs typeface="Calibri"/>
              </a:rPr>
              <a:t> </a:t>
            </a:r>
            <a:r>
              <a:rPr sz="2200" spc="-5" dirty="0">
                <a:latin typeface="Calibri"/>
                <a:cs typeface="Calibri"/>
              </a:rPr>
              <a:t>the</a:t>
            </a:r>
            <a:r>
              <a:rPr sz="2200" spc="15" dirty="0">
                <a:latin typeface="Calibri"/>
                <a:cs typeface="Calibri"/>
              </a:rPr>
              <a:t> </a:t>
            </a:r>
            <a:r>
              <a:rPr sz="2200" spc="-5" dirty="0">
                <a:latin typeface="Calibri"/>
                <a:cs typeface="Calibri"/>
              </a:rPr>
              <a:t>end</a:t>
            </a:r>
            <a:r>
              <a:rPr sz="2200" spc="5" dirty="0">
                <a:latin typeface="Calibri"/>
                <a:cs typeface="Calibri"/>
              </a:rPr>
              <a:t> </a:t>
            </a:r>
            <a:r>
              <a:rPr sz="2200" dirty="0">
                <a:latin typeface="Calibri"/>
                <a:cs typeface="Calibri"/>
              </a:rPr>
              <a:t>of</a:t>
            </a:r>
            <a:r>
              <a:rPr sz="2200" spc="10" dirty="0">
                <a:latin typeface="Calibri"/>
                <a:cs typeface="Calibri"/>
              </a:rPr>
              <a:t> </a:t>
            </a:r>
            <a:r>
              <a:rPr sz="2200" spc="-5" dirty="0">
                <a:latin typeface="Calibri"/>
                <a:cs typeface="Calibri"/>
              </a:rPr>
              <a:t>the</a:t>
            </a:r>
            <a:r>
              <a:rPr sz="2200" dirty="0">
                <a:latin typeface="Calibri"/>
                <a:cs typeface="Calibri"/>
              </a:rPr>
              <a:t> </a:t>
            </a:r>
            <a:r>
              <a:rPr sz="2200" spc="-5" dirty="0">
                <a:latin typeface="Calibri"/>
                <a:cs typeface="Calibri"/>
              </a:rPr>
              <a:t>risk</a:t>
            </a:r>
            <a:endParaRPr sz="2200" dirty="0">
              <a:latin typeface="Calibri"/>
              <a:cs typeface="Calibri"/>
            </a:endParaRPr>
          </a:p>
          <a:p>
            <a:pPr marL="241300">
              <a:lnSpc>
                <a:spcPts val="1850"/>
              </a:lnSpc>
            </a:pPr>
            <a:r>
              <a:rPr sz="2200" spc="-5" dirty="0">
                <a:latin typeface="Calibri"/>
                <a:cs typeface="Calibri"/>
              </a:rPr>
              <a:t>analysis</a:t>
            </a:r>
            <a:r>
              <a:rPr sz="2200" spc="-20" dirty="0">
                <a:latin typeface="Calibri"/>
                <a:cs typeface="Calibri"/>
              </a:rPr>
              <a:t> </a:t>
            </a:r>
            <a:r>
              <a:rPr sz="2200" spc="-5" dirty="0">
                <a:latin typeface="Calibri"/>
                <a:cs typeface="Calibri"/>
              </a:rPr>
              <a:t>phase &amp;</a:t>
            </a:r>
            <a:r>
              <a:rPr sz="2200" spc="-10" dirty="0">
                <a:latin typeface="Calibri"/>
                <a:cs typeface="Calibri"/>
              </a:rPr>
              <a:t> </a:t>
            </a:r>
            <a:r>
              <a:rPr sz="2200" spc="-5" dirty="0">
                <a:latin typeface="Calibri"/>
                <a:cs typeface="Calibri"/>
              </a:rPr>
              <a:t>If </a:t>
            </a:r>
            <a:r>
              <a:rPr sz="2200" spc="-15" dirty="0">
                <a:latin typeface="Calibri"/>
                <a:cs typeface="Calibri"/>
              </a:rPr>
              <a:t>any</a:t>
            </a:r>
            <a:r>
              <a:rPr sz="2200" spc="-5" dirty="0">
                <a:latin typeface="Calibri"/>
                <a:cs typeface="Calibri"/>
              </a:rPr>
              <a:t> risk</a:t>
            </a:r>
            <a:r>
              <a:rPr sz="2200" spc="-15" dirty="0">
                <a:latin typeface="Calibri"/>
                <a:cs typeface="Calibri"/>
              </a:rPr>
              <a:t> </a:t>
            </a:r>
            <a:r>
              <a:rPr sz="2200" spc="-5" dirty="0">
                <a:latin typeface="Calibri"/>
                <a:cs typeface="Calibri"/>
              </a:rPr>
              <a:t>is</a:t>
            </a:r>
            <a:r>
              <a:rPr sz="2200" dirty="0">
                <a:latin typeface="Calibri"/>
                <a:cs typeface="Calibri"/>
              </a:rPr>
              <a:t> </a:t>
            </a:r>
            <a:r>
              <a:rPr sz="2200" spc="-15" dirty="0">
                <a:latin typeface="Calibri"/>
                <a:cs typeface="Calibri"/>
              </a:rPr>
              <a:t>found</a:t>
            </a:r>
            <a:r>
              <a:rPr sz="2200" spc="-10" dirty="0">
                <a:latin typeface="Calibri"/>
                <a:cs typeface="Calibri"/>
              </a:rPr>
              <a:t> </a:t>
            </a:r>
            <a:r>
              <a:rPr sz="2200" spc="-5" dirty="0">
                <a:latin typeface="Calibri"/>
                <a:cs typeface="Calibri"/>
              </a:rPr>
              <a:t>during</a:t>
            </a:r>
            <a:r>
              <a:rPr sz="2200" spc="-20" dirty="0">
                <a:latin typeface="Calibri"/>
                <a:cs typeface="Calibri"/>
              </a:rPr>
              <a:t> </a:t>
            </a:r>
            <a:r>
              <a:rPr sz="2200" spc="-5" dirty="0">
                <a:latin typeface="Calibri"/>
                <a:cs typeface="Calibri"/>
              </a:rPr>
              <a:t>the</a:t>
            </a:r>
            <a:r>
              <a:rPr sz="2200" dirty="0">
                <a:latin typeface="Calibri"/>
                <a:cs typeface="Calibri"/>
              </a:rPr>
              <a:t> risk</a:t>
            </a:r>
          </a:p>
          <a:p>
            <a:pPr marL="241300" marR="14604">
              <a:lnSpc>
                <a:spcPct val="70000"/>
              </a:lnSpc>
              <a:spcBef>
                <a:spcPts val="395"/>
              </a:spcBef>
            </a:pPr>
            <a:r>
              <a:rPr sz="2200" spc="-5" dirty="0">
                <a:latin typeface="Calibri"/>
                <a:cs typeface="Calibri"/>
              </a:rPr>
              <a:t>analysis,</a:t>
            </a:r>
            <a:r>
              <a:rPr sz="2200" spc="-20" dirty="0">
                <a:latin typeface="Calibri"/>
                <a:cs typeface="Calibri"/>
              </a:rPr>
              <a:t> </a:t>
            </a:r>
            <a:r>
              <a:rPr sz="2200" spc="-5" dirty="0">
                <a:latin typeface="Calibri"/>
                <a:cs typeface="Calibri"/>
              </a:rPr>
              <a:t>then</a:t>
            </a:r>
            <a:r>
              <a:rPr sz="2200" spc="10" dirty="0">
                <a:latin typeface="Calibri"/>
                <a:cs typeface="Calibri"/>
              </a:rPr>
              <a:t> </a:t>
            </a:r>
            <a:r>
              <a:rPr sz="2200" spc="-10" dirty="0">
                <a:latin typeface="Calibri"/>
                <a:cs typeface="Calibri"/>
              </a:rPr>
              <a:t>alternate</a:t>
            </a:r>
            <a:r>
              <a:rPr sz="2200" dirty="0">
                <a:latin typeface="Calibri"/>
                <a:cs typeface="Calibri"/>
              </a:rPr>
              <a:t> </a:t>
            </a:r>
            <a:r>
              <a:rPr sz="2200" spc="-5" dirty="0">
                <a:latin typeface="Calibri"/>
                <a:cs typeface="Calibri"/>
              </a:rPr>
              <a:t>solutions</a:t>
            </a:r>
            <a:r>
              <a:rPr sz="2200" spc="-20" dirty="0">
                <a:latin typeface="Calibri"/>
                <a:cs typeface="Calibri"/>
              </a:rPr>
              <a:t> </a:t>
            </a:r>
            <a:r>
              <a:rPr sz="2200" spc="-10" dirty="0">
                <a:latin typeface="Calibri"/>
                <a:cs typeface="Calibri"/>
              </a:rPr>
              <a:t>are</a:t>
            </a:r>
            <a:r>
              <a:rPr sz="2200" dirty="0">
                <a:latin typeface="Calibri"/>
                <a:cs typeface="Calibri"/>
              </a:rPr>
              <a:t> </a:t>
            </a:r>
            <a:r>
              <a:rPr sz="2200" spc="-15" dirty="0">
                <a:latin typeface="Calibri"/>
                <a:cs typeface="Calibri"/>
              </a:rPr>
              <a:t>suggested</a:t>
            </a:r>
            <a:r>
              <a:rPr sz="2200" spc="25" dirty="0">
                <a:latin typeface="Calibri"/>
                <a:cs typeface="Calibri"/>
              </a:rPr>
              <a:t> </a:t>
            </a:r>
            <a:r>
              <a:rPr sz="2200" spc="-5" dirty="0">
                <a:latin typeface="Calibri"/>
                <a:cs typeface="Calibri"/>
              </a:rPr>
              <a:t>and </a:t>
            </a:r>
            <a:r>
              <a:rPr sz="2200" spc="-484" dirty="0">
                <a:latin typeface="Calibri"/>
                <a:cs typeface="Calibri"/>
              </a:rPr>
              <a:t> </a:t>
            </a:r>
            <a:r>
              <a:rPr sz="2200" spc="-10" dirty="0">
                <a:latin typeface="Calibri"/>
                <a:cs typeface="Calibri"/>
              </a:rPr>
              <a:t>implemented).</a:t>
            </a:r>
            <a:endParaRPr sz="2200" dirty="0">
              <a:latin typeface="Calibri"/>
              <a:cs typeface="Calibri"/>
            </a:endParaRPr>
          </a:p>
          <a:p>
            <a:pPr marL="241300" indent="-228600">
              <a:lnSpc>
                <a:spcPts val="2245"/>
              </a:lnSpc>
              <a:spcBef>
                <a:spcPts val="215"/>
              </a:spcBef>
              <a:buFont typeface="Arial MT"/>
              <a:buChar char="•"/>
              <a:tabLst>
                <a:tab pos="240665" algn="l"/>
                <a:tab pos="241300" algn="l"/>
              </a:tabLst>
            </a:pPr>
            <a:r>
              <a:rPr sz="2200" b="1" u="heavy" spc="-10" dirty="0">
                <a:uFill>
                  <a:solidFill>
                    <a:srgbClr val="000000"/>
                  </a:solidFill>
                </a:uFill>
                <a:latin typeface="Calibri"/>
                <a:cs typeface="Calibri"/>
              </a:rPr>
              <a:t>Engineering</a:t>
            </a:r>
            <a:r>
              <a:rPr sz="2200" b="1" u="heavy" spc="5" dirty="0">
                <a:uFill>
                  <a:solidFill>
                    <a:srgbClr val="000000"/>
                  </a:solidFill>
                </a:uFill>
                <a:latin typeface="Calibri"/>
                <a:cs typeface="Calibri"/>
              </a:rPr>
              <a:t> </a:t>
            </a:r>
            <a:r>
              <a:rPr sz="2200" b="1" u="heavy" spc="-5" dirty="0">
                <a:uFill>
                  <a:solidFill>
                    <a:srgbClr val="000000"/>
                  </a:solidFill>
                </a:uFill>
                <a:latin typeface="Calibri"/>
                <a:cs typeface="Calibri"/>
              </a:rPr>
              <a:t>Phase:</a:t>
            </a:r>
            <a:r>
              <a:rPr sz="2200" b="1" u="heavy" spc="15" dirty="0">
                <a:uFill>
                  <a:solidFill>
                    <a:srgbClr val="000000"/>
                  </a:solidFill>
                </a:uFill>
                <a:latin typeface="Calibri"/>
                <a:cs typeface="Calibri"/>
              </a:rPr>
              <a:t> </a:t>
            </a:r>
            <a:r>
              <a:rPr sz="2200" spc="-5" dirty="0">
                <a:latin typeface="Calibri"/>
                <a:cs typeface="Calibri"/>
              </a:rPr>
              <a:t>In this phase</a:t>
            </a:r>
            <a:r>
              <a:rPr sz="2200" dirty="0">
                <a:latin typeface="Calibri"/>
                <a:cs typeface="Calibri"/>
              </a:rPr>
              <a:t> </a:t>
            </a:r>
            <a:r>
              <a:rPr sz="2200" spc="-10" dirty="0">
                <a:latin typeface="Calibri"/>
                <a:cs typeface="Calibri"/>
              </a:rPr>
              <a:t>software</a:t>
            </a:r>
            <a:r>
              <a:rPr sz="2200" dirty="0">
                <a:latin typeface="Calibri"/>
                <a:cs typeface="Calibri"/>
              </a:rPr>
              <a:t> </a:t>
            </a:r>
            <a:r>
              <a:rPr sz="2200" spc="-10" dirty="0">
                <a:latin typeface="Calibri"/>
                <a:cs typeface="Calibri"/>
              </a:rPr>
              <a:t>is</a:t>
            </a:r>
            <a:endParaRPr sz="2200" dirty="0">
              <a:latin typeface="Calibri"/>
              <a:cs typeface="Calibri"/>
            </a:endParaRPr>
          </a:p>
          <a:p>
            <a:pPr marL="241300">
              <a:lnSpc>
                <a:spcPts val="1850"/>
              </a:lnSpc>
            </a:pPr>
            <a:r>
              <a:rPr sz="2200" spc="-10" dirty="0">
                <a:latin typeface="Calibri"/>
                <a:cs typeface="Calibri"/>
              </a:rPr>
              <a:t>developed,</a:t>
            </a:r>
            <a:r>
              <a:rPr sz="2200" spc="5" dirty="0">
                <a:latin typeface="Calibri"/>
                <a:cs typeface="Calibri"/>
              </a:rPr>
              <a:t> </a:t>
            </a:r>
            <a:r>
              <a:rPr sz="2200" spc="-5" dirty="0">
                <a:latin typeface="Calibri"/>
                <a:cs typeface="Calibri"/>
              </a:rPr>
              <a:t>along</a:t>
            </a:r>
            <a:r>
              <a:rPr sz="2200" spc="-10" dirty="0">
                <a:latin typeface="Calibri"/>
                <a:cs typeface="Calibri"/>
              </a:rPr>
              <a:t> </a:t>
            </a:r>
            <a:r>
              <a:rPr sz="2200" spc="-5" dirty="0">
                <a:latin typeface="Calibri"/>
                <a:cs typeface="Calibri"/>
              </a:rPr>
              <a:t>with</a:t>
            </a:r>
            <a:r>
              <a:rPr sz="2200" dirty="0">
                <a:latin typeface="Calibri"/>
                <a:cs typeface="Calibri"/>
              </a:rPr>
              <a:t> </a:t>
            </a:r>
            <a:r>
              <a:rPr sz="2200" spc="-10" dirty="0">
                <a:latin typeface="Calibri"/>
                <a:cs typeface="Calibri"/>
              </a:rPr>
              <a:t>testing</a:t>
            </a:r>
            <a:r>
              <a:rPr sz="2200" spc="5" dirty="0">
                <a:latin typeface="Calibri"/>
                <a:cs typeface="Calibri"/>
              </a:rPr>
              <a:t> </a:t>
            </a:r>
            <a:r>
              <a:rPr sz="2200" spc="-15" dirty="0">
                <a:latin typeface="Calibri"/>
                <a:cs typeface="Calibri"/>
              </a:rPr>
              <a:t>at</a:t>
            </a:r>
            <a:r>
              <a:rPr sz="2200" dirty="0">
                <a:latin typeface="Calibri"/>
                <a:cs typeface="Calibri"/>
              </a:rPr>
              <a:t> </a:t>
            </a:r>
            <a:r>
              <a:rPr sz="2200" spc="-5" dirty="0">
                <a:latin typeface="Calibri"/>
                <a:cs typeface="Calibri"/>
              </a:rPr>
              <a:t>the</a:t>
            </a:r>
            <a:r>
              <a:rPr sz="2200" spc="10" dirty="0">
                <a:latin typeface="Calibri"/>
                <a:cs typeface="Calibri"/>
              </a:rPr>
              <a:t> </a:t>
            </a:r>
            <a:r>
              <a:rPr sz="2200" spc="-5" dirty="0">
                <a:latin typeface="Calibri"/>
                <a:cs typeface="Calibri"/>
              </a:rPr>
              <a:t>end</a:t>
            </a:r>
            <a:r>
              <a:rPr sz="2200" spc="5" dirty="0">
                <a:latin typeface="Calibri"/>
                <a:cs typeface="Calibri"/>
              </a:rPr>
              <a:t> </a:t>
            </a:r>
            <a:r>
              <a:rPr sz="2200" dirty="0">
                <a:latin typeface="Calibri"/>
                <a:cs typeface="Calibri"/>
              </a:rPr>
              <a:t>of</a:t>
            </a:r>
            <a:r>
              <a:rPr sz="2200" spc="-5" dirty="0">
                <a:latin typeface="Calibri"/>
                <a:cs typeface="Calibri"/>
              </a:rPr>
              <a:t> </a:t>
            </a:r>
            <a:r>
              <a:rPr sz="2200" spc="-10" dirty="0">
                <a:latin typeface="Calibri"/>
                <a:cs typeface="Calibri"/>
              </a:rPr>
              <a:t>the</a:t>
            </a:r>
            <a:endParaRPr sz="2200" dirty="0">
              <a:latin typeface="Calibri"/>
              <a:cs typeface="Calibri"/>
            </a:endParaRPr>
          </a:p>
          <a:p>
            <a:pPr marL="241300">
              <a:lnSpc>
                <a:spcPts val="1850"/>
              </a:lnSpc>
            </a:pPr>
            <a:r>
              <a:rPr sz="2200" spc="-5" dirty="0">
                <a:latin typeface="Calibri"/>
                <a:cs typeface="Calibri"/>
              </a:rPr>
              <a:t>phase</a:t>
            </a:r>
            <a:r>
              <a:rPr sz="2200" spc="-15" dirty="0">
                <a:latin typeface="Calibri"/>
                <a:cs typeface="Calibri"/>
              </a:rPr>
              <a:t> </a:t>
            </a:r>
            <a:r>
              <a:rPr sz="2200" spc="-10" dirty="0">
                <a:latin typeface="Calibri"/>
                <a:cs typeface="Calibri"/>
              </a:rPr>
              <a:t>(development</a:t>
            </a:r>
            <a:r>
              <a:rPr sz="2200" spc="30" dirty="0">
                <a:latin typeface="Calibri"/>
                <a:cs typeface="Calibri"/>
              </a:rPr>
              <a:t> </a:t>
            </a:r>
            <a:r>
              <a:rPr sz="2200" spc="-5" dirty="0">
                <a:latin typeface="Calibri"/>
                <a:cs typeface="Calibri"/>
              </a:rPr>
              <a:t>and</a:t>
            </a:r>
            <a:r>
              <a:rPr sz="2200" spc="-25" dirty="0">
                <a:latin typeface="Calibri"/>
                <a:cs typeface="Calibri"/>
              </a:rPr>
              <a:t> </a:t>
            </a:r>
            <a:r>
              <a:rPr sz="2200" spc="-10" dirty="0">
                <a:latin typeface="Calibri"/>
                <a:cs typeface="Calibri"/>
              </a:rPr>
              <a:t>testing</a:t>
            </a:r>
            <a:r>
              <a:rPr sz="2200" spc="5" dirty="0">
                <a:latin typeface="Calibri"/>
                <a:cs typeface="Calibri"/>
              </a:rPr>
              <a:t> </a:t>
            </a:r>
            <a:r>
              <a:rPr sz="2200" spc="-5" dirty="0">
                <a:latin typeface="Calibri"/>
                <a:cs typeface="Calibri"/>
              </a:rPr>
              <a:t>is</a:t>
            </a:r>
            <a:r>
              <a:rPr sz="2200" spc="5" dirty="0">
                <a:latin typeface="Calibri"/>
                <a:cs typeface="Calibri"/>
              </a:rPr>
              <a:t> </a:t>
            </a:r>
            <a:r>
              <a:rPr sz="2200" spc="-5" dirty="0">
                <a:latin typeface="Calibri"/>
                <a:cs typeface="Calibri"/>
              </a:rPr>
              <a:t>done</a:t>
            </a:r>
            <a:r>
              <a:rPr sz="2200" spc="-10" dirty="0">
                <a:latin typeface="Calibri"/>
                <a:cs typeface="Calibri"/>
              </a:rPr>
              <a:t> </a:t>
            </a:r>
            <a:r>
              <a:rPr sz="2200" spc="-5" dirty="0">
                <a:latin typeface="Calibri"/>
                <a:cs typeface="Calibri"/>
              </a:rPr>
              <a:t>in </a:t>
            </a:r>
            <a:r>
              <a:rPr sz="2200" spc="-10" dirty="0">
                <a:latin typeface="Calibri"/>
                <a:cs typeface="Calibri"/>
              </a:rPr>
              <a:t>this</a:t>
            </a:r>
            <a:endParaRPr sz="2200" dirty="0">
              <a:latin typeface="Calibri"/>
              <a:cs typeface="Calibri"/>
            </a:endParaRPr>
          </a:p>
          <a:p>
            <a:pPr marL="241300">
              <a:lnSpc>
                <a:spcPts val="2245"/>
              </a:lnSpc>
            </a:pPr>
            <a:r>
              <a:rPr sz="2200" spc="-10" dirty="0">
                <a:latin typeface="Calibri"/>
                <a:cs typeface="Calibri"/>
              </a:rPr>
              <a:t>phase).</a:t>
            </a:r>
            <a:endParaRPr sz="2200" dirty="0">
              <a:latin typeface="Calibri"/>
              <a:cs typeface="Calibri"/>
            </a:endParaRPr>
          </a:p>
          <a:p>
            <a:pPr marL="241300" indent="-228600">
              <a:lnSpc>
                <a:spcPts val="2245"/>
              </a:lnSpc>
              <a:spcBef>
                <a:spcPts val="204"/>
              </a:spcBef>
              <a:buFont typeface="Arial MT"/>
              <a:buChar char="•"/>
              <a:tabLst>
                <a:tab pos="240665" algn="l"/>
                <a:tab pos="241300" algn="l"/>
              </a:tabLst>
            </a:pPr>
            <a:r>
              <a:rPr sz="2200" b="1" u="heavy" spc="-20" dirty="0">
                <a:uFill>
                  <a:solidFill>
                    <a:srgbClr val="000000"/>
                  </a:solidFill>
                </a:uFill>
                <a:latin typeface="Calibri"/>
                <a:cs typeface="Calibri"/>
              </a:rPr>
              <a:t>Evaluation</a:t>
            </a:r>
            <a:r>
              <a:rPr sz="2200" b="1" u="heavy" spc="35" dirty="0">
                <a:uFill>
                  <a:solidFill>
                    <a:srgbClr val="000000"/>
                  </a:solidFill>
                </a:uFill>
                <a:latin typeface="Calibri"/>
                <a:cs typeface="Calibri"/>
              </a:rPr>
              <a:t> </a:t>
            </a:r>
            <a:r>
              <a:rPr sz="2200" b="1" u="heavy" spc="-5" dirty="0">
                <a:uFill>
                  <a:solidFill>
                    <a:srgbClr val="000000"/>
                  </a:solidFill>
                </a:uFill>
                <a:latin typeface="Calibri"/>
                <a:cs typeface="Calibri"/>
              </a:rPr>
              <a:t>phase:</a:t>
            </a:r>
            <a:r>
              <a:rPr sz="2200" b="1" u="heavy" spc="15" dirty="0">
                <a:uFill>
                  <a:solidFill>
                    <a:srgbClr val="000000"/>
                  </a:solidFill>
                </a:uFill>
                <a:latin typeface="Calibri"/>
                <a:cs typeface="Calibri"/>
              </a:rPr>
              <a:t> </a:t>
            </a:r>
            <a:r>
              <a:rPr sz="2200" spc="-10" dirty="0">
                <a:latin typeface="Calibri"/>
                <a:cs typeface="Calibri"/>
              </a:rPr>
              <a:t>This</a:t>
            </a:r>
            <a:r>
              <a:rPr sz="2200" spc="-5" dirty="0">
                <a:latin typeface="Calibri"/>
                <a:cs typeface="Calibri"/>
              </a:rPr>
              <a:t> </a:t>
            </a:r>
            <a:r>
              <a:rPr sz="2200" spc="-10" dirty="0">
                <a:latin typeface="Calibri"/>
                <a:cs typeface="Calibri"/>
              </a:rPr>
              <a:t>phase</a:t>
            </a:r>
            <a:r>
              <a:rPr sz="2200" spc="5" dirty="0">
                <a:latin typeface="Calibri"/>
                <a:cs typeface="Calibri"/>
              </a:rPr>
              <a:t> </a:t>
            </a:r>
            <a:r>
              <a:rPr sz="2200" spc="-10" dirty="0">
                <a:latin typeface="Calibri"/>
                <a:cs typeface="Calibri"/>
              </a:rPr>
              <a:t>allows</a:t>
            </a:r>
            <a:r>
              <a:rPr sz="2200" dirty="0">
                <a:latin typeface="Calibri"/>
                <a:cs typeface="Calibri"/>
              </a:rPr>
              <a:t> </a:t>
            </a:r>
            <a:r>
              <a:rPr sz="2200" spc="-5" dirty="0">
                <a:latin typeface="Calibri"/>
                <a:cs typeface="Calibri"/>
              </a:rPr>
              <a:t>the </a:t>
            </a:r>
            <a:r>
              <a:rPr sz="2200" spc="-10" dirty="0">
                <a:latin typeface="Calibri"/>
                <a:cs typeface="Calibri"/>
              </a:rPr>
              <a:t>customer</a:t>
            </a:r>
            <a:endParaRPr sz="2200" dirty="0">
              <a:latin typeface="Calibri"/>
              <a:cs typeface="Calibri"/>
            </a:endParaRPr>
          </a:p>
          <a:p>
            <a:pPr marL="241300" marR="38735">
              <a:lnSpc>
                <a:spcPct val="70000"/>
              </a:lnSpc>
              <a:spcBef>
                <a:spcPts val="395"/>
              </a:spcBef>
            </a:pPr>
            <a:r>
              <a:rPr sz="2200" spc="-20" dirty="0">
                <a:latin typeface="Calibri"/>
                <a:cs typeface="Calibri"/>
              </a:rPr>
              <a:t>to</a:t>
            </a:r>
            <a:r>
              <a:rPr sz="2200" spc="5" dirty="0">
                <a:latin typeface="Calibri"/>
                <a:cs typeface="Calibri"/>
              </a:rPr>
              <a:t> </a:t>
            </a:r>
            <a:r>
              <a:rPr sz="2200" spc="-15" dirty="0">
                <a:latin typeface="Calibri"/>
                <a:cs typeface="Calibri"/>
              </a:rPr>
              <a:t>evaluate</a:t>
            </a:r>
            <a:r>
              <a:rPr sz="2200" dirty="0">
                <a:latin typeface="Calibri"/>
                <a:cs typeface="Calibri"/>
              </a:rPr>
              <a:t> </a:t>
            </a:r>
            <a:r>
              <a:rPr sz="2200" spc="-5" dirty="0">
                <a:latin typeface="Calibri"/>
                <a:cs typeface="Calibri"/>
              </a:rPr>
              <a:t>the</a:t>
            </a:r>
            <a:r>
              <a:rPr sz="2200" spc="20" dirty="0">
                <a:latin typeface="Calibri"/>
                <a:cs typeface="Calibri"/>
              </a:rPr>
              <a:t> </a:t>
            </a:r>
            <a:r>
              <a:rPr sz="2200" spc="-10" dirty="0">
                <a:latin typeface="Calibri"/>
                <a:cs typeface="Calibri"/>
              </a:rPr>
              <a:t>output </a:t>
            </a:r>
            <a:r>
              <a:rPr sz="2200" spc="-5" dirty="0">
                <a:latin typeface="Calibri"/>
                <a:cs typeface="Calibri"/>
              </a:rPr>
              <a:t>of</a:t>
            </a:r>
            <a:r>
              <a:rPr sz="2200" spc="10" dirty="0">
                <a:latin typeface="Calibri"/>
                <a:cs typeface="Calibri"/>
              </a:rPr>
              <a:t> </a:t>
            </a:r>
            <a:r>
              <a:rPr sz="2200" spc="-5" dirty="0">
                <a:latin typeface="Calibri"/>
                <a:cs typeface="Calibri"/>
              </a:rPr>
              <a:t>the </a:t>
            </a:r>
            <a:r>
              <a:rPr sz="2200" spc="-10" dirty="0">
                <a:latin typeface="Calibri"/>
                <a:cs typeface="Calibri"/>
              </a:rPr>
              <a:t>project</a:t>
            </a:r>
            <a:r>
              <a:rPr sz="2200" spc="-5" dirty="0">
                <a:latin typeface="Calibri"/>
                <a:cs typeface="Calibri"/>
              </a:rPr>
              <a:t> </a:t>
            </a:r>
            <a:r>
              <a:rPr sz="2200" spc="-20" dirty="0">
                <a:latin typeface="Calibri"/>
                <a:cs typeface="Calibri"/>
              </a:rPr>
              <a:t>to</a:t>
            </a:r>
            <a:r>
              <a:rPr sz="2200" spc="10" dirty="0">
                <a:latin typeface="Calibri"/>
                <a:cs typeface="Calibri"/>
              </a:rPr>
              <a:t> </a:t>
            </a:r>
            <a:r>
              <a:rPr sz="2200" spc="-20" dirty="0">
                <a:latin typeface="Calibri"/>
                <a:cs typeface="Calibri"/>
              </a:rPr>
              <a:t>date</a:t>
            </a:r>
            <a:r>
              <a:rPr sz="2200" spc="15" dirty="0">
                <a:latin typeface="Calibri"/>
                <a:cs typeface="Calibri"/>
              </a:rPr>
              <a:t> </a:t>
            </a:r>
            <a:r>
              <a:rPr sz="2200" spc="-25" dirty="0">
                <a:latin typeface="Calibri"/>
                <a:cs typeface="Calibri"/>
              </a:rPr>
              <a:t>before </a:t>
            </a:r>
            <a:r>
              <a:rPr sz="2200" spc="-480" dirty="0">
                <a:latin typeface="Calibri"/>
                <a:cs typeface="Calibri"/>
              </a:rPr>
              <a:t> </a:t>
            </a:r>
            <a:r>
              <a:rPr sz="2200" spc="-5" dirty="0">
                <a:latin typeface="Calibri"/>
                <a:cs typeface="Calibri"/>
              </a:rPr>
              <a:t>the</a:t>
            </a:r>
            <a:r>
              <a:rPr sz="2200" spc="5" dirty="0">
                <a:latin typeface="Calibri"/>
                <a:cs typeface="Calibri"/>
              </a:rPr>
              <a:t> </a:t>
            </a:r>
            <a:r>
              <a:rPr sz="2200" spc="-15" dirty="0">
                <a:latin typeface="Calibri"/>
                <a:cs typeface="Calibri"/>
              </a:rPr>
              <a:t>project</a:t>
            </a:r>
            <a:r>
              <a:rPr sz="2200" spc="-5" dirty="0">
                <a:latin typeface="Calibri"/>
                <a:cs typeface="Calibri"/>
              </a:rPr>
              <a:t> </a:t>
            </a:r>
            <a:r>
              <a:rPr sz="2200" spc="-10" dirty="0">
                <a:latin typeface="Calibri"/>
                <a:cs typeface="Calibri"/>
              </a:rPr>
              <a:t>continues</a:t>
            </a:r>
            <a:r>
              <a:rPr sz="2200" spc="5" dirty="0">
                <a:latin typeface="Calibri"/>
                <a:cs typeface="Calibri"/>
              </a:rPr>
              <a:t> </a:t>
            </a:r>
            <a:r>
              <a:rPr sz="2200" spc="-20" dirty="0">
                <a:latin typeface="Calibri"/>
                <a:cs typeface="Calibri"/>
              </a:rPr>
              <a:t>to</a:t>
            </a:r>
            <a:r>
              <a:rPr sz="2200" spc="5" dirty="0">
                <a:latin typeface="Calibri"/>
                <a:cs typeface="Calibri"/>
              </a:rPr>
              <a:t> </a:t>
            </a:r>
            <a:r>
              <a:rPr sz="2200" spc="-5" dirty="0">
                <a:latin typeface="Calibri"/>
                <a:cs typeface="Calibri"/>
              </a:rPr>
              <a:t>the</a:t>
            </a:r>
            <a:r>
              <a:rPr sz="2200" spc="10" dirty="0">
                <a:latin typeface="Calibri"/>
                <a:cs typeface="Calibri"/>
              </a:rPr>
              <a:t> </a:t>
            </a:r>
            <a:r>
              <a:rPr sz="2200" spc="-15" dirty="0">
                <a:latin typeface="Calibri"/>
                <a:cs typeface="Calibri"/>
              </a:rPr>
              <a:t>next</a:t>
            </a:r>
            <a:r>
              <a:rPr sz="2200" spc="-5" dirty="0">
                <a:latin typeface="Calibri"/>
                <a:cs typeface="Calibri"/>
              </a:rPr>
              <a:t> </a:t>
            </a:r>
            <a:r>
              <a:rPr sz="2200" spc="-10" dirty="0">
                <a:latin typeface="Calibri"/>
                <a:cs typeface="Calibri"/>
              </a:rPr>
              <a:t>spiral.</a:t>
            </a:r>
            <a:endParaRPr sz="2200" dirty="0">
              <a:latin typeface="Calibri"/>
              <a:cs typeface="Calibri"/>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
        <p:nvSpPr>
          <p:cNvPr id="2" name="object 2"/>
          <p:cNvSpPr txBox="1">
            <a:spLocks noGrp="1"/>
          </p:cNvSpPr>
          <p:nvPr>
            <p:ph type="title"/>
          </p:nvPr>
        </p:nvSpPr>
        <p:spPr>
          <a:xfrm>
            <a:off x="916939" y="609676"/>
            <a:ext cx="6888480" cy="697230"/>
          </a:xfrm>
          <a:prstGeom prst="rect">
            <a:avLst/>
          </a:prstGeom>
        </p:spPr>
        <p:txBody>
          <a:bodyPr vert="horz" wrap="square" lIns="0" tIns="13335" rIns="0" bIns="0" rtlCol="0">
            <a:spAutoFit/>
          </a:bodyPr>
          <a:lstStyle/>
          <a:p>
            <a:pPr marL="12700">
              <a:lnSpc>
                <a:spcPct val="100000"/>
              </a:lnSpc>
              <a:spcBef>
                <a:spcPts val="105"/>
              </a:spcBef>
            </a:pPr>
            <a:r>
              <a:rPr sz="4400" spc="-50" dirty="0"/>
              <a:t>Advantages</a:t>
            </a:r>
            <a:r>
              <a:rPr sz="4400" spc="-110" dirty="0"/>
              <a:t> </a:t>
            </a:r>
            <a:r>
              <a:rPr sz="4400" spc="-15" dirty="0"/>
              <a:t>of</a:t>
            </a:r>
            <a:r>
              <a:rPr sz="4400" spc="-80" dirty="0"/>
              <a:t> </a:t>
            </a:r>
            <a:r>
              <a:rPr sz="4400" spc="-20" dirty="0"/>
              <a:t>the</a:t>
            </a:r>
            <a:r>
              <a:rPr sz="4400" spc="-85" dirty="0"/>
              <a:t> </a:t>
            </a:r>
            <a:r>
              <a:rPr sz="4400" spc="-40" dirty="0"/>
              <a:t>Spiral</a:t>
            </a:r>
            <a:r>
              <a:rPr sz="4400" spc="-100" dirty="0"/>
              <a:t> </a:t>
            </a:r>
            <a:r>
              <a:rPr sz="4400" spc="-35" dirty="0"/>
              <a:t>Model</a:t>
            </a:r>
            <a:endParaRPr sz="4400"/>
          </a:p>
        </p:txBody>
      </p:sp>
      <p:sp>
        <p:nvSpPr>
          <p:cNvPr id="3" name="object 3"/>
          <p:cNvSpPr txBox="1"/>
          <p:nvPr/>
        </p:nvSpPr>
        <p:spPr>
          <a:xfrm>
            <a:off x="916939" y="1707159"/>
            <a:ext cx="7782559" cy="2583815"/>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sz="2800" spc="-10" dirty="0">
                <a:latin typeface="Calibri"/>
                <a:cs typeface="Calibri"/>
              </a:rPr>
              <a:t>High</a:t>
            </a:r>
            <a:r>
              <a:rPr sz="2800" spc="15" dirty="0">
                <a:latin typeface="Calibri"/>
                <a:cs typeface="Calibri"/>
              </a:rPr>
              <a:t> </a:t>
            </a:r>
            <a:r>
              <a:rPr sz="2800" spc="-10" dirty="0">
                <a:latin typeface="Calibri"/>
                <a:cs typeface="Calibri"/>
              </a:rPr>
              <a:t>amount</a:t>
            </a:r>
            <a:r>
              <a:rPr sz="2800" spc="25" dirty="0">
                <a:latin typeface="Calibri"/>
                <a:cs typeface="Calibri"/>
              </a:rPr>
              <a:t> </a:t>
            </a:r>
            <a:r>
              <a:rPr sz="2800" spc="-5" dirty="0">
                <a:latin typeface="Calibri"/>
                <a:cs typeface="Calibri"/>
              </a:rPr>
              <a:t>of</a:t>
            </a:r>
            <a:r>
              <a:rPr sz="2800" spc="5" dirty="0">
                <a:latin typeface="Calibri"/>
                <a:cs typeface="Calibri"/>
              </a:rPr>
              <a:t> </a:t>
            </a:r>
            <a:r>
              <a:rPr sz="2800" spc="-5" dirty="0">
                <a:latin typeface="Calibri"/>
                <a:cs typeface="Calibri"/>
              </a:rPr>
              <a:t>risk</a:t>
            </a:r>
            <a:r>
              <a:rPr sz="2800" spc="10" dirty="0">
                <a:latin typeface="Calibri"/>
                <a:cs typeface="Calibri"/>
              </a:rPr>
              <a:t> </a:t>
            </a:r>
            <a:r>
              <a:rPr sz="2800" spc="-10" dirty="0">
                <a:latin typeface="Calibri"/>
                <a:cs typeface="Calibri"/>
              </a:rPr>
              <a:t>analysis</a:t>
            </a:r>
            <a:r>
              <a:rPr sz="2800" spc="25" dirty="0">
                <a:latin typeface="Calibri"/>
                <a:cs typeface="Calibri"/>
              </a:rPr>
              <a:t> </a:t>
            </a:r>
            <a:r>
              <a:rPr sz="2800" spc="-15" dirty="0">
                <a:latin typeface="Calibri"/>
                <a:cs typeface="Calibri"/>
              </a:rPr>
              <a:t>to</a:t>
            </a:r>
            <a:r>
              <a:rPr sz="2800" spc="-50" dirty="0">
                <a:latin typeface="Calibri"/>
                <a:cs typeface="Calibri"/>
              </a:rPr>
              <a:t> </a:t>
            </a:r>
            <a:r>
              <a:rPr sz="2800" b="1" i="1" spc="-10" dirty="0">
                <a:latin typeface="Calibri"/>
                <a:cs typeface="Calibri"/>
              </a:rPr>
              <a:t>avoid</a:t>
            </a:r>
            <a:r>
              <a:rPr sz="2800" b="1" i="1" spc="5" dirty="0">
                <a:latin typeface="Calibri"/>
                <a:cs typeface="Calibri"/>
              </a:rPr>
              <a:t> </a:t>
            </a:r>
            <a:r>
              <a:rPr sz="2800" b="1" i="1" spc="-5" dirty="0">
                <a:latin typeface="Calibri"/>
                <a:cs typeface="Calibri"/>
              </a:rPr>
              <a:t>risk</a:t>
            </a:r>
            <a:r>
              <a:rPr sz="2800" spc="-5" dirty="0">
                <a:latin typeface="Calibri"/>
                <a:cs typeface="Calibri"/>
              </a:rPr>
              <a:t>.</a:t>
            </a:r>
            <a:endParaRPr sz="2800" dirty="0">
              <a:latin typeface="Calibri"/>
              <a:cs typeface="Calibri"/>
            </a:endParaRPr>
          </a:p>
          <a:p>
            <a:pPr marL="241300" indent="-228600">
              <a:lnSpc>
                <a:spcPct val="100000"/>
              </a:lnSpc>
              <a:spcBef>
                <a:spcPts val="675"/>
              </a:spcBef>
              <a:buFont typeface="Arial MT"/>
              <a:buChar char="•"/>
              <a:tabLst>
                <a:tab pos="241300" algn="l"/>
              </a:tabLst>
            </a:pPr>
            <a:r>
              <a:rPr sz="2800" spc="-5" dirty="0">
                <a:latin typeface="Calibri"/>
                <a:cs typeface="Calibri"/>
              </a:rPr>
              <a:t>Good</a:t>
            </a:r>
            <a:r>
              <a:rPr sz="2800" spc="5" dirty="0">
                <a:latin typeface="Calibri"/>
                <a:cs typeface="Calibri"/>
              </a:rPr>
              <a:t> </a:t>
            </a:r>
            <a:r>
              <a:rPr sz="2800" spc="-25" dirty="0">
                <a:latin typeface="Calibri"/>
                <a:cs typeface="Calibri"/>
              </a:rPr>
              <a:t>for</a:t>
            </a:r>
            <a:r>
              <a:rPr sz="2800" spc="5" dirty="0">
                <a:latin typeface="Calibri"/>
                <a:cs typeface="Calibri"/>
              </a:rPr>
              <a:t> </a:t>
            </a:r>
            <a:r>
              <a:rPr sz="2800" spc="-15" dirty="0">
                <a:latin typeface="Calibri"/>
                <a:cs typeface="Calibri"/>
              </a:rPr>
              <a:t>large</a:t>
            </a:r>
            <a:r>
              <a:rPr sz="2800" spc="-5" dirty="0">
                <a:latin typeface="Calibri"/>
                <a:cs typeface="Calibri"/>
              </a:rPr>
              <a:t> and</a:t>
            </a:r>
            <a:r>
              <a:rPr sz="2800" spc="10" dirty="0">
                <a:latin typeface="Calibri"/>
                <a:cs typeface="Calibri"/>
              </a:rPr>
              <a:t> </a:t>
            </a:r>
            <a:r>
              <a:rPr sz="2800" spc="-10" dirty="0">
                <a:latin typeface="Calibri"/>
                <a:cs typeface="Calibri"/>
              </a:rPr>
              <a:t>mission-critical</a:t>
            </a:r>
            <a:r>
              <a:rPr sz="2800" spc="45" dirty="0">
                <a:latin typeface="Calibri"/>
                <a:cs typeface="Calibri"/>
              </a:rPr>
              <a:t> </a:t>
            </a:r>
            <a:r>
              <a:rPr sz="2800" spc="-10" dirty="0">
                <a:latin typeface="Calibri"/>
                <a:cs typeface="Calibri"/>
              </a:rPr>
              <a:t>projects.</a:t>
            </a:r>
            <a:endParaRPr sz="2800" dirty="0">
              <a:latin typeface="Calibri"/>
              <a:cs typeface="Calibri"/>
            </a:endParaRPr>
          </a:p>
          <a:p>
            <a:pPr marL="241300" indent="-228600">
              <a:lnSpc>
                <a:spcPct val="100000"/>
              </a:lnSpc>
              <a:spcBef>
                <a:spcPts val="660"/>
              </a:spcBef>
              <a:buFont typeface="Arial MT"/>
              <a:buChar char="•"/>
              <a:tabLst>
                <a:tab pos="241300" algn="l"/>
              </a:tabLst>
            </a:pPr>
            <a:r>
              <a:rPr sz="2800" spc="-15" dirty="0">
                <a:latin typeface="Calibri"/>
                <a:cs typeface="Calibri"/>
              </a:rPr>
              <a:t>Strong</a:t>
            </a:r>
            <a:r>
              <a:rPr sz="2800" spc="10" dirty="0">
                <a:latin typeface="Calibri"/>
                <a:cs typeface="Calibri"/>
              </a:rPr>
              <a:t> </a:t>
            </a:r>
            <a:r>
              <a:rPr sz="2800" spc="-15" dirty="0">
                <a:latin typeface="Calibri"/>
                <a:cs typeface="Calibri"/>
              </a:rPr>
              <a:t>approval</a:t>
            </a:r>
            <a:r>
              <a:rPr sz="2800" spc="5" dirty="0">
                <a:latin typeface="Calibri"/>
                <a:cs typeface="Calibri"/>
              </a:rPr>
              <a:t> </a:t>
            </a:r>
            <a:r>
              <a:rPr sz="2800" spc="-5" dirty="0">
                <a:latin typeface="Calibri"/>
                <a:cs typeface="Calibri"/>
              </a:rPr>
              <a:t>and</a:t>
            </a:r>
            <a:r>
              <a:rPr sz="2800" spc="20" dirty="0">
                <a:latin typeface="Calibri"/>
                <a:cs typeface="Calibri"/>
              </a:rPr>
              <a:t> </a:t>
            </a:r>
            <a:r>
              <a:rPr sz="2800" spc="-10" dirty="0">
                <a:latin typeface="Calibri"/>
                <a:cs typeface="Calibri"/>
              </a:rPr>
              <a:t>documentation</a:t>
            </a:r>
            <a:r>
              <a:rPr sz="2800" spc="25" dirty="0">
                <a:latin typeface="Calibri"/>
                <a:cs typeface="Calibri"/>
              </a:rPr>
              <a:t> </a:t>
            </a:r>
            <a:r>
              <a:rPr sz="2800" spc="-20" dirty="0">
                <a:latin typeface="Calibri"/>
                <a:cs typeface="Calibri"/>
              </a:rPr>
              <a:t>control.</a:t>
            </a:r>
            <a:endParaRPr sz="2800" dirty="0">
              <a:latin typeface="Calibri"/>
              <a:cs typeface="Calibri"/>
            </a:endParaRPr>
          </a:p>
          <a:p>
            <a:pPr marL="241300" indent="-228600">
              <a:lnSpc>
                <a:spcPct val="100000"/>
              </a:lnSpc>
              <a:spcBef>
                <a:spcPts val="660"/>
              </a:spcBef>
              <a:buFont typeface="Arial MT"/>
              <a:buChar char="•"/>
              <a:tabLst>
                <a:tab pos="241300" algn="l"/>
              </a:tabLst>
            </a:pPr>
            <a:r>
              <a:rPr sz="2800" spc="-5" dirty="0">
                <a:latin typeface="Calibri"/>
                <a:cs typeface="Calibri"/>
              </a:rPr>
              <a:t>Additional</a:t>
            </a:r>
            <a:r>
              <a:rPr sz="2800" spc="40" dirty="0">
                <a:latin typeface="Calibri"/>
                <a:cs typeface="Calibri"/>
              </a:rPr>
              <a:t> </a:t>
            </a:r>
            <a:r>
              <a:rPr sz="2800" spc="-10" dirty="0">
                <a:latin typeface="Calibri"/>
                <a:cs typeface="Calibri"/>
              </a:rPr>
              <a:t>Functionality</a:t>
            </a:r>
            <a:r>
              <a:rPr sz="2800" spc="50" dirty="0">
                <a:latin typeface="Calibri"/>
                <a:cs typeface="Calibri"/>
              </a:rPr>
              <a:t> </a:t>
            </a:r>
            <a:r>
              <a:rPr sz="2800" spc="-10" dirty="0">
                <a:latin typeface="Calibri"/>
                <a:cs typeface="Calibri"/>
              </a:rPr>
              <a:t>can</a:t>
            </a:r>
            <a:r>
              <a:rPr sz="2800" spc="15" dirty="0">
                <a:latin typeface="Calibri"/>
                <a:cs typeface="Calibri"/>
              </a:rPr>
              <a:t> </a:t>
            </a:r>
            <a:r>
              <a:rPr sz="2800" spc="-5" dirty="0">
                <a:latin typeface="Calibri"/>
                <a:cs typeface="Calibri"/>
              </a:rPr>
              <a:t>be</a:t>
            </a:r>
            <a:r>
              <a:rPr sz="2800" spc="15" dirty="0">
                <a:latin typeface="Calibri"/>
                <a:cs typeface="Calibri"/>
              </a:rPr>
              <a:t> </a:t>
            </a:r>
            <a:r>
              <a:rPr sz="2800" spc="-5" dirty="0">
                <a:latin typeface="Calibri"/>
                <a:cs typeface="Calibri"/>
              </a:rPr>
              <a:t>added</a:t>
            </a:r>
            <a:r>
              <a:rPr sz="2800" spc="30" dirty="0">
                <a:latin typeface="Calibri"/>
                <a:cs typeface="Calibri"/>
              </a:rPr>
              <a:t> </a:t>
            </a:r>
            <a:r>
              <a:rPr sz="2800" spc="-60" dirty="0">
                <a:latin typeface="Calibri"/>
                <a:cs typeface="Calibri"/>
              </a:rPr>
              <a:t>later.</a:t>
            </a:r>
            <a:endParaRPr sz="2800" dirty="0">
              <a:latin typeface="Calibri"/>
              <a:cs typeface="Calibri"/>
            </a:endParaRPr>
          </a:p>
          <a:p>
            <a:pPr marL="241300" indent="-228600">
              <a:lnSpc>
                <a:spcPct val="100000"/>
              </a:lnSpc>
              <a:spcBef>
                <a:spcPts val="675"/>
              </a:spcBef>
              <a:buFont typeface="Arial MT"/>
              <a:buChar char="•"/>
              <a:tabLst>
                <a:tab pos="241300" algn="l"/>
              </a:tabLst>
            </a:pPr>
            <a:r>
              <a:rPr sz="2800" spc="-15" dirty="0">
                <a:latin typeface="Calibri"/>
                <a:cs typeface="Calibri"/>
              </a:rPr>
              <a:t>Software</a:t>
            </a:r>
            <a:r>
              <a:rPr sz="2800" spc="10" dirty="0">
                <a:latin typeface="Calibri"/>
                <a:cs typeface="Calibri"/>
              </a:rPr>
              <a:t> </a:t>
            </a:r>
            <a:r>
              <a:rPr sz="2800" spc="-5" dirty="0">
                <a:latin typeface="Calibri"/>
                <a:cs typeface="Calibri"/>
              </a:rPr>
              <a:t>is</a:t>
            </a:r>
            <a:r>
              <a:rPr sz="2800" spc="15" dirty="0">
                <a:latin typeface="Calibri"/>
                <a:cs typeface="Calibri"/>
              </a:rPr>
              <a:t> </a:t>
            </a:r>
            <a:r>
              <a:rPr sz="2800" spc="-15" dirty="0">
                <a:latin typeface="Calibri"/>
                <a:cs typeface="Calibri"/>
              </a:rPr>
              <a:t>produced</a:t>
            </a:r>
            <a:r>
              <a:rPr sz="2800" spc="50" dirty="0">
                <a:latin typeface="Calibri"/>
                <a:cs typeface="Calibri"/>
              </a:rPr>
              <a:t> </a:t>
            </a:r>
            <a:r>
              <a:rPr sz="2800" spc="-5" dirty="0">
                <a:latin typeface="Calibri"/>
                <a:cs typeface="Calibri"/>
              </a:rPr>
              <a:t>early</a:t>
            </a:r>
            <a:r>
              <a:rPr sz="2800" spc="-10" dirty="0">
                <a:latin typeface="Calibri"/>
                <a:cs typeface="Calibri"/>
              </a:rPr>
              <a:t> </a:t>
            </a:r>
            <a:r>
              <a:rPr sz="2800" spc="-5" dirty="0">
                <a:latin typeface="Calibri"/>
                <a:cs typeface="Calibri"/>
              </a:rPr>
              <a:t>in</a:t>
            </a:r>
            <a:r>
              <a:rPr sz="2800" spc="25" dirty="0">
                <a:latin typeface="Calibri"/>
                <a:cs typeface="Calibri"/>
              </a:rPr>
              <a:t> </a:t>
            </a:r>
            <a:r>
              <a:rPr sz="2800" spc="-5" dirty="0">
                <a:latin typeface="Calibri"/>
                <a:cs typeface="Calibri"/>
              </a:rPr>
              <a:t>the</a:t>
            </a:r>
            <a:r>
              <a:rPr sz="2800" spc="20" dirty="0">
                <a:latin typeface="Calibri"/>
                <a:cs typeface="Calibri"/>
              </a:rPr>
              <a:t> </a:t>
            </a:r>
            <a:r>
              <a:rPr sz="2800" spc="-15" dirty="0">
                <a:latin typeface="Calibri"/>
                <a:cs typeface="Calibri"/>
              </a:rPr>
              <a:t>software</a:t>
            </a:r>
            <a:r>
              <a:rPr sz="2800" spc="15" dirty="0">
                <a:latin typeface="Calibri"/>
                <a:cs typeface="Calibri"/>
              </a:rPr>
              <a:t> </a:t>
            </a:r>
            <a:r>
              <a:rPr sz="2800" spc="-25" dirty="0">
                <a:latin typeface="Calibri"/>
                <a:cs typeface="Calibri"/>
              </a:rPr>
              <a:t>life</a:t>
            </a:r>
            <a:r>
              <a:rPr sz="2800" spc="10" dirty="0">
                <a:latin typeface="Calibri"/>
                <a:cs typeface="Calibri"/>
              </a:rPr>
              <a:t> </a:t>
            </a:r>
            <a:r>
              <a:rPr sz="2800" spc="-10" dirty="0">
                <a:latin typeface="Calibri"/>
                <a:cs typeface="Calibri"/>
              </a:rPr>
              <a:t>cycle.</a:t>
            </a:r>
            <a:endParaRPr sz="2800" dirty="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
        <p:nvSpPr>
          <p:cNvPr id="2" name="object 2"/>
          <p:cNvSpPr txBox="1">
            <a:spLocks noGrp="1"/>
          </p:cNvSpPr>
          <p:nvPr>
            <p:ph type="title"/>
          </p:nvPr>
        </p:nvSpPr>
        <p:spPr>
          <a:xfrm>
            <a:off x="916939" y="609676"/>
            <a:ext cx="7505700" cy="697230"/>
          </a:xfrm>
          <a:prstGeom prst="rect">
            <a:avLst/>
          </a:prstGeom>
        </p:spPr>
        <p:txBody>
          <a:bodyPr vert="horz" wrap="square" lIns="0" tIns="13335" rIns="0" bIns="0" rtlCol="0">
            <a:spAutoFit/>
          </a:bodyPr>
          <a:lstStyle/>
          <a:p>
            <a:pPr marL="12700">
              <a:lnSpc>
                <a:spcPct val="100000"/>
              </a:lnSpc>
              <a:spcBef>
                <a:spcPts val="105"/>
              </a:spcBef>
            </a:pPr>
            <a:r>
              <a:rPr sz="4400" spc="-50" dirty="0"/>
              <a:t>Disadvantages</a:t>
            </a:r>
            <a:r>
              <a:rPr sz="4400" spc="-80" dirty="0"/>
              <a:t> </a:t>
            </a:r>
            <a:r>
              <a:rPr sz="4400" spc="-15" dirty="0"/>
              <a:t>of</a:t>
            </a:r>
            <a:r>
              <a:rPr sz="4400" spc="-65" dirty="0"/>
              <a:t> </a:t>
            </a:r>
            <a:r>
              <a:rPr sz="4400" spc="-20" dirty="0"/>
              <a:t>the</a:t>
            </a:r>
            <a:r>
              <a:rPr sz="4400" spc="-85" dirty="0"/>
              <a:t> </a:t>
            </a:r>
            <a:r>
              <a:rPr sz="4400" spc="-40" dirty="0"/>
              <a:t>Spiral</a:t>
            </a:r>
            <a:r>
              <a:rPr sz="4400" spc="-85" dirty="0"/>
              <a:t> </a:t>
            </a:r>
            <a:r>
              <a:rPr sz="4400" spc="-35" dirty="0"/>
              <a:t>Model</a:t>
            </a:r>
            <a:endParaRPr sz="4400"/>
          </a:p>
        </p:txBody>
      </p:sp>
      <p:sp>
        <p:nvSpPr>
          <p:cNvPr id="3" name="object 3"/>
          <p:cNvSpPr txBox="1"/>
          <p:nvPr/>
        </p:nvSpPr>
        <p:spPr>
          <a:xfrm>
            <a:off x="916939" y="1707159"/>
            <a:ext cx="9551035" cy="2072005"/>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sz="2800" spc="-10" dirty="0">
                <a:latin typeface="Calibri"/>
                <a:cs typeface="Calibri"/>
              </a:rPr>
              <a:t>Can</a:t>
            </a:r>
            <a:r>
              <a:rPr sz="2800" dirty="0">
                <a:latin typeface="Calibri"/>
                <a:cs typeface="Calibri"/>
              </a:rPr>
              <a:t> </a:t>
            </a:r>
            <a:r>
              <a:rPr sz="2800" spc="-5" dirty="0">
                <a:latin typeface="Calibri"/>
                <a:cs typeface="Calibri"/>
              </a:rPr>
              <a:t>be</a:t>
            </a:r>
            <a:r>
              <a:rPr sz="2800" spc="5" dirty="0">
                <a:latin typeface="Calibri"/>
                <a:cs typeface="Calibri"/>
              </a:rPr>
              <a:t> </a:t>
            </a:r>
            <a:r>
              <a:rPr sz="2800" spc="-5" dirty="0">
                <a:latin typeface="Calibri"/>
                <a:cs typeface="Calibri"/>
              </a:rPr>
              <a:t>a</a:t>
            </a:r>
            <a:r>
              <a:rPr sz="2800" spc="5" dirty="0">
                <a:latin typeface="Calibri"/>
                <a:cs typeface="Calibri"/>
              </a:rPr>
              <a:t> </a:t>
            </a:r>
            <a:r>
              <a:rPr sz="2800" spc="-15" dirty="0">
                <a:latin typeface="Calibri"/>
                <a:cs typeface="Calibri"/>
              </a:rPr>
              <a:t>costly</a:t>
            </a:r>
            <a:r>
              <a:rPr sz="2800" dirty="0">
                <a:latin typeface="Calibri"/>
                <a:cs typeface="Calibri"/>
              </a:rPr>
              <a:t> </a:t>
            </a:r>
            <a:r>
              <a:rPr sz="2800" spc="-5" dirty="0">
                <a:latin typeface="Calibri"/>
                <a:cs typeface="Calibri"/>
              </a:rPr>
              <a:t>model</a:t>
            </a:r>
            <a:r>
              <a:rPr sz="2800" spc="10" dirty="0">
                <a:latin typeface="Calibri"/>
                <a:cs typeface="Calibri"/>
              </a:rPr>
              <a:t> </a:t>
            </a:r>
            <a:r>
              <a:rPr sz="2800" spc="-15" dirty="0">
                <a:latin typeface="Calibri"/>
                <a:cs typeface="Calibri"/>
              </a:rPr>
              <a:t>to</a:t>
            </a:r>
            <a:r>
              <a:rPr sz="2800" dirty="0">
                <a:latin typeface="Calibri"/>
                <a:cs typeface="Calibri"/>
              </a:rPr>
              <a:t> </a:t>
            </a:r>
            <a:r>
              <a:rPr sz="2800" spc="-10" dirty="0">
                <a:latin typeface="Calibri"/>
                <a:cs typeface="Calibri"/>
              </a:rPr>
              <a:t>use.</a:t>
            </a:r>
            <a:endParaRPr sz="2800" dirty="0">
              <a:latin typeface="Calibri"/>
              <a:cs typeface="Calibri"/>
            </a:endParaRPr>
          </a:p>
          <a:p>
            <a:pPr marL="241300" indent="-228600">
              <a:lnSpc>
                <a:spcPct val="100000"/>
              </a:lnSpc>
              <a:spcBef>
                <a:spcPts val="675"/>
              </a:spcBef>
              <a:buFont typeface="Arial MT"/>
              <a:buChar char="•"/>
              <a:tabLst>
                <a:tab pos="241300" algn="l"/>
              </a:tabLst>
            </a:pPr>
            <a:r>
              <a:rPr sz="2800" spc="-5" dirty="0">
                <a:latin typeface="Calibri"/>
                <a:cs typeface="Calibri"/>
              </a:rPr>
              <a:t>Risk</a:t>
            </a:r>
            <a:r>
              <a:rPr sz="2800" spc="25" dirty="0">
                <a:latin typeface="Calibri"/>
                <a:cs typeface="Calibri"/>
              </a:rPr>
              <a:t> </a:t>
            </a:r>
            <a:r>
              <a:rPr sz="2800" spc="-10" dirty="0">
                <a:latin typeface="Calibri"/>
                <a:cs typeface="Calibri"/>
              </a:rPr>
              <a:t>analysis</a:t>
            </a:r>
            <a:r>
              <a:rPr sz="2800" spc="30" dirty="0">
                <a:latin typeface="Calibri"/>
                <a:cs typeface="Calibri"/>
              </a:rPr>
              <a:t> </a:t>
            </a:r>
            <a:r>
              <a:rPr sz="2800" spc="-15" dirty="0">
                <a:latin typeface="Calibri"/>
                <a:cs typeface="Calibri"/>
              </a:rPr>
              <a:t>requires</a:t>
            </a:r>
            <a:r>
              <a:rPr sz="2800" spc="40" dirty="0">
                <a:latin typeface="Calibri"/>
                <a:cs typeface="Calibri"/>
              </a:rPr>
              <a:t> </a:t>
            </a:r>
            <a:r>
              <a:rPr sz="2800" spc="-10" dirty="0">
                <a:latin typeface="Calibri"/>
                <a:cs typeface="Calibri"/>
              </a:rPr>
              <a:t>highly</a:t>
            </a:r>
            <a:r>
              <a:rPr sz="2800" spc="15" dirty="0">
                <a:latin typeface="Calibri"/>
                <a:cs typeface="Calibri"/>
              </a:rPr>
              <a:t> </a:t>
            </a:r>
            <a:r>
              <a:rPr sz="2800" spc="-5" dirty="0">
                <a:latin typeface="Calibri"/>
                <a:cs typeface="Calibri"/>
              </a:rPr>
              <a:t>specific</a:t>
            </a:r>
            <a:r>
              <a:rPr sz="2800" spc="25" dirty="0">
                <a:latin typeface="Calibri"/>
                <a:cs typeface="Calibri"/>
              </a:rPr>
              <a:t> </a:t>
            </a:r>
            <a:r>
              <a:rPr sz="2800" spc="-15" dirty="0">
                <a:latin typeface="Calibri"/>
                <a:cs typeface="Calibri"/>
              </a:rPr>
              <a:t>expertise.</a:t>
            </a:r>
            <a:endParaRPr sz="2800" dirty="0">
              <a:latin typeface="Calibri"/>
              <a:cs typeface="Calibri"/>
            </a:endParaRPr>
          </a:p>
          <a:p>
            <a:pPr marL="241300" indent="-228600">
              <a:lnSpc>
                <a:spcPct val="100000"/>
              </a:lnSpc>
              <a:spcBef>
                <a:spcPts val="660"/>
              </a:spcBef>
              <a:buFont typeface="Arial MT"/>
              <a:buChar char="•"/>
              <a:tabLst>
                <a:tab pos="241300" algn="l"/>
              </a:tabLst>
            </a:pPr>
            <a:r>
              <a:rPr sz="2800" spc="-20" dirty="0">
                <a:latin typeface="Calibri"/>
                <a:cs typeface="Calibri"/>
              </a:rPr>
              <a:t>Project’s</a:t>
            </a:r>
            <a:r>
              <a:rPr sz="2800" spc="30" dirty="0">
                <a:latin typeface="Calibri"/>
                <a:cs typeface="Calibri"/>
              </a:rPr>
              <a:t> </a:t>
            </a:r>
            <a:r>
              <a:rPr sz="2800" spc="-10" dirty="0">
                <a:latin typeface="Calibri"/>
                <a:cs typeface="Calibri"/>
              </a:rPr>
              <a:t>success</a:t>
            </a:r>
            <a:r>
              <a:rPr sz="2800" spc="45" dirty="0">
                <a:latin typeface="Calibri"/>
                <a:cs typeface="Calibri"/>
              </a:rPr>
              <a:t> </a:t>
            </a:r>
            <a:r>
              <a:rPr sz="2800" spc="-5" dirty="0">
                <a:latin typeface="Calibri"/>
                <a:cs typeface="Calibri"/>
              </a:rPr>
              <a:t>is</a:t>
            </a:r>
            <a:r>
              <a:rPr sz="2800" spc="5" dirty="0">
                <a:latin typeface="Calibri"/>
                <a:cs typeface="Calibri"/>
              </a:rPr>
              <a:t> </a:t>
            </a:r>
            <a:r>
              <a:rPr sz="2800" spc="-15" dirty="0">
                <a:latin typeface="Calibri"/>
                <a:cs typeface="Calibri"/>
              </a:rPr>
              <a:t>heavily</a:t>
            </a:r>
            <a:r>
              <a:rPr sz="2800" spc="10" dirty="0">
                <a:latin typeface="Calibri"/>
                <a:cs typeface="Calibri"/>
              </a:rPr>
              <a:t> </a:t>
            </a:r>
            <a:r>
              <a:rPr sz="2800" spc="-15" dirty="0">
                <a:latin typeface="Calibri"/>
                <a:cs typeface="Calibri"/>
              </a:rPr>
              <a:t>dependent</a:t>
            </a:r>
            <a:r>
              <a:rPr sz="2800" spc="45" dirty="0">
                <a:latin typeface="Calibri"/>
                <a:cs typeface="Calibri"/>
              </a:rPr>
              <a:t> </a:t>
            </a:r>
            <a:r>
              <a:rPr sz="2800" spc="-5" dirty="0">
                <a:latin typeface="Calibri"/>
                <a:cs typeface="Calibri"/>
              </a:rPr>
              <a:t>on</a:t>
            </a:r>
            <a:r>
              <a:rPr sz="2800" spc="15" dirty="0">
                <a:latin typeface="Calibri"/>
                <a:cs typeface="Calibri"/>
              </a:rPr>
              <a:t> </a:t>
            </a:r>
            <a:r>
              <a:rPr sz="2800" spc="-5" dirty="0">
                <a:latin typeface="Calibri"/>
                <a:cs typeface="Calibri"/>
              </a:rPr>
              <a:t>the</a:t>
            </a:r>
            <a:r>
              <a:rPr sz="2800" spc="15" dirty="0">
                <a:latin typeface="Calibri"/>
                <a:cs typeface="Calibri"/>
              </a:rPr>
              <a:t> </a:t>
            </a:r>
            <a:r>
              <a:rPr sz="2800" spc="-10" dirty="0">
                <a:latin typeface="Calibri"/>
                <a:cs typeface="Calibri"/>
              </a:rPr>
              <a:t>risk</a:t>
            </a:r>
            <a:r>
              <a:rPr sz="2800" spc="15" dirty="0">
                <a:latin typeface="Calibri"/>
                <a:cs typeface="Calibri"/>
              </a:rPr>
              <a:t> </a:t>
            </a:r>
            <a:r>
              <a:rPr sz="2800" spc="-10" dirty="0">
                <a:latin typeface="Calibri"/>
                <a:cs typeface="Calibri"/>
              </a:rPr>
              <a:t>analysis</a:t>
            </a:r>
            <a:r>
              <a:rPr sz="2800" spc="25" dirty="0">
                <a:latin typeface="Calibri"/>
                <a:cs typeface="Calibri"/>
              </a:rPr>
              <a:t> </a:t>
            </a:r>
            <a:r>
              <a:rPr sz="2800" spc="-10" dirty="0">
                <a:latin typeface="Calibri"/>
                <a:cs typeface="Calibri"/>
              </a:rPr>
              <a:t>phase.</a:t>
            </a:r>
            <a:endParaRPr sz="2800" dirty="0">
              <a:latin typeface="Calibri"/>
              <a:cs typeface="Calibri"/>
            </a:endParaRPr>
          </a:p>
          <a:p>
            <a:pPr marL="241300" indent="-228600">
              <a:lnSpc>
                <a:spcPct val="100000"/>
              </a:lnSpc>
              <a:spcBef>
                <a:spcPts val="660"/>
              </a:spcBef>
              <a:buFont typeface="Arial MT"/>
              <a:buChar char="•"/>
              <a:tabLst>
                <a:tab pos="241300" algn="l"/>
              </a:tabLst>
            </a:pPr>
            <a:r>
              <a:rPr sz="2800" spc="-10" dirty="0">
                <a:latin typeface="Calibri"/>
                <a:cs typeface="Calibri"/>
              </a:rPr>
              <a:t>Doesn’t</a:t>
            </a:r>
            <a:r>
              <a:rPr sz="2800" spc="20" dirty="0">
                <a:latin typeface="Calibri"/>
                <a:cs typeface="Calibri"/>
              </a:rPr>
              <a:t> </a:t>
            </a:r>
            <a:r>
              <a:rPr sz="2800" spc="-10" dirty="0">
                <a:latin typeface="Calibri"/>
                <a:cs typeface="Calibri"/>
              </a:rPr>
              <a:t>work</a:t>
            </a:r>
            <a:r>
              <a:rPr sz="2800" spc="5" dirty="0">
                <a:latin typeface="Calibri"/>
                <a:cs typeface="Calibri"/>
              </a:rPr>
              <a:t> </a:t>
            </a:r>
            <a:r>
              <a:rPr sz="2800" spc="-10" dirty="0">
                <a:latin typeface="Calibri"/>
                <a:cs typeface="Calibri"/>
              </a:rPr>
              <a:t>well</a:t>
            </a:r>
            <a:r>
              <a:rPr sz="2800" spc="-15" dirty="0">
                <a:latin typeface="Calibri"/>
                <a:cs typeface="Calibri"/>
              </a:rPr>
              <a:t> </a:t>
            </a:r>
            <a:r>
              <a:rPr sz="2800" spc="-25" dirty="0">
                <a:latin typeface="Calibri"/>
                <a:cs typeface="Calibri"/>
              </a:rPr>
              <a:t>for</a:t>
            </a:r>
            <a:r>
              <a:rPr sz="2800" spc="-5" dirty="0">
                <a:latin typeface="Calibri"/>
                <a:cs typeface="Calibri"/>
              </a:rPr>
              <a:t> </a:t>
            </a:r>
            <a:r>
              <a:rPr sz="2800" spc="-10" dirty="0">
                <a:latin typeface="Calibri"/>
                <a:cs typeface="Calibri"/>
              </a:rPr>
              <a:t>smaller</a:t>
            </a:r>
            <a:r>
              <a:rPr sz="2800" spc="5" dirty="0">
                <a:latin typeface="Calibri"/>
                <a:cs typeface="Calibri"/>
              </a:rPr>
              <a:t> </a:t>
            </a:r>
            <a:r>
              <a:rPr sz="2800" spc="-15" dirty="0">
                <a:latin typeface="Calibri"/>
                <a:cs typeface="Calibri"/>
              </a:rPr>
              <a:t>projects.</a:t>
            </a:r>
            <a:endParaRPr sz="2800" dirty="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
        <p:nvSpPr>
          <p:cNvPr id="2" name="object 2"/>
          <p:cNvSpPr txBox="1">
            <a:spLocks noGrp="1"/>
          </p:cNvSpPr>
          <p:nvPr>
            <p:ph type="title"/>
          </p:nvPr>
        </p:nvSpPr>
        <p:spPr>
          <a:xfrm>
            <a:off x="916939" y="609676"/>
            <a:ext cx="6581140" cy="697230"/>
          </a:xfrm>
          <a:prstGeom prst="rect">
            <a:avLst/>
          </a:prstGeom>
        </p:spPr>
        <p:txBody>
          <a:bodyPr vert="horz" wrap="square" lIns="0" tIns="13335" rIns="0" bIns="0" rtlCol="0">
            <a:spAutoFit/>
          </a:bodyPr>
          <a:lstStyle/>
          <a:p>
            <a:pPr marL="12700">
              <a:lnSpc>
                <a:spcPct val="100000"/>
              </a:lnSpc>
              <a:spcBef>
                <a:spcPts val="105"/>
              </a:spcBef>
            </a:pPr>
            <a:r>
              <a:rPr sz="4400" spc="-35" dirty="0"/>
              <a:t>When</a:t>
            </a:r>
            <a:r>
              <a:rPr sz="4400" spc="-110" dirty="0"/>
              <a:t> </a:t>
            </a:r>
            <a:r>
              <a:rPr sz="4400" spc="-35" dirty="0"/>
              <a:t>to</a:t>
            </a:r>
            <a:r>
              <a:rPr sz="4400" spc="-70" dirty="0"/>
              <a:t> </a:t>
            </a:r>
            <a:r>
              <a:rPr sz="4400" spc="-20" dirty="0"/>
              <a:t>use</a:t>
            </a:r>
            <a:r>
              <a:rPr sz="4400" spc="-95" dirty="0"/>
              <a:t> </a:t>
            </a:r>
            <a:r>
              <a:rPr sz="4400" spc="-20" dirty="0"/>
              <a:t>the</a:t>
            </a:r>
            <a:r>
              <a:rPr sz="4400" spc="-80" dirty="0"/>
              <a:t> </a:t>
            </a:r>
            <a:r>
              <a:rPr sz="4400" spc="-40" dirty="0"/>
              <a:t>Spiral</a:t>
            </a:r>
            <a:r>
              <a:rPr sz="4400" spc="-95" dirty="0"/>
              <a:t> </a:t>
            </a:r>
            <a:r>
              <a:rPr sz="4400" spc="-35" dirty="0"/>
              <a:t>Model</a:t>
            </a:r>
            <a:endParaRPr sz="4400"/>
          </a:p>
        </p:txBody>
      </p:sp>
      <p:sp>
        <p:nvSpPr>
          <p:cNvPr id="3" name="object 3"/>
          <p:cNvSpPr txBox="1"/>
          <p:nvPr/>
        </p:nvSpPr>
        <p:spPr>
          <a:xfrm>
            <a:off x="916939" y="1707159"/>
            <a:ext cx="10186670" cy="3478529"/>
          </a:xfrm>
          <a:prstGeom prst="rect">
            <a:avLst/>
          </a:prstGeom>
        </p:spPr>
        <p:txBody>
          <a:bodyPr vert="horz" wrap="square" lIns="0" tIns="98425" rIns="0" bIns="0" rtlCol="0">
            <a:spAutoFit/>
          </a:bodyPr>
          <a:lstStyle/>
          <a:p>
            <a:pPr marL="241300" indent="-228600">
              <a:lnSpc>
                <a:spcPct val="100000"/>
              </a:lnSpc>
              <a:spcBef>
                <a:spcPts val="775"/>
              </a:spcBef>
              <a:buFont typeface="Arial MT"/>
              <a:buChar char="•"/>
              <a:tabLst>
                <a:tab pos="241300" algn="l"/>
              </a:tabLst>
            </a:pPr>
            <a:r>
              <a:rPr sz="2800" spc="-5" dirty="0">
                <a:latin typeface="Calibri"/>
                <a:cs typeface="Calibri"/>
              </a:rPr>
              <a:t>When</a:t>
            </a:r>
            <a:r>
              <a:rPr sz="2800" spc="20" dirty="0">
                <a:latin typeface="Calibri"/>
                <a:cs typeface="Calibri"/>
              </a:rPr>
              <a:t> </a:t>
            </a:r>
            <a:r>
              <a:rPr sz="2800" spc="-15" dirty="0">
                <a:latin typeface="Calibri"/>
                <a:cs typeface="Calibri"/>
              </a:rPr>
              <a:t>costs</a:t>
            </a:r>
            <a:r>
              <a:rPr sz="2800" spc="20" dirty="0">
                <a:latin typeface="Calibri"/>
                <a:cs typeface="Calibri"/>
              </a:rPr>
              <a:t> </a:t>
            </a:r>
            <a:r>
              <a:rPr sz="2800" spc="-5" dirty="0">
                <a:latin typeface="Calibri"/>
                <a:cs typeface="Calibri"/>
              </a:rPr>
              <a:t>and</a:t>
            </a:r>
            <a:r>
              <a:rPr sz="2800" spc="15" dirty="0">
                <a:latin typeface="Calibri"/>
                <a:cs typeface="Calibri"/>
              </a:rPr>
              <a:t> </a:t>
            </a:r>
            <a:r>
              <a:rPr sz="2800" spc="-5" dirty="0">
                <a:latin typeface="Calibri"/>
                <a:cs typeface="Calibri"/>
              </a:rPr>
              <a:t>risk</a:t>
            </a:r>
            <a:r>
              <a:rPr sz="2800" spc="20" dirty="0">
                <a:latin typeface="Calibri"/>
                <a:cs typeface="Calibri"/>
              </a:rPr>
              <a:t> </a:t>
            </a:r>
            <a:r>
              <a:rPr sz="2800" spc="-10" dirty="0">
                <a:latin typeface="Calibri"/>
                <a:cs typeface="Calibri"/>
              </a:rPr>
              <a:t>evaluation</a:t>
            </a:r>
            <a:r>
              <a:rPr sz="2800" spc="-5" dirty="0">
                <a:latin typeface="Calibri"/>
                <a:cs typeface="Calibri"/>
              </a:rPr>
              <a:t> is</a:t>
            </a:r>
            <a:r>
              <a:rPr sz="2800" spc="15" dirty="0">
                <a:latin typeface="Calibri"/>
                <a:cs typeface="Calibri"/>
              </a:rPr>
              <a:t> </a:t>
            </a:r>
            <a:r>
              <a:rPr sz="2800" spc="-10" dirty="0">
                <a:latin typeface="Calibri"/>
                <a:cs typeface="Calibri"/>
              </a:rPr>
              <a:t>important</a:t>
            </a:r>
            <a:endParaRPr sz="2800" dirty="0">
              <a:latin typeface="Calibri"/>
              <a:cs typeface="Calibri"/>
            </a:endParaRPr>
          </a:p>
          <a:p>
            <a:pPr marL="241300" indent="-228600">
              <a:lnSpc>
                <a:spcPct val="100000"/>
              </a:lnSpc>
              <a:spcBef>
                <a:spcPts val="675"/>
              </a:spcBef>
              <a:buFont typeface="Arial MT"/>
              <a:buChar char="•"/>
              <a:tabLst>
                <a:tab pos="241300" algn="l"/>
              </a:tabLst>
            </a:pPr>
            <a:r>
              <a:rPr sz="2800" spc="-20" dirty="0">
                <a:latin typeface="Calibri"/>
                <a:cs typeface="Calibri"/>
              </a:rPr>
              <a:t>For</a:t>
            </a:r>
            <a:r>
              <a:rPr sz="2800" spc="-5" dirty="0">
                <a:latin typeface="Calibri"/>
                <a:cs typeface="Calibri"/>
              </a:rPr>
              <a:t> medium</a:t>
            </a:r>
            <a:r>
              <a:rPr sz="2800" spc="25" dirty="0">
                <a:latin typeface="Calibri"/>
                <a:cs typeface="Calibri"/>
              </a:rPr>
              <a:t> </a:t>
            </a:r>
            <a:r>
              <a:rPr sz="2800" spc="-15" dirty="0">
                <a:latin typeface="Calibri"/>
                <a:cs typeface="Calibri"/>
              </a:rPr>
              <a:t>to</a:t>
            </a:r>
            <a:r>
              <a:rPr sz="2800" dirty="0">
                <a:latin typeface="Calibri"/>
                <a:cs typeface="Calibri"/>
              </a:rPr>
              <a:t> </a:t>
            </a:r>
            <a:r>
              <a:rPr sz="2800" spc="-10" dirty="0">
                <a:latin typeface="Calibri"/>
                <a:cs typeface="Calibri"/>
              </a:rPr>
              <a:t>high-risk</a:t>
            </a:r>
            <a:r>
              <a:rPr sz="2800" spc="40" dirty="0">
                <a:latin typeface="Calibri"/>
                <a:cs typeface="Calibri"/>
              </a:rPr>
              <a:t> </a:t>
            </a:r>
            <a:r>
              <a:rPr sz="2800" spc="-15" dirty="0">
                <a:latin typeface="Calibri"/>
                <a:cs typeface="Calibri"/>
              </a:rPr>
              <a:t>projects</a:t>
            </a:r>
            <a:endParaRPr sz="2800" dirty="0">
              <a:latin typeface="Calibri"/>
              <a:cs typeface="Calibri"/>
            </a:endParaRPr>
          </a:p>
          <a:p>
            <a:pPr marL="241300" marR="5080" indent="-228600">
              <a:lnSpc>
                <a:spcPts val="3020"/>
              </a:lnSpc>
              <a:spcBef>
                <a:spcPts val="1045"/>
              </a:spcBef>
              <a:buFont typeface="Arial MT"/>
              <a:buChar char="•"/>
              <a:tabLst>
                <a:tab pos="241300" algn="l"/>
              </a:tabLst>
            </a:pPr>
            <a:r>
              <a:rPr sz="2800" spc="-10" dirty="0">
                <a:latin typeface="Calibri"/>
                <a:cs typeface="Calibri"/>
              </a:rPr>
              <a:t>Long-term</a:t>
            </a:r>
            <a:r>
              <a:rPr sz="2800" spc="5" dirty="0">
                <a:latin typeface="Calibri"/>
                <a:cs typeface="Calibri"/>
              </a:rPr>
              <a:t> </a:t>
            </a:r>
            <a:r>
              <a:rPr sz="2800" spc="-15" dirty="0">
                <a:latin typeface="Calibri"/>
                <a:cs typeface="Calibri"/>
              </a:rPr>
              <a:t>project</a:t>
            </a:r>
            <a:r>
              <a:rPr sz="2800" spc="25" dirty="0">
                <a:latin typeface="Calibri"/>
                <a:cs typeface="Calibri"/>
              </a:rPr>
              <a:t> </a:t>
            </a:r>
            <a:r>
              <a:rPr sz="2800" spc="-15" dirty="0">
                <a:latin typeface="Calibri"/>
                <a:cs typeface="Calibri"/>
              </a:rPr>
              <a:t>commitment</a:t>
            </a:r>
            <a:r>
              <a:rPr sz="2800" spc="25" dirty="0">
                <a:latin typeface="Calibri"/>
                <a:cs typeface="Calibri"/>
              </a:rPr>
              <a:t> </a:t>
            </a:r>
            <a:r>
              <a:rPr sz="2800" spc="-10" dirty="0">
                <a:latin typeface="Calibri"/>
                <a:cs typeface="Calibri"/>
              </a:rPr>
              <a:t>unwise</a:t>
            </a:r>
            <a:r>
              <a:rPr sz="2800" spc="25" dirty="0">
                <a:latin typeface="Calibri"/>
                <a:cs typeface="Calibri"/>
              </a:rPr>
              <a:t> </a:t>
            </a:r>
            <a:r>
              <a:rPr sz="2800" spc="-10" dirty="0">
                <a:latin typeface="Calibri"/>
                <a:cs typeface="Calibri"/>
              </a:rPr>
              <a:t>because</a:t>
            </a:r>
            <a:r>
              <a:rPr sz="2800" spc="25" dirty="0">
                <a:latin typeface="Calibri"/>
                <a:cs typeface="Calibri"/>
              </a:rPr>
              <a:t> </a:t>
            </a:r>
            <a:r>
              <a:rPr sz="2800" spc="-5" dirty="0">
                <a:latin typeface="Calibri"/>
                <a:cs typeface="Calibri"/>
              </a:rPr>
              <a:t>of </a:t>
            </a:r>
            <a:r>
              <a:rPr sz="2800" spc="-10" dirty="0">
                <a:latin typeface="Calibri"/>
                <a:cs typeface="Calibri"/>
              </a:rPr>
              <a:t>potential</a:t>
            </a:r>
            <a:r>
              <a:rPr sz="2800" spc="5" dirty="0">
                <a:latin typeface="Calibri"/>
                <a:cs typeface="Calibri"/>
              </a:rPr>
              <a:t> </a:t>
            </a:r>
            <a:r>
              <a:rPr sz="2800" spc="-5" dirty="0">
                <a:latin typeface="Calibri"/>
                <a:cs typeface="Calibri"/>
              </a:rPr>
              <a:t>changes </a:t>
            </a:r>
            <a:r>
              <a:rPr sz="2800" spc="-615" dirty="0">
                <a:latin typeface="Calibri"/>
                <a:cs typeface="Calibri"/>
              </a:rPr>
              <a:t> </a:t>
            </a:r>
            <a:r>
              <a:rPr sz="2800" spc="-15" dirty="0">
                <a:latin typeface="Calibri"/>
                <a:cs typeface="Calibri"/>
              </a:rPr>
              <a:t>to</a:t>
            </a:r>
            <a:r>
              <a:rPr sz="2800" spc="-5" dirty="0">
                <a:latin typeface="Calibri"/>
                <a:cs typeface="Calibri"/>
              </a:rPr>
              <a:t> </a:t>
            </a:r>
            <a:r>
              <a:rPr sz="2800" spc="-10" dirty="0">
                <a:latin typeface="Calibri"/>
                <a:cs typeface="Calibri"/>
              </a:rPr>
              <a:t>economic</a:t>
            </a:r>
            <a:r>
              <a:rPr sz="2800" spc="15" dirty="0">
                <a:latin typeface="Calibri"/>
                <a:cs typeface="Calibri"/>
              </a:rPr>
              <a:t> </a:t>
            </a:r>
            <a:r>
              <a:rPr sz="2800" spc="-10" dirty="0">
                <a:latin typeface="Calibri"/>
                <a:cs typeface="Calibri"/>
              </a:rPr>
              <a:t>priorities</a:t>
            </a:r>
            <a:endParaRPr sz="2800" dirty="0">
              <a:latin typeface="Calibri"/>
              <a:cs typeface="Calibri"/>
            </a:endParaRPr>
          </a:p>
          <a:p>
            <a:pPr marL="241300" indent="-228600">
              <a:lnSpc>
                <a:spcPct val="100000"/>
              </a:lnSpc>
              <a:spcBef>
                <a:spcPts val="620"/>
              </a:spcBef>
              <a:buFont typeface="Arial MT"/>
              <a:buChar char="•"/>
              <a:tabLst>
                <a:tab pos="241300" algn="l"/>
              </a:tabLst>
            </a:pPr>
            <a:r>
              <a:rPr sz="2800" spc="-15" dirty="0">
                <a:latin typeface="Calibri"/>
                <a:cs typeface="Calibri"/>
              </a:rPr>
              <a:t>Users</a:t>
            </a:r>
            <a:r>
              <a:rPr sz="2800" spc="10" dirty="0">
                <a:latin typeface="Calibri"/>
                <a:cs typeface="Calibri"/>
              </a:rPr>
              <a:t> </a:t>
            </a:r>
            <a:r>
              <a:rPr sz="2800" spc="-15" dirty="0">
                <a:latin typeface="Calibri"/>
                <a:cs typeface="Calibri"/>
              </a:rPr>
              <a:t>are</a:t>
            </a:r>
            <a:r>
              <a:rPr sz="2800" dirty="0">
                <a:latin typeface="Calibri"/>
                <a:cs typeface="Calibri"/>
              </a:rPr>
              <a:t> </a:t>
            </a:r>
            <a:r>
              <a:rPr sz="2800" spc="-15" dirty="0">
                <a:latin typeface="Calibri"/>
                <a:cs typeface="Calibri"/>
              </a:rPr>
              <a:t>unsure</a:t>
            </a:r>
            <a:r>
              <a:rPr sz="2800" spc="35"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their</a:t>
            </a:r>
            <a:r>
              <a:rPr sz="2800" spc="5" dirty="0">
                <a:latin typeface="Calibri"/>
                <a:cs typeface="Calibri"/>
              </a:rPr>
              <a:t> </a:t>
            </a:r>
            <a:r>
              <a:rPr sz="2800" spc="-10" dirty="0">
                <a:latin typeface="Calibri"/>
                <a:cs typeface="Calibri"/>
              </a:rPr>
              <a:t>needs</a:t>
            </a:r>
            <a:endParaRPr sz="2800" dirty="0">
              <a:latin typeface="Calibri"/>
              <a:cs typeface="Calibri"/>
            </a:endParaRPr>
          </a:p>
          <a:p>
            <a:pPr marL="241300" indent="-228600">
              <a:lnSpc>
                <a:spcPct val="100000"/>
              </a:lnSpc>
              <a:spcBef>
                <a:spcPts val="670"/>
              </a:spcBef>
              <a:buFont typeface="Arial MT"/>
              <a:buChar char="•"/>
              <a:tabLst>
                <a:tab pos="241300" algn="l"/>
              </a:tabLst>
            </a:pPr>
            <a:r>
              <a:rPr sz="2800" spc="-15" dirty="0">
                <a:latin typeface="Calibri"/>
                <a:cs typeface="Calibri"/>
              </a:rPr>
              <a:t>Requirements</a:t>
            </a:r>
            <a:r>
              <a:rPr sz="2800" spc="25" dirty="0">
                <a:latin typeface="Calibri"/>
                <a:cs typeface="Calibri"/>
              </a:rPr>
              <a:t> </a:t>
            </a:r>
            <a:r>
              <a:rPr sz="2800" spc="-15" dirty="0">
                <a:latin typeface="Calibri"/>
                <a:cs typeface="Calibri"/>
              </a:rPr>
              <a:t>are</a:t>
            </a:r>
            <a:r>
              <a:rPr sz="2800" spc="-10" dirty="0">
                <a:latin typeface="Calibri"/>
                <a:cs typeface="Calibri"/>
              </a:rPr>
              <a:t> </a:t>
            </a:r>
            <a:r>
              <a:rPr sz="2800" spc="-15" dirty="0">
                <a:latin typeface="Calibri"/>
                <a:cs typeface="Calibri"/>
              </a:rPr>
              <a:t>complex</a:t>
            </a:r>
            <a:endParaRPr sz="2800" dirty="0">
              <a:latin typeface="Calibri"/>
              <a:cs typeface="Calibri"/>
            </a:endParaRPr>
          </a:p>
          <a:p>
            <a:pPr marL="241300" indent="-228600">
              <a:lnSpc>
                <a:spcPct val="100000"/>
              </a:lnSpc>
              <a:spcBef>
                <a:spcPts val="660"/>
              </a:spcBef>
              <a:buFont typeface="Arial MT"/>
              <a:buChar char="•"/>
              <a:tabLst>
                <a:tab pos="241300" algn="l"/>
              </a:tabLst>
            </a:pPr>
            <a:r>
              <a:rPr sz="2800" spc="-10" dirty="0">
                <a:latin typeface="Calibri"/>
                <a:cs typeface="Calibri"/>
              </a:rPr>
              <a:t>New</a:t>
            </a:r>
            <a:r>
              <a:rPr sz="2800" spc="-15" dirty="0">
                <a:latin typeface="Calibri"/>
                <a:cs typeface="Calibri"/>
              </a:rPr>
              <a:t> product</a:t>
            </a:r>
            <a:r>
              <a:rPr sz="2800" spc="35" dirty="0">
                <a:latin typeface="Calibri"/>
                <a:cs typeface="Calibri"/>
              </a:rPr>
              <a:t> </a:t>
            </a:r>
            <a:r>
              <a:rPr sz="2800" spc="-10" dirty="0">
                <a:latin typeface="Calibri"/>
                <a:cs typeface="Calibri"/>
              </a:rPr>
              <a:t>line</a:t>
            </a:r>
            <a:endParaRPr sz="2800" dirty="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
        <p:nvSpPr>
          <p:cNvPr id="2" name="object 2"/>
          <p:cNvSpPr txBox="1">
            <a:spLocks noGrp="1"/>
          </p:cNvSpPr>
          <p:nvPr>
            <p:ph type="title"/>
          </p:nvPr>
        </p:nvSpPr>
        <p:spPr>
          <a:xfrm>
            <a:off x="823671" y="492074"/>
            <a:ext cx="4758690" cy="635000"/>
          </a:xfrm>
          <a:prstGeom prst="rect">
            <a:avLst/>
          </a:prstGeom>
        </p:spPr>
        <p:txBody>
          <a:bodyPr vert="horz" wrap="square" lIns="0" tIns="12065" rIns="0" bIns="0" rtlCol="0">
            <a:spAutoFit/>
          </a:bodyPr>
          <a:lstStyle/>
          <a:p>
            <a:pPr marL="12700">
              <a:lnSpc>
                <a:spcPct val="100000"/>
              </a:lnSpc>
              <a:spcBef>
                <a:spcPts val="95"/>
              </a:spcBef>
            </a:pPr>
            <a:r>
              <a:rPr sz="4000" spc="-40" dirty="0"/>
              <a:t>Adaptive</a:t>
            </a:r>
            <a:r>
              <a:rPr sz="4000" spc="-110" dirty="0"/>
              <a:t> </a:t>
            </a:r>
            <a:r>
              <a:rPr sz="4000" spc="-30" dirty="0"/>
              <a:t>Models</a:t>
            </a:r>
            <a:r>
              <a:rPr sz="4000" spc="-80" dirty="0"/>
              <a:t> </a:t>
            </a:r>
            <a:r>
              <a:rPr sz="4000" spc="-5" dirty="0"/>
              <a:t>-</a:t>
            </a:r>
            <a:r>
              <a:rPr sz="4000" spc="-65" dirty="0"/>
              <a:t> </a:t>
            </a:r>
            <a:r>
              <a:rPr sz="4000" spc="-20" dirty="0"/>
              <a:t>Agile</a:t>
            </a:r>
            <a:endParaRPr sz="4000" dirty="0"/>
          </a:p>
        </p:txBody>
      </p:sp>
      <p:sp>
        <p:nvSpPr>
          <p:cNvPr id="3" name="object 3"/>
          <p:cNvSpPr txBox="1"/>
          <p:nvPr/>
        </p:nvSpPr>
        <p:spPr>
          <a:xfrm>
            <a:off x="667004" y="1662811"/>
            <a:ext cx="10868025" cy="4247515"/>
          </a:xfrm>
          <a:prstGeom prst="rect">
            <a:avLst/>
          </a:prstGeom>
        </p:spPr>
        <p:txBody>
          <a:bodyPr vert="horz" wrap="square" lIns="0" tIns="97155" rIns="0" bIns="0" rtlCol="0">
            <a:spAutoFit/>
          </a:bodyPr>
          <a:lstStyle/>
          <a:p>
            <a:pPr marL="240665" marR="578485" indent="-228600">
              <a:lnSpc>
                <a:spcPct val="80000"/>
              </a:lnSpc>
              <a:spcBef>
                <a:spcPts val="765"/>
              </a:spcBef>
              <a:buFont typeface="Arial MT"/>
              <a:buChar char="•"/>
              <a:tabLst>
                <a:tab pos="241300" algn="l"/>
              </a:tabLst>
            </a:pPr>
            <a:r>
              <a:rPr sz="2800" spc="-5" dirty="0">
                <a:latin typeface="Calibri"/>
                <a:cs typeface="Calibri"/>
              </a:rPr>
              <a:t>Agile modeling</a:t>
            </a:r>
            <a:r>
              <a:rPr sz="2800" spc="5" dirty="0">
                <a:latin typeface="Calibri"/>
                <a:cs typeface="Calibri"/>
              </a:rPr>
              <a:t> </a:t>
            </a:r>
            <a:r>
              <a:rPr sz="2800" spc="-10" dirty="0">
                <a:latin typeface="Calibri"/>
                <a:cs typeface="Calibri"/>
              </a:rPr>
              <a:t>(AM)</a:t>
            </a:r>
            <a:r>
              <a:rPr sz="2800" spc="30" dirty="0">
                <a:latin typeface="Calibri"/>
                <a:cs typeface="Calibri"/>
              </a:rPr>
              <a:t> </a:t>
            </a:r>
            <a:r>
              <a:rPr sz="2800" spc="-5" dirty="0">
                <a:latin typeface="Calibri"/>
                <a:cs typeface="Calibri"/>
              </a:rPr>
              <a:t>is</a:t>
            </a:r>
            <a:r>
              <a:rPr sz="2800" dirty="0">
                <a:latin typeface="Calibri"/>
                <a:cs typeface="Calibri"/>
              </a:rPr>
              <a:t> </a:t>
            </a:r>
            <a:r>
              <a:rPr sz="2800" spc="-5" dirty="0">
                <a:latin typeface="Calibri"/>
                <a:cs typeface="Calibri"/>
              </a:rPr>
              <a:t>a</a:t>
            </a:r>
            <a:r>
              <a:rPr sz="2800" dirty="0">
                <a:latin typeface="Calibri"/>
                <a:cs typeface="Calibri"/>
              </a:rPr>
              <a:t> </a:t>
            </a:r>
            <a:r>
              <a:rPr sz="2800" spc="-10" dirty="0">
                <a:latin typeface="Calibri"/>
                <a:cs typeface="Calibri"/>
              </a:rPr>
              <a:t>methodology</a:t>
            </a:r>
            <a:r>
              <a:rPr sz="2800" spc="5" dirty="0">
                <a:latin typeface="Calibri"/>
                <a:cs typeface="Calibri"/>
              </a:rPr>
              <a:t> </a:t>
            </a:r>
            <a:r>
              <a:rPr sz="2800" spc="-25" dirty="0">
                <a:latin typeface="Calibri"/>
                <a:cs typeface="Calibri"/>
              </a:rPr>
              <a:t>for</a:t>
            </a:r>
            <a:r>
              <a:rPr sz="2800" spc="5" dirty="0">
                <a:latin typeface="Calibri"/>
                <a:cs typeface="Calibri"/>
              </a:rPr>
              <a:t> </a:t>
            </a:r>
            <a:r>
              <a:rPr sz="2800" spc="-5" dirty="0">
                <a:latin typeface="Calibri"/>
                <a:cs typeface="Calibri"/>
              </a:rPr>
              <a:t>modeling</a:t>
            </a:r>
            <a:r>
              <a:rPr sz="2800" spc="15" dirty="0">
                <a:latin typeface="Calibri"/>
                <a:cs typeface="Calibri"/>
              </a:rPr>
              <a:t> </a:t>
            </a:r>
            <a:r>
              <a:rPr sz="2800" spc="-5" dirty="0">
                <a:latin typeface="Calibri"/>
                <a:cs typeface="Calibri"/>
              </a:rPr>
              <a:t>and</a:t>
            </a:r>
            <a:r>
              <a:rPr sz="2800" spc="20" dirty="0">
                <a:latin typeface="Calibri"/>
                <a:cs typeface="Calibri"/>
              </a:rPr>
              <a:t> </a:t>
            </a:r>
            <a:r>
              <a:rPr sz="2800" spc="-10" dirty="0">
                <a:latin typeface="Calibri"/>
                <a:cs typeface="Calibri"/>
              </a:rPr>
              <a:t>documenting </a:t>
            </a:r>
            <a:r>
              <a:rPr sz="2800" spc="-620" dirty="0">
                <a:latin typeface="Calibri"/>
                <a:cs typeface="Calibri"/>
              </a:rPr>
              <a:t> </a:t>
            </a:r>
            <a:r>
              <a:rPr sz="2800" spc="-15" dirty="0">
                <a:latin typeface="Calibri"/>
                <a:cs typeface="Calibri"/>
              </a:rPr>
              <a:t>software</a:t>
            </a:r>
            <a:r>
              <a:rPr sz="2800" spc="-5" dirty="0">
                <a:latin typeface="Calibri"/>
                <a:cs typeface="Calibri"/>
              </a:rPr>
              <a:t> </a:t>
            </a:r>
            <a:r>
              <a:rPr sz="2800" spc="-25" dirty="0">
                <a:latin typeface="Calibri"/>
                <a:cs typeface="Calibri"/>
              </a:rPr>
              <a:t>systems</a:t>
            </a:r>
            <a:r>
              <a:rPr sz="2800" spc="20" dirty="0">
                <a:latin typeface="Calibri"/>
                <a:cs typeface="Calibri"/>
              </a:rPr>
              <a:t> </a:t>
            </a:r>
            <a:r>
              <a:rPr sz="2800" spc="-10" dirty="0">
                <a:latin typeface="Calibri"/>
                <a:cs typeface="Calibri"/>
              </a:rPr>
              <a:t>based</a:t>
            </a:r>
            <a:r>
              <a:rPr sz="2800" spc="15" dirty="0">
                <a:latin typeface="Calibri"/>
                <a:cs typeface="Calibri"/>
              </a:rPr>
              <a:t> </a:t>
            </a:r>
            <a:r>
              <a:rPr sz="2800" spc="-5" dirty="0">
                <a:latin typeface="Calibri"/>
                <a:cs typeface="Calibri"/>
              </a:rPr>
              <a:t>on</a:t>
            </a:r>
            <a:r>
              <a:rPr sz="2800" spc="5" dirty="0">
                <a:latin typeface="Calibri"/>
                <a:cs typeface="Calibri"/>
              </a:rPr>
              <a:t> </a:t>
            </a:r>
            <a:r>
              <a:rPr sz="2800" spc="-20" dirty="0">
                <a:latin typeface="Calibri"/>
                <a:cs typeface="Calibri"/>
              </a:rPr>
              <a:t>best</a:t>
            </a:r>
            <a:r>
              <a:rPr sz="2800" spc="20" dirty="0">
                <a:latin typeface="Calibri"/>
                <a:cs typeface="Calibri"/>
              </a:rPr>
              <a:t> </a:t>
            </a:r>
            <a:r>
              <a:rPr sz="2800" spc="-10" dirty="0">
                <a:latin typeface="Calibri"/>
                <a:cs typeface="Calibri"/>
              </a:rPr>
              <a:t>practices.</a:t>
            </a:r>
            <a:endParaRPr sz="2800" dirty="0">
              <a:latin typeface="Calibri"/>
              <a:cs typeface="Calibri"/>
            </a:endParaRPr>
          </a:p>
          <a:p>
            <a:pPr marL="240665" marR="5080" indent="-228600">
              <a:lnSpc>
                <a:spcPct val="80000"/>
              </a:lnSpc>
              <a:spcBef>
                <a:spcPts val="1010"/>
              </a:spcBef>
              <a:buFont typeface="Arial MT"/>
              <a:buChar char="•"/>
              <a:tabLst>
                <a:tab pos="241300" algn="l"/>
              </a:tabLst>
            </a:pPr>
            <a:r>
              <a:rPr sz="2800" spc="-5" dirty="0">
                <a:latin typeface="Calibri"/>
                <a:cs typeface="Calibri"/>
              </a:rPr>
              <a:t>It is</a:t>
            </a:r>
            <a:r>
              <a:rPr sz="2800" dirty="0">
                <a:latin typeface="Calibri"/>
                <a:cs typeface="Calibri"/>
              </a:rPr>
              <a:t> </a:t>
            </a:r>
            <a:r>
              <a:rPr sz="2800" spc="-5" dirty="0">
                <a:latin typeface="Calibri"/>
                <a:cs typeface="Calibri"/>
              </a:rPr>
              <a:t>a</a:t>
            </a:r>
            <a:r>
              <a:rPr sz="2800" spc="5" dirty="0">
                <a:latin typeface="Calibri"/>
                <a:cs typeface="Calibri"/>
              </a:rPr>
              <a:t> </a:t>
            </a:r>
            <a:r>
              <a:rPr sz="2800" spc="-10" dirty="0">
                <a:latin typeface="Calibri"/>
                <a:cs typeface="Calibri"/>
              </a:rPr>
              <a:t>combination</a:t>
            </a:r>
            <a:r>
              <a:rPr sz="2800" spc="30" dirty="0">
                <a:latin typeface="Calibri"/>
                <a:cs typeface="Calibri"/>
              </a:rPr>
              <a:t> </a:t>
            </a:r>
            <a:r>
              <a:rPr sz="2800" spc="-5" dirty="0">
                <a:latin typeface="Calibri"/>
                <a:cs typeface="Calibri"/>
              </a:rPr>
              <a:t>of </a:t>
            </a:r>
            <a:r>
              <a:rPr sz="2800" spc="-20" dirty="0">
                <a:latin typeface="Calibri"/>
                <a:cs typeface="Calibri"/>
              </a:rPr>
              <a:t>iterative</a:t>
            </a:r>
            <a:r>
              <a:rPr sz="2800" dirty="0">
                <a:latin typeface="Calibri"/>
                <a:cs typeface="Calibri"/>
              </a:rPr>
              <a:t> </a:t>
            </a:r>
            <a:r>
              <a:rPr sz="2800" spc="-5" dirty="0">
                <a:latin typeface="Calibri"/>
                <a:cs typeface="Calibri"/>
              </a:rPr>
              <a:t>and</a:t>
            </a:r>
            <a:r>
              <a:rPr sz="2800" dirty="0">
                <a:latin typeface="Calibri"/>
                <a:cs typeface="Calibri"/>
              </a:rPr>
              <a:t> </a:t>
            </a:r>
            <a:r>
              <a:rPr sz="2800" spc="-15" dirty="0">
                <a:latin typeface="Calibri"/>
                <a:cs typeface="Calibri"/>
              </a:rPr>
              <a:t>incremental</a:t>
            </a:r>
            <a:r>
              <a:rPr sz="2800" spc="25" dirty="0">
                <a:latin typeface="Calibri"/>
                <a:cs typeface="Calibri"/>
              </a:rPr>
              <a:t> </a:t>
            </a:r>
            <a:r>
              <a:rPr sz="2800" spc="-15" dirty="0">
                <a:latin typeface="Calibri"/>
                <a:cs typeface="Calibri"/>
              </a:rPr>
              <a:t>process</a:t>
            </a:r>
            <a:r>
              <a:rPr sz="2800" spc="25" dirty="0">
                <a:latin typeface="Calibri"/>
                <a:cs typeface="Calibri"/>
              </a:rPr>
              <a:t> </a:t>
            </a:r>
            <a:r>
              <a:rPr sz="2800" spc="-5" dirty="0">
                <a:latin typeface="Calibri"/>
                <a:cs typeface="Calibri"/>
              </a:rPr>
              <a:t>models</a:t>
            </a:r>
            <a:r>
              <a:rPr sz="2800" spc="20" dirty="0">
                <a:latin typeface="Calibri"/>
                <a:cs typeface="Calibri"/>
              </a:rPr>
              <a:t> </a:t>
            </a:r>
            <a:r>
              <a:rPr sz="2800" spc="-5" dirty="0">
                <a:latin typeface="Calibri"/>
                <a:cs typeface="Calibri"/>
              </a:rPr>
              <a:t>with</a:t>
            </a:r>
            <a:r>
              <a:rPr sz="2800" spc="5" dirty="0">
                <a:latin typeface="Calibri"/>
                <a:cs typeface="Calibri"/>
              </a:rPr>
              <a:t> </a:t>
            </a:r>
            <a:r>
              <a:rPr sz="2800" spc="-20" dirty="0">
                <a:latin typeface="Calibri"/>
                <a:cs typeface="Calibri"/>
              </a:rPr>
              <a:t>focus </a:t>
            </a:r>
            <a:r>
              <a:rPr sz="2800" spc="-615" dirty="0">
                <a:latin typeface="Calibri"/>
                <a:cs typeface="Calibri"/>
              </a:rPr>
              <a:t> </a:t>
            </a:r>
            <a:r>
              <a:rPr sz="2800" spc="-5" dirty="0">
                <a:latin typeface="Calibri"/>
                <a:cs typeface="Calibri"/>
              </a:rPr>
              <a:t>on</a:t>
            </a:r>
            <a:r>
              <a:rPr sz="2800" spc="10" dirty="0">
                <a:latin typeface="Calibri"/>
                <a:cs typeface="Calibri"/>
              </a:rPr>
              <a:t> </a:t>
            </a:r>
            <a:r>
              <a:rPr sz="2800" b="1" spc="-10" dirty="0">
                <a:latin typeface="Calibri"/>
                <a:cs typeface="Calibri"/>
              </a:rPr>
              <a:t>process</a:t>
            </a:r>
            <a:r>
              <a:rPr sz="2800" b="1" spc="15" dirty="0">
                <a:latin typeface="Calibri"/>
                <a:cs typeface="Calibri"/>
              </a:rPr>
              <a:t> </a:t>
            </a:r>
            <a:r>
              <a:rPr sz="2800" b="1" spc="-10" dirty="0">
                <a:latin typeface="Calibri"/>
                <a:cs typeface="Calibri"/>
              </a:rPr>
              <a:t>adaptability</a:t>
            </a:r>
            <a:r>
              <a:rPr sz="2800" b="1" spc="35" dirty="0">
                <a:latin typeface="Calibri"/>
                <a:cs typeface="Calibri"/>
              </a:rPr>
              <a:t> </a:t>
            </a:r>
            <a:r>
              <a:rPr sz="2800" b="1" spc="-5" dirty="0">
                <a:latin typeface="Calibri"/>
                <a:cs typeface="Calibri"/>
              </a:rPr>
              <a:t>and</a:t>
            </a:r>
            <a:r>
              <a:rPr sz="2800" b="1" spc="5" dirty="0">
                <a:latin typeface="Calibri"/>
                <a:cs typeface="Calibri"/>
              </a:rPr>
              <a:t> </a:t>
            </a:r>
            <a:r>
              <a:rPr sz="2800" b="1" spc="-10" dirty="0">
                <a:latin typeface="Calibri"/>
                <a:cs typeface="Calibri"/>
              </a:rPr>
              <a:t>customer</a:t>
            </a:r>
            <a:r>
              <a:rPr sz="2800" b="1" spc="15" dirty="0">
                <a:latin typeface="Calibri"/>
                <a:cs typeface="Calibri"/>
              </a:rPr>
              <a:t> </a:t>
            </a:r>
            <a:r>
              <a:rPr sz="2800" b="1" spc="-10" dirty="0">
                <a:latin typeface="Calibri"/>
                <a:cs typeface="Calibri"/>
              </a:rPr>
              <a:t>satisfaction</a:t>
            </a:r>
            <a:r>
              <a:rPr sz="2800" b="1" spc="5" dirty="0">
                <a:latin typeface="Calibri"/>
                <a:cs typeface="Calibri"/>
              </a:rPr>
              <a:t> </a:t>
            </a:r>
            <a:r>
              <a:rPr sz="2800" spc="-15" dirty="0">
                <a:latin typeface="Calibri"/>
                <a:cs typeface="Calibri"/>
              </a:rPr>
              <a:t>by</a:t>
            </a:r>
            <a:r>
              <a:rPr sz="2800" spc="10" dirty="0">
                <a:latin typeface="Calibri"/>
                <a:cs typeface="Calibri"/>
              </a:rPr>
              <a:t> </a:t>
            </a:r>
            <a:r>
              <a:rPr sz="2800" b="1" spc="-20" dirty="0">
                <a:latin typeface="Calibri"/>
                <a:cs typeface="Calibri"/>
              </a:rPr>
              <a:t>rapid</a:t>
            </a:r>
            <a:r>
              <a:rPr sz="2800" b="1" spc="15" dirty="0">
                <a:latin typeface="Calibri"/>
                <a:cs typeface="Calibri"/>
              </a:rPr>
              <a:t> </a:t>
            </a:r>
            <a:r>
              <a:rPr sz="2800" b="1" spc="-10" dirty="0">
                <a:latin typeface="Calibri"/>
                <a:cs typeface="Calibri"/>
              </a:rPr>
              <a:t>delivery</a:t>
            </a:r>
            <a:r>
              <a:rPr sz="2800" b="1" spc="40" dirty="0">
                <a:latin typeface="Calibri"/>
                <a:cs typeface="Calibri"/>
              </a:rPr>
              <a:t> </a:t>
            </a:r>
            <a:r>
              <a:rPr sz="2800" spc="-10" dirty="0">
                <a:latin typeface="Calibri"/>
                <a:cs typeface="Calibri"/>
              </a:rPr>
              <a:t>of </a:t>
            </a:r>
            <a:r>
              <a:rPr sz="2800" spc="-5" dirty="0">
                <a:latin typeface="Calibri"/>
                <a:cs typeface="Calibri"/>
              </a:rPr>
              <a:t> </a:t>
            </a:r>
            <a:r>
              <a:rPr sz="2800" spc="-10" dirty="0">
                <a:latin typeface="Calibri"/>
                <a:cs typeface="Calibri"/>
              </a:rPr>
              <a:t>working </a:t>
            </a:r>
            <a:r>
              <a:rPr sz="2800" spc="-15" dirty="0">
                <a:latin typeface="Calibri"/>
                <a:cs typeface="Calibri"/>
              </a:rPr>
              <a:t>software</a:t>
            </a:r>
            <a:r>
              <a:rPr sz="2800" dirty="0">
                <a:latin typeface="Calibri"/>
                <a:cs typeface="Calibri"/>
              </a:rPr>
              <a:t> </a:t>
            </a:r>
            <a:r>
              <a:rPr sz="2800" spc="-15" dirty="0">
                <a:latin typeface="Calibri"/>
                <a:cs typeface="Calibri"/>
              </a:rPr>
              <a:t>product.</a:t>
            </a:r>
            <a:endParaRPr sz="2800" dirty="0">
              <a:latin typeface="Calibri"/>
              <a:cs typeface="Calibri"/>
            </a:endParaRPr>
          </a:p>
          <a:p>
            <a:pPr marL="240665" marR="186055" indent="-228600">
              <a:lnSpc>
                <a:spcPct val="80000"/>
              </a:lnSpc>
              <a:spcBef>
                <a:spcPts val="994"/>
              </a:spcBef>
              <a:buFont typeface="Arial MT"/>
              <a:buChar char="•"/>
              <a:tabLst>
                <a:tab pos="241300" algn="l"/>
              </a:tabLst>
            </a:pPr>
            <a:r>
              <a:rPr sz="2800" spc="-5" dirty="0">
                <a:latin typeface="Calibri"/>
                <a:cs typeface="Calibri"/>
              </a:rPr>
              <a:t>Agile</a:t>
            </a:r>
            <a:r>
              <a:rPr sz="2800" dirty="0">
                <a:latin typeface="Calibri"/>
                <a:cs typeface="Calibri"/>
              </a:rPr>
              <a:t> </a:t>
            </a:r>
            <a:r>
              <a:rPr sz="2800" spc="-5" dirty="0">
                <a:latin typeface="Calibri"/>
                <a:cs typeface="Calibri"/>
              </a:rPr>
              <a:t>Methods</a:t>
            </a:r>
            <a:r>
              <a:rPr sz="2800" spc="25" dirty="0">
                <a:latin typeface="Calibri"/>
                <a:cs typeface="Calibri"/>
              </a:rPr>
              <a:t> </a:t>
            </a:r>
            <a:r>
              <a:rPr sz="2800" spc="-15" dirty="0">
                <a:latin typeface="Calibri"/>
                <a:cs typeface="Calibri"/>
              </a:rPr>
              <a:t>break</a:t>
            </a:r>
            <a:r>
              <a:rPr sz="2800" spc="5" dirty="0">
                <a:latin typeface="Calibri"/>
                <a:cs typeface="Calibri"/>
              </a:rPr>
              <a:t> </a:t>
            </a:r>
            <a:r>
              <a:rPr sz="2800" spc="-5" dirty="0">
                <a:latin typeface="Calibri"/>
                <a:cs typeface="Calibri"/>
              </a:rPr>
              <a:t>the</a:t>
            </a:r>
            <a:r>
              <a:rPr sz="2800" spc="15" dirty="0">
                <a:latin typeface="Calibri"/>
                <a:cs typeface="Calibri"/>
              </a:rPr>
              <a:t> </a:t>
            </a:r>
            <a:r>
              <a:rPr sz="2800" spc="-15" dirty="0">
                <a:latin typeface="Calibri"/>
                <a:cs typeface="Calibri"/>
              </a:rPr>
              <a:t>product</a:t>
            </a:r>
            <a:r>
              <a:rPr sz="2800" spc="40" dirty="0">
                <a:latin typeface="Calibri"/>
                <a:cs typeface="Calibri"/>
              </a:rPr>
              <a:t> </a:t>
            </a:r>
            <a:r>
              <a:rPr sz="2800" spc="-20" dirty="0">
                <a:latin typeface="Calibri"/>
                <a:cs typeface="Calibri"/>
              </a:rPr>
              <a:t>into</a:t>
            </a:r>
            <a:r>
              <a:rPr sz="2800" dirty="0">
                <a:latin typeface="Calibri"/>
                <a:cs typeface="Calibri"/>
              </a:rPr>
              <a:t> </a:t>
            </a:r>
            <a:r>
              <a:rPr sz="2800" spc="-10" dirty="0">
                <a:latin typeface="Calibri"/>
                <a:cs typeface="Calibri"/>
              </a:rPr>
              <a:t>small</a:t>
            </a:r>
            <a:r>
              <a:rPr sz="2800" spc="5" dirty="0">
                <a:latin typeface="Calibri"/>
                <a:cs typeface="Calibri"/>
              </a:rPr>
              <a:t> </a:t>
            </a:r>
            <a:r>
              <a:rPr sz="2800" spc="-15" dirty="0">
                <a:latin typeface="Calibri"/>
                <a:cs typeface="Calibri"/>
              </a:rPr>
              <a:t>incremental</a:t>
            </a:r>
            <a:r>
              <a:rPr sz="2800" spc="20" dirty="0">
                <a:latin typeface="Calibri"/>
                <a:cs typeface="Calibri"/>
              </a:rPr>
              <a:t> </a:t>
            </a:r>
            <a:r>
              <a:rPr sz="2800" spc="-10" dirty="0">
                <a:latin typeface="Calibri"/>
                <a:cs typeface="Calibri"/>
              </a:rPr>
              <a:t>builds.</a:t>
            </a:r>
            <a:r>
              <a:rPr sz="2800" spc="50" dirty="0">
                <a:latin typeface="Calibri"/>
                <a:cs typeface="Calibri"/>
              </a:rPr>
              <a:t> </a:t>
            </a:r>
            <a:r>
              <a:rPr sz="2800" spc="-10" dirty="0">
                <a:latin typeface="Calibri"/>
                <a:cs typeface="Calibri"/>
              </a:rPr>
              <a:t>These </a:t>
            </a:r>
            <a:r>
              <a:rPr sz="2800" spc="-5" dirty="0">
                <a:latin typeface="Calibri"/>
                <a:cs typeface="Calibri"/>
              </a:rPr>
              <a:t> </a:t>
            </a:r>
            <a:r>
              <a:rPr sz="2800" spc="-10" dirty="0">
                <a:latin typeface="Calibri"/>
                <a:cs typeface="Calibri"/>
              </a:rPr>
              <a:t>builds</a:t>
            </a:r>
            <a:r>
              <a:rPr sz="2800" spc="45" dirty="0">
                <a:latin typeface="Calibri"/>
                <a:cs typeface="Calibri"/>
              </a:rPr>
              <a:t> </a:t>
            </a:r>
            <a:r>
              <a:rPr sz="2800" spc="-20" dirty="0">
                <a:latin typeface="Calibri"/>
                <a:cs typeface="Calibri"/>
              </a:rPr>
              <a:t>are</a:t>
            </a:r>
            <a:r>
              <a:rPr sz="2800" dirty="0">
                <a:latin typeface="Calibri"/>
                <a:cs typeface="Calibri"/>
              </a:rPr>
              <a:t> </a:t>
            </a:r>
            <a:r>
              <a:rPr sz="2800" spc="-15" dirty="0">
                <a:latin typeface="Calibri"/>
                <a:cs typeface="Calibri"/>
              </a:rPr>
              <a:t>provided</a:t>
            </a:r>
            <a:r>
              <a:rPr sz="2800" spc="25" dirty="0">
                <a:latin typeface="Calibri"/>
                <a:cs typeface="Calibri"/>
              </a:rPr>
              <a:t> </a:t>
            </a:r>
            <a:r>
              <a:rPr sz="2800" spc="-5" dirty="0">
                <a:latin typeface="Calibri"/>
                <a:cs typeface="Calibri"/>
              </a:rPr>
              <a:t>in</a:t>
            </a:r>
            <a:r>
              <a:rPr sz="2800" spc="10" dirty="0">
                <a:latin typeface="Calibri"/>
                <a:cs typeface="Calibri"/>
              </a:rPr>
              <a:t> </a:t>
            </a:r>
            <a:r>
              <a:rPr sz="2800" spc="-15" dirty="0">
                <a:latin typeface="Calibri"/>
                <a:cs typeface="Calibri"/>
              </a:rPr>
              <a:t>iterations.</a:t>
            </a:r>
            <a:r>
              <a:rPr sz="2800" spc="20" dirty="0">
                <a:latin typeface="Calibri"/>
                <a:cs typeface="Calibri"/>
              </a:rPr>
              <a:t> </a:t>
            </a:r>
            <a:r>
              <a:rPr sz="2800" spc="-15" dirty="0">
                <a:latin typeface="Calibri"/>
                <a:cs typeface="Calibri"/>
              </a:rPr>
              <a:t>Each</a:t>
            </a:r>
            <a:r>
              <a:rPr sz="2800" spc="-5" dirty="0">
                <a:latin typeface="Calibri"/>
                <a:cs typeface="Calibri"/>
              </a:rPr>
              <a:t> </a:t>
            </a:r>
            <a:r>
              <a:rPr sz="2800" spc="-15" dirty="0">
                <a:latin typeface="Calibri"/>
                <a:cs typeface="Calibri"/>
              </a:rPr>
              <a:t>iteration</a:t>
            </a:r>
            <a:r>
              <a:rPr sz="2800" spc="-10" dirty="0">
                <a:latin typeface="Calibri"/>
                <a:cs typeface="Calibri"/>
              </a:rPr>
              <a:t> typically</a:t>
            </a:r>
            <a:r>
              <a:rPr sz="2800" spc="25" dirty="0">
                <a:latin typeface="Calibri"/>
                <a:cs typeface="Calibri"/>
              </a:rPr>
              <a:t> </a:t>
            </a:r>
            <a:r>
              <a:rPr sz="2800" spc="-10" dirty="0">
                <a:latin typeface="Calibri"/>
                <a:cs typeface="Calibri"/>
              </a:rPr>
              <a:t>lasts</a:t>
            </a:r>
            <a:r>
              <a:rPr sz="2800" spc="10" dirty="0">
                <a:latin typeface="Calibri"/>
                <a:cs typeface="Calibri"/>
              </a:rPr>
              <a:t> </a:t>
            </a:r>
            <a:r>
              <a:rPr sz="2800" spc="-20" dirty="0">
                <a:latin typeface="Calibri"/>
                <a:cs typeface="Calibri"/>
              </a:rPr>
              <a:t>from</a:t>
            </a:r>
            <a:r>
              <a:rPr sz="2800" spc="15" dirty="0">
                <a:latin typeface="Calibri"/>
                <a:cs typeface="Calibri"/>
              </a:rPr>
              <a:t> </a:t>
            </a:r>
            <a:r>
              <a:rPr sz="2800" spc="-5" dirty="0">
                <a:latin typeface="Calibri"/>
                <a:cs typeface="Calibri"/>
              </a:rPr>
              <a:t>about </a:t>
            </a:r>
            <a:r>
              <a:rPr sz="2800" spc="-620" dirty="0">
                <a:latin typeface="Calibri"/>
                <a:cs typeface="Calibri"/>
              </a:rPr>
              <a:t> </a:t>
            </a:r>
            <a:r>
              <a:rPr sz="2800" spc="-5" dirty="0">
                <a:latin typeface="Calibri"/>
                <a:cs typeface="Calibri"/>
              </a:rPr>
              <a:t>one</a:t>
            </a:r>
            <a:r>
              <a:rPr sz="2800" spc="5" dirty="0">
                <a:latin typeface="Calibri"/>
                <a:cs typeface="Calibri"/>
              </a:rPr>
              <a:t> </a:t>
            </a:r>
            <a:r>
              <a:rPr sz="2800" spc="-20" dirty="0">
                <a:latin typeface="Calibri"/>
                <a:cs typeface="Calibri"/>
              </a:rPr>
              <a:t>to</a:t>
            </a:r>
            <a:r>
              <a:rPr sz="2800" spc="-5" dirty="0">
                <a:latin typeface="Calibri"/>
                <a:cs typeface="Calibri"/>
              </a:rPr>
              <a:t> </a:t>
            </a:r>
            <a:r>
              <a:rPr sz="2800" spc="-15" dirty="0">
                <a:latin typeface="Calibri"/>
                <a:cs typeface="Calibri"/>
              </a:rPr>
              <a:t>three</a:t>
            </a:r>
            <a:r>
              <a:rPr sz="2800" spc="10" dirty="0">
                <a:latin typeface="Calibri"/>
                <a:cs typeface="Calibri"/>
              </a:rPr>
              <a:t> </a:t>
            </a:r>
            <a:r>
              <a:rPr sz="2800" spc="-10" dirty="0">
                <a:latin typeface="Calibri"/>
                <a:cs typeface="Calibri"/>
              </a:rPr>
              <a:t>weeks.</a:t>
            </a:r>
            <a:r>
              <a:rPr sz="2800" spc="-5" dirty="0">
                <a:latin typeface="Calibri"/>
                <a:cs typeface="Calibri"/>
              </a:rPr>
              <a:t> </a:t>
            </a:r>
            <a:r>
              <a:rPr sz="2800" spc="-20" dirty="0">
                <a:latin typeface="Calibri"/>
                <a:cs typeface="Calibri"/>
              </a:rPr>
              <a:t>Every</a:t>
            </a:r>
            <a:r>
              <a:rPr sz="2800" dirty="0">
                <a:latin typeface="Calibri"/>
                <a:cs typeface="Calibri"/>
              </a:rPr>
              <a:t> </a:t>
            </a:r>
            <a:r>
              <a:rPr sz="2800" spc="-20" dirty="0">
                <a:latin typeface="Calibri"/>
                <a:cs typeface="Calibri"/>
              </a:rPr>
              <a:t>iteration</a:t>
            </a:r>
            <a:r>
              <a:rPr sz="2800" spc="-5" dirty="0">
                <a:latin typeface="Calibri"/>
                <a:cs typeface="Calibri"/>
              </a:rPr>
              <a:t> </a:t>
            </a:r>
            <a:r>
              <a:rPr sz="2800" spc="-20" dirty="0">
                <a:latin typeface="Calibri"/>
                <a:cs typeface="Calibri"/>
              </a:rPr>
              <a:t>involves</a:t>
            </a:r>
            <a:r>
              <a:rPr sz="2800" spc="15" dirty="0">
                <a:latin typeface="Calibri"/>
                <a:cs typeface="Calibri"/>
              </a:rPr>
              <a:t> </a:t>
            </a:r>
            <a:r>
              <a:rPr sz="2800" spc="-15" dirty="0">
                <a:latin typeface="Calibri"/>
                <a:cs typeface="Calibri"/>
              </a:rPr>
              <a:t>cross</a:t>
            </a:r>
            <a:r>
              <a:rPr sz="2800" spc="15" dirty="0">
                <a:latin typeface="Calibri"/>
                <a:cs typeface="Calibri"/>
              </a:rPr>
              <a:t> </a:t>
            </a:r>
            <a:r>
              <a:rPr sz="2800" spc="-5" dirty="0">
                <a:latin typeface="Calibri"/>
                <a:cs typeface="Calibri"/>
              </a:rPr>
              <a:t>functional</a:t>
            </a:r>
            <a:r>
              <a:rPr sz="2800" spc="30" dirty="0">
                <a:latin typeface="Calibri"/>
                <a:cs typeface="Calibri"/>
              </a:rPr>
              <a:t> </a:t>
            </a:r>
            <a:r>
              <a:rPr sz="2800" spc="-10" dirty="0">
                <a:latin typeface="Calibri"/>
                <a:cs typeface="Calibri"/>
              </a:rPr>
              <a:t>teams </a:t>
            </a:r>
            <a:r>
              <a:rPr sz="2800" spc="-5" dirty="0">
                <a:latin typeface="Calibri"/>
                <a:cs typeface="Calibri"/>
              </a:rPr>
              <a:t> </a:t>
            </a:r>
            <a:r>
              <a:rPr sz="2800" spc="-10" dirty="0">
                <a:latin typeface="Calibri"/>
                <a:cs typeface="Calibri"/>
              </a:rPr>
              <a:t>working simultaneously</a:t>
            </a:r>
            <a:r>
              <a:rPr sz="2800" spc="55" dirty="0">
                <a:latin typeface="Calibri"/>
                <a:cs typeface="Calibri"/>
              </a:rPr>
              <a:t> </a:t>
            </a:r>
            <a:r>
              <a:rPr sz="2800" spc="-5" dirty="0">
                <a:latin typeface="Calibri"/>
                <a:cs typeface="Calibri"/>
              </a:rPr>
              <a:t>on</a:t>
            </a:r>
            <a:r>
              <a:rPr sz="2800" spc="5" dirty="0">
                <a:latin typeface="Calibri"/>
                <a:cs typeface="Calibri"/>
              </a:rPr>
              <a:t> </a:t>
            </a:r>
            <a:r>
              <a:rPr sz="2800" spc="-10" dirty="0">
                <a:latin typeface="Calibri"/>
                <a:cs typeface="Calibri"/>
              </a:rPr>
              <a:t>various</a:t>
            </a:r>
            <a:r>
              <a:rPr sz="2800" dirty="0">
                <a:latin typeface="Calibri"/>
                <a:cs typeface="Calibri"/>
              </a:rPr>
              <a:t> </a:t>
            </a:r>
            <a:r>
              <a:rPr sz="2800" spc="-10" dirty="0">
                <a:latin typeface="Calibri"/>
                <a:cs typeface="Calibri"/>
              </a:rPr>
              <a:t>areas</a:t>
            </a:r>
            <a:endParaRPr sz="2800" dirty="0">
              <a:latin typeface="Calibri"/>
              <a:cs typeface="Calibri"/>
            </a:endParaRPr>
          </a:p>
          <a:p>
            <a:pPr marL="240665" marR="519430" indent="-228600">
              <a:lnSpc>
                <a:spcPct val="80000"/>
              </a:lnSpc>
              <a:spcBef>
                <a:spcPts val="994"/>
              </a:spcBef>
              <a:buFont typeface="Arial MT"/>
              <a:buChar char="•"/>
              <a:tabLst>
                <a:tab pos="241300" algn="l"/>
              </a:tabLst>
            </a:pPr>
            <a:r>
              <a:rPr sz="2800" spc="-10" dirty="0">
                <a:latin typeface="Calibri"/>
                <a:cs typeface="Calibri"/>
              </a:rPr>
              <a:t>This</a:t>
            </a:r>
            <a:r>
              <a:rPr sz="2800" spc="15" dirty="0">
                <a:latin typeface="Calibri"/>
                <a:cs typeface="Calibri"/>
              </a:rPr>
              <a:t> </a:t>
            </a:r>
            <a:r>
              <a:rPr sz="2800" spc="-10" dirty="0">
                <a:latin typeface="Calibri"/>
                <a:cs typeface="Calibri"/>
              </a:rPr>
              <a:t>methodology</a:t>
            </a:r>
            <a:r>
              <a:rPr sz="2800" spc="30" dirty="0">
                <a:latin typeface="Calibri"/>
                <a:cs typeface="Calibri"/>
              </a:rPr>
              <a:t> </a:t>
            </a:r>
            <a:r>
              <a:rPr sz="2800" spc="-5" dirty="0">
                <a:latin typeface="Calibri"/>
                <a:cs typeface="Calibri"/>
              </a:rPr>
              <a:t>is</a:t>
            </a:r>
            <a:r>
              <a:rPr sz="2800" spc="10" dirty="0">
                <a:latin typeface="Calibri"/>
                <a:cs typeface="Calibri"/>
              </a:rPr>
              <a:t> </a:t>
            </a:r>
            <a:r>
              <a:rPr sz="2800" spc="-15" dirty="0">
                <a:latin typeface="Calibri"/>
                <a:cs typeface="Calibri"/>
              </a:rPr>
              <a:t>more</a:t>
            </a:r>
            <a:r>
              <a:rPr sz="2800" spc="20" dirty="0">
                <a:latin typeface="Calibri"/>
                <a:cs typeface="Calibri"/>
              </a:rPr>
              <a:t> </a:t>
            </a:r>
            <a:r>
              <a:rPr sz="2800" b="1" spc="-15" dirty="0">
                <a:latin typeface="Calibri"/>
                <a:cs typeface="Calibri"/>
              </a:rPr>
              <a:t>flexible</a:t>
            </a:r>
            <a:r>
              <a:rPr sz="2800" b="1" spc="55" dirty="0">
                <a:latin typeface="Calibri"/>
                <a:cs typeface="Calibri"/>
              </a:rPr>
              <a:t> </a:t>
            </a:r>
            <a:r>
              <a:rPr sz="2800" spc="-5" dirty="0">
                <a:latin typeface="Calibri"/>
                <a:cs typeface="Calibri"/>
              </a:rPr>
              <a:t>than</a:t>
            </a:r>
            <a:r>
              <a:rPr sz="2800" spc="30" dirty="0">
                <a:latin typeface="Calibri"/>
                <a:cs typeface="Calibri"/>
              </a:rPr>
              <a:t> </a:t>
            </a:r>
            <a:r>
              <a:rPr sz="2800" spc="-15" dirty="0">
                <a:latin typeface="Calibri"/>
                <a:cs typeface="Calibri"/>
              </a:rPr>
              <a:t>traditional</a:t>
            </a:r>
            <a:r>
              <a:rPr sz="2800" spc="15" dirty="0">
                <a:latin typeface="Calibri"/>
                <a:cs typeface="Calibri"/>
              </a:rPr>
              <a:t> </a:t>
            </a:r>
            <a:r>
              <a:rPr sz="2800" spc="-5" dirty="0">
                <a:latin typeface="Calibri"/>
                <a:cs typeface="Calibri"/>
              </a:rPr>
              <a:t>modeling</a:t>
            </a:r>
            <a:r>
              <a:rPr sz="2800" spc="35" dirty="0">
                <a:latin typeface="Calibri"/>
                <a:cs typeface="Calibri"/>
              </a:rPr>
              <a:t> </a:t>
            </a:r>
            <a:r>
              <a:rPr sz="2800" spc="-5" dirty="0">
                <a:latin typeface="Calibri"/>
                <a:cs typeface="Calibri"/>
              </a:rPr>
              <a:t>methods, </a:t>
            </a:r>
            <a:r>
              <a:rPr sz="2800" spc="-620" dirty="0">
                <a:latin typeface="Calibri"/>
                <a:cs typeface="Calibri"/>
              </a:rPr>
              <a:t> </a:t>
            </a:r>
            <a:r>
              <a:rPr sz="2800" spc="-5" dirty="0">
                <a:latin typeface="Calibri"/>
                <a:cs typeface="Calibri"/>
              </a:rPr>
              <a:t>making</a:t>
            </a:r>
            <a:r>
              <a:rPr sz="2800" spc="5" dirty="0">
                <a:latin typeface="Calibri"/>
                <a:cs typeface="Calibri"/>
              </a:rPr>
              <a:t> </a:t>
            </a:r>
            <a:r>
              <a:rPr sz="2800" spc="-5" dirty="0">
                <a:latin typeface="Calibri"/>
                <a:cs typeface="Calibri"/>
              </a:rPr>
              <a:t>it</a:t>
            </a:r>
            <a:r>
              <a:rPr sz="2800" spc="-10" dirty="0">
                <a:latin typeface="Calibri"/>
                <a:cs typeface="Calibri"/>
              </a:rPr>
              <a:t> </a:t>
            </a:r>
            <a:r>
              <a:rPr sz="2800" spc="-5" dirty="0">
                <a:latin typeface="Calibri"/>
                <a:cs typeface="Calibri"/>
              </a:rPr>
              <a:t>a</a:t>
            </a:r>
            <a:r>
              <a:rPr sz="2800" spc="5" dirty="0">
                <a:latin typeface="Calibri"/>
                <a:cs typeface="Calibri"/>
              </a:rPr>
              <a:t> </a:t>
            </a:r>
            <a:r>
              <a:rPr sz="2800" spc="-20" dirty="0">
                <a:latin typeface="Calibri"/>
                <a:cs typeface="Calibri"/>
              </a:rPr>
              <a:t>better</a:t>
            </a:r>
            <a:r>
              <a:rPr sz="2800" spc="-15" dirty="0">
                <a:latin typeface="Calibri"/>
                <a:cs typeface="Calibri"/>
              </a:rPr>
              <a:t> </a:t>
            </a:r>
            <a:r>
              <a:rPr sz="2800" spc="-10" dirty="0">
                <a:latin typeface="Calibri"/>
                <a:cs typeface="Calibri"/>
              </a:rPr>
              <a:t>fit</a:t>
            </a:r>
            <a:r>
              <a:rPr sz="2800" spc="10" dirty="0">
                <a:latin typeface="Calibri"/>
                <a:cs typeface="Calibri"/>
              </a:rPr>
              <a:t> </a:t>
            </a:r>
            <a:r>
              <a:rPr sz="2800" spc="-5" dirty="0">
                <a:latin typeface="Calibri"/>
                <a:cs typeface="Calibri"/>
              </a:rPr>
              <a:t>in</a:t>
            </a:r>
            <a:r>
              <a:rPr sz="2800" dirty="0">
                <a:latin typeface="Calibri"/>
                <a:cs typeface="Calibri"/>
              </a:rPr>
              <a:t> </a:t>
            </a:r>
            <a:r>
              <a:rPr sz="2800" spc="-5" dirty="0">
                <a:latin typeface="Calibri"/>
                <a:cs typeface="Calibri"/>
              </a:rPr>
              <a:t>a </a:t>
            </a:r>
            <a:r>
              <a:rPr sz="2800" spc="-10" dirty="0">
                <a:latin typeface="Calibri"/>
                <a:cs typeface="Calibri"/>
              </a:rPr>
              <a:t>fast-changing</a:t>
            </a:r>
            <a:r>
              <a:rPr sz="2800" spc="40" dirty="0">
                <a:latin typeface="Calibri"/>
                <a:cs typeface="Calibri"/>
              </a:rPr>
              <a:t> </a:t>
            </a:r>
            <a:r>
              <a:rPr sz="2800" spc="-20" dirty="0">
                <a:latin typeface="Calibri"/>
                <a:cs typeface="Calibri"/>
              </a:rPr>
              <a:t>environment.</a:t>
            </a:r>
            <a:endParaRPr sz="2800" dirty="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23671" y="203073"/>
            <a:ext cx="4758690" cy="635000"/>
          </a:xfrm>
          <a:prstGeom prst="rect">
            <a:avLst/>
          </a:prstGeom>
        </p:spPr>
        <p:txBody>
          <a:bodyPr vert="horz" wrap="square" lIns="0" tIns="12065" rIns="0" bIns="0" rtlCol="0">
            <a:spAutoFit/>
          </a:bodyPr>
          <a:lstStyle/>
          <a:p>
            <a:pPr marL="12700">
              <a:lnSpc>
                <a:spcPct val="100000"/>
              </a:lnSpc>
              <a:spcBef>
                <a:spcPts val="95"/>
              </a:spcBef>
            </a:pPr>
            <a:r>
              <a:rPr sz="4000" spc="-35" dirty="0"/>
              <a:t>Adaptive</a:t>
            </a:r>
            <a:r>
              <a:rPr sz="4000" spc="-120" dirty="0"/>
              <a:t> </a:t>
            </a:r>
            <a:r>
              <a:rPr sz="4000" spc="-30" dirty="0"/>
              <a:t>Models</a:t>
            </a:r>
            <a:r>
              <a:rPr sz="4000" spc="-95" dirty="0"/>
              <a:t> </a:t>
            </a:r>
            <a:r>
              <a:rPr sz="4000" spc="-5" dirty="0"/>
              <a:t>-</a:t>
            </a:r>
            <a:r>
              <a:rPr sz="4000" spc="-70" dirty="0"/>
              <a:t> </a:t>
            </a:r>
            <a:r>
              <a:rPr sz="4000" spc="-20" dirty="0"/>
              <a:t>Agile</a:t>
            </a:r>
            <a:endParaRPr sz="4000"/>
          </a:p>
        </p:txBody>
      </p:sp>
      <p:pic>
        <p:nvPicPr>
          <p:cNvPr id="3" name="object 3"/>
          <p:cNvPicPr/>
          <p:nvPr/>
        </p:nvPicPr>
        <p:blipFill>
          <a:blip r:embed="rId2" cstate="print"/>
          <a:stretch>
            <a:fillRect/>
          </a:stretch>
        </p:blipFill>
        <p:spPr>
          <a:xfrm>
            <a:off x="3245882" y="1161463"/>
            <a:ext cx="6628773" cy="4864758"/>
          </a:xfrm>
          <a:prstGeom prst="rect">
            <a:avLst/>
          </a:prstGeom>
        </p:spPr>
      </p:pic>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37261"/>
            <a:ext cx="8517890" cy="697230"/>
          </a:xfrm>
          <a:prstGeom prst="rect">
            <a:avLst/>
          </a:prstGeom>
        </p:spPr>
        <p:txBody>
          <a:bodyPr vert="horz" wrap="square" lIns="0" tIns="13335" rIns="0" bIns="0" rtlCol="0">
            <a:spAutoFit/>
          </a:bodyPr>
          <a:lstStyle/>
          <a:p>
            <a:pPr marL="12700">
              <a:lnSpc>
                <a:spcPct val="100000"/>
              </a:lnSpc>
              <a:spcBef>
                <a:spcPts val="105"/>
              </a:spcBef>
            </a:pPr>
            <a:r>
              <a:rPr sz="4400" spc="-35" dirty="0"/>
              <a:t>Adaptive</a:t>
            </a:r>
            <a:r>
              <a:rPr sz="4400" spc="-110" dirty="0"/>
              <a:t> </a:t>
            </a:r>
            <a:r>
              <a:rPr sz="4400" spc="-35" dirty="0"/>
              <a:t>Models</a:t>
            </a:r>
            <a:r>
              <a:rPr sz="4400" spc="-120" dirty="0"/>
              <a:t> </a:t>
            </a:r>
            <a:r>
              <a:rPr sz="4400" dirty="0"/>
              <a:t>–</a:t>
            </a:r>
            <a:r>
              <a:rPr sz="4400" spc="-60" dirty="0"/>
              <a:t> </a:t>
            </a:r>
            <a:r>
              <a:rPr sz="4400" spc="-20" dirty="0"/>
              <a:t>Agile</a:t>
            </a:r>
            <a:r>
              <a:rPr sz="4400" spc="-110" dirty="0"/>
              <a:t> </a:t>
            </a:r>
            <a:r>
              <a:rPr sz="4400" spc="-25" dirty="0"/>
              <a:t>(Agile</a:t>
            </a:r>
            <a:r>
              <a:rPr sz="4400" spc="-105" dirty="0"/>
              <a:t> </a:t>
            </a:r>
            <a:r>
              <a:rPr sz="4400" spc="-30" dirty="0"/>
              <a:t>phases)</a:t>
            </a:r>
            <a:endParaRPr sz="4400"/>
          </a:p>
        </p:txBody>
      </p:sp>
      <p:grpSp>
        <p:nvGrpSpPr>
          <p:cNvPr id="3" name="object 3"/>
          <p:cNvGrpSpPr/>
          <p:nvPr/>
        </p:nvGrpSpPr>
        <p:grpSpPr>
          <a:xfrm>
            <a:off x="831850" y="1141222"/>
            <a:ext cx="1306830" cy="1861820"/>
            <a:chOff x="831850" y="1141222"/>
            <a:chExt cx="1306830" cy="1861820"/>
          </a:xfrm>
        </p:grpSpPr>
        <p:sp>
          <p:nvSpPr>
            <p:cNvPr id="4" name="object 4"/>
            <p:cNvSpPr/>
            <p:nvPr/>
          </p:nvSpPr>
          <p:spPr>
            <a:xfrm>
              <a:off x="838200" y="1147572"/>
              <a:ext cx="1294130" cy="1849120"/>
            </a:xfrm>
            <a:custGeom>
              <a:avLst/>
              <a:gdLst/>
              <a:ahLst/>
              <a:cxnLst/>
              <a:rect l="l" t="t" r="r" b="b"/>
              <a:pathLst>
                <a:path w="1294130" h="1849120">
                  <a:moveTo>
                    <a:pt x="1293876" y="0"/>
                  </a:moveTo>
                  <a:lnTo>
                    <a:pt x="646938" y="646938"/>
                  </a:lnTo>
                  <a:lnTo>
                    <a:pt x="0" y="0"/>
                  </a:lnTo>
                  <a:lnTo>
                    <a:pt x="0" y="1201674"/>
                  </a:lnTo>
                  <a:lnTo>
                    <a:pt x="646938" y="1848612"/>
                  </a:lnTo>
                  <a:lnTo>
                    <a:pt x="1293876" y="1201674"/>
                  </a:lnTo>
                  <a:lnTo>
                    <a:pt x="1293876" y="0"/>
                  </a:lnTo>
                  <a:close/>
                </a:path>
              </a:pathLst>
            </a:custGeom>
            <a:solidFill>
              <a:srgbClr val="A4A4A4"/>
            </a:solidFill>
          </p:spPr>
          <p:txBody>
            <a:bodyPr wrap="square" lIns="0" tIns="0" rIns="0" bIns="0" rtlCol="0"/>
            <a:lstStyle/>
            <a:p>
              <a:endParaRPr/>
            </a:p>
          </p:txBody>
        </p:sp>
        <p:sp>
          <p:nvSpPr>
            <p:cNvPr id="5" name="object 5"/>
            <p:cNvSpPr/>
            <p:nvPr/>
          </p:nvSpPr>
          <p:spPr>
            <a:xfrm>
              <a:off x="838200" y="1147572"/>
              <a:ext cx="1294130" cy="1849120"/>
            </a:xfrm>
            <a:custGeom>
              <a:avLst/>
              <a:gdLst/>
              <a:ahLst/>
              <a:cxnLst/>
              <a:rect l="l" t="t" r="r" b="b"/>
              <a:pathLst>
                <a:path w="1294130" h="1849120">
                  <a:moveTo>
                    <a:pt x="1293876" y="0"/>
                  </a:moveTo>
                  <a:lnTo>
                    <a:pt x="1293876" y="1201674"/>
                  </a:lnTo>
                  <a:lnTo>
                    <a:pt x="646938" y="1848612"/>
                  </a:lnTo>
                  <a:lnTo>
                    <a:pt x="0" y="1201674"/>
                  </a:lnTo>
                  <a:lnTo>
                    <a:pt x="0" y="0"/>
                  </a:lnTo>
                  <a:lnTo>
                    <a:pt x="646938" y="646938"/>
                  </a:lnTo>
                  <a:lnTo>
                    <a:pt x="1293876" y="0"/>
                  </a:lnTo>
                  <a:close/>
                </a:path>
              </a:pathLst>
            </a:custGeom>
            <a:ln w="12700">
              <a:solidFill>
                <a:srgbClr val="A4A4A4"/>
              </a:solidFill>
            </a:ln>
          </p:spPr>
          <p:txBody>
            <a:bodyPr wrap="square" lIns="0" tIns="0" rIns="0" bIns="0" rtlCol="0"/>
            <a:lstStyle/>
            <a:p>
              <a:endParaRPr/>
            </a:p>
          </p:txBody>
        </p:sp>
      </p:grpSp>
      <p:sp>
        <p:nvSpPr>
          <p:cNvPr id="6" name="object 6"/>
          <p:cNvSpPr txBox="1"/>
          <p:nvPr/>
        </p:nvSpPr>
        <p:spPr>
          <a:xfrm>
            <a:off x="857808" y="1785061"/>
            <a:ext cx="1254760" cy="521970"/>
          </a:xfrm>
          <a:prstGeom prst="rect">
            <a:avLst/>
          </a:prstGeom>
        </p:spPr>
        <p:txBody>
          <a:bodyPr vert="horz" wrap="square" lIns="0" tIns="13335" rIns="0" bIns="0" rtlCol="0">
            <a:spAutoFit/>
          </a:bodyPr>
          <a:lstStyle/>
          <a:p>
            <a:pPr algn="ctr">
              <a:lnSpc>
                <a:spcPts val="1950"/>
              </a:lnSpc>
              <a:spcBef>
                <a:spcPts val="105"/>
              </a:spcBef>
            </a:pPr>
            <a:r>
              <a:rPr sz="1700" spc="-10" dirty="0">
                <a:solidFill>
                  <a:srgbClr val="FFFFFF"/>
                </a:solidFill>
                <a:latin typeface="Calibri"/>
                <a:cs typeface="Calibri"/>
              </a:rPr>
              <a:t>Requirements</a:t>
            </a:r>
            <a:endParaRPr sz="1700">
              <a:latin typeface="Calibri"/>
              <a:cs typeface="Calibri"/>
            </a:endParaRPr>
          </a:p>
          <a:p>
            <a:pPr algn="ctr">
              <a:lnSpc>
                <a:spcPts val="1950"/>
              </a:lnSpc>
            </a:pPr>
            <a:r>
              <a:rPr sz="1700" spc="-5" dirty="0">
                <a:solidFill>
                  <a:srgbClr val="FFFFFF"/>
                </a:solidFill>
                <a:latin typeface="Calibri"/>
                <a:cs typeface="Calibri"/>
              </a:rPr>
              <a:t>gathering</a:t>
            </a:r>
            <a:endParaRPr sz="1700">
              <a:latin typeface="Calibri"/>
              <a:cs typeface="Calibri"/>
            </a:endParaRPr>
          </a:p>
        </p:txBody>
      </p:sp>
      <p:sp>
        <p:nvSpPr>
          <p:cNvPr id="7" name="object 7"/>
          <p:cNvSpPr/>
          <p:nvPr/>
        </p:nvSpPr>
        <p:spPr>
          <a:xfrm>
            <a:off x="2132076" y="1147572"/>
            <a:ext cx="9349740" cy="1201420"/>
          </a:xfrm>
          <a:custGeom>
            <a:avLst/>
            <a:gdLst/>
            <a:ahLst/>
            <a:cxnLst/>
            <a:rect l="l" t="t" r="r" b="b"/>
            <a:pathLst>
              <a:path w="9349740" h="1201420">
                <a:moveTo>
                  <a:pt x="9349740" y="200151"/>
                </a:moveTo>
                <a:lnTo>
                  <a:pt x="9349740" y="1000760"/>
                </a:lnTo>
                <a:lnTo>
                  <a:pt x="9344451" y="1046636"/>
                </a:lnTo>
                <a:lnTo>
                  <a:pt x="9329387" y="1088759"/>
                </a:lnTo>
                <a:lnTo>
                  <a:pt x="9305752" y="1125923"/>
                </a:lnTo>
                <a:lnTo>
                  <a:pt x="9274751" y="1156924"/>
                </a:lnTo>
                <a:lnTo>
                  <a:pt x="9237587" y="1180559"/>
                </a:lnTo>
                <a:lnTo>
                  <a:pt x="9195464" y="1195623"/>
                </a:lnTo>
                <a:lnTo>
                  <a:pt x="9149588" y="1200912"/>
                </a:lnTo>
                <a:lnTo>
                  <a:pt x="0" y="1200912"/>
                </a:lnTo>
                <a:lnTo>
                  <a:pt x="0" y="0"/>
                </a:lnTo>
                <a:lnTo>
                  <a:pt x="9149588" y="0"/>
                </a:lnTo>
                <a:lnTo>
                  <a:pt x="9195464" y="5288"/>
                </a:lnTo>
                <a:lnTo>
                  <a:pt x="9237587" y="20352"/>
                </a:lnTo>
                <a:lnTo>
                  <a:pt x="9274751" y="43987"/>
                </a:lnTo>
                <a:lnTo>
                  <a:pt x="9305752" y="74988"/>
                </a:lnTo>
                <a:lnTo>
                  <a:pt x="9329387" y="112152"/>
                </a:lnTo>
                <a:lnTo>
                  <a:pt x="9344451" y="154275"/>
                </a:lnTo>
                <a:lnTo>
                  <a:pt x="9349740" y="200151"/>
                </a:lnTo>
                <a:close/>
              </a:path>
            </a:pathLst>
          </a:custGeom>
          <a:ln w="12699">
            <a:solidFill>
              <a:srgbClr val="A4A4A4"/>
            </a:solidFill>
          </a:ln>
        </p:spPr>
        <p:txBody>
          <a:bodyPr wrap="square" lIns="0" tIns="0" rIns="0" bIns="0" rtlCol="0"/>
          <a:lstStyle/>
          <a:p>
            <a:endParaRPr/>
          </a:p>
        </p:txBody>
      </p:sp>
      <p:sp>
        <p:nvSpPr>
          <p:cNvPr id="8" name="object 8"/>
          <p:cNvSpPr txBox="1"/>
          <p:nvPr/>
        </p:nvSpPr>
        <p:spPr>
          <a:xfrm>
            <a:off x="2254757" y="1296669"/>
            <a:ext cx="9101455" cy="579755"/>
          </a:xfrm>
          <a:prstGeom prst="rect">
            <a:avLst/>
          </a:prstGeom>
        </p:spPr>
        <p:txBody>
          <a:bodyPr vert="horz" wrap="square" lIns="0" tIns="12065" rIns="0" bIns="0" rtlCol="0">
            <a:spAutoFit/>
          </a:bodyPr>
          <a:lstStyle/>
          <a:p>
            <a:pPr marL="184785" indent="-172720">
              <a:lnSpc>
                <a:spcPts val="2185"/>
              </a:lnSpc>
              <a:spcBef>
                <a:spcPts val="95"/>
              </a:spcBef>
              <a:buChar char="•"/>
              <a:tabLst>
                <a:tab pos="185420" algn="l"/>
              </a:tabLst>
            </a:pPr>
            <a:r>
              <a:rPr sz="1900" spc="-5" dirty="0">
                <a:latin typeface="Calibri"/>
                <a:cs typeface="Calibri"/>
              </a:rPr>
              <a:t>In</a:t>
            </a:r>
            <a:r>
              <a:rPr sz="1900" spc="5" dirty="0">
                <a:latin typeface="Calibri"/>
                <a:cs typeface="Calibri"/>
              </a:rPr>
              <a:t> </a:t>
            </a:r>
            <a:r>
              <a:rPr sz="1900" spc="-5" dirty="0">
                <a:latin typeface="Calibri"/>
                <a:cs typeface="Calibri"/>
              </a:rPr>
              <a:t>this</a:t>
            </a:r>
            <a:r>
              <a:rPr sz="1900" spc="5" dirty="0">
                <a:latin typeface="Calibri"/>
                <a:cs typeface="Calibri"/>
              </a:rPr>
              <a:t> </a:t>
            </a:r>
            <a:r>
              <a:rPr sz="1900" spc="-5" dirty="0">
                <a:latin typeface="Calibri"/>
                <a:cs typeface="Calibri"/>
              </a:rPr>
              <a:t>phase,</a:t>
            </a:r>
            <a:r>
              <a:rPr sz="1900" dirty="0">
                <a:latin typeface="Calibri"/>
                <a:cs typeface="Calibri"/>
              </a:rPr>
              <a:t> </a:t>
            </a:r>
            <a:r>
              <a:rPr sz="1900" spc="-10" dirty="0">
                <a:latin typeface="Calibri"/>
                <a:cs typeface="Calibri"/>
              </a:rPr>
              <a:t>you</a:t>
            </a:r>
            <a:r>
              <a:rPr sz="1900" spc="10" dirty="0">
                <a:latin typeface="Calibri"/>
                <a:cs typeface="Calibri"/>
              </a:rPr>
              <a:t> </a:t>
            </a:r>
            <a:r>
              <a:rPr sz="1900" spc="-10" dirty="0">
                <a:latin typeface="Calibri"/>
                <a:cs typeface="Calibri"/>
              </a:rPr>
              <a:t>must</a:t>
            </a:r>
            <a:r>
              <a:rPr sz="1900" spc="5" dirty="0">
                <a:latin typeface="Calibri"/>
                <a:cs typeface="Calibri"/>
              </a:rPr>
              <a:t> </a:t>
            </a:r>
            <a:r>
              <a:rPr sz="1900" spc="-10" dirty="0">
                <a:latin typeface="Calibri"/>
                <a:cs typeface="Calibri"/>
              </a:rPr>
              <a:t>define</a:t>
            </a:r>
            <a:r>
              <a:rPr sz="1900" spc="10" dirty="0">
                <a:latin typeface="Calibri"/>
                <a:cs typeface="Calibri"/>
              </a:rPr>
              <a:t> </a:t>
            </a:r>
            <a:r>
              <a:rPr sz="1900" spc="-5" dirty="0">
                <a:latin typeface="Calibri"/>
                <a:cs typeface="Calibri"/>
              </a:rPr>
              <a:t>the</a:t>
            </a:r>
            <a:r>
              <a:rPr sz="1900" spc="10" dirty="0">
                <a:latin typeface="Calibri"/>
                <a:cs typeface="Calibri"/>
              </a:rPr>
              <a:t> </a:t>
            </a:r>
            <a:r>
              <a:rPr sz="1900" spc="-10" dirty="0">
                <a:latin typeface="Calibri"/>
                <a:cs typeface="Calibri"/>
              </a:rPr>
              <a:t>requirements.</a:t>
            </a:r>
            <a:r>
              <a:rPr sz="1900" spc="10" dirty="0">
                <a:latin typeface="Calibri"/>
                <a:cs typeface="Calibri"/>
              </a:rPr>
              <a:t> </a:t>
            </a:r>
            <a:r>
              <a:rPr sz="1900" spc="-55" dirty="0">
                <a:latin typeface="Calibri"/>
                <a:cs typeface="Calibri"/>
              </a:rPr>
              <a:t>You</a:t>
            </a:r>
            <a:r>
              <a:rPr sz="1900" spc="15" dirty="0">
                <a:latin typeface="Calibri"/>
                <a:cs typeface="Calibri"/>
              </a:rPr>
              <a:t> </a:t>
            </a:r>
            <a:r>
              <a:rPr sz="1900" spc="-10" dirty="0">
                <a:latin typeface="Calibri"/>
                <a:cs typeface="Calibri"/>
              </a:rPr>
              <a:t>should</a:t>
            </a:r>
            <a:r>
              <a:rPr sz="1900" spc="10" dirty="0">
                <a:latin typeface="Calibri"/>
                <a:cs typeface="Calibri"/>
              </a:rPr>
              <a:t> </a:t>
            </a:r>
            <a:r>
              <a:rPr sz="1900" spc="-10" dirty="0">
                <a:latin typeface="Calibri"/>
                <a:cs typeface="Calibri"/>
              </a:rPr>
              <a:t>explain</a:t>
            </a:r>
            <a:r>
              <a:rPr sz="1900" spc="20" dirty="0">
                <a:latin typeface="Calibri"/>
                <a:cs typeface="Calibri"/>
              </a:rPr>
              <a:t> </a:t>
            </a:r>
            <a:r>
              <a:rPr sz="1900" spc="-10" dirty="0">
                <a:latin typeface="Calibri"/>
                <a:cs typeface="Calibri"/>
              </a:rPr>
              <a:t>business</a:t>
            </a:r>
            <a:r>
              <a:rPr sz="1900" spc="10" dirty="0">
                <a:latin typeface="Calibri"/>
                <a:cs typeface="Calibri"/>
              </a:rPr>
              <a:t> </a:t>
            </a:r>
            <a:r>
              <a:rPr sz="1900" spc="-5" dirty="0">
                <a:latin typeface="Calibri"/>
                <a:cs typeface="Calibri"/>
              </a:rPr>
              <a:t>opportunities</a:t>
            </a:r>
            <a:endParaRPr sz="1900" dirty="0">
              <a:latin typeface="Calibri"/>
              <a:cs typeface="Calibri"/>
            </a:endParaRPr>
          </a:p>
          <a:p>
            <a:pPr marL="184785">
              <a:lnSpc>
                <a:spcPts val="2185"/>
              </a:lnSpc>
            </a:pPr>
            <a:r>
              <a:rPr sz="1900" spc="-5" dirty="0">
                <a:latin typeface="Calibri"/>
                <a:cs typeface="Calibri"/>
              </a:rPr>
              <a:t>and plan the</a:t>
            </a:r>
            <a:r>
              <a:rPr sz="1900" spc="5" dirty="0">
                <a:latin typeface="Calibri"/>
                <a:cs typeface="Calibri"/>
              </a:rPr>
              <a:t> </a:t>
            </a:r>
            <a:r>
              <a:rPr sz="1900" spc="-5" dirty="0">
                <a:latin typeface="Calibri"/>
                <a:cs typeface="Calibri"/>
              </a:rPr>
              <a:t>time</a:t>
            </a:r>
            <a:r>
              <a:rPr sz="1900" spc="15" dirty="0">
                <a:latin typeface="Calibri"/>
                <a:cs typeface="Calibri"/>
              </a:rPr>
              <a:t> </a:t>
            </a:r>
            <a:r>
              <a:rPr sz="1900" spc="-5" dirty="0">
                <a:latin typeface="Calibri"/>
                <a:cs typeface="Calibri"/>
              </a:rPr>
              <a:t>and </a:t>
            </a:r>
            <a:r>
              <a:rPr sz="1900" spc="-20" dirty="0">
                <a:latin typeface="Calibri"/>
                <a:cs typeface="Calibri"/>
              </a:rPr>
              <a:t>effort</a:t>
            </a:r>
            <a:r>
              <a:rPr sz="1900" spc="10" dirty="0">
                <a:latin typeface="Calibri"/>
                <a:cs typeface="Calibri"/>
              </a:rPr>
              <a:t> </a:t>
            </a:r>
            <a:r>
              <a:rPr sz="1900" spc="-5" dirty="0">
                <a:latin typeface="Calibri"/>
                <a:cs typeface="Calibri"/>
              </a:rPr>
              <a:t>needed</a:t>
            </a:r>
            <a:r>
              <a:rPr sz="1900" dirty="0">
                <a:latin typeface="Calibri"/>
                <a:cs typeface="Calibri"/>
              </a:rPr>
              <a:t> </a:t>
            </a:r>
            <a:r>
              <a:rPr sz="1900" spc="-15" dirty="0">
                <a:latin typeface="Calibri"/>
                <a:cs typeface="Calibri"/>
              </a:rPr>
              <a:t>to</a:t>
            </a:r>
            <a:r>
              <a:rPr sz="1900" spc="5" dirty="0">
                <a:latin typeface="Calibri"/>
                <a:cs typeface="Calibri"/>
              </a:rPr>
              <a:t> </a:t>
            </a:r>
            <a:r>
              <a:rPr sz="1900" spc="-5" dirty="0">
                <a:latin typeface="Calibri"/>
                <a:cs typeface="Calibri"/>
              </a:rPr>
              <a:t>build</a:t>
            </a:r>
            <a:r>
              <a:rPr sz="1900" spc="10" dirty="0">
                <a:latin typeface="Calibri"/>
                <a:cs typeface="Calibri"/>
              </a:rPr>
              <a:t> </a:t>
            </a:r>
            <a:r>
              <a:rPr sz="1900" spc="-5" dirty="0">
                <a:latin typeface="Calibri"/>
                <a:cs typeface="Calibri"/>
              </a:rPr>
              <a:t>the</a:t>
            </a:r>
            <a:r>
              <a:rPr sz="1900" spc="-10" dirty="0">
                <a:latin typeface="Calibri"/>
                <a:cs typeface="Calibri"/>
              </a:rPr>
              <a:t> project.</a:t>
            </a:r>
            <a:r>
              <a:rPr sz="1900" spc="15" dirty="0">
                <a:latin typeface="Calibri"/>
                <a:cs typeface="Calibri"/>
              </a:rPr>
              <a:t> </a:t>
            </a:r>
            <a:r>
              <a:rPr sz="1900" spc="-5" dirty="0">
                <a:latin typeface="Calibri"/>
                <a:cs typeface="Calibri"/>
              </a:rPr>
              <a:t>Based on</a:t>
            </a:r>
            <a:r>
              <a:rPr sz="1900" dirty="0">
                <a:latin typeface="Calibri"/>
                <a:cs typeface="Calibri"/>
              </a:rPr>
              <a:t> </a:t>
            </a:r>
            <a:r>
              <a:rPr sz="1900" spc="-5" dirty="0">
                <a:latin typeface="Calibri"/>
                <a:cs typeface="Calibri"/>
              </a:rPr>
              <a:t>this</a:t>
            </a:r>
            <a:r>
              <a:rPr sz="1900" spc="5" dirty="0">
                <a:latin typeface="Calibri"/>
                <a:cs typeface="Calibri"/>
              </a:rPr>
              <a:t> </a:t>
            </a:r>
            <a:r>
              <a:rPr sz="1900" spc="-10" dirty="0">
                <a:latin typeface="Calibri"/>
                <a:cs typeface="Calibri"/>
              </a:rPr>
              <a:t>information,</a:t>
            </a:r>
            <a:r>
              <a:rPr sz="1900" spc="15" dirty="0">
                <a:latin typeface="Calibri"/>
                <a:cs typeface="Calibri"/>
              </a:rPr>
              <a:t> </a:t>
            </a:r>
            <a:r>
              <a:rPr sz="1900" spc="-15" dirty="0">
                <a:latin typeface="Calibri"/>
                <a:cs typeface="Calibri"/>
              </a:rPr>
              <a:t>you</a:t>
            </a:r>
            <a:endParaRPr sz="1900" dirty="0">
              <a:latin typeface="Calibri"/>
              <a:cs typeface="Calibri"/>
            </a:endParaRPr>
          </a:p>
        </p:txBody>
      </p:sp>
      <p:sp>
        <p:nvSpPr>
          <p:cNvPr id="9" name="object 9"/>
          <p:cNvSpPr txBox="1"/>
          <p:nvPr/>
        </p:nvSpPr>
        <p:spPr>
          <a:xfrm>
            <a:off x="2426970" y="1827402"/>
            <a:ext cx="4608195" cy="314960"/>
          </a:xfrm>
          <a:prstGeom prst="rect">
            <a:avLst/>
          </a:prstGeom>
        </p:spPr>
        <p:txBody>
          <a:bodyPr vert="horz" wrap="square" lIns="0" tIns="12065" rIns="0" bIns="0" rtlCol="0">
            <a:spAutoFit/>
          </a:bodyPr>
          <a:lstStyle/>
          <a:p>
            <a:pPr marL="12700">
              <a:lnSpc>
                <a:spcPct val="100000"/>
              </a:lnSpc>
              <a:spcBef>
                <a:spcPts val="95"/>
              </a:spcBef>
            </a:pPr>
            <a:r>
              <a:rPr sz="1900" spc="-10" dirty="0">
                <a:latin typeface="Calibri"/>
                <a:cs typeface="Calibri"/>
              </a:rPr>
              <a:t>can</a:t>
            </a:r>
            <a:r>
              <a:rPr sz="1900" spc="-5" dirty="0">
                <a:latin typeface="Calibri"/>
                <a:cs typeface="Calibri"/>
              </a:rPr>
              <a:t> </a:t>
            </a:r>
            <a:r>
              <a:rPr sz="1900" spc="-15" dirty="0">
                <a:latin typeface="Calibri"/>
                <a:cs typeface="Calibri"/>
              </a:rPr>
              <a:t>evaluate</a:t>
            </a:r>
            <a:r>
              <a:rPr sz="1900" spc="5" dirty="0">
                <a:latin typeface="Calibri"/>
                <a:cs typeface="Calibri"/>
              </a:rPr>
              <a:t> </a:t>
            </a:r>
            <a:r>
              <a:rPr sz="1900" spc="-10" dirty="0">
                <a:latin typeface="Calibri"/>
                <a:cs typeface="Calibri"/>
              </a:rPr>
              <a:t>technical</a:t>
            </a:r>
            <a:r>
              <a:rPr sz="1900" spc="15" dirty="0">
                <a:latin typeface="Calibri"/>
                <a:cs typeface="Calibri"/>
              </a:rPr>
              <a:t> </a:t>
            </a:r>
            <a:r>
              <a:rPr sz="1900" spc="-5" dirty="0">
                <a:latin typeface="Calibri"/>
                <a:cs typeface="Calibri"/>
              </a:rPr>
              <a:t>and</a:t>
            </a:r>
            <a:r>
              <a:rPr sz="1900" dirty="0">
                <a:latin typeface="Calibri"/>
                <a:cs typeface="Calibri"/>
              </a:rPr>
              <a:t> </a:t>
            </a:r>
            <a:r>
              <a:rPr sz="1900" spc="-10" dirty="0">
                <a:latin typeface="Calibri"/>
                <a:cs typeface="Calibri"/>
              </a:rPr>
              <a:t>economic</a:t>
            </a:r>
            <a:r>
              <a:rPr sz="1900" spc="15" dirty="0">
                <a:latin typeface="Calibri"/>
                <a:cs typeface="Calibri"/>
              </a:rPr>
              <a:t> </a:t>
            </a:r>
            <a:r>
              <a:rPr sz="1900" spc="-10" dirty="0">
                <a:latin typeface="Calibri"/>
                <a:cs typeface="Calibri"/>
              </a:rPr>
              <a:t>feasibility</a:t>
            </a:r>
            <a:endParaRPr sz="1900">
              <a:latin typeface="Calibri"/>
              <a:cs typeface="Calibri"/>
            </a:endParaRPr>
          </a:p>
        </p:txBody>
      </p:sp>
      <p:grpSp>
        <p:nvGrpSpPr>
          <p:cNvPr id="10" name="object 10"/>
          <p:cNvGrpSpPr/>
          <p:nvPr/>
        </p:nvGrpSpPr>
        <p:grpSpPr>
          <a:xfrm>
            <a:off x="831850" y="2797810"/>
            <a:ext cx="1306830" cy="1861820"/>
            <a:chOff x="831850" y="2797810"/>
            <a:chExt cx="1306830" cy="1861820"/>
          </a:xfrm>
        </p:grpSpPr>
        <p:sp>
          <p:nvSpPr>
            <p:cNvPr id="11" name="object 11"/>
            <p:cNvSpPr/>
            <p:nvPr/>
          </p:nvSpPr>
          <p:spPr>
            <a:xfrm>
              <a:off x="838200" y="2804160"/>
              <a:ext cx="1294130" cy="1849120"/>
            </a:xfrm>
            <a:custGeom>
              <a:avLst/>
              <a:gdLst/>
              <a:ahLst/>
              <a:cxnLst/>
              <a:rect l="l" t="t" r="r" b="b"/>
              <a:pathLst>
                <a:path w="1294130" h="1849120">
                  <a:moveTo>
                    <a:pt x="1293876" y="0"/>
                  </a:moveTo>
                  <a:lnTo>
                    <a:pt x="646938" y="646938"/>
                  </a:lnTo>
                  <a:lnTo>
                    <a:pt x="0" y="0"/>
                  </a:lnTo>
                  <a:lnTo>
                    <a:pt x="0" y="1201673"/>
                  </a:lnTo>
                  <a:lnTo>
                    <a:pt x="646938" y="1848612"/>
                  </a:lnTo>
                  <a:lnTo>
                    <a:pt x="1293876" y="1201673"/>
                  </a:lnTo>
                  <a:lnTo>
                    <a:pt x="1293876" y="0"/>
                  </a:lnTo>
                  <a:close/>
                </a:path>
              </a:pathLst>
            </a:custGeom>
            <a:solidFill>
              <a:srgbClr val="AC6200"/>
            </a:solidFill>
          </p:spPr>
          <p:txBody>
            <a:bodyPr wrap="square" lIns="0" tIns="0" rIns="0" bIns="0" rtlCol="0"/>
            <a:lstStyle/>
            <a:p>
              <a:endParaRPr/>
            </a:p>
          </p:txBody>
        </p:sp>
        <p:sp>
          <p:nvSpPr>
            <p:cNvPr id="12" name="object 12"/>
            <p:cNvSpPr/>
            <p:nvPr/>
          </p:nvSpPr>
          <p:spPr>
            <a:xfrm>
              <a:off x="838200" y="2804160"/>
              <a:ext cx="1294130" cy="1849120"/>
            </a:xfrm>
            <a:custGeom>
              <a:avLst/>
              <a:gdLst/>
              <a:ahLst/>
              <a:cxnLst/>
              <a:rect l="l" t="t" r="r" b="b"/>
              <a:pathLst>
                <a:path w="1294130" h="1849120">
                  <a:moveTo>
                    <a:pt x="1293876" y="0"/>
                  </a:moveTo>
                  <a:lnTo>
                    <a:pt x="1293876" y="1201673"/>
                  </a:lnTo>
                  <a:lnTo>
                    <a:pt x="646938" y="1848612"/>
                  </a:lnTo>
                  <a:lnTo>
                    <a:pt x="0" y="1201673"/>
                  </a:lnTo>
                  <a:lnTo>
                    <a:pt x="0" y="0"/>
                  </a:lnTo>
                  <a:lnTo>
                    <a:pt x="646938" y="646938"/>
                  </a:lnTo>
                  <a:lnTo>
                    <a:pt x="1293876" y="0"/>
                  </a:lnTo>
                  <a:close/>
                </a:path>
              </a:pathLst>
            </a:custGeom>
            <a:ln w="12700">
              <a:solidFill>
                <a:srgbClr val="AC6200"/>
              </a:solidFill>
            </a:ln>
          </p:spPr>
          <p:txBody>
            <a:bodyPr wrap="square" lIns="0" tIns="0" rIns="0" bIns="0" rtlCol="0"/>
            <a:lstStyle/>
            <a:p>
              <a:endParaRPr/>
            </a:p>
          </p:txBody>
        </p:sp>
      </p:grpSp>
      <p:sp>
        <p:nvSpPr>
          <p:cNvPr id="13" name="object 13"/>
          <p:cNvSpPr txBox="1"/>
          <p:nvPr/>
        </p:nvSpPr>
        <p:spPr>
          <a:xfrm>
            <a:off x="877620" y="3442461"/>
            <a:ext cx="1214755" cy="521334"/>
          </a:xfrm>
          <a:prstGeom prst="rect">
            <a:avLst/>
          </a:prstGeom>
        </p:spPr>
        <p:txBody>
          <a:bodyPr vert="horz" wrap="square" lIns="0" tIns="40005" rIns="0" bIns="0" rtlCol="0">
            <a:spAutoFit/>
          </a:bodyPr>
          <a:lstStyle/>
          <a:p>
            <a:pPr marL="12700" marR="5080" indent="127635">
              <a:lnSpc>
                <a:spcPts val="1860"/>
              </a:lnSpc>
              <a:spcBef>
                <a:spcPts val="315"/>
              </a:spcBef>
            </a:pPr>
            <a:r>
              <a:rPr sz="1700" dirty="0">
                <a:solidFill>
                  <a:srgbClr val="FFFFFF"/>
                </a:solidFill>
                <a:latin typeface="Calibri"/>
                <a:cs typeface="Calibri"/>
              </a:rPr>
              <a:t>Design the </a:t>
            </a:r>
            <a:r>
              <a:rPr sz="1700" spc="5" dirty="0">
                <a:solidFill>
                  <a:srgbClr val="FFFFFF"/>
                </a:solidFill>
                <a:latin typeface="Calibri"/>
                <a:cs typeface="Calibri"/>
              </a:rPr>
              <a:t> </a:t>
            </a:r>
            <a:r>
              <a:rPr sz="1700" spc="-20" dirty="0">
                <a:solidFill>
                  <a:srgbClr val="FFFFFF"/>
                </a:solidFill>
                <a:latin typeface="Calibri"/>
                <a:cs typeface="Calibri"/>
              </a:rPr>
              <a:t>r</a:t>
            </a:r>
            <a:r>
              <a:rPr sz="1700" dirty="0">
                <a:solidFill>
                  <a:srgbClr val="FFFFFF"/>
                </a:solidFill>
                <a:latin typeface="Calibri"/>
                <a:cs typeface="Calibri"/>
              </a:rPr>
              <a:t>e</a:t>
            </a:r>
            <a:r>
              <a:rPr sz="1700" spc="5" dirty="0">
                <a:solidFill>
                  <a:srgbClr val="FFFFFF"/>
                </a:solidFill>
                <a:latin typeface="Calibri"/>
                <a:cs typeface="Calibri"/>
              </a:rPr>
              <a:t>q</a:t>
            </a:r>
            <a:r>
              <a:rPr sz="1700" dirty="0">
                <a:solidFill>
                  <a:srgbClr val="FFFFFF"/>
                </a:solidFill>
                <a:latin typeface="Calibri"/>
                <a:cs typeface="Calibri"/>
              </a:rPr>
              <a:t>ui</a:t>
            </a:r>
            <a:r>
              <a:rPr sz="1700" spc="-15" dirty="0">
                <a:solidFill>
                  <a:srgbClr val="FFFFFF"/>
                </a:solidFill>
                <a:latin typeface="Calibri"/>
                <a:cs typeface="Calibri"/>
              </a:rPr>
              <a:t>r</a:t>
            </a:r>
            <a:r>
              <a:rPr sz="1700" spc="-10" dirty="0">
                <a:solidFill>
                  <a:srgbClr val="FFFFFF"/>
                </a:solidFill>
                <a:latin typeface="Calibri"/>
                <a:cs typeface="Calibri"/>
              </a:rPr>
              <a:t>e</a:t>
            </a:r>
            <a:r>
              <a:rPr sz="1700" spc="-5" dirty="0">
                <a:solidFill>
                  <a:srgbClr val="FFFFFF"/>
                </a:solidFill>
                <a:latin typeface="Calibri"/>
                <a:cs typeface="Calibri"/>
              </a:rPr>
              <a:t>m</a:t>
            </a:r>
            <a:r>
              <a:rPr sz="1700" dirty="0">
                <a:solidFill>
                  <a:srgbClr val="FFFFFF"/>
                </a:solidFill>
                <a:latin typeface="Calibri"/>
                <a:cs typeface="Calibri"/>
              </a:rPr>
              <a:t>e</a:t>
            </a:r>
            <a:r>
              <a:rPr sz="1700" spc="-15" dirty="0">
                <a:solidFill>
                  <a:srgbClr val="FFFFFF"/>
                </a:solidFill>
                <a:latin typeface="Calibri"/>
                <a:cs typeface="Calibri"/>
              </a:rPr>
              <a:t>n</a:t>
            </a:r>
            <a:r>
              <a:rPr sz="1700" dirty="0">
                <a:solidFill>
                  <a:srgbClr val="FFFFFF"/>
                </a:solidFill>
                <a:latin typeface="Calibri"/>
                <a:cs typeface="Calibri"/>
              </a:rPr>
              <a:t>ts</a:t>
            </a:r>
            <a:endParaRPr sz="1700">
              <a:latin typeface="Calibri"/>
              <a:cs typeface="Calibri"/>
            </a:endParaRPr>
          </a:p>
        </p:txBody>
      </p:sp>
      <p:sp>
        <p:nvSpPr>
          <p:cNvPr id="14" name="object 14"/>
          <p:cNvSpPr/>
          <p:nvPr/>
        </p:nvSpPr>
        <p:spPr>
          <a:xfrm>
            <a:off x="2132076" y="2804160"/>
            <a:ext cx="9349740" cy="1201420"/>
          </a:xfrm>
          <a:custGeom>
            <a:avLst/>
            <a:gdLst/>
            <a:ahLst/>
            <a:cxnLst/>
            <a:rect l="l" t="t" r="r" b="b"/>
            <a:pathLst>
              <a:path w="9349740" h="1201420">
                <a:moveTo>
                  <a:pt x="9349740" y="200151"/>
                </a:moveTo>
                <a:lnTo>
                  <a:pt x="9349740" y="1000759"/>
                </a:lnTo>
                <a:lnTo>
                  <a:pt x="9344451" y="1046636"/>
                </a:lnTo>
                <a:lnTo>
                  <a:pt x="9329387" y="1088759"/>
                </a:lnTo>
                <a:lnTo>
                  <a:pt x="9305752" y="1125923"/>
                </a:lnTo>
                <a:lnTo>
                  <a:pt x="9274751" y="1156924"/>
                </a:lnTo>
                <a:lnTo>
                  <a:pt x="9237587" y="1180559"/>
                </a:lnTo>
                <a:lnTo>
                  <a:pt x="9195464" y="1195623"/>
                </a:lnTo>
                <a:lnTo>
                  <a:pt x="9149588" y="1200912"/>
                </a:lnTo>
                <a:lnTo>
                  <a:pt x="0" y="1200912"/>
                </a:lnTo>
                <a:lnTo>
                  <a:pt x="0" y="0"/>
                </a:lnTo>
                <a:lnTo>
                  <a:pt x="9149588" y="0"/>
                </a:lnTo>
                <a:lnTo>
                  <a:pt x="9195464" y="5288"/>
                </a:lnTo>
                <a:lnTo>
                  <a:pt x="9237587" y="20352"/>
                </a:lnTo>
                <a:lnTo>
                  <a:pt x="9274751" y="43987"/>
                </a:lnTo>
                <a:lnTo>
                  <a:pt x="9305752" y="74988"/>
                </a:lnTo>
                <a:lnTo>
                  <a:pt x="9329387" y="112152"/>
                </a:lnTo>
                <a:lnTo>
                  <a:pt x="9344451" y="154275"/>
                </a:lnTo>
                <a:lnTo>
                  <a:pt x="9349740" y="200151"/>
                </a:lnTo>
                <a:close/>
              </a:path>
            </a:pathLst>
          </a:custGeom>
          <a:ln w="12699">
            <a:solidFill>
              <a:srgbClr val="AC6200"/>
            </a:solidFill>
          </a:ln>
        </p:spPr>
        <p:txBody>
          <a:bodyPr wrap="square" lIns="0" tIns="0" rIns="0" bIns="0" rtlCol="0"/>
          <a:lstStyle/>
          <a:p>
            <a:endParaRPr/>
          </a:p>
        </p:txBody>
      </p:sp>
      <p:sp>
        <p:nvSpPr>
          <p:cNvPr id="15" name="object 15"/>
          <p:cNvSpPr txBox="1"/>
          <p:nvPr/>
        </p:nvSpPr>
        <p:spPr>
          <a:xfrm>
            <a:off x="2254757" y="2953892"/>
            <a:ext cx="9110980" cy="845185"/>
          </a:xfrm>
          <a:prstGeom prst="rect">
            <a:avLst/>
          </a:prstGeom>
        </p:spPr>
        <p:txBody>
          <a:bodyPr vert="horz" wrap="square" lIns="0" tIns="40640" rIns="0" bIns="0" rtlCol="0">
            <a:spAutoFit/>
          </a:bodyPr>
          <a:lstStyle/>
          <a:p>
            <a:pPr marL="184785" marR="5080" indent="-172720">
              <a:lnSpc>
                <a:spcPts val="2090"/>
              </a:lnSpc>
              <a:spcBef>
                <a:spcPts val="320"/>
              </a:spcBef>
              <a:buChar char="•"/>
              <a:tabLst>
                <a:tab pos="185420" algn="l"/>
              </a:tabLst>
            </a:pPr>
            <a:r>
              <a:rPr sz="1900" spc="-5" dirty="0">
                <a:latin typeface="Calibri"/>
                <a:cs typeface="Calibri"/>
              </a:rPr>
              <a:t>When </a:t>
            </a:r>
            <a:r>
              <a:rPr sz="1900" spc="-10" dirty="0">
                <a:latin typeface="Calibri"/>
                <a:cs typeface="Calibri"/>
              </a:rPr>
              <a:t>you</a:t>
            </a:r>
            <a:r>
              <a:rPr sz="1900" dirty="0">
                <a:latin typeface="Calibri"/>
                <a:cs typeface="Calibri"/>
              </a:rPr>
              <a:t> </a:t>
            </a:r>
            <a:r>
              <a:rPr sz="1900" spc="-20" dirty="0">
                <a:latin typeface="Calibri"/>
                <a:cs typeface="Calibri"/>
              </a:rPr>
              <a:t>have</a:t>
            </a:r>
            <a:r>
              <a:rPr sz="1900" spc="15" dirty="0">
                <a:latin typeface="Calibri"/>
                <a:cs typeface="Calibri"/>
              </a:rPr>
              <a:t> </a:t>
            </a:r>
            <a:r>
              <a:rPr sz="1900" spc="-5" dirty="0">
                <a:latin typeface="Calibri"/>
                <a:cs typeface="Calibri"/>
              </a:rPr>
              <a:t>identified</a:t>
            </a:r>
            <a:r>
              <a:rPr sz="1900" spc="20" dirty="0">
                <a:latin typeface="Calibri"/>
                <a:cs typeface="Calibri"/>
              </a:rPr>
              <a:t> </a:t>
            </a:r>
            <a:r>
              <a:rPr sz="1900" spc="-5" dirty="0">
                <a:latin typeface="Calibri"/>
                <a:cs typeface="Calibri"/>
              </a:rPr>
              <a:t>the</a:t>
            </a:r>
            <a:r>
              <a:rPr sz="1900" spc="5" dirty="0">
                <a:latin typeface="Calibri"/>
                <a:cs typeface="Calibri"/>
              </a:rPr>
              <a:t> </a:t>
            </a:r>
            <a:r>
              <a:rPr sz="1900" spc="-10" dirty="0">
                <a:latin typeface="Calibri"/>
                <a:cs typeface="Calibri"/>
              </a:rPr>
              <a:t>project,</a:t>
            </a:r>
            <a:r>
              <a:rPr sz="1900" spc="10" dirty="0">
                <a:latin typeface="Calibri"/>
                <a:cs typeface="Calibri"/>
              </a:rPr>
              <a:t> </a:t>
            </a:r>
            <a:r>
              <a:rPr sz="1900" spc="-10" dirty="0">
                <a:latin typeface="Calibri"/>
                <a:cs typeface="Calibri"/>
              </a:rPr>
              <a:t>work</a:t>
            </a:r>
            <a:r>
              <a:rPr sz="1900" spc="-5" dirty="0">
                <a:latin typeface="Calibri"/>
                <a:cs typeface="Calibri"/>
              </a:rPr>
              <a:t> with</a:t>
            </a:r>
            <a:r>
              <a:rPr sz="1900" spc="15" dirty="0">
                <a:latin typeface="Calibri"/>
                <a:cs typeface="Calibri"/>
              </a:rPr>
              <a:t> </a:t>
            </a:r>
            <a:r>
              <a:rPr sz="1900" spc="-15" dirty="0">
                <a:latin typeface="Calibri"/>
                <a:cs typeface="Calibri"/>
              </a:rPr>
              <a:t>stakeholders</a:t>
            </a:r>
            <a:r>
              <a:rPr sz="1900" dirty="0">
                <a:latin typeface="Calibri"/>
                <a:cs typeface="Calibri"/>
              </a:rPr>
              <a:t> </a:t>
            </a:r>
            <a:r>
              <a:rPr sz="1900" spc="-15" dirty="0">
                <a:latin typeface="Calibri"/>
                <a:cs typeface="Calibri"/>
              </a:rPr>
              <a:t>to</a:t>
            </a:r>
            <a:r>
              <a:rPr sz="1900" spc="10" dirty="0">
                <a:latin typeface="Calibri"/>
                <a:cs typeface="Calibri"/>
              </a:rPr>
              <a:t> </a:t>
            </a:r>
            <a:r>
              <a:rPr sz="1900" spc="-10" dirty="0">
                <a:latin typeface="Calibri"/>
                <a:cs typeface="Calibri"/>
              </a:rPr>
              <a:t>define</a:t>
            </a:r>
            <a:r>
              <a:rPr sz="1900" dirty="0">
                <a:latin typeface="Calibri"/>
                <a:cs typeface="Calibri"/>
              </a:rPr>
              <a:t> </a:t>
            </a:r>
            <a:r>
              <a:rPr sz="1900" spc="-10" dirty="0">
                <a:latin typeface="Calibri"/>
                <a:cs typeface="Calibri"/>
              </a:rPr>
              <a:t>requirements.</a:t>
            </a:r>
            <a:r>
              <a:rPr sz="1900" spc="5" dirty="0">
                <a:latin typeface="Calibri"/>
                <a:cs typeface="Calibri"/>
              </a:rPr>
              <a:t> </a:t>
            </a:r>
            <a:r>
              <a:rPr sz="1900" spc="-55" dirty="0">
                <a:latin typeface="Calibri"/>
                <a:cs typeface="Calibri"/>
              </a:rPr>
              <a:t>You </a:t>
            </a:r>
            <a:r>
              <a:rPr sz="1900" spc="-50" dirty="0">
                <a:latin typeface="Calibri"/>
                <a:cs typeface="Calibri"/>
              </a:rPr>
              <a:t> </a:t>
            </a:r>
            <a:r>
              <a:rPr sz="1900" spc="-10" dirty="0">
                <a:latin typeface="Calibri"/>
                <a:cs typeface="Calibri"/>
              </a:rPr>
              <a:t>can</a:t>
            </a:r>
            <a:r>
              <a:rPr sz="1900" spc="-5" dirty="0">
                <a:latin typeface="Calibri"/>
                <a:cs typeface="Calibri"/>
              </a:rPr>
              <a:t> </a:t>
            </a:r>
            <a:r>
              <a:rPr sz="1900" spc="-10" dirty="0">
                <a:latin typeface="Calibri"/>
                <a:cs typeface="Calibri"/>
              </a:rPr>
              <a:t>use</a:t>
            </a:r>
            <a:r>
              <a:rPr sz="1900" spc="5" dirty="0">
                <a:latin typeface="Calibri"/>
                <a:cs typeface="Calibri"/>
              </a:rPr>
              <a:t> </a:t>
            </a:r>
            <a:r>
              <a:rPr sz="1900" spc="-5" dirty="0">
                <a:latin typeface="Calibri"/>
                <a:cs typeface="Calibri"/>
              </a:rPr>
              <a:t>the</a:t>
            </a:r>
            <a:r>
              <a:rPr sz="1900" spc="10" dirty="0">
                <a:latin typeface="Calibri"/>
                <a:cs typeface="Calibri"/>
              </a:rPr>
              <a:t> </a:t>
            </a:r>
            <a:r>
              <a:rPr sz="1900" spc="-5" dirty="0">
                <a:latin typeface="Calibri"/>
                <a:cs typeface="Calibri"/>
              </a:rPr>
              <a:t>user</a:t>
            </a:r>
            <a:r>
              <a:rPr sz="1900" spc="5" dirty="0">
                <a:latin typeface="Calibri"/>
                <a:cs typeface="Calibri"/>
              </a:rPr>
              <a:t> </a:t>
            </a:r>
            <a:r>
              <a:rPr sz="1900" spc="-10" dirty="0">
                <a:latin typeface="Calibri"/>
                <a:cs typeface="Calibri"/>
              </a:rPr>
              <a:t>flow</a:t>
            </a:r>
            <a:r>
              <a:rPr sz="1900" spc="15" dirty="0">
                <a:latin typeface="Calibri"/>
                <a:cs typeface="Calibri"/>
              </a:rPr>
              <a:t> </a:t>
            </a:r>
            <a:r>
              <a:rPr sz="1900" spc="-15" dirty="0">
                <a:latin typeface="Calibri"/>
                <a:cs typeface="Calibri"/>
              </a:rPr>
              <a:t>diagram</a:t>
            </a:r>
            <a:r>
              <a:rPr sz="1900" spc="15" dirty="0">
                <a:latin typeface="Calibri"/>
                <a:cs typeface="Calibri"/>
              </a:rPr>
              <a:t> </a:t>
            </a:r>
            <a:r>
              <a:rPr sz="1900" spc="-5" dirty="0">
                <a:latin typeface="Calibri"/>
                <a:cs typeface="Calibri"/>
              </a:rPr>
              <a:t>or</a:t>
            </a:r>
            <a:r>
              <a:rPr sz="1900" spc="10" dirty="0">
                <a:latin typeface="Calibri"/>
                <a:cs typeface="Calibri"/>
              </a:rPr>
              <a:t> </a:t>
            </a:r>
            <a:r>
              <a:rPr sz="1900" spc="-5" dirty="0">
                <a:latin typeface="Calibri"/>
                <a:cs typeface="Calibri"/>
              </a:rPr>
              <a:t>UML</a:t>
            </a:r>
            <a:r>
              <a:rPr sz="1900" spc="10" dirty="0">
                <a:latin typeface="Calibri"/>
                <a:cs typeface="Calibri"/>
              </a:rPr>
              <a:t> </a:t>
            </a:r>
            <a:r>
              <a:rPr sz="1900" spc="-15" dirty="0">
                <a:latin typeface="Calibri"/>
                <a:cs typeface="Calibri"/>
              </a:rPr>
              <a:t>diagram</a:t>
            </a:r>
            <a:r>
              <a:rPr sz="1900" spc="10" dirty="0">
                <a:latin typeface="Calibri"/>
                <a:cs typeface="Calibri"/>
              </a:rPr>
              <a:t> </a:t>
            </a:r>
            <a:r>
              <a:rPr sz="1900" spc="-15" dirty="0">
                <a:latin typeface="Calibri"/>
                <a:cs typeface="Calibri"/>
              </a:rPr>
              <a:t>to</a:t>
            </a:r>
            <a:r>
              <a:rPr sz="1900" spc="10" dirty="0">
                <a:latin typeface="Calibri"/>
                <a:cs typeface="Calibri"/>
              </a:rPr>
              <a:t> </a:t>
            </a:r>
            <a:r>
              <a:rPr sz="1900" spc="-10" dirty="0">
                <a:latin typeface="Calibri"/>
                <a:cs typeface="Calibri"/>
              </a:rPr>
              <a:t>show</a:t>
            </a:r>
            <a:r>
              <a:rPr sz="1900" spc="15" dirty="0">
                <a:latin typeface="Calibri"/>
                <a:cs typeface="Calibri"/>
              </a:rPr>
              <a:t> </a:t>
            </a:r>
            <a:r>
              <a:rPr sz="1900" spc="-5" dirty="0">
                <a:latin typeface="Calibri"/>
                <a:cs typeface="Calibri"/>
              </a:rPr>
              <a:t>the</a:t>
            </a:r>
            <a:r>
              <a:rPr sz="1900" spc="10" dirty="0">
                <a:latin typeface="Calibri"/>
                <a:cs typeface="Calibri"/>
              </a:rPr>
              <a:t> </a:t>
            </a:r>
            <a:r>
              <a:rPr sz="1900" spc="-10" dirty="0">
                <a:latin typeface="Calibri"/>
                <a:cs typeface="Calibri"/>
              </a:rPr>
              <a:t>work</a:t>
            </a:r>
            <a:r>
              <a:rPr sz="1900" dirty="0">
                <a:latin typeface="Calibri"/>
                <a:cs typeface="Calibri"/>
              </a:rPr>
              <a:t> </a:t>
            </a:r>
            <a:r>
              <a:rPr sz="1900" spc="-5" dirty="0">
                <a:latin typeface="Calibri"/>
                <a:cs typeface="Calibri"/>
              </a:rPr>
              <a:t>of</a:t>
            </a:r>
            <a:r>
              <a:rPr sz="1900" dirty="0">
                <a:latin typeface="Calibri"/>
                <a:cs typeface="Calibri"/>
              </a:rPr>
              <a:t> </a:t>
            </a:r>
            <a:r>
              <a:rPr sz="1900" spc="-10" dirty="0">
                <a:latin typeface="Calibri"/>
                <a:cs typeface="Calibri"/>
              </a:rPr>
              <a:t>new</a:t>
            </a:r>
            <a:r>
              <a:rPr sz="1900" dirty="0">
                <a:latin typeface="Calibri"/>
                <a:cs typeface="Calibri"/>
              </a:rPr>
              <a:t> </a:t>
            </a:r>
            <a:r>
              <a:rPr sz="1900" spc="-15" dirty="0">
                <a:latin typeface="Calibri"/>
                <a:cs typeface="Calibri"/>
              </a:rPr>
              <a:t>features</a:t>
            </a:r>
            <a:r>
              <a:rPr sz="1900" spc="5" dirty="0">
                <a:latin typeface="Calibri"/>
                <a:cs typeface="Calibri"/>
              </a:rPr>
              <a:t> </a:t>
            </a:r>
            <a:r>
              <a:rPr sz="1900" spc="-5" dirty="0">
                <a:latin typeface="Calibri"/>
                <a:cs typeface="Calibri"/>
              </a:rPr>
              <a:t>and </a:t>
            </a:r>
            <a:r>
              <a:rPr sz="1900" spc="-10" dirty="0">
                <a:latin typeface="Calibri"/>
                <a:cs typeface="Calibri"/>
              </a:rPr>
              <a:t>show </a:t>
            </a:r>
            <a:r>
              <a:rPr sz="1900" spc="-409" dirty="0">
                <a:latin typeface="Calibri"/>
                <a:cs typeface="Calibri"/>
              </a:rPr>
              <a:t> </a:t>
            </a:r>
            <a:r>
              <a:rPr sz="1900" spc="-15" dirty="0">
                <a:latin typeface="Calibri"/>
                <a:cs typeface="Calibri"/>
              </a:rPr>
              <a:t>how</a:t>
            </a:r>
            <a:r>
              <a:rPr sz="1900" spc="5" dirty="0">
                <a:latin typeface="Calibri"/>
                <a:cs typeface="Calibri"/>
              </a:rPr>
              <a:t> </a:t>
            </a:r>
            <a:r>
              <a:rPr sz="1900" spc="-5" dirty="0">
                <a:latin typeface="Calibri"/>
                <a:cs typeface="Calibri"/>
              </a:rPr>
              <a:t>it</a:t>
            </a:r>
            <a:r>
              <a:rPr sz="1900" dirty="0">
                <a:latin typeface="Calibri"/>
                <a:cs typeface="Calibri"/>
              </a:rPr>
              <a:t> </a:t>
            </a:r>
            <a:r>
              <a:rPr sz="1900" spc="-5" dirty="0">
                <a:latin typeface="Calibri"/>
                <a:cs typeface="Calibri"/>
              </a:rPr>
              <a:t>will</a:t>
            </a:r>
            <a:r>
              <a:rPr sz="1900" spc="10" dirty="0">
                <a:latin typeface="Calibri"/>
                <a:cs typeface="Calibri"/>
              </a:rPr>
              <a:t> </a:t>
            </a:r>
            <a:r>
              <a:rPr sz="1900" spc="-5" dirty="0">
                <a:latin typeface="Calibri"/>
                <a:cs typeface="Calibri"/>
              </a:rPr>
              <a:t>apply</a:t>
            </a:r>
            <a:r>
              <a:rPr sz="1900" dirty="0">
                <a:latin typeface="Calibri"/>
                <a:cs typeface="Calibri"/>
              </a:rPr>
              <a:t> </a:t>
            </a:r>
            <a:r>
              <a:rPr sz="1900" spc="-15" dirty="0">
                <a:latin typeface="Calibri"/>
                <a:cs typeface="Calibri"/>
              </a:rPr>
              <a:t>to</a:t>
            </a:r>
            <a:r>
              <a:rPr sz="1900" spc="5" dirty="0">
                <a:latin typeface="Calibri"/>
                <a:cs typeface="Calibri"/>
              </a:rPr>
              <a:t> </a:t>
            </a:r>
            <a:r>
              <a:rPr sz="1900" spc="-10" dirty="0">
                <a:latin typeface="Calibri"/>
                <a:cs typeface="Calibri"/>
              </a:rPr>
              <a:t>your</a:t>
            </a:r>
            <a:r>
              <a:rPr sz="1900" spc="-5" dirty="0">
                <a:latin typeface="Calibri"/>
                <a:cs typeface="Calibri"/>
              </a:rPr>
              <a:t> </a:t>
            </a:r>
            <a:r>
              <a:rPr sz="1900" spc="-10" dirty="0">
                <a:latin typeface="Calibri"/>
                <a:cs typeface="Calibri"/>
              </a:rPr>
              <a:t>existing</a:t>
            </a:r>
            <a:r>
              <a:rPr sz="1900" spc="15" dirty="0">
                <a:latin typeface="Calibri"/>
                <a:cs typeface="Calibri"/>
              </a:rPr>
              <a:t> </a:t>
            </a:r>
            <a:r>
              <a:rPr sz="1900" spc="-20" dirty="0">
                <a:latin typeface="Calibri"/>
                <a:cs typeface="Calibri"/>
              </a:rPr>
              <a:t>system.</a:t>
            </a:r>
            <a:endParaRPr sz="1900">
              <a:latin typeface="Calibri"/>
              <a:cs typeface="Calibri"/>
            </a:endParaRPr>
          </a:p>
        </p:txBody>
      </p:sp>
      <p:grpSp>
        <p:nvGrpSpPr>
          <p:cNvPr id="16" name="object 16"/>
          <p:cNvGrpSpPr/>
          <p:nvPr/>
        </p:nvGrpSpPr>
        <p:grpSpPr>
          <a:xfrm>
            <a:off x="831850" y="4454397"/>
            <a:ext cx="1306830" cy="1861820"/>
            <a:chOff x="831850" y="4454397"/>
            <a:chExt cx="1306830" cy="1861820"/>
          </a:xfrm>
        </p:grpSpPr>
        <p:sp>
          <p:nvSpPr>
            <p:cNvPr id="17" name="object 17"/>
            <p:cNvSpPr/>
            <p:nvPr/>
          </p:nvSpPr>
          <p:spPr>
            <a:xfrm>
              <a:off x="838200" y="4460747"/>
              <a:ext cx="1294130" cy="1849120"/>
            </a:xfrm>
            <a:custGeom>
              <a:avLst/>
              <a:gdLst/>
              <a:ahLst/>
              <a:cxnLst/>
              <a:rect l="l" t="t" r="r" b="b"/>
              <a:pathLst>
                <a:path w="1294130" h="1849120">
                  <a:moveTo>
                    <a:pt x="1293876" y="0"/>
                  </a:moveTo>
                  <a:lnTo>
                    <a:pt x="646938" y="646938"/>
                  </a:lnTo>
                  <a:lnTo>
                    <a:pt x="0" y="0"/>
                  </a:lnTo>
                  <a:lnTo>
                    <a:pt x="0" y="1201673"/>
                  </a:lnTo>
                  <a:lnTo>
                    <a:pt x="646938" y="1848612"/>
                  </a:lnTo>
                  <a:lnTo>
                    <a:pt x="1293876" y="1201673"/>
                  </a:lnTo>
                  <a:lnTo>
                    <a:pt x="1293876" y="0"/>
                  </a:lnTo>
                  <a:close/>
                </a:path>
              </a:pathLst>
            </a:custGeom>
            <a:solidFill>
              <a:srgbClr val="B43500"/>
            </a:solidFill>
          </p:spPr>
          <p:txBody>
            <a:bodyPr wrap="square" lIns="0" tIns="0" rIns="0" bIns="0" rtlCol="0"/>
            <a:lstStyle/>
            <a:p>
              <a:endParaRPr/>
            </a:p>
          </p:txBody>
        </p:sp>
        <p:sp>
          <p:nvSpPr>
            <p:cNvPr id="18" name="object 18"/>
            <p:cNvSpPr/>
            <p:nvPr/>
          </p:nvSpPr>
          <p:spPr>
            <a:xfrm>
              <a:off x="838200" y="4460747"/>
              <a:ext cx="1294130" cy="1849120"/>
            </a:xfrm>
            <a:custGeom>
              <a:avLst/>
              <a:gdLst/>
              <a:ahLst/>
              <a:cxnLst/>
              <a:rect l="l" t="t" r="r" b="b"/>
              <a:pathLst>
                <a:path w="1294130" h="1849120">
                  <a:moveTo>
                    <a:pt x="1293876" y="0"/>
                  </a:moveTo>
                  <a:lnTo>
                    <a:pt x="1293876" y="1201673"/>
                  </a:lnTo>
                  <a:lnTo>
                    <a:pt x="646938" y="1848612"/>
                  </a:lnTo>
                  <a:lnTo>
                    <a:pt x="0" y="1201673"/>
                  </a:lnTo>
                  <a:lnTo>
                    <a:pt x="0" y="0"/>
                  </a:lnTo>
                  <a:lnTo>
                    <a:pt x="646938" y="646938"/>
                  </a:lnTo>
                  <a:lnTo>
                    <a:pt x="1293876" y="0"/>
                  </a:lnTo>
                  <a:close/>
                </a:path>
              </a:pathLst>
            </a:custGeom>
            <a:ln w="12700">
              <a:solidFill>
                <a:srgbClr val="B43500"/>
              </a:solidFill>
            </a:ln>
          </p:spPr>
          <p:txBody>
            <a:bodyPr wrap="square" lIns="0" tIns="0" rIns="0" bIns="0" rtlCol="0"/>
            <a:lstStyle/>
            <a:p>
              <a:endParaRPr/>
            </a:p>
          </p:txBody>
        </p:sp>
      </p:grpSp>
      <p:sp>
        <p:nvSpPr>
          <p:cNvPr id="19" name="object 19"/>
          <p:cNvSpPr txBox="1"/>
          <p:nvPr/>
        </p:nvSpPr>
        <p:spPr>
          <a:xfrm>
            <a:off x="836472" y="5099126"/>
            <a:ext cx="1295400" cy="521970"/>
          </a:xfrm>
          <a:prstGeom prst="rect">
            <a:avLst/>
          </a:prstGeom>
        </p:spPr>
        <p:txBody>
          <a:bodyPr vert="horz" wrap="square" lIns="0" tIns="13335" rIns="0" bIns="0" rtlCol="0">
            <a:spAutoFit/>
          </a:bodyPr>
          <a:lstStyle/>
          <a:p>
            <a:pPr algn="ctr">
              <a:lnSpc>
                <a:spcPts val="1950"/>
              </a:lnSpc>
              <a:spcBef>
                <a:spcPts val="105"/>
              </a:spcBef>
            </a:pPr>
            <a:r>
              <a:rPr sz="1700" spc="-5" dirty="0">
                <a:solidFill>
                  <a:srgbClr val="FFFFFF"/>
                </a:solidFill>
                <a:latin typeface="Calibri"/>
                <a:cs typeface="Calibri"/>
              </a:rPr>
              <a:t>Development/</a:t>
            </a:r>
            <a:endParaRPr sz="1700">
              <a:latin typeface="Calibri"/>
              <a:cs typeface="Calibri"/>
            </a:endParaRPr>
          </a:p>
          <a:p>
            <a:pPr marL="1905" algn="ctr">
              <a:lnSpc>
                <a:spcPts val="1950"/>
              </a:lnSpc>
            </a:pPr>
            <a:r>
              <a:rPr sz="1700" spc="-5" dirty="0">
                <a:solidFill>
                  <a:srgbClr val="FFFFFF"/>
                </a:solidFill>
                <a:latin typeface="Calibri"/>
                <a:cs typeface="Calibri"/>
              </a:rPr>
              <a:t>iteration</a:t>
            </a:r>
            <a:endParaRPr sz="1700">
              <a:latin typeface="Calibri"/>
              <a:cs typeface="Calibri"/>
            </a:endParaRPr>
          </a:p>
        </p:txBody>
      </p:sp>
      <p:sp>
        <p:nvSpPr>
          <p:cNvPr id="20" name="object 20"/>
          <p:cNvSpPr/>
          <p:nvPr/>
        </p:nvSpPr>
        <p:spPr>
          <a:xfrm>
            <a:off x="2132076" y="4460747"/>
            <a:ext cx="9349740" cy="1201420"/>
          </a:xfrm>
          <a:custGeom>
            <a:avLst/>
            <a:gdLst/>
            <a:ahLst/>
            <a:cxnLst/>
            <a:rect l="l" t="t" r="r" b="b"/>
            <a:pathLst>
              <a:path w="9349740" h="1201420">
                <a:moveTo>
                  <a:pt x="9349740" y="200151"/>
                </a:moveTo>
                <a:lnTo>
                  <a:pt x="9349740" y="1000760"/>
                </a:lnTo>
                <a:lnTo>
                  <a:pt x="9344451" y="1046636"/>
                </a:lnTo>
                <a:lnTo>
                  <a:pt x="9329387" y="1088759"/>
                </a:lnTo>
                <a:lnTo>
                  <a:pt x="9305752" y="1125923"/>
                </a:lnTo>
                <a:lnTo>
                  <a:pt x="9274751" y="1156924"/>
                </a:lnTo>
                <a:lnTo>
                  <a:pt x="9237587" y="1180559"/>
                </a:lnTo>
                <a:lnTo>
                  <a:pt x="9195464" y="1195623"/>
                </a:lnTo>
                <a:lnTo>
                  <a:pt x="9149588" y="1200911"/>
                </a:lnTo>
                <a:lnTo>
                  <a:pt x="0" y="1200911"/>
                </a:lnTo>
                <a:lnTo>
                  <a:pt x="0" y="0"/>
                </a:lnTo>
                <a:lnTo>
                  <a:pt x="9149588" y="0"/>
                </a:lnTo>
                <a:lnTo>
                  <a:pt x="9195464" y="5288"/>
                </a:lnTo>
                <a:lnTo>
                  <a:pt x="9237587" y="20352"/>
                </a:lnTo>
                <a:lnTo>
                  <a:pt x="9274751" y="43987"/>
                </a:lnTo>
                <a:lnTo>
                  <a:pt x="9305752" y="74988"/>
                </a:lnTo>
                <a:lnTo>
                  <a:pt x="9329387" y="112152"/>
                </a:lnTo>
                <a:lnTo>
                  <a:pt x="9344451" y="154275"/>
                </a:lnTo>
                <a:lnTo>
                  <a:pt x="9349740" y="200151"/>
                </a:lnTo>
                <a:close/>
              </a:path>
            </a:pathLst>
          </a:custGeom>
          <a:ln w="12699">
            <a:solidFill>
              <a:srgbClr val="B43500"/>
            </a:solidFill>
          </a:ln>
        </p:spPr>
        <p:txBody>
          <a:bodyPr wrap="square" lIns="0" tIns="0" rIns="0" bIns="0" rtlCol="0"/>
          <a:lstStyle/>
          <a:p>
            <a:endParaRPr/>
          </a:p>
        </p:txBody>
      </p:sp>
      <p:sp>
        <p:nvSpPr>
          <p:cNvPr id="21" name="object 21"/>
          <p:cNvSpPr txBox="1"/>
          <p:nvPr/>
        </p:nvSpPr>
        <p:spPr>
          <a:xfrm>
            <a:off x="2254757" y="4610861"/>
            <a:ext cx="9157335" cy="845185"/>
          </a:xfrm>
          <a:prstGeom prst="rect">
            <a:avLst/>
          </a:prstGeom>
        </p:spPr>
        <p:txBody>
          <a:bodyPr vert="horz" wrap="square" lIns="0" tIns="36195" rIns="0" bIns="0" rtlCol="0">
            <a:spAutoFit/>
          </a:bodyPr>
          <a:lstStyle/>
          <a:p>
            <a:pPr marL="184785" marR="5080" indent="-172720">
              <a:lnSpc>
                <a:spcPct val="91600"/>
              </a:lnSpc>
              <a:spcBef>
                <a:spcPts val="285"/>
              </a:spcBef>
              <a:buChar char="•"/>
              <a:tabLst>
                <a:tab pos="185420" algn="l"/>
              </a:tabLst>
            </a:pPr>
            <a:r>
              <a:rPr sz="1900" spc="-5" dirty="0">
                <a:latin typeface="Calibri"/>
                <a:cs typeface="Calibri"/>
              </a:rPr>
              <a:t>When</a:t>
            </a:r>
            <a:r>
              <a:rPr sz="1900" spc="5" dirty="0">
                <a:latin typeface="Calibri"/>
                <a:cs typeface="Calibri"/>
              </a:rPr>
              <a:t> </a:t>
            </a:r>
            <a:r>
              <a:rPr sz="1900" spc="-5" dirty="0">
                <a:latin typeface="Calibri"/>
                <a:cs typeface="Calibri"/>
              </a:rPr>
              <a:t>the</a:t>
            </a:r>
            <a:r>
              <a:rPr sz="1900" spc="20" dirty="0">
                <a:latin typeface="Calibri"/>
                <a:cs typeface="Calibri"/>
              </a:rPr>
              <a:t> </a:t>
            </a:r>
            <a:r>
              <a:rPr sz="1900" spc="-10" dirty="0">
                <a:latin typeface="Calibri"/>
                <a:cs typeface="Calibri"/>
              </a:rPr>
              <a:t>team</a:t>
            </a:r>
            <a:r>
              <a:rPr sz="1900" spc="5" dirty="0">
                <a:latin typeface="Calibri"/>
                <a:cs typeface="Calibri"/>
              </a:rPr>
              <a:t> </a:t>
            </a:r>
            <a:r>
              <a:rPr sz="1900" spc="-10" dirty="0">
                <a:latin typeface="Calibri"/>
                <a:cs typeface="Calibri"/>
              </a:rPr>
              <a:t>defines</a:t>
            </a:r>
            <a:r>
              <a:rPr sz="1900" spc="15" dirty="0">
                <a:latin typeface="Calibri"/>
                <a:cs typeface="Calibri"/>
              </a:rPr>
              <a:t> </a:t>
            </a:r>
            <a:r>
              <a:rPr sz="1900" spc="-5" dirty="0">
                <a:latin typeface="Calibri"/>
                <a:cs typeface="Calibri"/>
              </a:rPr>
              <a:t>the</a:t>
            </a:r>
            <a:r>
              <a:rPr sz="1900" spc="15" dirty="0">
                <a:latin typeface="Calibri"/>
                <a:cs typeface="Calibri"/>
              </a:rPr>
              <a:t> </a:t>
            </a:r>
            <a:r>
              <a:rPr sz="1900" spc="-10" dirty="0">
                <a:latin typeface="Calibri"/>
                <a:cs typeface="Calibri"/>
              </a:rPr>
              <a:t>requirements,</a:t>
            </a:r>
            <a:r>
              <a:rPr sz="1900" spc="10" dirty="0">
                <a:latin typeface="Calibri"/>
                <a:cs typeface="Calibri"/>
              </a:rPr>
              <a:t> </a:t>
            </a:r>
            <a:r>
              <a:rPr sz="1900" spc="-5" dirty="0">
                <a:latin typeface="Calibri"/>
                <a:cs typeface="Calibri"/>
              </a:rPr>
              <a:t>the</a:t>
            </a:r>
            <a:r>
              <a:rPr sz="1900" spc="10" dirty="0">
                <a:latin typeface="Calibri"/>
                <a:cs typeface="Calibri"/>
              </a:rPr>
              <a:t> </a:t>
            </a:r>
            <a:r>
              <a:rPr sz="1900" spc="-10" dirty="0">
                <a:latin typeface="Calibri"/>
                <a:cs typeface="Calibri"/>
              </a:rPr>
              <a:t>work</a:t>
            </a:r>
            <a:r>
              <a:rPr sz="1900" spc="10" dirty="0">
                <a:latin typeface="Calibri"/>
                <a:cs typeface="Calibri"/>
              </a:rPr>
              <a:t> </a:t>
            </a:r>
            <a:r>
              <a:rPr sz="1900" spc="-10" dirty="0">
                <a:latin typeface="Calibri"/>
                <a:cs typeface="Calibri"/>
              </a:rPr>
              <a:t>begins.</a:t>
            </a:r>
            <a:r>
              <a:rPr sz="1900" spc="25" dirty="0">
                <a:latin typeface="Calibri"/>
                <a:cs typeface="Calibri"/>
              </a:rPr>
              <a:t> </a:t>
            </a:r>
            <a:r>
              <a:rPr sz="1900" spc="-15" dirty="0">
                <a:latin typeface="Calibri"/>
                <a:cs typeface="Calibri"/>
              </a:rPr>
              <a:t>Designers</a:t>
            </a:r>
            <a:r>
              <a:rPr sz="1900" spc="25" dirty="0">
                <a:latin typeface="Calibri"/>
                <a:cs typeface="Calibri"/>
              </a:rPr>
              <a:t> </a:t>
            </a:r>
            <a:r>
              <a:rPr sz="1900" spc="-5" dirty="0">
                <a:latin typeface="Calibri"/>
                <a:cs typeface="Calibri"/>
              </a:rPr>
              <a:t>and</a:t>
            </a:r>
            <a:r>
              <a:rPr sz="1900" spc="15" dirty="0">
                <a:latin typeface="Calibri"/>
                <a:cs typeface="Calibri"/>
              </a:rPr>
              <a:t> </a:t>
            </a:r>
            <a:r>
              <a:rPr sz="1900" spc="-15" dirty="0">
                <a:latin typeface="Calibri"/>
                <a:cs typeface="Calibri"/>
              </a:rPr>
              <a:t>developers</a:t>
            </a:r>
            <a:r>
              <a:rPr sz="1900" spc="40" dirty="0">
                <a:latin typeface="Calibri"/>
                <a:cs typeface="Calibri"/>
              </a:rPr>
              <a:t> </a:t>
            </a:r>
            <a:r>
              <a:rPr sz="1900" spc="-15" dirty="0">
                <a:latin typeface="Calibri"/>
                <a:cs typeface="Calibri"/>
              </a:rPr>
              <a:t>start </a:t>
            </a:r>
            <a:r>
              <a:rPr sz="1900" spc="-10" dirty="0">
                <a:latin typeface="Calibri"/>
                <a:cs typeface="Calibri"/>
              </a:rPr>
              <a:t> </a:t>
            </a:r>
            <a:r>
              <a:rPr sz="1900" spc="-5" dirty="0">
                <a:latin typeface="Calibri"/>
                <a:cs typeface="Calibri"/>
              </a:rPr>
              <a:t>working</a:t>
            </a:r>
            <a:r>
              <a:rPr sz="1900" dirty="0">
                <a:latin typeface="Calibri"/>
                <a:cs typeface="Calibri"/>
              </a:rPr>
              <a:t> </a:t>
            </a:r>
            <a:r>
              <a:rPr sz="1900" spc="-5" dirty="0">
                <a:latin typeface="Calibri"/>
                <a:cs typeface="Calibri"/>
              </a:rPr>
              <a:t>on</a:t>
            </a:r>
            <a:r>
              <a:rPr sz="1900" spc="5" dirty="0">
                <a:latin typeface="Calibri"/>
                <a:cs typeface="Calibri"/>
              </a:rPr>
              <a:t> </a:t>
            </a:r>
            <a:r>
              <a:rPr sz="1900" spc="-5" dirty="0">
                <a:latin typeface="Calibri"/>
                <a:cs typeface="Calibri"/>
              </a:rPr>
              <a:t>their </a:t>
            </a:r>
            <a:r>
              <a:rPr sz="1900" spc="-10" dirty="0">
                <a:latin typeface="Calibri"/>
                <a:cs typeface="Calibri"/>
              </a:rPr>
              <a:t>project,</a:t>
            </a:r>
            <a:r>
              <a:rPr sz="1900" spc="10" dirty="0">
                <a:latin typeface="Calibri"/>
                <a:cs typeface="Calibri"/>
              </a:rPr>
              <a:t> </a:t>
            </a:r>
            <a:r>
              <a:rPr sz="1900" spc="-5" dirty="0">
                <a:latin typeface="Calibri"/>
                <a:cs typeface="Calibri"/>
              </a:rPr>
              <a:t>which</a:t>
            </a:r>
            <a:r>
              <a:rPr sz="1900" spc="10" dirty="0">
                <a:latin typeface="Calibri"/>
                <a:cs typeface="Calibri"/>
              </a:rPr>
              <a:t> </a:t>
            </a:r>
            <a:r>
              <a:rPr sz="1900" spc="-5" dirty="0">
                <a:latin typeface="Calibri"/>
                <a:cs typeface="Calibri"/>
              </a:rPr>
              <a:t>aims </a:t>
            </a:r>
            <a:r>
              <a:rPr sz="1900" spc="-15" dirty="0">
                <a:latin typeface="Calibri"/>
                <a:cs typeface="Calibri"/>
              </a:rPr>
              <a:t>to</a:t>
            </a:r>
            <a:r>
              <a:rPr sz="1900" spc="5" dirty="0">
                <a:latin typeface="Calibri"/>
                <a:cs typeface="Calibri"/>
              </a:rPr>
              <a:t> </a:t>
            </a:r>
            <a:r>
              <a:rPr sz="1900" spc="-10" dirty="0">
                <a:latin typeface="Calibri"/>
                <a:cs typeface="Calibri"/>
              </a:rPr>
              <a:t>deploy</a:t>
            </a:r>
            <a:r>
              <a:rPr sz="1900" spc="20" dirty="0">
                <a:latin typeface="Calibri"/>
                <a:cs typeface="Calibri"/>
              </a:rPr>
              <a:t> </a:t>
            </a:r>
            <a:r>
              <a:rPr sz="1900" spc="-5" dirty="0">
                <a:latin typeface="Calibri"/>
                <a:cs typeface="Calibri"/>
              </a:rPr>
              <a:t>a</a:t>
            </a:r>
            <a:r>
              <a:rPr sz="1900" spc="-10" dirty="0">
                <a:latin typeface="Calibri"/>
                <a:cs typeface="Calibri"/>
              </a:rPr>
              <a:t> </a:t>
            </a:r>
            <a:r>
              <a:rPr sz="1900" spc="-5" dirty="0">
                <a:latin typeface="Calibri"/>
                <a:cs typeface="Calibri"/>
              </a:rPr>
              <a:t>working</a:t>
            </a:r>
            <a:r>
              <a:rPr sz="1900" dirty="0">
                <a:latin typeface="Calibri"/>
                <a:cs typeface="Calibri"/>
              </a:rPr>
              <a:t> </a:t>
            </a:r>
            <a:r>
              <a:rPr sz="1900" spc="-10" dirty="0">
                <a:latin typeface="Calibri"/>
                <a:cs typeface="Calibri"/>
              </a:rPr>
              <a:t>product.</a:t>
            </a:r>
            <a:r>
              <a:rPr sz="1900" spc="30" dirty="0">
                <a:latin typeface="Calibri"/>
                <a:cs typeface="Calibri"/>
              </a:rPr>
              <a:t> </a:t>
            </a:r>
            <a:r>
              <a:rPr sz="1900" spc="-5" dirty="0">
                <a:latin typeface="Calibri"/>
                <a:cs typeface="Calibri"/>
              </a:rPr>
              <a:t>The </a:t>
            </a:r>
            <a:r>
              <a:rPr sz="1900" spc="-10" dirty="0">
                <a:latin typeface="Calibri"/>
                <a:cs typeface="Calibri"/>
              </a:rPr>
              <a:t>product</a:t>
            </a:r>
            <a:r>
              <a:rPr sz="1900" spc="10" dirty="0">
                <a:latin typeface="Calibri"/>
                <a:cs typeface="Calibri"/>
              </a:rPr>
              <a:t> </a:t>
            </a:r>
            <a:r>
              <a:rPr sz="1900" spc="-5" dirty="0">
                <a:latin typeface="Calibri"/>
                <a:cs typeface="Calibri"/>
              </a:rPr>
              <a:t>will</a:t>
            </a:r>
            <a:r>
              <a:rPr sz="1900" dirty="0">
                <a:latin typeface="Calibri"/>
                <a:cs typeface="Calibri"/>
              </a:rPr>
              <a:t> </a:t>
            </a:r>
            <a:r>
              <a:rPr sz="1900" spc="-15" dirty="0">
                <a:latin typeface="Calibri"/>
                <a:cs typeface="Calibri"/>
              </a:rPr>
              <a:t>undergo </a:t>
            </a:r>
            <a:r>
              <a:rPr sz="1900" spc="-409" dirty="0">
                <a:latin typeface="Calibri"/>
                <a:cs typeface="Calibri"/>
              </a:rPr>
              <a:t> </a:t>
            </a:r>
            <a:r>
              <a:rPr sz="1900" spc="-10" dirty="0">
                <a:latin typeface="Calibri"/>
                <a:cs typeface="Calibri"/>
              </a:rPr>
              <a:t>various</a:t>
            </a:r>
            <a:r>
              <a:rPr sz="1900" spc="10" dirty="0">
                <a:latin typeface="Calibri"/>
                <a:cs typeface="Calibri"/>
              </a:rPr>
              <a:t> </a:t>
            </a:r>
            <a:r>
              <a:rPr sz="1900" spc="-15" dirty="0">
                <a:latin typeface="Calibri"/>
                <a:cs typeface="Calibri"/>
              </a:rPr>
              <a:t>stages</a:t>
            </a:r>
            <a:r>
              <a:rPr sz="1900" spc="5" dirty="0">
                <a:latin typeface="Calibri"/>
                <a:cs typeface="Calibri"/>
              </a:rPr>
              <a:t> </a:t>
            </a:r>
            <a:r>
              <a:rPr sz="1900" spc="-5" dirty="0">
                <a:latin typeface="Calibri"/>
                <a:cs typeface="Calibri"/>
              </a:rPr>
              <a:t>of </a:t>
            </a:r>
            <a:r>
              <a:rPr sz="1900" spc="-15" dirty="0">
                <a:latin typeface="Calibri"/>
                <a:cs typeface="Calibri"/>
              </a:rPr>
              <a:t>improvement,</a:t>
            </a:r>
            <a:r>
              <a:rPr sz="1900" spc="45" dirty="0">
                <a:latin typeface="Calibri"/>
                <a:cs typeface="Calibri"/>
              </a:rPr>
              <a:t> </a:t>
            </a:r>
            <a:r>
              <a:rPr sz="1900" spc="-5" dirty="0">
                <a:latin typeface="Calibri"/>
                <a:cs typeface="Calibri"/>
              </a:rPr>
              <a:t>so it</a:t>
            </a:r>
            <a:r>
              <a:rPr sz="1900" spc="5" dirty="0">
                <a:latin typeface="Calibri"/>
                <a:cs typeface="Calibri"/>
              </a:rPr>
              <a:t> </a:t>
            </a:r>
            <a:r>
              <a:rPr sz="1900" spc="-5" dirty="0">
                <a:latin typeface="Calibri"/>
                <a:cs typeface="Calibri"/>
              </a:rPr>
              <a:t>includes</a:t>
            </a:r>
            <a:r>
              <a:rPr sz="1900" spc="15" dirty="0">
                <a:latin typeface="Calibri"/>
                <a:cs typeface="Calibri"/>
              </a:rPr>
              <a:t> </a:t>
            </a:r>
            <a:r>
              <a:rPr sz="1900" spc="-10" dirty="0">
                <a:latin typeface="Calibri"/>
                <a:cs typeface="Calibri"/>
              </a:rPr>
              <a:t>simple,</a:t>
            </a:r>
            <a:r>
              <a:rPr sz="1900" spc="15" dirty="0">
                <a:latin typeface="Calibri"/>
                <a:cs typeface="Calibri"/>
              </a:rPr>
              <a:t> </a:t>
            </a:r>
            <a:r>
              <a:rPr sz="1900" spc="-10" dirty="0">
                <a:latin typeface="Calibri"/>
                <a:cs typeface="Calibri"/>
              </a:rPr>
              <a:t>minimal</a:t>
            </a:r>
            <a:r>
              <a:rPr sz="1900" spc="20" dirty="0">
                <a:latin typeface="Calibri"/>
                <a:cs typeface="Calibri"/>
              </a:rPr>
              <a:t> </a:t>
            </a:r>
            <a:r>
              <a:rPr sz="1900" spc="-15" dirty="0">
                <a:latin typeface="Calibri"/>
                <a:cs typeface="Calibri"/>
              </a:rPr>
              <a:t>functionality.</a:t>
            </a:r>
            <a:endParaRPr sz="1900" dirty="0">
              <a:latin typeface="Calibri"/>
              <a:cs typeface="Calibri"/>
            </a:endParaRPr>
          </a:p>
        </p:txBody>
      </p:sp>
      <p:sp>
        <p:nvSpPr>
          <p:cNvPr id="22" name="object 22"/>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60375"/>
            <a:ext cx="8517890" cy="697230"/>
          </a:xfrm>
          <a:prstGeom prst="rect">
            <a:avLst/>
          </a:prstGeom>
        </p:spPr>
        <p:txBody>
          <a:bodyPr vert="horz" wrap="square" lIns="0" tIns="13335" rIns="0" bIns="0" rtlCol="0">
            <a:spAutoFit/>
          </a:bodyPr>
          <a:lstStyle/>
          <a:p>
            <a:pPr marL="12700">
              <a:lnSpc>
                <a:spcPct val="100000"/>
              </a:lnSpc>
              <a:spcBef>
                <a:spcPts val="105"/>
              </a:spcBef>
            </a:pPr>
            <a:r>
              <a:rPr sz="4400" spc="-35" dirty="0"/>
              <a:t>Adaptive</a:t>
            </a:r>
            <a:r>
              <a:rPr sz="4400" spc="-110" dirty="0"/>
              <a:t> </a:t>
            </a:r>
            <a:r>
              <a:rPr sz="4400" spc="-35" dirty="0"/>
              <a:t>Models</a:t>
            </a:r>
            <a:r>
              <a:rPr sz="4400" spc="-120" dirty="0"/>
              <a:t> </a:t>
            </a:r>
            <a:r>
              <a:rPr sz="4400" dirty="0"/>
              <a:t>–</a:t>
            </a:r>
            <a:r>
              <a:rPr sz="4400" spc="-60" dirty="0"/>
              <a:t> </a:t>
            </a:r>
            <a:r>
              <a:rPr sz="4400" spc="-20" dirty="0"/>
              <a:t>Agile</a:t>
            </a:r>
            <a:r>
              <a:rPr sz="4400" spc="-110" dirty="0"/>
              <a:t> </a:t>
            </a:r>
            <a:r>
              <a:rPr sz="4400" spc="-25" dirty="0"/>
              <a:t>(Agile</a:t>
            </a:r>
            <a:r>
              <a:rPr sz="4400" spc="-105" dirty="0"/>
              <a:t> </a:t>
            </a:r>
            <a:r>
              <a:rPr sz="4400" spc="-30" dirty="0"/>
              <a:t>phases)</a:t>
            </a:r>
            <a:endParaRPr sz="4400"/>
          </a:p>
        </p:txBody>
      </p:sp>
      <p:grpSp>
        <p:nvGrpSpPr>
          <p:cNvPr id="3" name="object 3"/>
          <p:cNvGrpSpPr/>
          <p:nvPr/>
        </p:nvGrpSpPr>
        <p:grpSpPr>
          <a:xfrm>
            <a:off x="831850" y="1360677"/>
            <a:ext cx="1224280" cy="1744345"/>
            <a:chOff x="831850" y="1360677"/>
            <a:chExt cx="1224280" cy="1744345"/>
          </a:xfrm>
        </p:grpSpPr>
        <p:sp>
          <p:nvSpPr>
            <p:cNvPr id="4" name="object 4"/>
            <p:cNvSpPr/>
            <p:nvPr/>
          </p:nvSpPr>
          <p:spPr>
            <a:xfrm>
              <a:off x="838200" y="1367027"/>
              <a:ext cx="1211580" cy="1731645"/>
            </a:xfrm>
            <a:custGeom>
              <a:avLst/>
              <a:gdLst/>
              <a:ahLst/>
              <a:cxnLst/>
              <a:rect l="l" t="t" r="r" b="b"/>
              <a:pathLst>
                <a:path w="1211580" h="1731645">
                  <a:moveTo>
                    <a:pt x="1211580" y="0"/>
                  </a:moveTo>
                  <a:lnTo>
                    <a:pt x="605790" y="605789"/>
                  </a:lnTo>
                  <a:lnTo>
                    <a:pt x="0" y="0"/>
                  </a:lnTo>
                  <a:lnTo>
                    <a:pt x="0" y="1125474"/>
                  </a:lnTo>
                  <a:lnTo>
                    <a:pt x="605790" y="1731264"/>
                  </a:lnTo>
                  <a:lnTo>
                    <a:pt x="1211580" y="1125474"/>
                  </a:lnTo>
                  <a:lnTo>
                    <a:pt x="1211580" y="0"/>
                  </a:lnTo>
                  <a:close/>
                </a:path>
              </a:pathLst>
            </a:custGeom>
            <a:solidFill>
              <a:srgbClr val="A4A4A4"/>
            </a:solidFill>
          </p:spPr>
          <p:txBody>
            <a:bodyPr wrap="square" lIns="0" tIns="0" rIns="0" bIns="0" rtlCol="0"/>
            <a:lstStyle/>
            <a:p>
              <a:endParaRPr/>
            </a:p>
          </p:txBody>
        </p:sp>
        <p:sp>
          <p:nvSpPr>
            <p:cNvPr id="5" name="object 5"/>
            <p:cNvSpPr/>
            <p:nvPr/>
          </p:nvSpPr>
          <p:spPr>
            <a:xfrm>
              <a:off x="838200" y="1367027"/>
              <a:ext cx="1211580" cy="1731645"/>
            </a:xfrm>
            <a:custGeom>
              <a:avLst/>
              <a:gdLst/>
              <a:ahLst/>
              <a:cxnLst/>
              <a:rect l="l" t="t" r="r" b="b"/>
              <a:pathLst>
                <a:path w="1211580" h="1731645">
                  <a:moveTo>
                    <a:pt x="1211580" y="0"/>
                  </a:moveTo>
                  <a:lnTo>
                    <a:pt x="1211580" y="1125474"/>
                  </a:lnTo>
                  <a:lnTo>
                    <a:pt x="605790" y="1731264"/>
                  </a:lnTo>
                  <a:lnTo>
                    <a:pt x="0" y="1125474"/>
                  </a:lnTo>
                  <a:lnTo>
                    <a:pt x="0" y="0"/>
                  </a:lnTo>
                  <a:lnTo>
                    <a:pt x="605790" y="605789"/>
                  </a:lnTo>
                  <a:lnTo>
                    <a:pt x="1211580" y="0"/>
                  </a:lnTo>
                  <a:close/>
                </a:path>
              </a:pathLst>
            </a:custGeom>
            <a:ln w="12700">
              <a:solidFill>
                <a:srgbClr val="A4A4A4"/>
              </a:solidFill>
            </a:ln>
          </p:spPr>
          <p:txBody>
            <a:bodyPr wrap="square" lIns="0" tIns="0" rIns="0" bIns="0" rtlCol="0"/>
            <a:lstStyle/>
            <a:p>
              <a:endParaRPr/>
            </a:p>
          </p:txBody>
        </p:sp>
      </p:grpSp>
      <p:sp>
        <p:nvSpPr>
          <p:cNvPr id="6" name="object 6"/>
          <p:cNvSpPr txBox="1"/>
          <p:nvPr/>
        </p:nvSpPr>
        <p:spPr>
          <a:xfrm>
            <a:off x="862075" y="1994662"/>
            <a:ext cx="1165860" cy="434975"/>
          </a:xfrm>
          <a:prstGeom prst="rect">
            <a:avLst/>
          </a:prstGeom>
        </p:spPr>
        <p:txBody>
          <a:bodyPr vert="horz" wrap="square" lIns="0" tIns="13335" rIns="0" bIns="0" rtlCol="0">
            <a:spAutoFit/>
          </a:bodyPr>
          <a:lstStyle/>
          <a:p>
            <a:pPr algn="ctr">
              <a:lnSpc>
                <a:spcPts val="1610"/>
              </a:lnSpc>
              <a:spcBef>
                <a:spcPts val="105"/>
              </a:spcBef>
            </a:pPr>
            <a:r>
              <a:rPr sz="1400" spc="-15" dirty="0">
                <a:solidFill>
                  <a:srgbClr val="FFFFFF"/>
                </a:solidFill>
                <a:latin typeface="Calibri"/>
                <a:cs typeface="Calibri"/>
              </a:rPr>
              <a:t>Testing/</a:t>
            </a:r>
            <a:r>
              <a:rPr sz="1400" spc="-55" dirty="0">
                <a:solidFill>
                  <a:srgbClr val="FFFFFF"/>
                </a:solidFill>
                <a:latin typeface="Calibri"/>
                <a:cs typeface="Calibri"/>
              </a:rPr>
              <a:t> </a:t>
            </a:r>
            <a:r>
              <a:rPr sz="1400" dirty="0">
                <a:solidFill>
                  <a:srgbClr val="FFFFFF"/>
                </a:solidFill>
                <a:latin typeface="Calibri"/>
                <a:cs typeface="Calibri"/>
              </a:rPr>
              <a:t>Quality</a:t>
            </a:r>
            <a:endParaRPr sz="1400">
              <a:latin typeface="Calibri"/>
              <a:cs typeface="Calibri"/>
            </a:endParaRPr>
          </a:p>
          <a:p>
            <a:pPr algn="ctr">
              <a:lnSpc>
                <a:spcPts val="1610"/>
              </a:lnSpc>
            </a:pPr>
            <a:r>
              <a:rPr sz="1400" spc="-5" dirty="0">
                <a:solidFill>
                  <a:srgbClr val="FFFFFF"/>
                </a:solidFill>
                <a:latin typeface="Calibri"/>
                <a:cs typeface="Calibri"/>
              </a:rPr>
              <a:t>assurance</a:t>
            </a:r>
            <a:endParaRPr sz="1400">
              <a:latin typeface="Calibri"/>
              <a:cs typeface="Calibri"/>
            </a:endParaRPr>
          </a:p>
        </p:txBody>
      </p:sp>
      <p:sp>
        <p:nvSpPr>
          <p:cNvPr id="7" name="object 7"/>
          <p:cNvSpPr/>
          <p:nvPr/>
        </p:nvSpPr>
        <p:spPr>
          <a:xfrm>
            <a:off x="2049779" y="1367027"/>
            <a:ext cx="9304020" cy="1126490"/>
          </a:xfrm>
          <a:custGeom>
            <a:avLst/>
            <a:gdLst/>
            <a:ahLst/>
            <a:cxnLst/>
            <a:rect l="l" t="t" r="r" b="b"/>
            <a:pathLst>
              <a:path w="9304020" h="1126489">
                <a:moveTo>
                  <a:pt x="9304020" y="187706"/>
                </a:moveTo>
                <a:lnTo>
                  <a:pt x="9304020" y="938530"/>
                </a:lnTo>
                <a:lnTo>
                  <a:pt x="9297312" y="988417"/>
                </a:lnTo>
                <a:lnTo>
                  <a:pt x="9278384" y="1033253"/>
                </a:lnTo>
                <a:lnTo>
                  <a:pt x="9249029" y="1071244"/>
                </a:lnTo>
                <a:lnTo>
                  <a:pt x="9211037" y="1100600"/>
                </a:lnTo>
                <a:lnTo>
                  <a:pt x="9166201" y="1119528"/>
                </a:lnTo>
                <a:lnTo>
                  <a:pt x="9116314" y="1126236"/>
                </a:lnTo>
                <a:lnTo>
                  <a:pt x="0" y="1126236"/>
                </a:lnTo>
                <a:lnTo>
                  <a:pt x="0" y="0"/>
                </a:lnTo>
                <a:lnTo>
                  <a:pt x="9116314" y="0"/>
                </a:lnTo>
                <a:lnTo>
                  <a:pt x="9166201" y="6707"/>
                </a:lnTo>
                <a:lnTo>
                  <a:pt x="9211037" y="25635"/>
                </a:lnTo>
                <a:lnTo>
                  <a:pt x="9249029" y="54991"/>
                </a:lnTo>
                <a:lnTo>
                  <a:pt x="9278384" y="92982"/>
                </a:lnTo>
                <a:lnTo>
                  <a:pt x="9297312" y="137818"/>
                </a:lnTo>
                <a:lnTo>
                  <a:pt x="9304020" y="187706"/>
                </a:lnTo>
                <a:close/>
              </a:path>
            </a:pathLst>
          </a:custGeom>
          <a:ln w="12700">
            <a:solidFill>
              <a:srgbClr val="A4A4A4"/>
            </a:solidFill>
          </a:ln>
        </p:spPr>
        <p:txBody>
          <a:bodyPr wrap="square" lIns="0" tIns="0" rIns="0" bIns="0" rtlCol="0"/>
          <a:lstStyle/>
          <a:p>
            <a:endParaRPr/>
          </a:p>
        </p:txBody>
      </p:sp>
      <p:sp>
        <p:nvSpPr>
          <p:cNvPr id="8" name="object 8"/>
          <p:cNvSpPr txBox="1"/>
          <p:nvPr/>
        </p:nvSpPr>
        <p:spPr>
          <a:xfrm>
            <a:off x="2208402" y="1530553"/>
            <a:ext cx="8320405" cy="727075"/>
          </a:xfrm>
          <a:prstGeom prst="rect">
            <a:avLst/>
          </a:prstGeom>
        </p:spPr>
        <p:txBody>
          <a:bodyPr vert="horz" wrap="square" lIns="0" tIns="12700" rIns="0" bIns="0" rtlCol="0">
            <a:spAutoFit/>
          </a:bodyPr>
          <a:lstStyle/>
          <a:p>
            <a:pPr marL="241300" indent="-228600">
              <a:lnSpc>
                <a:spcPts val="2760"/>
              </a:lnSpc>
              <a:spcBef>
                <a:spcPts val="100"/>
              </a:spcBef>
              <a:buChar char="•"/>
              <a:tabLst>
                <a:tab pos="241300" algn="l"/>
              </a:tabLst>
            </a:pPr>
            <a:r>
              <a:rPr sz="2400" dirty="0">
                <a:latin typeface="Calibri"/>
                <a:cs typeface="Calibri"/>
              </a:rPr>
              <a:t>In</a:t>
            </a:r>
            <a:r>
              <a:rPr sz="2400" spc="-10" dirty="0">
                <a:latin typeface="Calibri"/>
                <a:cs typeface="Calibri"/>
              </a:rPr>
              <a:t> </a:t>
            </a:r>
            <a:r>
              <a:rPr sz="2400" dirty="0">
                <a:latin typeface="Calibri"/>
                <a:cs typeface="Calibri"/>
              </a:rPr>
              <a:t>this</a:t>
            </a:r>
            <a:r>
              <a:rPr sz="2400" spc="-5" dirty="0">
                <a:latin typeface="Calibri"/>
                <a:cs typeface="Calibri"/>
              </a:rPr>
              <a:t> phase,</a:t>
            </a:r>
            <a:r>
              <a:rPr sz="2400" spc="-10" dirty="0">
                <a:latin typeface="Calibri"/>
                <a:cs typeface="Calibri"/>
              </a:rPr>
              <a:t> </a:t>
            </a:r>
            <a:r>
              <a:rPr sz="2400" dirty="0">
                <a:latin typeface="Calibri"/>
                <a:cs typeface="Calibri"/>
              </a:rPr>
              <a:t>the</a:t>
            </a:r>
            <a:r>
              <a:rPr sz="2400" spc="-5" dirty="0">
                <a:latin typeface="Calibri"/>
                <a:cs typeface="Calibri"/>
              </a:rPr>
              <a:t> </a:t>
            </a:r>
            <a:r>
              <a:rPr sz="2400" dirty="0">
                <a:latin typeface="Calibri"/>
                <a:cs typeface="Calibri"/>
              </a:rPr>
              <a:t>Quality</a:t>
            </a:r>
            <a:r>
              <a:rPr sz="2400" spc="-20" dirty="0">
                <a:latin typeface="Calibri"/>
                <a:cs typeface="Calibri"/>
              </a:rPr>
              <a:t> </a:t>
            </a:r>
            <a:r>
              <a:rPr sz="2400" spc="-5" dirty="0">
                <a:latin typeface="Calibri"/>
                <a:cs typeface="Calibri"/>
              </a:rPr>
              <a:t>Assurance</a:t>
            </a:r>
            <a:r>
              <a:rPr sz="2400" spc="-15" dirty="0">
                <a:latin typeface="Calibri"/>
                <a:cs typeface="Calibri"/>
              </a:rPr>
              <a:t> </a:t>
            </a:r>
            <a:r>
              <a:rPr sz="2400" spc="-5" dirty="0">
                <a:latin typeface="Calibri"/>
                <a:cs typeface="Calibri"/>
              </a:rPr>
              <a:t>team</a:t>
            </a:r>
            <a:r>
              <a:rPr sz="2400" spc="-15" dirty="0">
                <a:latin typeface="Calibri"/>
                <a:cs typeface="Calibri"/>
              </a:rPr>
              <a:t> </a:t>
            </a:r>
            <a:r>
              <a:rPr sz="2400" spc="-10" dirty="0">
                <a:latin typeface="Calibri"/>
                <a:cs typeface="Calibri"/>
              </a:rPr>
              <a:t>examines</a:t>
            </a:r>
            <a:r>
              <a:rPr sz="2400" spc="-20" dirty="0">
                <a:latin typeface="Calibri"/>
                <a:cs typeface="Calibri"/>
              </a:rPr>
              <a:t> </a:t>
            </a:r>
            <a:r>
              <a:rPr sz="2400" dirty="0">
                <a:latin typeface="Calibri"/>
                <a:cs typeface="Calibri"/>
              </a:rPr>
              <a:t>the</a:t>
            </a:r>
            <a:r>
              <a:rPr sz="2400" spc="-5" dirty="0">
                <a:latin typeface="Calibri"/>
                <a:cs typeface="Calibri"/>
              </a:rPr>
              <a:t> </a:t>
            </a:r>
            <a:r>
              <a:rPr sz="2400" spc="-10" dirty="0">
                <a:latin typeface="Calibri"/>
                <a:cs typeface="Calibri"/>
              </a:rPr>
              <a:t>product's</a:t>
            </a:r>
            <a:endParaRPr sz="2400">
              <a:latin typeface="Calibri"/>
              <a:cs typeface="Calibri"/>
            </a:endParaRPr>
          </a:p>
          <a:p>
            <a:pPr marL="241300">
              <a:lnSpc>
                <a:spcPts val="2760"/>
              </a:lnSpc>
            </a:pPr>
            <a:r>
              <a:rPr sz="2400" spc="-10" dirty="0">
                <a:latin typeface="Calibri"/>
                <a:cs typeface="Calibri"/>
              </a:rPr>
              <a:t>performance</a:t>
            </a:r>
            <a:r>
              <a:rPr sz="2400" spc="-30" dirty="0">
                <a:latin typeface="Calibri"/>
                <a:cs typeface="Calibri"/>
              </a:rPr>
              <a:t> </a:t>
            </a:r>
            <a:r>
              <a:rPr sz="2400" dirty="0">
                <a:latin typeface="Calibri"/>
                <a:cs typeface="Calibri"/>
              </a:rPr>
              <a:t>and</a:t>
            </a:r>
            <a:r>
              <a:rPr sz="2400" spc="-15" dirty="0">
                <a:latin typeface="Calibri"/>
                <a:cs typeface="Calibri"/>
              </a:rPr>
              <a:t> </a:t>
            </a:r>
            <a:r>
              <a:rPr sz="2400" spc="-10" dirty="0">
                <a:latin typeface="Calibri"/>
                <a:cs typeface="Calibri"/>
              </a:rPr>
              <a:t>looks</a:t>
            </a:r>
            <a:r>
              <a:rPr sz="2400" spc="5" dirty="0">
                <a:latin typeface="Calibri"/>
                <a:cs typeface="Calibri"/>
              </a:rPr>
              <a:t> </a:t>
            </a:r>
            <a:r>
              <a:rPr sz="2400" spc="-20" dirty="0">
                <a:latin typeface="Calibri"/>
                <a:cs typeface="Calibri"/>
              </a:rPr>
              <a:t>for</a:t>
            </a:r>
            <a:r>
              <a:rPr sz="2400" spc="-15" dirty="0">
                <a:latin typeface="Calibri"/>
                <a:cs typeface="Calibri"/>
              </a:rPr>
              <a:t> </a:t>
            </a:r>
            <a:r>
              <a:rPr sz="2400" dirty="0">
                <a:latin typeface="Calibri"/>
                <a:cs typeface="Calibri"/>
              </a:rPr>
              <a:t>the</a:t>
            </a:r>
            <a:r>
              <a:rPr sz="2400" spc="-10" dirty="0">
                <a:latin typeface="Calibri"/>
                <a:cs typeface="Calibri"/>
              </a:rPr>
              <a:t> </a:t>
            </a:r>
            <a:r>
              <a:rPr sz="2400" spc="-5" dirty="0">
                <a:latin typeface="Calibri"/>
                <a:cs typeface="Calibri"/>
              </a:rPr>
              <a:t>bug.</a:t>
            </a:r>
            <a:endParaRPr sz="2400">
              <a:latin typeface="Calibri"/>
              <a:cs typeface="Calibri"/>
            </a:endParaRPr>
          </a:p>
        </p:txBody>
      </p:sp>
      <p:grpSp>
        <p:nvGrpSpPr>
          <p:cNvPr id="9" name="object 9"/>
          <p:cNvGrpSpPr/>
          <p:nvPr/>
        </p:nvGrpSpPr>
        <p:grpSpPr>
          <a:xfrm>
            <a:off x="831850" y="2899917"/>
            <a:ext cx="1224280" cy="1744345"/>
            <a:chOff x="831850" y="2899917"/>
            <a:chExt cx="1224280" cy="1744345"/>
          </a:xfrm>
        </p:grpSpPr>
        <p:sp>
          <p:nvSpPr>
            <p:cNvPr id="10" name="object 10"/>
            <p:cNvSpPr/>
            <p:nvPr/>
          </p:nvSpPr>
          <p:spPr>
            <a:xfrm>
              <a:off x="838200" y="2906267"/>
              <a:ext cx="1211580" cy="1731645"/>
            </a:xfrm>
            <a:custGeom>
              <a:avLst/>
              <a:gdLst/>
              <a:ahLst/>
              <a:cxnLst/>
              <a:rect l="l" t="t" r="r" b="b"/>
              <a:pathLst>
                <a:path w="1211580" h="1731645">
                  <a:moveTo>
                    <a:pt x="1211580" y="0"/>
                  </a:moveTo>
                  <a:lnTo>
                    <a:pt x="605790" y="605790"/>
                  </a:lnTo>
                  <a:lnTo>
                    <a:pt x="0" y="0"/>
                  </a:lnTo>
                  <a:lnTo>
                    <a:pt x="0" y="1125474"/>
                  </a:lnTo>
                  <a:lnTo>
                    <a:pt x="605790" y="1731264"/>
                  </a:lnTo>
                  <a:lnTo>
                    <a:pt x="1211580" y="1125474"/>
                  </a:lnTo>
                  <a:lnTo>
                    <a:pt x="1211580" y="0"/>
                  </a:lnTo>
                  <a:close/>
                </a:path>
              </a:pathLst>
            </a:custGeom>
            <a:solidFill>
              <a:srgbClr val="AC6200"/>
            </a:solidFill>
          </p:spPr>
          <p:txBody>
            <a:bodyPr wrap="square" lIns="0" tIns="0" rIns="0" bIns="0" rtlCol="0"/>
            <a:lstStyle/>
            <a:p>
              <a:endParaRPr/>
            </a:p>
          </p:txBody>
        </p:sp>
        <p:sp>
          <p:nvSpPr>
            <p:cNvPr id="11" name="object 11"/>
            <p:cNvSpPr/>
            <p:nvPr/>
          </p:nvSpPr>
          <p:spPr>
            <a:xfrm>
              <a:off x="838200" y="2906267"/>
              <a:ext cx="1211580" cy="1731645"/>
            </a:xfrm>
            <a:custGeom>
              <a:avLst/>
              <a:gdLst/>
              <a:ahLst/>
              <a:cxnLst/>
              <a:rect l="l" t="t" r="r" b="b"/>
              <a:pathLst>
                <a:path w="1211580" h="1731645">
                  <a:moveTo>
                    <a:pt x="1211580" y="0"/>
                  </a:moveTo>
                  <a:lnTo>
                    <a:pt x="1211580" y="1125474"/>
                  </a:lnTo>
                  <a:lnTo>
                    <a:pt x="605790" y="1731264"/>
                  </a:lnTo>
                  <a:lnTo>
                    <a:pt x="0" y="1125474"/>
                  </a:lnTo>
                  <a:lnTo>
                    <a:pt x="0" y="0"/>
                  </a:lnTo>
                  <a:lnTo>
                    <a:pt x="605790" y="605790"/>
                  </a:lnTo>
                  <a:lnTo>
                    <a:pt x="1211580" y="0"/>
                  </a:lnTo>
                  <a:close/>
                </a:path>
              </a:pathLst>
            </a:custGeom>
            <a:ln w="12700">
              <a:solidFill>
                <a:srgbClr val="AC6200"/>
              </a:solidFill>
            </a:ln>
          </p:spPr>
          <p:txBody>
            <a:bodyPr wrap="square" lIns="0" tIns="0" rIns="0" bIns="0" rtlCol="0"/>
            <a:lstStyle/>
            <a:p>
              <a:endParaRPr/>
            </a:p>
          </p:txBody>
        </p:sp>
      </p:grpSp>
      <p:sp>
        <p:nvSpPr>
          <p:cNvPr id="12" name="object 12"/>
          <p:cNvSpPr txBox="1"/>
          <p:nvPr/>
        </p:nvSpPr>
        <p:spPr>
          <a:xfrm>
            <a:off x="988567" y="3631438"/>
            <a:ext cx="913130" cy="239395"/>
          </a:xfrm>
          <a:prstGeom prst="rect">
            <a:avLst/>
          </a:prstGeom>
        </p:spPr>
        <p:txBody>
          <a:bodyPr vert="horz" wrap="square" lIns="0" tIns="12700" rIns="0" bIns="0" rtlCol="0">
            <a:spAutoFit/>
          </a:bodyPr>
          <a:lstStyle/>
          <a:p>
            <a:pPr marL="12700">
              <a:lnSpc>
                <a:spcPct val="100000"/>
              </a:lnSpc>
              <a:spcBef>
                <a:spcPts val="100"/>
              </a:spcBef>
            </a:pPr>
            <a:r>
              <a:rPr sz="1400" spc="-5" dirty="0">
                <a:solidFill>
                  <a:srgbClr val="FFFFFF"/>
                </a:solidFill>
                <a:latin typeface="Calibri"/>
                <a:cs typeface="Calibri"/>
              </a:rPr>
              <a:t>De</a:t>
            </a:r>
            <a:r>
              <a:rPr sz="1400" spc="-10" dirty="0">
                <a:solidFill>
                  <a:srgbClr val="FFFFFF"/>
                </a:solidFill>
                <a:latin typeface="Calibri"/>
                <a:cs typeface="Calibri"/>
              </a:rPr>
              <a:t>p</a:t>
            </a:r>
            <a:r>
              <a:rPr sz="1400" dirty="0">
                <a:solidFill>
                  <a:srgbClr val="FFFFFF"/>
                </a:solidFill>
                <a:latin typeface="Calibri"/>
                <a:cs typeface="Calibri"/>
              </a:rPr>
              <a:t>l</a:t>
            </a:r>
            <a:r>
              <a:rPr sz="1400" spc="-10" dirty="0">
                <a:solidFill>
                  <a:srgbClr val="FFFFFF"/>
                </a:solidFill>
                <a:latin typeface="Calibri"/>
                <a:cs typeface="Calibri"/>
              </a:rPr>
              <a:t>o</a:t>
            </a:r>
            <a:r>
              <a:rPr sz="1400" dirty="0">
                <a:solidFill>
                  <a:srgbClr val="FFFFFF"/>
                </a:solidFill>
                <a:latin typeface="Calibri"/>
                <a:cs typeface="Calibri"/>
              </a:rPr>
              <a:t>y</a:t>
            </a:r>
            <a:r>
              <a:rPr sz="1400" spc="-10" dirty="0">
                <a:solidFill>
                  <a:srgbClr val="FFFFFF"/>
                </a:solidFill>
                <a:latin typeface="Calibri"/>
                <a:cs typeface="Calibri"/>
              </a:rPr>
              <a:t>m</a:t>
            </a:r>
            <a:r>
              <a:rPr sz="1400" dirty="0">
                <a:solidFill>
                  <a:srgbClr val="FFFFFF"/>
                </a:solidFill>
                <a:latin typeface="Calibri"/>
                <a:cs typeface="Calibri"/>
              </a:rPr>
              <a:t>e</a:t>
            </a:r>
            <a:r>
              <a:rPr sz="1400" spc="-20" dirty="0">
                <a:solidFill>
                  <a:srgbClr val="FFFFFF"/>
                </a:solidFill>
                <a:latin typeface="Calibri"/>
                <a:cs typeface="Calibri"/>
              </a:rPr>
              <a:t>n</a:t>
            </a:r>
            <a:r>
              <a:rPr sz="1400" dirty="0">
                <a:solidFill>
                  <a:srgbClr val="FFFFFF"/>
                </a:solidFill>
                <a:latin typeface="Calibri"/>
                <a:cs typeface="Calibri"/>
              </a:rPr>
              <a:t>t</a:t>
            </a:r>
            <a:endParaRPr sz="1400">
              <a:latin typeface="Calibri"/>
              <a:cs typeface="Calibri"/>
            </a:endParaRPr>
          </a:p>
        </p:txBody>
      </p:sp>
      <p:sp>
        <p:nvSpPr>
          <p:cNvPr id="13" name="object 13"/>
          <p:cNvSpPr/>
          <p:nvPr/>
        </p:nvSpPr>
        <p:spPr>
          <a:xfrm>
            <a:off x="2049779" y="2906267"/>
            <a:ext cx="9304020" cy="1125220"/>
          </a:xfrm>
          <a:custGeom>
            <a:avLst/>
            <a:gdLst/>
            <a:ahLst/>
            <a:cxnLst/>
            <a:rect l="l" t="t" r="r" b="b"/>
            <a:pathLst>
              <a:path w="9304020" h="1125220">
                <a:moveTo>
                  <a:pt x="9304020" y="187452"/>
                </a:moveTo>
                <a:lnTo>
                  <a:pt x="9304020" y="937260"/>
                </a:lnTo>
                <a:lnTo>
                  <a:pt x="9297322" y="987084"/>
                </a:lnTo>
                <a:lnTo>
                  <a:pt x="9278422" y="1031860"/>
                </a:lnTo>
                <a:lnTo>
                  <a:pt x="9249108" y="1069800"/>
                </a:lnTo>
                <a:lnTo>
                  <a:pt x="9211168" y="1099114"/>
                </a:lnTo>
                <a:lnTo>
                  <a:pt x="9166392" y="1118014"/>
                </a:lnTo>
                <a:lnTo>
                  <a:pt x="9116568" y="1124712"/>
                </a:lnTo>
                <a:lnTo>
                  <a:pt x="0" y="1124712"/>
                </a:lnTo>
                <a:lnTo>
                  <a:pt x="0" y="0"/>
                </a:lnTo>
                <a:lnTo>
                  <a:pt x="9116568" y="0"/>
                </a:lnTo>
                <a:lnTo>
                  <a:pt x="9166392" y="6697"/>
                </a:lnTo>
                <a:lnTo>
                  <a:pt x="9211168" y="25597"/>
                </a:lnTo>
                <a:lnTo>
                  <a:pt x="9249108" y="54911"/>
                </a:lnTo>
                <a:lnTo>
                  <a:pt x="9278422" y="92851"/>
                </a:lnTo>
                <a:lnTo>
                  <a:pt x="9297322" y="137627"/>
                </a:lnTo>
                <a:lnTo>
                  <a:pt x="9304020" y="187452"/>
                </a:lnTo>
                <a:close/>
              </a:path>
            </a:pathLst>
          </a:custGeom>
          <a:ln w="12699">
            <a:solidFill>
              <a:srgbClr val="AC6200"/>
            </a:solidFill>
          </a:ln>
        </p:spPr>
        <p:txBody>
          <a:bodyPr wrap="square" lIns="0" tIns="0" rIns="0" bIns="0" rtlCol="0"/>
          <a:lstStyle/>
          <a:p>
            <a:endParaRPr/>
          </a:p>
        </p:txBody>
      </p:sp>
      <p:sp>
        <p:nvSpPr>
          <p:cNvPr id="14" name="object 14"/>
          <p:cNvSpPr txBox="1"/>
          <p:nvPr/>
        </p:nvSpPr>
        <p:spPr>
          <a:xfrm>
            <a:off x="2208402" y="3069412"/>
            <a:ext cx="7534275" cy="727710"/>
          </a:xfrm>
          <a:prstGeom prst="rect">
            <a:avLst/>
          </a:prstGeom>
        </p:spPr>
        <p:txBody>
          <a:bodyPr vert="horz" wrap="square" lIns="0" tIns="12700" rIns="0" bIns="0" rtlCol="0">
            <a:spAutoFit/>
          </a:bodyPr>
          <a:lstStyle/>
          <a:p>
            <a:pPr marL="241300" indent="-228600">
              <a:lnSpc>
                <a:spcPts val="2760"/>
              </a:lnSpc>
              <a:spcBef>
                <a:spcPts val="100"/>
              </a:spcBef>
              <a:buChar char="•"/>
              <a:tabLst>
                <a:tab pos="241300" algn="l"/>
              </a:tabLst>
            </a:pPr>
            <a:r>
              <a:rPr sz="2400" dirty="0">
                <a:latin typeface="Calibri"/>
                <a:cs typeface="Calibri"/>
              </a:rPr>
              <a:t>In</a:t>
            </a:r>
            <a:r>
              <a:rPr sz="2400" spc="-5" dirty="0">
                <a:latin typeface="Calibri"/>
                <a:cs typeface="Calibri"/>
              </a:rPr>
              <a:t> </a:t>
            </a:r>
            <a:r>
              <a:rPr sz="2400" dirty="0">
                <a:latin typeface="Calibri"/>
                <a:cs typeface="Calibri"/>
              </a:rPr>
              <a:t>this</a:t>
            </a:r>
            <a:r>
              <a:rPr sz="2400" spc="-5" dirty="0">
                <a:latin typeface="Calibri"/>
                <a:cs typeface="Calibri"/>
              </a:rPr>
              <a:t> phase, </a:t>
            </a:r>
            <a:r>
              <a:rPr sz="2400" dirty="0">
                <a:latin typeface="Calibri"/>
                <a:cs typeface="Calibri"/>
              </a:rPr>
              <a:t>the</a:t>
            </a:r>
            <a:r>
              <a:rPr sz="2400" spc="-5" dirty="0">
                <a:latin typeface="Calibri"/>
                <a:cs typeface="Calibri"/>
              </a:rPr>
              <a:t> </a:t>
            </a:r>
            <a:r>
              <a:rPr sz="2400" spc="-10" dirty="0">
                <a:latin typeface="Calibri"/>
                <a:cs typeface="Calibri"/>
              </a:rPr>
              <a:t>team </a:t>
            </a:r>
            <a:r>
              <a:rPr sz="2400" spc="-5" dirty="0">
                <a:latin typeface="Calibri"/>
                <a:cs typeface="Calibri"/>
              </a:rPr>
              <a:t>issues</a:t>
            </a:r>
            <a:r>
              <a:rPr sz="2400" spc="-10" dirty="0">
                <a:latin typeface="Calibri"/>
                <a:cs typeface="Calibri"/>
              </a:rPr>
              <a:t> </a:t>
            </a:r>
            <a:r>
              <a:rPr sz="2400" dirty="0">
                <a:latin typeface="Calibri"/>
                <a:cs typeface="Calibri"/>
              </a:rPr>
              <a:t>a</a:t>
            </a:r>
            <a:r>
              <a:rPr sz="2400" spc="-5" dirty="0">
                <a:latin typeface="Calibri"/>
                <a:cs typeface="Calibri"/>
              </a:rPr>
              <a:t> </a:t>
            </a:r>
            <a:r>
              <a:rPr sz="2400" spc="-10" dirty="0">
                <a:latin typeface="Calibri"/>
                <a:cs typeface="Calibri"/>
              </a:rPr>
              <a:t>product</a:t>
            </a:r>
            <a:r>
              <a:rPr sz="2400" spc="-5" dirty="0">
                <a:latin typeface="Calibri"/>
                <a:cs typeface="Calibri"/>
              </a:rPr>
              <a:t> </a:t>
            </a:r>
            <a:r>
              <a:rPr sz="2400" spc="-20" dirty="0">
                <a:latin typeface="Calibri"/>
                <a:cs typeface="Calibri"/>
              </a:rPr>
              <a:t>for</a:t>
            </a:r>
            <a:r>
              <a:rPr sz="2400" spc="-15" dirty="0">
                <a:latin typeface="Calibri"/>
                <a:cs typeface="Calibri"/>
              </a:rPr>
              <a:t> </a:t>
            </a:r>
            <a:r>
              <a:rPr sz="2400" dirty="0">
                <a:latin typeface="Calibri"/>
                <a:cs typeface="Calibri"/>
              </a:rPr>
              <a:t>the </a:t>
            </a:r>
            <a:r>
              <a:rPr sz="2400" spc="-5" dirty="0">
                <a:latin typeface="Calibri"/>
                <a:cs typeface="Calibri"/>
              </a:rPr>
              <a:t>user's</a:t>
            </a:r>
            <a:r>
              <a:rPr sz="2400" spc="-20" dirty="0">
                <a:latin typeface="Calibri"/>
                <a:cs typeface="Calibri"/>
              </a:rPr>
              <a:t> </a:t>
            </a:r>
            <a:r>
              <a:rPr sz="2400" spc="-10" dirty="0">
                <a:latin typeface="Calibri"/>
                <a:cs typeface="Calibri"/>
              </a:rPr>
              <a:t>work</a:t>
            </a:r>
            <a:endParaRPr sz="2400" dirty="0">
              <a:latin typeface="Calibri"/>
              <a:cs typeface="Calibri"/>
            </a:endParaRPr>
          </a:p>
          <a:p>
            <a:pPr marL="241300">
              <a:lnSpc>
                <a:spcPts val="2760"/>
              </a:lnSpc>
            </a:pPr>
            <a:r>
              <a:rPr sz="2400" spc="-10" dirty="0">
                <a:latin typeface="Calibri"/>
                <a:cs typeface="Calibri"/>
              </a:rPr>
              <a:t>environment.</a:t>
            </a:r>
            <a:endParaRPr sz="2400" dirty="0">
              <a:latin typeface="Calibri"/>
              <a:cs typeface="Calibri"/>
            </a:endParaRPr>
          </a:p>
        </p:txBody>
      </p:sp>
      <p:grpSp>
        <p:nvGrpSpPr>
          <p:cNvPr id="15" name="object 15"/>
          <p:cNvGrpSpPr/>
          <p:nvPr/>
        </p:nvGrpSpPr>
        <p:grpSpPr>
          <a:xfrm>
            <a:off x="831850" y="4437634"/>
            <a:ext cx="1224280" cy="1744345"/>
            <a:chOff x="831850" y="4437634"/>
            <a:chExt cx="1224280" cy="1744345"/>
          </a:xfrm>
        </p:grpSpPr>
        <p:sp>
          <p:nvSpPr>
            <p:cNvPr id="16" name="object 16"/>
            <p:cNvSpPr/>
            <p:nvPr/>
          </p:nvSpPr>
          <p:spPr>
            <a:xfrm>
              <a:off x="838200" y="4443984"/>
              <a:ext cx="1211580" cy="1731645"/>
            </a:xfrm>
            <a:custGeom>
              <a:avLst/>
              <a:gdLst/>
              <a:ahLst/>
              <a:cxnLst/>
              <a:rect l="l" t="t" r="r" b="b"/>
              <a:pathLst>
                <a:path w="1211580" h="1731645">
                  <a:moveTo>
                    <a:pt x="1211580" y="0"/>
                  </a:moveTo>
                  <a:lnTo>
                    <a:pt x="605790" y="605790"/>
                  </a:lnTo>
                  <a:lnTo>
                    <a:pt x="0" y="0"/>
                  </a:lnTo>
                  <a:lnTo>
                    <a:pt x="0" y="1125474"/>
                  </a:lnTo>
                  <a:lnTo>
                    <a:pt x="605790" y="1731264"/>
                  </a:lnTo>
                  <a:lnTo>
                    <a:pt x="1211580" y="1125474"/>
                  </a:lnTo>
                  <a:lnTo>
                    <a:pt x="1211580" y="0"/>
                  </a:lnTo>
                  <a:close/>
                </a:path>
              </a:pathLst>
            </a:custGeom>
            <a:solidFill>
              <a:srgbClr val="B43500"/>
            </a:solidFill>
          </p:spPr>
          <p:txBody>
            <a:bodyPr wrap="square" lIns="0" tIns="0" rIns="0" bIns="0" rtlCol="0"/>
            <a:lstStyle/>
            <a:p>
              <a:endParaRPr/>
            </a:p>
          </p:txBody>
        </p:sp>
        <p:sp>
          <p:nvSpPr>
            <p:cNvPr id="17" name="object 17"/>
            <p:cNvSpPr/>
            <p:nvPr/>
          </p:nvSpPr>
          <p:spPr>
            <a:xfrm>
              <a:off x="838200" y="4443984"/>
              <a:ext cx="1211580" cy="1731645"/>
            </a:xfrm>
            <a:custGeom>
              <a:avLst/>
              <a:gdLst/>
              <a:ahLst/>
              <a:cxnLst/>
              <a:rect l="l" t="t" r="r" b="b"/>
              <a:pathLst>
                <a:path w="1211580" h="1731645">
                  <a:moveTo>
                    <a:pt x="1211580" y="0"/>
                  </a:moveTo>
                  <a:lnTo>
                    <a:pt x="1211580" y="1125474"/>
                  </a:lnTo>
                  <a:lnTo>
                    <a:pt x="605790" y="1731264"/>
                  </a:lnTo>
                  <a:lnTo>
                    <a:pt x="0" y="1125474"/>
                  </a:lnTo>
                  <a:lnTo>
                    <a:pt x="0" y="0"/>
                  </a:lnTo>
                  <a:lnTo>
                    <a:pt x="605790" y="605790"/>
                  </a:lnTo>
                  <a:lnTo>
                    <a:pt x="1211580" y="0"/>
                  </a:lnTo>
                  <a:close/>
                </a:path>
              </a:pathLst>
            </a:custGeom>
            <a:ln w="12700">
              <a:solidFill>
                <a:srgbClr val="B43500"/>
              </a:solidFill>
            </a:ln>
          </p:spPr>
          <p:txBody>
            <a:bodyPr wrap="square" lIns="0" tIns="0" rIns="0" bIns="0" rtlCol="0"/>
            <a:lstStyle/>
            <a:p>
              <a:endParaRPr/>
            </a:p>
          </p:txBody>
        </p:sp>
      </p:grpSp>
      <p:sp>
        <p:nvSpPr>
          <p:cNvPr id="18" name="object 18"/>
          <p:cNvSpPr txBox="1"/>
          <p:nvPr/>
        </p:nvSpPr>
        <p:spPr>
          <a:xfrm>
            <a:off x="1090675" y="5170423"/>
            <a:ext cx="708660" cy="239395"/>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FFFFFF"/>
                </a:solidFill>
                <a:latin typeface="Calibri"/>
                <a:cs typeface="Calibri"/>
              </a:rPr>
              <a:t>Feedback</a:t>
            </a:r>
            <a:endParaRPr sz="1400">
              <a:latin typeface="Calibri"/>
              <a:cs typeface="Calibri"/>
            </a:endParaRPr>
          </a:p>
        </p:txBody>
      </p:sp>
      <p:sp>
        <p:nvSpPr>
          <p:cNvPr id="19" name="object 19"/>
          <p:cNvSpPr/>
          <p:nvPr/>
        </p:nvSpPr>
        <p:spPr>
          <a:xfrm>
            <a:off x="2049779" y="4443984"/>
            <a:ext cx="9304020" cy="1126490"/>
          </a:xfrm>
          <a:custGeom>
            <a:avLst/>
            <a:gdLst/>
            <a:ahLst/>
            <a:cxnLst/>
            <a:rect l="l" t="t" r="r" b="b"/>
            <a:pathLst>
              <a:path w="9304020" h="1126489">
                <a:moveTo>
                  <a:pt x="9304020" y="187706"/>
                </a:moveTo>
                <a:lnTo>
                  <a:pt x="9304020" y="938530"/>
                </a:lnTo>
                <a:lnTo>
                  <a:pt x="9297312" y="988417"/>
                </a:lnTo>
                <a:lnTo>
                  <a:pt x="9278384" y="1033253"/>
                </a:lnTo>
                <a:lnTo>
                  <a:pt x="9249029" y="1071245"/>
                </a:lnTo>
                <a:lnTo>
                  <a:pt x="9211037" y="1100600"/>
                </a:lnTo>
                <a:lnTo>
                  <a:pt x="9166201" y="1119528"/>
                </a:lnTo>
                <a:lnTo>
                  <a:pt x="9116314" y="1126236"/>
                </a:lnTo>
                <a:lnTo>
                  <a:pt x="0" y="1126236"/>
                </a:lnTo>
                <a:lnTo>
                  <a:pt x="0" y="0"/>
                </a:lnTo>
                <a:lnTo>
                  <a:pt x="9116314" y="0"/>
                </a:lnTo>
                <a:lnTo>
                  <a:pt x="9166201" y="6707"/>
                </a:lnTo>
                <a:lnTo>
                  <a:pt x="9211037" y="25635"/>
                </a:lnTo>
                <a:lnTo>
                  <a:pt x="9249029" y="54991"/>
                </a:lnTo>
                <a:lnTo>
                  <a:pt x="9278384" y="92982"/>
                </a:lnTo>
                <a:lnTo>
                  <a:pt x="9297312" y="137818"/>
                </a:lnTo>
                <a:lnTo>
                  <a:pt x="9304020" y="187706"/>
                </a:lnTo>
                <a:close/>
              </a:path>
            </a:pathLst>
          </a:custGeom>
          <a:ln w="12700">
            <a:solidFill>
              <a:srgbClr val="B43500"/>
            </a:solidFill>
          </a:ln>
        </p:spPr>
        <p:txBody>
          <a:bodyPr wrap="square" lIns="0" tIns="0" rIns="0" bIns="0" rtlCol="0"/>
          <a:lstStyle/>
          <a:p>
            <a:endParaRPr/>
          </a:p>
        </p:txBody>
      </p:sp>
      <p:sp>
        <p:nvSpPr>
          <p:cNvPr id="20" name="object 20"/>
          <p:cNvSpPr txBox="1"/>
          <p:nvPr/>
        </p:nvSpPr>
        <p:spPr>
          <a:xfrm>
            <a:off x="2208402" y="4608398"/>
            <a:ext cx="8926830" cy="727075"/>
          </a:xfrm>
          <a:prstGeom prst="rect">
            <a:avLst/>
          </a:prstGeom>
        </p:spPr>
        <p:txBody>
          <a:bodyPr vert="horz" wrap="square" lIns="0" tIns="12700" rIns="0" bIns="0" rtlCol="0">
            <a:spAutoFit/>
          </a:bodyPr>
          <a:lstStyle/>
          <a:p>
            <a:pPr marL="228600" marR="64769" indent="-228600" algn="r">
              <a:lnSpc>
                <a:spcPts val="2760"/>
              </a:lnSpc>
              <a:spcBef>
                <a:spcPts val="100"/>
              </a:spcBef>
              <a:buChar char="•"/>
              <a:tabLst>
                <a:tab pos="228600" algn="l"/>
              </a:tabLst>
            </a:pPr>
            <a:r>
              <a:rPr sz="2400" spc="-5" dirty="0">
                <a:latin typeface="Calibri"/>
                <a:cs typeface="Calibri"/>
              </a:rPr>
              <a:t>After</a:t>
            </a:r>
            <a:r>
              <a:rPr sz="2400" spc="-15" dirty="0">
                <a:latin typeface="Calibri"/>
                <a:cs typeface="Calibri"/>
              </a:rPr>
              <a:t> </a:t>
            </a:r>
            <a:r>
              <a:rPr sz="2400" spc="-5" dirty="0">
                <a:latin typeface="Calibri"/>
                <a:cs typeface="Calibri"/>
              </a:rPr>
              <a:t>releasing</a:t>
            </a:r>
            <a:r>
              <a:rPr sz="2400" spc="-25" dirty="0">
                <a:latin typeface="Calibri"/>
                <a:cs typeface="Calibri"/>
              </a:rPr>
              <a:t> </a:t>
            </a:r>
            <a:r>
              <a:rPr sz="2400" dirty="0">
                <a:latin typeface="Calibri"/>
                <a:cs typeface="Calibri"/>
              </a:rPr>
              <a:t>the </a:t>
            </a:r>
            <a:r>
              <a:rPr sz="2400" spc="-10" dirty="0">
                <a:latin typeface="Calibri"/>
                <a:cs typeface="Calibri"/>
              </a:rPr>
              <a:t>product,</a:t>
            </a:r>
            <a:r>
              <a:rPr sz="2400" spc="-5" dirty="0">
                <a:latin typeface="Calibri"/>
                <a:cs typeface="Calibri"/>
              </a:rPr>
              <a:t> </a:t>
            </a:r>
            <a:r>
              <a:rPr sz="2400" dirty="0">
                <a:latin typeface="Calibri"/>
                <a:cs typeface="Calibri"/>
              </a:rPr>
              <a:t>the </a:t>
            </a:r>
            <a:r>
              <a:rPr sz="2400" spc="-10" dirty="0">
                <a:latin typeface="Calibri"/>
                <a:cs typeface="Calibri"/>
              </a:rPr>
              <a:t>last</a:t>
            </a:r>
            <a:r>
              <a:rPr sz="2400" dirty="0">
                <a:latin typeface="Calibri"/>
                <a:cs typeface="Calibri"/>
              </a:rPr>
              <a:t> </a:t>
            </a:r>
            <a:r>
              <a:rPr sz="2400" spc="-15" dirty="0">
                <a:latin typeface="Calibri"/>
                <a:cs typeface="Calibri"/>
              </a:rPr>
              <a:t>step</a:t>
            </a:r>
            <a:r>
              <a:rPr sz="2400" spc="-10" dirty="0">
                <a:latin typeface="Calibri"/>
                <a:cs typeface="Calibri"/>
              </a:rPr>
              <a:t> </a:t>
            </a:r>
            <a:r>
              <a:rPr sz="2400" dirty="0">
                <a:latin typeface="Calibri"/>
                <a:cs typeface="Calibri"/>
              </a:rPr>
              <a:t>is </a:t>
            </a:r>
            <a:r>
              <a:rPr sz="2400" spc="-10" dirty="0">
                <a:latin typeface="Calibri"/>
                <a:cs typeface="Calibri"/>
              </a:rPr>
              <a:t>feedback.</a:t>
            </a:r>
            <a:r>
              <a:rPr sz="2400" spc="-25" dirty="0">
                <a:latin typeface="Calibri"/>
                <a:cs typeface="Calibri"/>
              </a:rPr>
              <a:t> </a:t>
            </a:r>
            <a:r>
              <a:rPr sz="2400" dirty="0">
                <a:latin typeface="Calibri"/>
                <a:cs typeface="Calibri"/>
              </a:rPr>
              <a:t>In this, </a:t>
            </a:r>
            <a:r>
              <a:rPr sz="2400" spc="-5" dirty="0">
                <a:latin typeface="Calibri"/>
                <a:cs typeface="Calibri"/>
              </a:rPr>
              <a:t>the </a:t>
            </a:r>
            <a:r>
              <a:rPr sz="2400" spc="-10" dirty="0">
                <a:latin typeface="Calibri"/>
                <a:cs typeface="Calibri"/>
              </a:rPr>
              <a:t>team</a:t>
            </a:r>
            <a:endParaRPr sz="2400">
              <a:latin typeface="Calibri"/>
              <a:cs typeface="Calibri"/>
            </a:endParaRPr>
          </a:p>
          <a:p>
            <a:pPr marR="5080" algn="r">
              <a:lnSpc>
                <a:spcPts val="2760"/>
              </a:lnSpc>
            </a:pPr>
            <a:r>
              <a:rPr sz="2400" spc="-10" dirty="0">
                <a:latin typeface="Calibri"/>
                <a:cs typeface="Calibri"/>
              </a:rPr>
              <a:t>receives</a:t>
            </a:r>
            <a:r>
              <a:rPr sz="2400" spc="-20" dirty="0">
                <a:latin typeface="Calibri"/>
                <a:cs typeface="Calibri"/>
              </a:rPr>
              <a:t> </a:t>
            </a:r>
            <a:r>
              <a:rPr sz="2400" spc="-10" dirty="0">
                <a:latin typeface="Calibri"/>
                <a:cs typeface="Calibri"/>
              </a:rPr>
              <a:t>feedback</a:t>
            </a:r>
            <a:r>
              <a:rPr sz="2400" spc="-20" dirty="0">
                <a:latin typeface="Calibri"/>
                <a:cs typeface="Calibri"/>
              </a:rPr>
              <a:t> </a:t>
            </a:r>
            <a:r>
              <a:rPr sz="2400" dirty="0">
                <a:latin typeface="Calibri"/>
                <a:cs typeface="Calibri"/>
              </a:rPr>
              <a:t>about</a:t>
            </a:r>
            <a:r>
              <a:rPr sz="2400" spc="-5" dirty="0">
                <a:latin typeface="Calibri"/>
                <a:cs typeface="Calibri"/>
              </a:rPr>
              <a:t> </a:t>
            </a:r>
            <a:r>
              <a:rPr sz="2400" dirty="0">
                <a:latin typeface="Calibri"/>
                <a:cs typeface="Calibri"/>
              </a:rPr>
              <a:t>the</a:t>
            </a:r>
            <a:r>
              <a:rPr sz="2400" spc="-5" dirty="0">
                <a:latin typeface="Calibri"/>
                <a:cs typeface="Calibri"/>
              </a:rPr>
              <a:t> </a:t>
            </a:r>
            <a:r>
              <a:rPr sz="2400" spc="-10" dirty="0">
                <a:latin typeface="Calibri"/>
                <a:cs typeface="Calibri"/>
              </a:rPr>
              <a:t>product</a:t>
            </a:r>
            <a:r>
              <a:rPr sz="2400" spc="-5" dirty="0">
                <a:latin typeface="Calibri"/>
                <a:cs typeface="Calibri"/>
              </a:rPr>
              <a:t> </a:t>
            </a:r>
            <a:r>
              <a:rPr sz="2400" dirty="0">
                <a:latin typeface="Calibri"/>
                <a:cs typeface="Calibri"/>
              </a:rPr>
              <a:t>and</a:t>
            </a:r>
            <a:r>
              <a:rPr sz="2400" spc="-10" dirty="0">
                <a:latin typeface="Calibri"/>
                <a:cs typeface="Calibri"/>
              </a:rPr>
              <a:t> </a:t>
            </a:r>
            <a:r>
              <a:rPr sz="2400" spc="-15" dirty="0">
                <a:latin typeface="Calibri"/>
                <a:cs typeface="Calibri"/>
              </a:rPr>
              <a:t>works</a:t>
            </a:r>
            <a:r>
              <a:rPr sz="2400" dirty="0">
                <a:latin typeface="Calibri"/>
                <a:cs typeface="Calibri"/>
              </a:rPr>
              <a:t> </a:t>
            </a:r>
            <a:r>
              <a:rPr sz="2400" spc="-10" dirty="0">
                <a:latin typeface="Calibri"/>
                <a:cs typeface="Calibri"/>
              </a:rPr>
              <a:t>through </a:t>
            </a:r>
            <a:r>
              <a:rPr sz="2400" dirty="0">
                <a:latin typeface="Calibri"/>
                <a:cs typeface="Calibri"/>
              </a:rPr>
              <a:t>the</a:t>
            </a:r>
            <a:r>
              <a:rPr sz="2400" spc="-5" dirty="0">
                <a:latin typeface="Calibri"/>
                <a:cs typeface="Calibri"/>
              </a:rPr>
              <a:t> </a:t>
            </a:r>
            <a:r>
              <a:rPr sz="2400" spc="-10" dirty="0">
                <a:latin typeface="Calibri"/>
                <a:cs typeface="Calibri"/>
              </a:rPr>
              <a:t>feedback.</a:t>
            </a:r>
            <a:endParaRPr sz="2400">
              <a:latin typeface="Calibri"/>
              <a:cs typeface="Calibri"/>
            </a:endParaRPr>
          </a:p>
        </p:txBody>
      </p:sp>
      <p:sp>
        <p:nvSpPr>
          <p:cNvPr id="21" name="object 21"/>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
        <p:nvSpPr>
          <p:cNvPr id="2" name="object 2"/>
          <p:cNvSpPr txBox="1">
            <a:spLocks noGrp="1"/>
          </p:cNvSpPr>
          <p:nvPr>
            <p:ph type="title"/>
          </p:nvPr>
        </p:nvSpPr>
        <p:spPr>
          <a:xfrm>
            <a:off x="916939" y="348818"/>
            <a:ext cx="6758305" cy="697230"/>
          </a:xfrm>
          <a:prstGeom prst="rect">
            <a:avLst/>
          </a:prstGeom>
        </p:spPr>
        <p:txBody>
          <a:bodyPr vert="horz" wrap="square" lIns="0" tIns="13335" rIns="0" bIns="0" rtlCol="0">
            <a:spAutoFit/>
          </a:bodyPr>
          <a:lstStyle/>
          <a:p>
            <a:pPr marL="12700">
              <a:lnSpc>
                <a:spcPct val="100000"/>
              </a:lnSpc>
              <a:spcBef>
                <a:spcPts val="105"/>
              </a:spcBef>
            </a:pPr>
            <a:r>
              <a:rPr sz="4400" spc="-50" dirty="0"/>
              <a:t>Advantages</a:t>
            </a:r>
            <a:r>
              <a:rPr sz="4400" spc="-110" dirty="0"/>
              <a:t> </a:t>
            </a:r>
            <a:r>
              <a:rPr sz="4400" spc="-15" dirty="0"/>
              <a:t>of</a:t>
            </a:r>
            <a:r>
              <a:rPr sz="4400" spc="-85" dirty="0"/>
              <a:t> </a:t>
            </a:r>
            <a:r>
              <a:rPr sz="4400" spc="-20" dirty="0"/>
              <a:t>the</a:t>
            </a:r>
            <a:r>
              <a:rPr sz="4400" spc="-90" dirty="0"/>
              <a:t> </a:t>
            </a:r>
            <a:r>
              <a:rPr sz="4400" spc="-20" dirty="0"/>
              <a:t>Agile</a:t>
            </a:r>
            <a:r>
              <a:rPr sz="4400" spc="-105" dirty="0"/>
              <a:t> </a:t>
            </a:r>
            <a:r>
              <a:rPr sz="4400" spc="-35" dirty="0"/>
              <a:t>Model</a:t>
            </a:r>
            <a:endParaRPr sz="4400"/>
          </a:p>
        </p:txBody>
      </p:sp>
      <p:sp>
        <p:nvSpPr>
          <p:cNvPr id="3" name="object 3"/>
          <p:cNvSpPr txBox="1"/>
          <p:nvPr/>
        </p:nvSpPr>
        <p:spPr>
          <a:xfrm>
            <a:off x="916939" y="1170082"/>
            <a:ext cx="9692005" cy="4380230"/>
          </a:xfrm>
          <a:prstGeom prst="rect">
            <a:avLst/>
          </a:prstGeom>
        </p:spPr>
        <p:txBody>
          <a:bodyPr vert="horz" wrap="square" lIns="0" tIns="99695" rIns="0" bIns="0" rtlCol="0">
            <a:spAutoFit/>
          </a:bodyPr>
          <a:lstStyle/>
          <a:p>
            <a:pPr marL="241300" indent="-228600">
              <a:lnSpc>
                <a:spcPct val="100000"/>
              </a:lnSpc>
              <a:spcBef>
                <a:spcPts val="785"/>
              </a:spcBef>
              <a:buFont typeface="Arial MT"/>
              <a:buChar char="•"/>
              <a:tabLst>
                <a:tab pos="241300" algn="l"/>
              </a:tabLst>
            </a:pPr>
            <a:r>
              <a:rPr sz="2600" spc="-5" dirty="0">
                <a:latin typeface="Calibri"/>
                <a:cs typeface="Calibri"/>
              </a:rPr>
              <a:t>Customer</a:t>
            </a:r>
            <a:r>
              <a:rPr sz="2600" spc="-35" dirty="0">
                <a:latin typeface="Calibri"/>
                <a:cs typeface="Calibri"/>
              </a:rPr>
              <a:t> </a:t>
            </a:r>
            <a:r>
              <a:rPr sz="2600" spc="-5" dirty="0">
                <a:latin typeface="Calibri"/>
                <a:cs typeface="Calibri"/>
              </a:rPr>
              <a:t>satisfaction</a:t>
            </a:r>
            <a:r>
              <a:rPr sz="2600" spc="-25" dirty="0">
                <a:latin typeface="Calibri"/>
                <a:cs typeface="Calibri"/>
              </a:rPr>
              <a:t> </a:t>
            </a:r>
            <a:r>
              <a:rPr sz="2600" spc="-5" dirty="0">
                <a:latin typeface="Calibri"/>
                <a:cs typeface="Calibri"/>
              </a:rPr>
              <a:t>by</a:t>
            </a:r>
            <a:r>
              <a:rPr sz="2600" spc="-15" dirty="0">
                <a:latin typeface="Calibri"/>
                <a:cs typeface="Calibri"/>
              </a:rPr>
              <a:t> </a:t>
            </a:r>
            <a:r>
              <a:rPr sz="2600" spc="-5" dirty="0">
                <a:latin typeface="Calibri"/>
                <a:cs typeface="Calibri"/>
              </a:rPr>
              <a:t>rapid,</a:t>
            </a:r>
            <a:r>
              <a:rPr sz="2600" dirty="0">
                <a:latin typeface="Calibri"/>
                <a:cs typeface="Calibri"/>
              </a:rPr>
              <a:t> </a:t>
            </a:r>
            <a:r>
              <a:rPr sz="2600" spc="-5" dirty="0">
                <a:latin typeface="Calibri"/>
                <a:cs typeface="Calibri"/>
              </a:rPr>
              <a:t>continuous</a:t>
            </a:r>
            <a:r>
              <a:rPr sz="2600" spc="-10" dirty="0">
                <a:latin typeface="Calibri"/>
                <a:cs typeface="Calibri"/>
              </a:rPr>
              <a:t> </a:t>
            </a:r>
            <a:r>
              <a:rPr sz="2600" spc="-5" dirty="0">
                <a:latin typeface="Calibri"/>
                <a:cs typeface="Calibri"/>
              </a:rPr>
              <a:t>delivery</a:t>
            </a:r>
            <a:r>
              <a:rPr sz="2600" spc="-45" dirty="0">
                <a:latin typeface="Calibri"/>
                <a:cs typeface="Calibri"/>
              </a:rPr>
              <a:t> </a:t>
            </a:r>
            <a:r>
              <a:rPr sz="2600" dirty="0">
                <a:latin typeface="Calibri"/>
                <a:cs typeface="Calibri"/>
              </a:rPr>
              <a:t>of</a:t>
            </a:r>
            <a:r>
              <a:rPr sz="2600" spc="-5" dirty="0">
                <a:latin typeface="Calibri"/>
                <a:cs typeface="Calibri"/>
              </a:rPr>
              <a:t> useful</a:t>
            </a:r>
            <a:r>
              <a:rPr sz="2600" spc="-35" dirty="0">
                <a:latin typeface="Calibri"/>
                <a:cs typeface="Calibri"/>
              </a:rPr>
              <a:t> </a:t>
            </a:r>
            <a:r>
              <a:rPr sz="2600" spc="-10" dirty="0">
                <a:latin typeface="Calibri"/>
                <a:cs typeface="Calibri"/>
              </a:rPr>
              <a:t>software.</a:t>
            </a:r>
            <a:endParaRPr sz="2600" dirty="0">
              <a:latin typeface="Calibri"/>
              <a:cs typeface="Calibri"/>
            </a:endParaRPr>
          </a:p>
          <a:p>
            <a:pPr marL="241300" indent="-228600">
              <a:lnSpc>
                <a:spcPct val="100000"/>
              </a:lnSpc>
              <a:spcBef>
                <a:spcPts val="690"/>
              </a:spcBef>
              <a:buFont typeface="Arial MT"/>
              <a:buChar char="•"/>
              <a:tabLst>
                <a:tab pos="241300" algn="l"/>
              </a:tabLst>
            </a:pPr>
            <a:r>
              <a:rPr sz="2600" spc="-10" dirty="0">
                <a:latin typeface="Calibri"/>
                <a:cs typeface="Calibri"/>
              </a:rPr>
              <a:t>People</a:t>
            </a:r>
            <a:r>
              <a:rPr sz="2600" spc="-25" dirty="0">
                <a:latin typeface="Calibri"/>
                <a:cs typeface="Calibri"/>
              </a:rPr>
              <a:t> </a:t>
            </a:r>
            <a:r>
              <a:rPr sz="2600" dirty="0">
                <a:latin typeface="Calibri"/>
                <a:cs typeface="Calibri"/>
              </a:rPr>
              <a:t>and</a:t>
            </a:r>
            <a:r>
              <a:rPr sz="2600" spc="-5" dirty="0">
                <a:latin typeface="Calibri"/>
                <a:cs typeface="Calibri"/>
              </a:rPr>
              <a:t> interactions</a:t>
            </a:r>
            <a:r>
              <a:rPr sz="2600" spc="-35" dirty="0">
                <a:latin typeface="Calibri"/>
                <a:cs typeface="Calibri"/>
              </a:rPr>
              <a:t> </a:t>
            </a:r>
            <a:r>
              <a:rPr sz="2600" spc="-10" dirty="0">
                <a:latin typeface="Calibri"/>
                <a:cs typeface="Calibri"/>
              </a:rPr>
              <a:t>are</a:t>
            </a:r>
            <a:r>
              <a:rPr sz="2600" dirty="0">
                <a:latin typeface="Calibri"/>
                <a:cs typeface="Calibri"/>
              </a:rPr>
              <a:t> </a:t>
            </a:r>
            <a:r>
              <a:rPr sz="2600" spc="-5" dirty="0">
                <a:latin typeface="Calibri"/>
                <a:cs typeface="Calibri"/>
              </a:rPr>
              <a:t>emphasized</a:t>
            </a:r>
            <a:r>
              <a:rPr sz="2600" spc="-40" dirty="0">
                <a:latin typeface="Calibri"/>
                <a:cs typeface="Calibri"/>
              </a:rPr>
              <a:t> </a:t>
            </a:r>
            <a:r>
              <a:rPr sz="2600" spc="-10" dirty="0">
                <a:latin typeface="Calibri"/>
                <a:cs typeface="Calibri"/>
              </a:rPr>
              <a:t>rather</a:t>
            </a:r>
            <a:r>
              <a:rPr sz="2600" spc="-25" dirty="0">
                <a:latin typeface="Calibri"/>
                <a:cs typeface="Calibri"/>
              </a:rPr>
              <a:t> </a:t>
            </a:r>
            <a:r>
              <a:rPr sz="2600" dirty="0">
                <a:latin typeface="Calibri"/>
                <a:cs typeface="Calibri"/>
              </a:rPr>
              <a:t>than </a:t>
            </a:r>
            <a:r>
              <a:rPr sz="2600" spc="-5" dirty="0">
                <a:latin typeface="Calibri"/>
                <a:cs typeface="Calibri"/>
              </a:rPr>
              <a:t>process</a:t>
            </a:r>
            <a:r>
              <a:rPr sz="2600" spc="-35" dirty="0">
                <a:latin typeface="Calibri"/>
                <a:cs typeface="Calibri"/>
              </a:rPr>
              <a:t> </a:t>
            </a:r>
            <a:r>
              <a:rPr sz="2600" dirty="0">
                <a:latin typeface="Calibri"/>
                <a:cs typeface="Calibri"/>
              </a:rPr>
              <a:t>and</a:t>
            </a:r>
            <a:r>
              <a:rPr sz="2600" spc="-5" dirty="0">
                <a:latin typeface="Calibri"/>
                <a:cs typeface="Calibri"/>
              </a:rPr>
              <a:t> </a:t>
            </a:r>
            <a:r>
              <a:rPr sz="2600" spc="-10" dirty="0">
                <a:latin typeface="Calibri"/>
                <a:cs typeface="Calibri"/>
              </a:rPr>
              <a:t>tools.</a:t>
            </a:r>
            <a:endParaRPr sz="2600" dirty="0">
              <a:latin typeface="Calibri"/>
              <a:cs typeface="Calibri"/>
            </a:endParaRPr>
          </a:p>
          <a:p>
            <a:pPr marL="241300" indent="-228600">
              <a:lnSpc>
                <a:spcPct val="100000"/>
              </a:lnSpc>
              <a:spcBef>
                <a:spcPts val="695"/>
              </a:spcBef>
              <a:buFont typeface="Arial MT"/>
              <a:buChar char="•"/>
              <a:tabLst>
                <a:tab pos="241300" algn="l"/>
              </a:tabLst>
            </a:pPr>
            <a:r>
              <a:rPr sz="2600" spc="-10" dirty="0">
                <a:latin typeface="Calibri"/>
                <a:cs typeface="Calibri"/>
              </a:rPr>
              <a:t>Customers,</a:t>
            </a:r>
            <a:r>
              <a:rPr sz="2600" spc="-30" dirty="0">
                <a:latin typeface="Calibri"/>
                <a:cs typeface="Calibri"/>
              </a:rPr>
              <a:t> </a:t>
            </a:r>
            <a:r>
              <a:rPr sz="2600" spc="-10" dirty="0">
                <a:latin typeface="Calibri"/>
                <a:cs typeface="Calibri"/>
              </a:rPr>
              <a:t>developers</a:t>
            </a:r>
            <a:r>
              <a:rPr sz="2600" spc="-35" dirty="0">
                <a:latin typeface="Calibri"/>
                <a:cs typeface="Calibri"/>
              </a:rPr>
              <a:t> </a:t>
            </a:r>
            <a:r>
              <a:rPr sz="2600" dirty="0">
                <a:latin typeface="Calibri"/>
                <a:cs typeface="Calibri"/>
              </a:rPr>
              <a:t>and</a:t>
            </a:r>
            <a:r>
              <a:rPr sz="2600" spc="-5" dirty="0">
                <a:latin typeface="Calibri"/>
                <a:cs typeface="Calibri"/>
              </a:rPr>
              <a:t> </a:t>
            </a:r>
            <a:r>
              <a:rPr sz="2600" spc="-15" dirty="0">
                <a:latin typeface="Calibri"/>
                <a:cs typeface="Calibri"/>
              </a:rPr>
              <a:t>testers</a:t>
            </a:r>
            <a:r>
              <a:rPr sz="2600" spc="-35" dirty="0">
                <a:latin typeface="Calibri"/>
                <a:cs typeface="Calibri"/>
              </a:rPr>
              <a:t> </a:t>
            </a:r>
            <a:r>
              <a:rPr sz="2600" spc="-10" dirty="0">
                <a:latin typeface="Calibri"/>
                <a:cs typeface="Calibri"/>
              </a:rPr>
              <a:t>constantly</a:t>
            </a:r>
            <a:r>
              <a:rPr sz="2600" dirty="0">
                <a:latin typeface="Calibri"/>
                <a:cs typeface="Calibri"/>
              </a:rPr>
              <a:t> </a:t>
            </a:r>
            <a:r>
              <a:rPr sz="2600" spc="-10" dirty="0">
                <a:latin typeface="Calibri"/>
                <a:cs typeface="Calibri"/>
              </a:rPr>
              <a:t>interact</a:t>
            </a:r>
            <a:r>
              <a:rPr sz="2600" spc="-20" dirty="0">
                <a:latin typeface="Calibri"/>
                <a:cs typeface="Calibri"/>
              </a:rPr>
              <a:t> </a:t>
            </a:r>
            <a:r>
              <a:rPr sz="2600" dirty="0">
                <a:latin typeface="Calibri"/>
                <a:cs typeface="Calibri"/>
              </a:rPr>
              <a:t>with</a:t>
            </a:r>
            <a:r>
              <a:rPr sz="2600" spc="-5" dirty="0">
                <a:latin typeface="Calibri"/>
                <a:cs typeface="Calibri"/>
              </a:rPr>
              <a:t> </a:t>
            </a:r>
            <a:r>
              <a:rPr sz="2600" dirty="0">
                <a:latin typeface="Calibri"/>
                <a:cs typeface="Calibri"/>
              </a:rPr>
              <a:t>each</a:t>
            </a:r>
            <a:r>
              <a:rPr sz="2600" spc="-15" dirty="0">
                <a:latin typeface="Calibri"/>
                <a:cs typeface="Calibri"/>
              </a:rPr>
              <a:t> </a:t>
            </a:r>
            <a:r>
              <a:rPr sz="2600" spc="-45" dirty="0">
                <a:latin typeface="Calibri"/>
                <a:cs typeface="Calibri"/>
              </a:rPr>
              <a:t>other.</a:t>
            </a:r>
            <a:endParaRPr sz="2600" dirty="0">
              <a:latin typeface="Calibri"/>
              <a:cs typeface="Calibri"/>
            </a:endParaRPr>
          </a:p>
          <a:p>
            <a:pPr marL="241300" indent="-228600">
              <a:lnSpc>
                <a:spcPct val="100000"/>
              </a:lnSpc>
              <a:spcBef>
                <a:spcPts val="685"/>
              </a:spcBef>
              <a:buFont typeface="Arial MT"/>
              <a:buChar char="•"/>
              <a:tabLst>
                <a:tab pos="241300" algn="l"/>
              </a:tabLst>
            </a:pPr>
            <a:r>
              <a:rPr sz="2600" spc="-20" dirty="0">
                <a:latin typeface="Calibri"/>
                <a:cs typeface="Calibri"/>
              </a:rPr>
              <a:t>Working</a:t>
            </a:r>
            <a:r>
              <a:rPr sz="2600" spc="10" dirty="0">
                <a:latin typeface="Calibri"/>
                <a:cs typeface="Calibri"/>
              </a:rPr>
              <a:t> </a:t>
            </a:r>
            <a:r>
              <a:rPr sz="2600" spc="-10" dirty="0">
                <a:latin typeface="Calibri"/>
                <a:cs typeface="Calibri"/>
              </a:rPr>
              <a:t>software</a:t>
            </a:r>
            <a:r>
              <a:rPr sz="2600" dirty="0">
                <a:latin typeface="Calibri"/>
                <a:cs typeface="Calibri"/>
              </a:rPr>
              <a:t> is </a:t>
            </a:r>
            <a:r>
              <a:rPr sz="2600" spc="-10" dirty="0">
                <a:latin typeface="Calibri"/>
                <a:cs typeface="Calibri"/>
              </a:rPr>
              <a:t>delivered</a:t>
            </a:r>
            <a:r>
              <a:rPr sz="2600" spc="-25" dirty="0">
                <a:latin typeface="Calibri"/>
                <a:cs typeface="Calibri"/>
              </a:rPr>
              <a:t> </a:t>
            </a:r>
            <a:r>
              <a:rPr sz="2600" spc="-5" dirty="0">
                <a:latin typeface="Calibri"/>
                <a:cs typeface="Calibri"/>
              </a:rPr>
              <a:t>frequently</a:t>
            </a:r>
            <a:r>
              <a:rPr sz="2600" spc="-25" dirty="0">
                <a:latin typeface="Calibri"/>
                <a:cs typeface="Calibri"/>
              </a:rPr>
              <a:t> </a:t>
            </a:r>
            <a:r>
              <a:rPr sz="2600" spc="-10" dirty="0">
                <a:latin typeface="Calibri"/>
                <a:cs typeface="Calibri"/>
              </a:rPr>
              <a:t>(weeks</a:t>
            </a:r>
            <a:r>
              <a:rPr sz="2600" spc="-30" dirty="0">
                <a:latin typeface="Calibri"/>
                <a:cs typeface="Calibri"/>
              </a:rPr>
              <a:t> </a:t>
            </a:r>
            <a:r>
              <a:rPr sz="2600" spc="-10" dirty="0">
                <a:latin typeface="Calibri"/>
                <a:cs typeface="Calibri"/>
              </a:rPr>
              <a:t>rather</a:t>
            </a:r>
            <a:r>
              <a:rPr sz="2600" spc="10" dirty="0">
                <a:latin typeface="Calibri"/>
                <a:cs typeface="Calibri"/>
              </a:rPr>
              <a:t> </a:t>
            </a:r>
            <a:r>
              <a:rPr sz="2600" dirty="0">
                <a:latin typeface="Calibri"/>
                <a:cs typeface="Calibri"/>
              </a:rPr>
              <a:t>than</a:t>
            </a:r>
            <a:r>
              <a:rPr sz="2600" spc="-5" dirty="0">
                <a:latin typeface="Calibri"/>
                <a:cs typeface="Calibri"/>
              </a:rPr>
              <a:t> months).</a:t>
            </a:r>
            <a:endParaRPr sz="2600" dirty="0">
              <a:latin typeface="Calibri"/>
              <a:cs typeface="Calibri"/>
            </a:endParaRPr>
          </a:p>
          <a:p>
            <a:pPr marL="241300" indent="-228600">
              <a:lnSpc>
                <a:spcPct val="100000"/>
              </a:lnSpc>
              <a:spcBef>
                <a:spcPts val="685"/>
              </a:spcBef>
              <a:buFont typeface="Arial MT"/>
              <a:buChar char="•"/>
              <a:tabLst>
                <a:tab pos="241300" algn="l"/>
              </a:tabLst>
            </a:pPr>
            <a:r>
              <a:rPr sz="2600" spc="-15" dirty="0">
                <a:latin typeface="Calibri"/>
                <a:cs typeface="Calibri"/>
              </a:rPr>
              <a:t>Face-to-face conversation</a:t>
            </a:r>
            <a:r>
              <a:rPr sz="2600" dirty="0">
                <a:latin typeface="Calibri"/>
                <a:cs typeface="Calibri"/>
              </a:rPr>
              <a:t> is</a:t>
            </a:r>
            <a:r>
              <a:rPr sz="2600" spc="-10" dirty="0">
                <a:latin typeface="Calibri"/>
                <a:cs typeface="Calibri"/>
              </a:rPr>
              <a:t> </a:t>
            </a:r>
            <a:r>
              <a:rPr sz="2600" dirty="0">
                <a:latin typeface="Calibri"/>
                <a:cs typeface="Calibri"/>
              </a:rPr>
              <a:t>the</a:t>
            </a:r>
            <a:r>
              <a:rPr sz="2600" spc="-10" dirty="0">
                <a:latin typeface="Calibri"/>
                <a:cs typeface="Calibri"/>
              </a:rPr>
              <a:t> best</a:t>
            </a:r>
            <a:r>
              <a:rPr sz="2600" spc="-25" dirty="0">
                <a:latin typeface="Calibri"/>
                <a:cs typeface="Calibri"/>
              </a:rPr>
              <a:t> </a:t>
            </a:r>
            <a:r>
              <a:rPr sz="2600" spc="-20" dirty="0">
                <a:latin typeface="Calibri"/>
                <a:cs typeface="Calibri"/>
              </a:rPr>
              <a:t>form</a:t>
            </a:r>
            <a:r>
              <a:rPr sz="2600" spc="-5" dirty="0">
                <a:latin typeface="Calibri"/>
                <a:cs typeface="Calibri"/>
              </a:rPr>
              <a:t> </a:t>
            </a:r>
            <a:r>
              <a:rPr sz="2600" spc="-10" dirty="0">
                <a:latin typeface="Calibri"/>
                <a:cs typeface="Calibri"/>
              </a:rPr>
              <a:t>of </a:t>
            </a:r>
            <a:r>
              <a:rPr sz="2600" spc="-5" dirty="0">
                <a:latin typeface="Calibri"/>
                <a:cs typeface="Calibri"/>
              </a:rPr>
              <a:t>communication.</a:t>
            </a:r>
            <a:endParaRPr sz="2600" dirty="0">
              <a:latin typeface="Calibri"/>
              <a:cs typeface="Calibri"/>
            </a:endParaRPr>
          </a:p>
          <a:p>
            <a:pPr marL="241300" indent="-228600">
              <a:lnSpc>
                <a:spcPct val="100000"/>
              </a:lnSpc>
              <a:spcBef>
                <a:spcPts val="695"/>
              </a:spcBef>
              <a:buFont typeface="Arial MT"/>
              <a:buChar char="•"/>
              <a:tabLst>
                <a:tab pos="241300" algn="l"/>
              </a:tabLst>
            </a:pPr>
            <a:r>
              <a:rPr sz="2600" dirty="0">
                <a:latin typeface="Calibri"/>
                <a:cs typeface="Calibri"/>
              </a:rPr>
              <a:t>Daily</a:t>
            </a:r>
            <a:r>
              <a:rPr sz="2600" spc="-10" dirty="0">
                <a:latin typeface="Calibri"/>
                <a:cs typeface="Calibri"/>
              </a:rPr>
              <a:t> cooperation</a:t>
            </a:r>
            <a:r>
              <a:rPr sz="2600" spc="10" dirty="0">
                <a:latin typeface="Calibri"/>
                <a:cs typeface="Calibri"/>
              </a:rPr>
              <a:t> </a:t>
            </a:r>
            <a:r>
              <a:rPr sz="2600" spc="-5" dirty="0">
                <a:latin typeface="Calibri"/>
                <a:cs typeface="Calibri"/>
              </a:rPr>
              <a:t>between</a:t>
            </a:r>
            <a:r>
              <a:rPr sz="2600" spc="-25" dirty="0">
                <a:latin typeface="Calibri"/>
                <a:cs typeface="Calibri"/>
              </a:rPr>
              <a:t> </a:t>
            </a:r>
            <a:r>
              <a:rPr sz="2600" spc="-5" dirty="0">
                <a:latin typeface="Calibri"/>
                <a:cs typeface="Calibri"/>
              </a:rPr>
              <a:t>businesspeople</a:t>
            </a:r>
            <a:r>
              <a:rPr sz="2600" spc="-40" dirty="0">
                <a:latin typeface="Calibri"/>
                <a:cs typeface="Calibri"/>
              </a:rPr>
              <a:t> </a:t>
            </a:r>
            <a:r>
              <a:rPr sz="2600" dirty="0">
                <a:latin typeface="Calibri"/>
                <a:cs typeface="Calibri"/>
              </a:rPr>
              <a:t>and </a:t>
            </a:r>
            <a:r>
              <a:rPr sz="2600" spc="-10" dirty="0">
                <a:latin typeface="Calibri"/>
                <a:cs typeface="Calibri"/>
              </a:rPr>
              <a:t>developers.</a:t>
            </a:r>
            <a:endParaRPr sz="2600" dirty="0">
              <a:latin typeface="Calibri"/>
              <a:cs typeface="Calibri"/>
            </a:endParaRPr>
          </a:p>
          <a:p>
            <a:pPr marL="241300" indent="-228600">
              <a:lnSpc>
                <a:spcPct val="100000"/>
              </a:lnSpc>
              <a:spcBef>
                <a:spcPts val="690"/>
              </a:spcBef>
              <a:buFont typeface="Arial MT"/>
              <a:buChar char="•"/>
              <a:tabLst>
                <a:tab pos="241300" algn="l"/>
              </a:tabLst>
            </a:pPr>
            <a:r>
              <a:rPr sz="2600" spc="-5" dirty="0">
                <a:latin typeface="Calibri"/>
                <a:cs typeface="Calibri"/>
              </a:rPr>
              <a:t>Continuous</a:t>
            </a:r>
            <a:r>
              <a:rPr sz="2600" spc="-25" dirty="0">
                <a:latin typeface="Calibri"/>
                <a:cs typeface="Calibri"/>
              </a:rPr>
              <a:t> </a:t>
            </a:r>
            <a:r>
              <a:rPr sz="2600" spc="-10" dirty="0">
                <a:latin typeface="Calibri"/>
                <a:cs typeface="Calibri"/>
              </a:rPr>
              <a:t>attention to</a:t>
            </a:r>
            <a:r>
              <a:rPr sz="2600" spc="-5" dirty="0">
                <a:latin typeface="Calibri"/>
                <a:cs typeface="Calibri"/>
              </a:rPr>
              <a:t> technical</a:t>
            </a:r>
            <a:r>
              <a:rPr sz="2600" spc="-25" dirty="0">
                <a:latin typeface="Calibri"/>
                <a:cs typeface="Calibri"/>
              </a:rPr>
              <a:t> </a:t>
            </a:r>
            <a:r>
              <a:rPr sz="2600" spc="-10" dirty="0">
                <a:latin typeface="Calibri"/>
                <a:cs typeface="Calibri"/>
              </a:rPr>
              <a:t>excellence</a:t>
            </a:r>
            <a:r>
              <a:rPr sz="2600" spc="-50" dirty="0">
                <a:latin typeface="Calibri"/>
                <a:cs typeface="Calibri"/>
              </a:rPr>
              <a:t> </a:t>
            </a:r>
            <a:r>
              <a:rPr sz="2600" dirty="0">
                <a:latin typeface="Calibri"/>
                <a:cs typeface="Calibri"/>
              </a:rPr>
              <a:t>and</a:t>
            </a:r>
            <a:r>
              <a:rPr sz="2600" spc="-5" dirty="0">
                <a:latin typeface="Calibri"/>
                <a:cs typeface="Calibri"/>
              </a:rPr>
              <a:t> good</a:t>
            </a:r>
            <a:r>
              <a:rPr sz="2600" spc="5" dirty="0">
                <a:latin typeface="Calibri"/>
                <a:cs typeface="Calibri"/>
              </a:rPr>
              <a:t> </a:t>
            </a:r>
            <a:r>
              <a:rPr sz="2600" dirty="0">
                <a:latin typeface="Calibri"/>
                <a:cs typeface="Calibri"/>
              </a:rPr>
              <a:t>design.</a:t>
            </a:r>
          </a:p>
          <a:p>
            <a:pPr marL="241300" indent="-228600">
              <a:lnSpc>
                <a:spcPct val="100000"/>
              </a:lnSpc>
              <a:spcBef>
                <a:spcPts val="680"/>
              </a:spcBef>
              <a:buFont typeface="Arial MT"/>
              <a:buChar char="•"/>
              <a:tabLst>
                <a:tab pos="241300" algn="l"/>
              </a:tabLst>
            </a:pPr>
            <a:r>
              <a:rPr sz="2600" spc="-5" dirty="0">
                <a:latin typeface="Calibri"/>
                <a:cs typeface="Calibri"/>
              </a:rPr>
              <a:t>Adaptation</a:t>
            </a:r>
            <a:r>
              <a:rPr sz="2600" spc="-15" dirty="0">
                <a:latin typeface="Calibri"/>
                <a:cs typeface="Calibri"/>
              </a:rPr>
              <a:t> </a:t>
            </a:r>
            <a:r>
              <a:rPr sz="2600" spc="-10" dirty="0">
                <a:latin typeface="Calibri"/>
                <a:cs typeface="Calibri"/>
              </a:rPr>
              <a:t>to </a:t>
            </a:r>
            <a:r>
              <a:rPr sz="2600" dirty="0">
                <a:latin typeface="Calibri"/>
                <a:cs typeface="Calibri"/>
              </a:rPr>
              <a:t>changing</a:t>
            </a:r>
            <a:r>
              <a:rPr sz="2600" spc="-10" dirty="0">
                <a:latin typeface="Calibri"/>
                <a:cs typeface="Calibri"/>
              </a:rPr>
              <a:t> circumstances.</a:t>
            </a:r>
            <a:endParaRPr sz="2600" dirty="0">
              <a:latin typeface="Calibri"/>
              <a:cs typeface="Calibri"/>
            </a:endParaRPr>
          </a:p>
          <a:p>
            <a:pPr marL="316230" indent="-304165">
              <a:lnSpc>
                <a:spcPct val="100000"/>
              </a:lnSpc>
              <a:spcBef>
                <a:spcPts val="700"/>
              </a:spcBef>
              <a:buFont typeface="Arial MT"/>
              <a:buChar char="•"/>
              <a:tabLst>
                <a:tab pos="315595" algn="l"/>
                <a:tab pos="316865" algn="l"/>
              </a:tabLst>
            </a:pPr>
            <a:r>
              <a:rPr sz="2600" spc="-15" dirty="0">
                <a:latin typeface="Calibri"/>
                <a:cs typeface="Calibri"/>
              </a:rPr>
              <a:t>Late </a:t>
            </a:r>
            <a:r>
              <a:rPr sz="2600" spc="-5" dirty="0">
                <a:latin typeface="Calibri"/>
                <a:cs typeface="Calibri"/>
              </a:rPr>
              <a:t>changes</a:t>
            </a:r>
            <a:r>
              <a:rPr sz="2600" spc="-35" dirty="0">
                <a:latin typeface="Calibri"/>
                <a:cs typeface="Calibri"/>
              </a:rPr>
              <a:t> </a:t>
            </a:r>
            <a:r>
              <a:rPr sz="2600" dirty="0">
                <a:latin typeface="Calibri"/>
                <a:cs typeface="Calibri"/>
              </a:rPr>
              <a:t>in </a:t>
            </a:r>
            <a:r>
              <a:rPr sz="2600" spc="-10" dirty="0">
                <a:latin typeface="Calibri"/>
                <a:cs typeface="Calibri"/>
              </a:rPr>
              <a:t>requirements</a:t>
            </a:r>
            <a:r>
              <a:rPr sz="2600" spc="-40" dirty="0">
                <a:latin typeface="Calibri"/>
                <a:cs typeface="Calibri"/>
              </a:rPr>
              <a:t> </a:t>
            </a:r>
            <a:r>
              <a:rPr sz="2600" spc="-10" dirty="0">
                <a:latin typeface="Calibri"/>
                <a:cs typeface="Calibri"/>
              </a:rPr>
              <a:t>are</a:t>
            </a:r>
            <a:r>
              <a:rPr sz="2600" dirty="0">
                <a:latin typeface="Calibri"/>
                <a:cs typeface="Calibri"/>
              </a:rPr>
              <a:t> </a:t>
            </a:r>
            <a:r>
              <a:rPr sz="2600" spc="-10" dirty="0">
                <a:latin typeface="Calibri"/>
                <a:cs typeface="Calibri"/>
              </a:rPr>
              <a:t>welcomed</a:t>
            </a:r>
            <a:endParaRPr sz="2600" dirty="0">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
        <p:nvSpPr>
          <p:cNvPr id="2" name="object 2"/>
          <p:cNvSpPr txBox="1">
            <a:spLocks noGrp="1"/>
          </p:cNvSpPr>
          <p:nvPr>
            <p:ph type="title"/>
          </p:nvPr>
        </p:nvSpPr>
        <p:spPr>
          <a:xfrm>
            <a:off x="916939" y="448182"/>
            <a:ext cx="7374890" cy="696595"/>
          </a:xfrm>
          <a:prstGeom prst="rect">
            <a:avLst/>
          </a:prstGeom>
        </p:spPr>
        <p:txBody>
          <a:bodyPr vert="horz" wrap="square" lIns="0" tIns="13335" rIns="0" bIns="0" rtlCol="0">
            <a:spAutoFit/>
          </a:bodyPr>
          <a:lstStyle/>
          <a:p>
            <a:pPr marL="12700">
              <a:lnSpc>
                <a:spcPct val="100000"/>
              </a:lnSpc>
              <a:spcBef>
                <a:spcPts val="105"/>
              </a:spcBef>
            </a:pPr>
            <a:r>
              <a:rPr sz="4400" spc="-50" dirty="0"/>
              <a:t>Disadvantages</a:t>
            </a:r>
            <a:r>
              <a:rPr sz="4400" spc="-90" dirty="0"/>
              <a:t> </a:t>
            </a:r>
            <a:r>
              <a:rPr sz="4400" spc="-15" dirty="0"/>
              <a:t>of</a:t>
            </a:r>
            <a:r>
              <a:rPr sz="4400" spc="-70" dirty="0"/>
              <a:t> </a:t>
            </a:r>
            <a:r>
              <a:rPr sz="4400" spc="-20" dirty="0"/>
              <a:t>the</a:t>
            </a:r>
            <a:r>
              <a:rPr sz="4400" spc="-90" dirty="0"/>
              <a:t> </a:t>
            </a:r>
            <a:r>
              <a:rPr sz="4400" spc="-20" dirty="0"/>
              <a:t>Agile</a:t>
            </a:r>
            <a:r>
              <a:rPr sz="4400" spc="-85" dirty="0"/>
              <a:t> </a:t>
            </a:r>
            <a:r>
              <a:rPr sz="4400" spc="-35" dirty="0"/>
              <a:t>Model</a:t>
            </a:r>
            <a:endParaRPr sz="4400"/>
          </a:p>
        </p:txBody>
      </p:sp>
      <p:sp>
        <p:nvSpPr>
          <p:cNvPr id="3" name="object 3"/>
          <p:cNvSpPr txBox="1"/>
          <p:nvPr/>
        </p:nvSpPr>
        <p:spPr>
          <a:xfrm>
            <a:off x="916939" y="1342136"/>
            <a:ext cx="10289540" cy="4418330"/>
          </a:xfrm>
          <a:prstGeom prst="rect">
            <a:avLst/>
          </a:prstGeom>
        </p:spPr>
        <p:txBody>
          <a:bodyPr vert="horz" wrap="square" lIns="0" tIns="60960" rIns="0" bIns="0" rtlCol="0">
            <a:spAutoFit/>
          </a:bodyPr>
          <a:lstStyle/>
          <a:p>
            <a:pPr marL="241300" marR="67310" indent="-228600">
              <a:lnSpc>
                <a:spcPts val="3020"/>
              </a:lnSpc>
              <a:spcBef>
                <a:spcPts val="480"/>
              </a:spcBef>
              <a:buFont typeface="Arial MT"/>
              <a:buChar char="•"/>
              <a:tabLst>
                <a:tab pos="241300" algn="l"/>
              </a:tabLst>
            </a:pPr>
            <a:r>
              <a:rPr sz="2800" spc="-5" dirty="0">
                <a:latin typeface="Calibri"/>
                <a:cs typeface="Calibri"/>
              </a:rPr>
              <a:t>In</a:t>
            </a:r>
            <a:r>
              <a:rPr sz="2800" spc="5" dirty="0">
                <a:latin typeface="Calibri"/>
                <a:cs typeface="Calibri"/>
              </a:rPr>
              <a:t> </a:t>
            </a:r>
            <a:r>
              <a:rPr sz="2800" spc="-10" dirty="0">
                <a:latin typeface="Calibri"/>
                <a:cs typeface="Calibri"/>
              </a:rPr>
              <a:t>case</a:t>
            </a:r>
            <a:r>
              <a:rPr sz="2800" spc="10" dirty="0">
                <a:latin typeface="Calibri"/>
                <a:cs typeface="Calibri"/>
              </a:rPr>
              <a:t> </a:t>
            </a:r>
            <a:r>
              <a:rPr sz="2800" dirty="0">
                <a:latin typeface="Calibri"/>
                <a:cs typeface="Calibri"/>
              </a:rPr>
              <a:t>of </a:t>
            </a:r>
            <a:r>
              <a:rPr sz="2800" spc="-5" dirty="0">
                <a:latin typeface="Calibri"/>
                <a:cs typeface="Calibri"/>
              </a:rPr>
              <a:t>some</a:t>
            </a:r>
            <a:r>
              <a:rPr sz="2800" spc="20" dirty="0">
                <a:latin typeface="Calibri"/>
                <a:cs typeface="Calibri"/>
              </a:rPr>
              <a:t> </a:t>
            </a:r>
            <a:r>
              <a:rPr sz="2800" spc="-15" dirty="0">
                <a:latin typeface="Calibri"/>
                <a:cs typeface="Calibri"/>
              </a:rPr>
              <a:t>software</a:t>
            </a:r>
            <a:r>
              <a:rPr sz="2800" spc="10" dirty="0">
                <a:latin typeface="Calibri"/>
                <a:cs typeface="Calibri"/>
              </a:rPr>
              <a:t> </a:t>
            </a:r>
            <a:r>
              <a:rPr sz="2800" spc="-10" dirty="0">
                <a:latin typeface="Calibri"/>
                <a:cs typeface="Calibri"/>
              </a:rPr>
              <a:t>deliverables,</a:t>
            </a:r>
            <a:r>
              <a:rPr sz="2800" spc="25" dirty="0">
                <a:latin typeface="Calibri"/>
                <a:cs typeface="Calibri"/>
              </a:rPr>
              <a:t> </a:t>
            </a:r>
            <a:r>
              <a:rPr sz="2800" spc="-5" dirty="0">
                <a:latin typeface="Calibri"/>
                <a:cs typeface="Calibri"/>
              </a:rPr>
              <a:t>especially</a:t>
            </a:r>
            <a:r>
              <a:rPr sz="2800" spc="10" dirty="0">
                <a:latin typeface="Calibri"/>
                <a:cs typeface="Calibri"/>
              </a:rPr>
              <a:t> </a:t>
            </a:r>
            <a:r>
              <a:rPr sz="2800" spc="-5" dirty="0">
                <a:latin typeface="Calibri"/>
                <a:cs typeface="Calibri"/>
              </a:rPr>
              <a:t>the</a:t>
            </a:r>
            <a:r>
              <a:rPr sz="2800" spc="20" dirty="0">
                <a:latin typeface="Calibri"/>
                <a:cs typeface="Calibri"/>
              </a:rPr>
              <a:t> </a:t>
            </a:r>
            <a:r>
              <a:rPr sz="2800" spc="-15" dirty="0">
                <a:latin typeface="Calibri"/>
                <a:cs typeface="Calibri"/>
              </a:rPr>
              <a:t>large</a:t>
            </a:r>
            <a:r>
              <a:rPr sz="2800" spc="5" dirty="0">
                <a:latin typeface="Calibri"/>
                <a:cs typeface="Calibri"/>
              </a:rPr>
              <a:t> </a:t>
            </a:r>
            <a:r>
              <a:rPr sz="2800" spc="-10" dirty="0">
                <a:latin typeface="Calibri"/>
                <a:cs typeface="Calibri"/>
              </a:rPr>
              <a:t>ones,</a:t>
            </a:r>
            <a:r>
              <a:rPr sz="2800" spc="15" dirty="0">
                <a:latin typeface="Calibri"/>
                <a:cs typeface="Calibri"/>
              </a:rPr>
              <a:t> </a:t>
            </a:r>
            <a:r>
              <a:rPr sz="2800" spc="-5" dirty="0">
                <a:latin typeface="Calibri"/>
                <a:cs typeface="Calibri"/>
              </a:rPr>
              <a:t>it</a:t>
            </a:r>
            <a:r>
              <a:rPr sz="2800" spc="15" dirty="0">
                <a:latin typeface="Calibri"/>
                <a:cs typeface="Calibri"/>
              </a:rPr>
              <a:t> </a:t>
            </a:r>
            <a:r>
              <a:rPr sz="2800" spc="-5" dirty="0">
                <a:latin typeface="Calibri"/>
                <a:cs typeface="Calibri"/>
              </a:rPr>
              <a:t>is </a:t>
            </a:r>
            <a:r>
              <a:rPr sz="2800" dirty="0">
                <a:latin typeface="Calibri"/>
                <a:cs typeface="Calibri"/>
              </a:rPr>
              <a:t> </a:t>
            </a:r>
            <a:r>
              <a:rPr sz="2800" spc="-10" dirty="0">
                <a:latin typeface="Calibri"/>
                <a:cs typeface="Calibri"/>
              </a:rPr>
              <a:t>difficult</a:t>
            </a:r>
            <a:r>
              <a:rPr sz="2800" spc="30" dirty="0">
                <a:latin typeface="Calibri"/>
                <a:cs typeface="Calibri"/>
              </a:rPr>
              <a:t> </a:t>
            </a:r>
            <a:r>
              <a:rPr sz="2800" spc="-15" dirty="0">
                <a:latin typeface="Calibri"/>
                <a:cs typeface="Calibri"/>
              </a:rPr>
              <a:t>to</a:t>
            </a:r>
            <a:r>
              <a:rPr sz="2800" spc="10" dirty="0">
                <a:latin typeface="Calibri"/>
                <a:cs typeface="Calibri"/>
              </a:rPr>
              <a:t> </a:t>
            </a:r>
            <a:r>
              <a:rPr sz="2800" spc="-5" dirty="0">
                <a:latin typeface="Calibri"/>
                <a:cs typeface="Calibri"/>
              </a:rPr>
              <a:t>assess</a:t>
            </a:r>
            <a:r>
              <a:rPr sz="2800" spc="40" dirty="0">
                <a:latin typeface="Calibri"/>
                <a:cs typeface="Calibri"/>
              </a:rPr>
              <a:t> </a:t>
            </a:r>
            <a:r>
              <a:rPr sz="2800" spc="-5" dirty="0">
                <a:latin typeface="Calibri"/>
                <a:cs typeface="Calibri"/>
              </a:rPr>
              <a:t>the</a:t>
            </a:r>
            <a:r>
              <a:rPr sz="2800" spc="5" dirty="0">
                <a:latin typeface="Calibri"/>
                <a:cs typeface="Calibri"/>
              </a:rPr>
              <a:t> </a:t>
            </a:r>
            <a:r>
              <a:rPr sz="2800" spc="-25" dirty="0">
                <a:latin typeface="Calibri"/>
                <a:cs typeface="Calibri"/>
              </a:rPr>
              <a:t>effort</a:t>
            </a:r>
            <a:r>
              <a:rPr sz="2800" spc="15" dirty="0">
                <a:latin typeface="Calibri"/>
                <a:cs typeface="Calibri"/>
              </a:rPr>
              <a:t> </a:t>
            </a:r>
            <a:r>
              <a:rPr sz="2800" spc="-15" dirty="0">
                <a:latin typeface="Calibri"/>
                <a:cs typeface="Calibri"/>
              </a:rPr>
              <a:t>required</a:t>
            </a:r>
            <a:r>
              <a:rPr sz="2800" spc="30" dirty="0">
                <a:latin typeface="Calibri"/>
                <a:cs typeface="Calibri"/>
              </a:rPr>
              <a:t> </a:t>
            </a:r>
            <a:r>
              <a:rPr sz="2800" spc="-15" dirty="0">
                <a:latin typeface="Calibri"/>
                <a:cs typeface="Calibri"/>
              </a:rPr>
              <a:t>at</a:t>
            </a:r>
            <a:r>
              <a:rPr sz="2800" spc="5" dirty="0">
                <a:latin typeface="Calibri"/>
                <a:cs typeface="Calibri"/>
              </a:rPr>
              <a:t> </a:t>
            </a:r>
            <a:r>
              <a:rPr sz="2800" spc="-5" dirty="0">
                <a:latin typeface="Calibri"/>
                <a:cs typeface="Calibri"/>
              </a:rPr>
              <a:t>the</a:t>
            </a:r>
            <a:r>
              <a:rPr sz="2800" spc="15" dirty="0">
                <a:latin typeface="Calibri"/>
                <a:cs typeface="Calibri"/>
              </a:rPr>
              <a:t> </a:t>
            </a:r>
            <a:r>
              <a:rPr sz="2800" spc="-10" dirty="0">
                <a:latin typeface="Calibri"/>
                <a:cs typeface="Calibri"/>
              </a:rPr>
              <a:t>beginning</a:t>
            </a:r>
            <a:r>
              <a:rPr sz="2800" spc="30" dirty="0">
                <a:latin typeface="Calibri"/>
                <a:cs typeface="Calibri"/>
              </a:rPr>
              <a:t> </a:t>
            </a:r>
            <a:r>
              <a:rPr sz="2800" spc="-5" dirty="0">
                <a:latin typeface="Calibri"/>
                <a:cs typeface="Calibri"/>
              </a:rPr>
              <a:t>of</a:t>
            </a:r>
            <a:r>
              <a:rPr sz="2800" spc="10" dirty="0">
                <a:latin typeface="Calibri"/>
                <a:cs typeface="Calibri"/>
              </a:rPr>
              <a:t> </a:t>
            </a:r>
            <a:r>
              <a:rPr sz="2800" spc="-5" dirty="0">
                <a:latin typeface="Calibri"/>
                <a:cs typeface="Calibri"/>
              </a:rPr>
              <a:t>the</a:t>
            </a:r>
            <a:r>
              <a:rPr sz="2800" spc="25" dirty="0">
                <a:latin typeface="Calibri"/>
                <a:cs typeface="Calibri"/>
              </a:rPr>
              <a:t> </a:t>
            </a:r>
            <a:r>
              <a:rPr sz="2800" spc="-15" dirty="0">
                <a:latin typeface="Calibri"/>
                <a:cs typeface="Calibri"/>
              </a:rPr>
              <a:t>software </a:t>
            </a:r>
            <a:r>
              <a:rPr sz="2800" spc="-620" dirty="0">
                <a:latin typeface="Calibri"/>
                <a:cs typeface="Calibri"/>
              </a:rPr>
              <a:t> </a:t>
            </a:r>
            <a:r>
              <a:rPr sz="2800" spc="-10" dirty="0">
                <a:latin typeface="Calibri"/>
                <a:cs typeface="Calibri"/>
              </a:rPr>
              <a:t>development</a:t>
            </a:r>
            <a:r>
              <a:rPr sz="2800" spc="20" dirty="0">
                <a:latin typeface="Calibri"/>
                <a:cs typeface="Calibri"/>
              </a:rPr>
              <a:t> </a:t>
            </a:r>
            <a:r>
              <a:rPr sz="2800" spc="-25" dirty="0">
                <a:latin typeface="Calibri"/>
                <a:cs typeface="Calibri"/>
              </a:rPr>
              <a:t>life</a:t>
            </a:r>
            <a:r>
              <a:rPr sz="2800" dirty="0">
                <a:latin typeface="Calibri"/>
                <a:cs typeface="Calibri"/>
              </a:rPr>
              <a:t> </a:t>
            </a:r>
            <a:r>
              <a:rPr sz="2800" spc="-10" dirty="0">
                <a:latin typeface="Calibri"/>
                <a:cs typeface="Calibri"/>
              </a:rPr>
              <a:t>cycle.</a:t>
            </a:r>
            <a:endParaRPr sz="2800" dirty="0">
              <a:latin typeface="Calibri"/>
              <a:cs typeface="Calibri"/>
            </a:endParaRPr>
          </a:p>
          <a:p>
            <a:pPr marL="241300" indent="-228600">
              <a:lnSpc>
                <a:spcPct val="100000"/>
              </a:lnSpc>
              <a:spcBef>
                <a:spcPts val="635"/>
              </a:spcBef>
              <a:buFont typeface="Arial MT"/>
              <a:buChar char="•"/>
              <a:tabLst>
                <a:tab pos="241300" algn="l"/>
              </a:tabLst>
            </a:pPr>
            <a:r>
              <a:rPr sz="2800" spc="-15" dirty="0">
                <a:latin typeface="Calibri"/>
                <a:cs typeface="Calibri"/>
              </a:rPr>
              <a:t>There</a:t>
            </a:r>
            <a:r>
              <a:rPr sz="2800" spc="5" dirty="0">
                <a:latin typeface="Calibri"/>
                <a:cs typeface="Calibri"/>
              </a:rPr>
              <a:t> </a:t>
            </a:r>
            <a:r>
              <a:rPr sz="2800" spc="-5" dirty="0">
                <a:latin typeface="Calibri"/>
                <a:cs typeface="Calibri"/>
              </a:rPr>
              <a:t>is</a:t>
            </a:r>
            <a:r>
              <a:rPr sz="2800" spc="15" dirty="0">
                <a:latin typeface="Calibri"/>
                <a:cs typeface="Calibri"/>
              </a:rPr>
              <a:t> </a:t>
            </a:r>
            <a:r>
              <a:rPr sz="2800" spc="-5" dirty="0">
                <a:latin typeface="Calibri"/>
                <a:cs typeface="Calibri"/>
              </a:rPr>
              <a:t>lack</a:t>
            </a:r>
            <a:r>
              <a:rPr sz="2800" spc="10" dirty="0">
                <a:latin typeface="Calibri"/>
                <a:cs typeface="Calibri"/>
              </a:rPr>
              <a:t> </a:t>
            </a:r>
            <a:r>
              <a:rPr sz="2800" spc="-5" dirty="0">
                <a:latin typeface="Calibri"/>
                <a:cs typeface="Calibri"/>
              </a:rPr>
              <a:t>of</a:t>
            </a:r>
            <a:r>
              <a:rPr sz="2800" spc="10" dirty="0">
                <a:latin typeface="Calibri"/>
                <a:cs typeface="Calibri"/>
              </a:rPr>
              <a:t> </a:t>
            </a:r>
            <a:r>
              <a:rPr sz="2800" spc="-5" dirty="0">
                <a:latin typeface="Calibri"/>
                <a:cs typeface="Calibri"/>
              </a:rPr>
              <a:t>emphasis</a:t>
            </a:r>
            <a:r>
              <a:rPr sz="2800" spc="50" dirty="0">
                <a:latin typeface="Calibri"/>
                <a:cs typeface="Calibri"/>
              </a:rPr>
              <a:t> </a:t>
            </a:r>
            <a:r>
              <a:rPr sz="2800" spc="-5" dirty="0">
                <a:latin typeface="Calibri"/>
                <a:cs typeface="Calibri"/>
              </a:rPr>
              <a:t>on</a:t>
            </a:r>
            <a:r>
              <a:rPr sz="2800" spc="20" dirty="0">
                <a:latin typeface="Calibri"/>
                <a:cs typeface="Calibri"/>
              </a:rPr>
              <a:t> </a:t>
            </a:r>
            <a:r>
              <a:rPr sz="2800" spc="-5" dirty="0">
                <a:latin typeface="Calibri"/>
                <a:cs typeface="Calibri"/>
              </a:rPr>
              <a:t>necessary</a:t>
            </a:r>
            <a:r>
              <a:rPr sz="2800" spc="10" dirty="0">
                <a:latin typeface="Calibri"/>
                <a:cs typeface="Calibri"/>
              </a:rPr>
              <a:t> </a:t>
            </a:r>
            <a:r>
              <a:rPr sz="2800" spc="-10" dirty="0">
                <a:latin typeface="Calibri"/>
                <a:cs typeface="Calibri"/>
              </a:rPr>
              <a:t>designing</a:t>
            </a:r>
            <a:r>
              <a:rPr sz="2800" spc="25" dirty="0">
                <a:latin typeface="Calibri"/>
                <a:cs typeface="Calibri"/>
              </a:rPr>
              <a:t> </a:t>
            </a:r>
            <a:r>
              <a:rPr sz="2800" spc="-5" dirty="0">
                <a:latin typeface="Calibri"/>
                <a:cs typeface="Calibri"/>
              </a:rPr>
              <a:t>and</a:t>
            </a:r>
            <a:r>
              <a:rPr sz="2800" spc="30" dirty="0">
                <a:latin typeface="Calibri"/>
                <a:cs typeface="Calibri"/>
              </a:rPr>
              <a:t> </a:t>
            </a:r>
            <a:r>
              <a:rPr sz="2800" spc="-10" dirty="0">
                <a:latin typeface="Calibri"/>
                <a:cs typeface="Calibri"/>
              </a:rPr>
              <a:t>documentation.</a:t>
            </a:r>
            <a:endParaRPr sz="2800" dirty="0">
              <a:latin typeface="Calibri"/>
              <a:cs typeface="Calibri"/>
            </a:endParaRPr>
          </a:p>
          <a:p>
            <a:pPr marL="241300" marR="444500" indent="-228600">
              <a:lnSpc>
                <a:spcPts val="3020"/>
              </a:lnSpc>
              <a:spcBef>
                <a:spcPts val="1045"/>
              </a:spcBef>
              <a:buFont typeface="Arial MT"/>
              <a:buChar char="•"/>
              <a:tabLst>
                <a:tab pos="241300" algn="l"/>
              </a:tabLst>
            </a:pPr>
            <a:r>
              <a:rPr sz="2800" spc="-5" dirty="0">
                <a:latin typeface="Calibri"/>
                <a:cs typeface="Calibri"/>
              </a:rPr>
              <a:t>The </a:t>
            </a:r>
            <a:r>
              <a:rPr sz="2800" spc="-10" dirty="0">
                <a:latin typeface="Calibri"/>
                <a:cs typeface="Calibri"/>
              </a:rPr>
              <a:t>project</a:t>
            </a:r>
            <a:r>
              <a:rPr sz="2800" spc="25" dirty="0">
                <a:latin typeface="Calibri"/>
                <a:cs typeface="Calibri"/>
              </a:rPr>
              <a:t> </a:t>
            </a:r>
            <a:r>
              <a:rPr sz="2800" spc="-10" dirty="0">
                <a:latin typeface="Calibri"/>
                <a:cs typeface="Calibri"/>
              </a:rPr>
              <a:t>can</a:t>
            </a:r>
            <a:r>
              <a:rPr sz="2800" spc="5" dirty="0">
                <a:latin typeface="Calibri"/>
                <a:cs typeface="Calibri"/>
              </a:rPr>
              <a:t> </a:t>
            </a:r>
            <a:r>
              <a:rPr sz="2800" spc="-5" dirty="0">
                <a:latin typeface="Calibri"/>
                <a:cs typeface="Calibri"/>
              </a:rPr>
              <a:t>easily</a:t>
            </a:r>
            <a:r>
              <a:rPr sz="2800" dirty="0">
                <a:latin typeface="Calibri"/>
                <a:cs typeface="Calibri"/>
              </a:rPr>
              <a:t> </a:t>
            </a:r>
            <a:r>
              <a:rPr sz="2800" spc="-15" dirty="0">
                <a:latin typeface="Calibri"/>
                <a:cs typeface="Calibri"/>
              </a:rPr>
              <a:t>go</a:t>
            </a:r>
            <a:r>
              <a:rPr sz="2800" dirty="0">
                <a:latin typeface="Calibri"/>
                <a:cs typeface="Calibri"/>
              </a:rPr>
              <a:t> </a:t>
            </a:r>
            <a:r>
              <a:rPr sz="2800" spc="-10" dirty="0">
                <a:latin typeface="Calibri"/>
                <a:cs typeface="Calibri"/>
              </a:rPr>
              <a:t>off</a:t>
            </a:r>
            <a:r>
              <a:rPr sz="2800" spc="-5" dirty="0">
                <a:latin typeface="Calibri"/>
                <a:cs typeface="Calibri"/>
              </a:rPr>
              <a:t> </a:t>
            </a:r>
            <a:r>
              <a:rPr sz="2800" spc="-15" dirty="0">
                <a:latin typeface="Calibri"/>
                <a:cs typeface="Calibri"/>
              </a:rPr>
              <a:t>track</a:t>
            </a:r>
            <a:r>
              <a:rPr sz="2800" spc="5" dirty="0">
                <a:latin typeface="Calibri"/>
                <a:cs typeface="Calibri"/>
              </a:rPr>
              <a:t> </a:t>
            </a:r>
            <a:r>
              <a:rPr sz="2800" spc="-5" dirty="0">
                <a:latin typeface="Calibri"/>
                <a:cs typeface="Calibri"/>
              </a:rPr>
              <a:t>if</a:t>
            </a:r>
            <a:r>
              <a:rPr sz="2800" dirty="0">
                <a:latin typeface="Calibri"/>
                <a:cs typeface="Calibri"/>
              </a:rPr>
              <a:t> </a:t>
            </a:r>
            <a:r>
              <a:rPr sz="2800" spc="-5" dirty="0">
                <a:latin typeface="Calibri"/>
                <a:cs typeface="Calibri"/>
              </a:rPr>
              <a:t>the</a:t>
            </a:r>
            <a:r>
              <a:rPr sz="2800" spc="20" dirty="0">
                <a:latin typeface="Calibri"/>
                <a:cs typeface="Calibri"/>
              </a:rPr>
              <a:t> </a:t>
            </a:r>
            <a:r>
              <a:rPr sz="2800" spc="-15" dirty="0">
                <a:latin typeface="Calibri"/>
                <a:cs typeface="Calibri"/>
              </a:rPr>
              <a:t>customer</a:t>
            </a:r>
            <a:r>
              <a:rPr sz="2800" spc="35" dirty="0">
                <a:latin typeface="Calibri"/>
                <a:cs typeface="Calibri"/>
              </a:rPr>
              <a:t> </a:t>
            </a:r>
            <a:r>
              <a:rPr sz="2800" spc="-15" dirty="0">
                <a:latin typeface="Calibri"/>
                <a:cs typeface="Calibri"/>
              </a:rPr>
              <a:t>representative</a:t>
            </a:r>
            <a:r>
              <a:rPr sz="2800" spc="15" dirty="0">
                <a:latin typeface="Calibri"/>
                <a:cs typeface="Calibri"/>
              </a:rPr>
              <a:t> </a:t>
            </a:r>
            <a:r>
              <a:rPr sz="2800" spc="-5" dirty="0">
                <a:latin typeface="Calibri"/>
                <a:cs typeface="Calibri"/>
              </a:rPr>
              <a:t>is </a:t>
            </a:r>
            <a:r>
              <a:rPr sz="2800" spc="-620" dirty="0">
                <a:latin typeface="Calibri"/>
                <a:cs typeface="Calibri"/>
              </a:rPr>
              <a:t> </a:t>
            </a:r>
            <a:r>
              <a:rPr sz="2800" spc="-5" dirty="0">
                <a:latin typeface="Calibri"/>
                <a:cs typeface="Calibri"/>
              </a:rPr>
              <a:t>not</a:t>
            </a:r>
            <a:r>
              <a:rPr sz="2800" spc="5" dirty="0">
                <a:latin typeface="Calibri"/>
                <a:cs typeface="Calibri"/>
              </a:rPr>
              <a:t> </a:t>
            </a:r>
            <a:r>
              <a:rPr sz="2800" spc="-5" dirty="0">
                <a:latin typeface="Calibri"/>
                <a:cs typeface="Calibri"/>
              </a:rPr>
              <a:t>clear</a:t>
            </a:r>
            <a:r>
              <a:rPr sz="2800" spc="5" dirty="0">
                <a:latin typeface="Calibri"/>
                <a:cs typeface="Calibri"/>
              </a:rPr>
              <a:t> </a:t>
            </a:r>
            <a:r>
              <a:rPr sz="2800" spc="-5" dirty="0">
                <a:latin typeface="Calibri"/>
                <a:cs typeface="Calibri"/>
              </a:rPr>
              <a:t>what </a:t>
            </a:r>
            <a:r>
              <a:rPr sz="2800" spc="-15" dirty="0">
                <a:latin typeface="Calibri"/>
                <a:cs typeface="Calibri"/>
              </a:rPr>
              <a:t>outcome</a:t>
            </a:r>
            <a:r>
              <a:rPr sz="2800" spc="10" dirty="0">
                <a:latin typeface="Calibri"/>
                <a:cs typeface="Calibri"/>
              </a:rPr>
              <a:t> </a:t>
            </a:r>
            <a:r>
              <a:rPr sz="2800" spc="-10" dirty="0">
                <a:latin typeface="Calibri"/>
                <a:cs typeface="Calibri"/>
              </a:rPr>
              <a:t>that</a:t>
            </a:r>
            <a:r>
              <a:rPr sz="2800" spc="15" dirty="0">
                <a:latin typeface="Calibri"/>
                <a:cs typeface="Calibri"/>
              </a:rPr>
              <a:t> </a:t>
            </a:r>
            <a:r>
              <a:rPr sz="2800" spc="-5" dirty="0">
                <a:latin typeface="Calibri"/>
                <a:cs typeface="Calibri"/>
              </a:rPr>
              <a:t>they</a:t>
            </a:r>
            <a:r>
              <a:rPr sz="2800" dirty="0">
                <a:latin typeface="Calibri"/>
                <a:cs typeface="Calibri"/>
              </a:rPr>
              <a:t> </a:t>
            </a:r>
            <a:r>
              <a:rPr sz="2800" spc="-15" dirty="0">
                <a:latin typeface="Calibri"/>
                <a:cs typeface="Calibri"/>
              </a:rPr>
              <a:t>want.</a:t>
            </a:r>
            <a:endParaRPr sz="2800" dirty="0">
              <a:latin typeface="Calibri"/>
              <a:cs typeface="Calibri"/>
            </a:endParaRPr>
          </a:p>
          <a:p>
            <a:pPr marL="241300" marR="229235" indent="-228600">
              <a:lnSpc>
                <a:spcPts val="3020"/>
              </a:lnSpc>
              <a:spcBef>
                <a:spcPts val="1005"/>
              </a:spcBef>
              <a:buFont typeface="Arial MT"/>
              <a:buChar char="•"/>
              <a:tabLst>
                <a:tab pos="241300" algn="l"/>
              </a:tabLst>
            </a:pPr>
            <a:r>
              <a:rPr sz="2800" spc="-10" dirty="0">
                <a:latin typeface="Calibri"/>
                <a:cs typeface="Calibri"/>
              </a:rPr>
              <a:t>Only</a:t>
            </a:r>
            <a:r>
              <a:rPr sz="2800" spc="20" dirty="0">
                <a:latin typeface="Calibri"/>
                <a:cs typeface="Calibri"/>
              </a:rPr>
              <a:t> </a:t>
            </a:r>
            <a:r>
              <a:rPr sz="2800" spc="-10" dirty="0">
                <a:latin typeface="Calibri"/>
                <a:cs typeface="Calibri"/>
              </a:rPr>
              <a:t>senior</a:t>
            </a:r>
            <a:r>
              <a:rPr sz="2800" spc="20" dirty="0">
                <a:latin typeface="Calibri"/>
                <a:cs typeface="Calibri"/>
              </a:rPr>
              <a:t> </a:t>
            </a:r>
            <a:r>
              <a:rPr sz="2800" spc="-20" dirty="0">
                <a:latin typeface="Calibri"/>
                <a:cs typeface="Calibri"/>
              </a:rPr>
              <a:t>programmers</a:t>
            </a:r>
            <a:r>
              <a:rPr sz="2800" spc="30" dirty="0">
                <a:latin typeface="Calibri"/>
                <a:cs typeface="Calibri"/>
              </a:rPr>
              <a:t> </a:t>
            </a:r>
            <a:r>
              <a:rPr sz="2800" spc="-15" dirty="0">
                <a:latin typeface="Calibri"/>
                <a:cs typeface="Calibri"/>
              </a:rPr>
              <a:t>are</a:t>
            </a:r>
            <a:r>
              <a:rPr sz="2800" spc="10" dirty="0">
                <a:latin typeface="Calibri"/>
                <a:cs typeface="Calibri"/>
              </a:rPr>
              <a:t> </a:t>
            </a:r>
            <a:r>
              <a:rPr sz="2800" spc="-5" dirty="0">
                <a:latin typeface="Calibri"/>
                <a:cs typeface="Calibri"/>
              </a:rPr>
              <a:t>capable</a:t>
            </a:r>
            <a:r>
              <a:rPr sz="2800" dirty="0">
                <a:latin typeface="Calibri"/>
                <a:cs typeface="Calibri"/>
              </a:rPr>
              <a:t> </a:t>
            </a:r>
            <a:r>
              <a:rPr sz="2800" spc="-5" dirty="0">
                <a:latin typeface="Calibri"/>
                <a:cs typeface="Calibri"/>
              </a:rPr>
              <a:t>of</a:t>
            </a:r>
            <a:r>
              <a:rPr sz="2800" spc="5" dirty="0">
                <a:latin typeface="Calibri"/>
                <a:cs typeface="Calibri"/>
              </a:rPr>
              <a:t> </a:t>
            </a:r>
            <a:r>
              <a:rPr sz="2800" spc="-10" dirty="0">
                <a:latin typeface="Calibri"/>
                <a:cs typeface="Calibri"/>
              </a:rPr>
              <a:t>taking</a:t>
            </a:r>
            <a:r>
              <a:rPr sz="2800" spc="20" dirty="0">
                <a:latin typeface="Calibri"/>
                <a:cs typeface="Calibri"/>
              </a:rPr>
              <a:t> </a:t>
            </a:r>
            <a:r>
              <a:rPr sz="2800" spc="-5" dirty="0">
                <a:latin typeface="Calibri"/>
                <a:cs typeface="Calibri"/>
              </a:rPr>
              <a:t>the</a:t>
            </a:r>
            <a:r>
              <a:rPr sz="2800" spc="25" dirty="0">
                <a:latin typeface="Calibri"/>
                <a:cs typeface="Calibri"/>
              </a:rPr>
              <a:t> </a:t>
            </a:r>
            <a:r>
              <a:rPr sz="2800" spc="-5" dirty="0">
                <a:latin typeface="Calibri"/>
                <a:cs typeface="Calibri"/>
              </a:rPr>
              <a:t>kind</a:t>
            </a:r>
            <a:r>
              <a:rPr sz="2800" spc="25" dirty="0">
                <a:latin typeface="Calibri"/>
                <a:cs typeface="Calibri"/>
              </a:rPr>
              <a:t> </a:t>
            </a:r>
            <a:r>
              <a:rPr sz="2800" spc="-5" dirty="0">
                <a:latin typeface="Calibri"/>
                <a:cs typeface="Calibri"/>
              </a:rPr>
              <a:t>of</a:t>
            </a:r>
            <a:r>
              <a:rPr sz="2800" spc="10" dirty="0">
                <a:latin typeface="Calibri"/>
                <a:cs typeface="Calibri"/>
              </a:rPr>
              <a:t> </a:t>
            </a:r>
            <a:r>
              <a:rPr sz="2800" spc="-10" dirty="0">
                <a:latin typeface="Calibri"/>
                <a:cs typeface="Calibri"/>
              </a:rPr>
              <a:t>decisions </a:t>
            </a:r>
            <a:r>
              <a:rPr sz="2800" spc="-620" dirty="0">
                <a:latin typeface="Calibri"/>
                <a:cs typeface="Calibri"/>
              </a:rPr>
              <a:t> </a:t>
            </a:r>
            <a:r>
              <a:rPr sz="2800" spc="-15" dirty="0">
                <a:latin typeface="Calibri"/>
                <a:cs typeface="Calibri"/>
              </a:rPr>
              <a:t>required</a:t>
            </a:r>
            <a:r>
              <a:rPr sz="2800" spc="35" dirty="0">
                <a:latin typeface="Calibri"/>
                <a:cs typeface="Calibri"/>
              </a:rPr>
              <a:t> </a:t>
            </a:r>
            <a:r>
              <a:rPr sz="2800" spc="-10" dirty="0">
                <a:latin typeface="Calibri"/>
                <a:cs typeface="Calibri"/>
              </a:rPr>
              <a:t>during</a:t>
            </a:r>
            <a:r>
              <a:rPr sz="2800" spc="25" dirty="0">
                <a:latin typeface="Calibri"/>
                <a:cs typeface="Calibri"/>
              </a:rPr>
              <a:t> </a:t>
            </a:r>
            <a:r>
              <a:rPr sz="2800" spc="-5" dirty="0">
                <a:latin typeface="Calibri"/>
                <a:cs typeface="Calibri"/>
              </a:rPr>
              <a:t>the</a:t>
            </a:r>
            <a:r>
              <a:rPr sz="2800" spc="15" dirty="0">
                <a:latin typeface="Calibri"/>
                <a:cs typeface="Calibri"/>
              </a:rPr>
              <a:t> </a:t>
            </a:r>
            <a:r>
              <a:rPr sz="2800" spc="-10" dirty="0">
                <a:latin typeface="Calibri"/>
                <a:cs typeface="Calibri"/>
              </a:rPr>
              <a:t>development</a:t>
            </a:r>
            <a:r>
              <a:rPr sz="2800" spc="25" dirty="0">
                <a:latin typeface="Calibri"/>
                <a:cs typeface="Calibri"/>
              </a:rPr>
              <a:t> </a:t>
            </a:r>
            <a:r>
              <a:rPr sz="2800" spc="-10" dirty="0">
                <a:latin typeface="Calibri"/>
                <a:cs typeface="Calibri"/>
              </a:rPr>
              <a:t>process.</a:t>
            </a:r>
            <a:endParaRPr sz="2800" dirty="0">
              <a:latin typeface="Calibri"/>
              <a:cs typeface="Calibri"/>
            </a:endParaRPr>
          </a:p>
          <a:p>
            <a:pPr marL="241300" marR="906144" indent="-228600">
              <a:lnSpc>
                <a:spcPts val="3020"/>
              </a:lnSpc>
              <a:spcBef>
                <a:spcPts val="1019"/>
              </a:spcBef>
              <a:buFont typeface="Arial MT"/>
              <a:buChar char="•"/>
              <a:tabLst>
                <a:tab pos="241300" algn="l"/>
              </a:tabLst>
            </a:pPr>
            <a:r>
              <a:rPr sz="2800" spc="-5" dirty="0">
                <a:latin typeface="Calibri"/>
                <a:cs typeface="Calibri"/>
              </a:rPr>
              <a:t>Risky</a:t>
            </a:r>
            <a:r>
              <a:rPr sz="2800" spc="20" dirty="0">
                <a:latin typeface="Calibri"/>
                <a:cs typeface="Calibri"/>
              </a:rPr>
              <a:t> </a:t>
            </a:r>
            <a:r>
              <a:rPr sz="2800" spc="-25" dirty="0">
                <a:latin typeface="Calibri"/>
                <a:cs typeface="Calibri"/>
              </a:rPr>
              <a:t>for</a:t>
            </a:r>
            <a:r>
              <a:rPr sz="2800" spc="25" dirty="0">
                <a:latin typeface="Calibri"/>
                <a:cs typeface="Calibri"/>
              </a:rPr>
              <a:t> </a:t>
            </a:r>
            <a:r>
              <a:rPr sz="2800" spc="-10" dirty="0">
                <a:latin typeface="Calibri"/>
                <a:cs typeface="Calibri"/>
              </a:rPr>
              <a:t>new</a:t>
            </a:r>
            <a:r>
              <a:rPr sz="2800" spc="20" dirty="0">
                <a:latin typeface="Calibri"/>
                <a:cs typeface="Calibri"/>
              </a:rPr>
              <a:t> </a:t>
            </a:r>
            <a:r>
              <a:rPr sz="2800" spc="-20" dirty="0">
                <a:latin typeface="Calibri"/>
                <a:cs typeface="Calibri"/>
              </a:rPr>
              <a:t>programmers,</a:t>
            </a:r>
            <a:r>
              <a:rPr sz="2800" spc="35" dirty="0">
                <a:latin typeface="Calibri"/>
                <a:cs typeface="Calibri"/>
              </a:rPr>
              <a:t> </a:t>
            </a:r>
            <a:r>
              <a:rPr sz="2800" spc="-10" dirty="0">
                <a:latin typeface="Calibri"/>
                <a:cs typeface="Calibri"/>
              </a:rPr>
              <a:t>unless</a:t>
            </a:r>
            <a:r>
              <a:rPr sz="2800" spc="40" dirty="0">
                <a:latin typeface="Calibri"/>
                <a:cs typeface="Calibri"/>
              </a:rPr>
              <a:t> </a:t>
            </a:r>
            <a:r>
              <a:rPr sz="2800" spc="-10" dirty="0">
                <a:latin typeface="Calibri"/>
                <a:cs typeface="Calibri"/>
              </a:rPr>
              <a:t>combined</a:t>
            </a:r>
            <a:r>
              <a:rPr sz="2800" spc="55" dirty="0">
                <a:latin typeface="Calibri"/>
                <a:cs typeface="Calibri"/>
              </a:rPr>
              <a:t> </a:t>
            </a:r>
            <a:r>
              <a:rPr sz="2800" spc="-5" dirty="0">
                <a:latin typeface="Calibri"/>
                <a:cs typeface="Calibri"/>
              </a:rPr>
              <a:t>with</a:t>
            </a:r>
            <a:r>
              <a:rPr sz="2800" spc="15" dirty="0">
                <a:latin typeface="Calibri"/>
                <a:cs typeface="Calibri"/>
              </a:rPr>
              <a:t> </a:t>
            </a:r>
            <a:r>
              <a:rPr sz="2800" spc="-15" dirty="0">
                <a:latin typeface="Calibri"/>
                <a:cs typeface="Calibri"/>
              </a:rPr>
              <a:t>experienced </a:t>
            </a:r>
            <a:r>
              <a:rPr sz="2800" spc="-620" dirty="0">
                <a:latin typeface="Calibri"/>
                <a:cs typeface="Calibri"/>
              </a:rPr>
              <a:t> </a:t>
            </a:r>
            <a:r>
              <a:rPr sz="2800" spc="-10" dirty="0">
                <a:latin typeface="Calibri"/>
                <a:cs typeface="Calibri"/>
              </a:rPr>
              <a:t>resources.</a:t>
            </a:r>
            <a:endParaRPr sz="2800" dirty="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
        <p:nvSpPr>
          <p:cNvPr id="2" name="object 2"/>
          <p:cNvSpPr txBox="1">
            <a:spLocks noGrp="1"/>
          </p:cNvSpPr>
          <p:nvPr>
            <p:ph type="title"/>
          </p:nvPr>
        </p:nvSpPr>
        <p:spPr>
          <a:xfrm>
            <a:off x="916939" y="447243"/>
            <a:ext cx="6450965" cy="697230"/>
          </a:xfrm>
          <a:prstGeom prst="rect">
            <a:avLst/>
          </a:prstGeom>
        </p:spPr>
        <p:txBody>
          <a:bodyPr vert="horz" wrap="square" lIns="0" tIns="13335" rIns="0" bIns="0" rtlCol="0">
            <a:spAutoFit/>
          </a:bodyPr>
          <a:lstStyle/>
          <a:p>
            <a:pPr marL="12700">
              <a:lnSpc>
                <a:spcPct val="100000"/>
              </a:lnSpc>
              <a:spcBef>
                <a:spcPts val="105"/>
              </a:spcBef>
            </a:pPr>
            <a:r>
              <a:rPr sz="4400" spc="-35" dirty="0"/>
              <a:t>When</a:t>
            </a:r>
            <a:r>
              <a:rPr sz="4400" spc="-114" dirty="0"/>
              <a:t> </a:t>
            </a:r>
            <a:r>
              <a:rPr sz="4400" spc="-35" dirty="0"/>
              <a:t>to</a:t>
            </a:r>
            <a:r>
              <a:rPr sz="4400" spc="-70" dirty="0"/>
              <a:t> </a:t>
            </a:r>
            <a:r>
              <a:rPr sz="4400" spc="-20" dirty="0"/>
              <a:t>use</a:t>
            </a:r>
            <a:r>
              <a:rPr sz="4400" spc="-95" dirty="0"/>
              <a:t> </a:t>
            </a:r>
            <a:r>
              <a:rPr sz="4400" spc="-20" dirty="0"/>
              <a:t>the</a:t>
            </a:r>
            <a:r>
              <a:rPr sz="4400" spc="-80" dirty="0"/>
              <a:t> </a:t>
            </a:r>
            <a:r>
              <a:rPr sz="4400" spc="-20" dirty="0"/>
              <a:t>Agile</a:t>
            </a:r>
            <a:r>
              <a:rPr sz="4400" spc="-110" dirty="0"/>
              <a:t> </a:t>
            </a:r>
            <a:r>
              <a:rPr sz="4400" spc="-35" dirty="0"/>
              <a:t>Model</a:t>
            </a:r>
            <a:endParaRPr sz="4400"/>
          </a:p>
        </p:txBody>
      </p:sp>
      <p:sp>
        <p:nvSpPr>
          <p:cNvPr id="3" name="object 3"/>
          <p:cNvSpPr txBox="1">
            <a:spLocks noGrp="1"/>
          </p:cNvSpPr>
          <p:nvPr>
            <p:ph type="body" idx="1"/>
          </p:nvPr>
        </p:nvSpPr>
        <p:spPr>
          <a:prstGeom prst="rect">
            <a:avLst/>
          </a:prstGeom>
        </p:spPr>
        <p:txBody>
          <a:bodyPr vert="horz" wrap="square" lIns="0" tIns="13335" rIns="0" bIns="0" rtlCol="0">
            <a:spAutoFit/>
          </a:bodyPr>
          <a:lstStyle/>
          <a:p>
            <a:pPr marL="258445" indent="-228600">
              <a:lnSpc>
                <a:spcPts val="2960"/>
              </a:lnSpc>
              <a:spcBef>
                <a:spcPts val="105"/>
              </a:spcBef>
              <a:buFont typeface="Arial MT"/>
              <a:buChar char="•"/>
              <a:tabLst>
                <a:tab pos="259079" algn="l"/>
              </a:tabLst>
            </a:pPr>
            <a:r>
              <a:rPr dirty="0"/>
              <a:t>When</a:t>
            </a:r>
            <a:r>
              <a:rPr spc="-5" dirty="0"/>
              <a:t> </a:t>
            </a:r>
            <a:r>
              <a:rPr spc="-10" dirty="0"/>
              <a:t>new</a:t>
            </a:r>
            <a:r>
              <a:rPr dirty="0"/>
              <a:t> </a:t>
            </a:r>
            <a:r>
              <a:rPr spc="-5" dirty="0"/>
              <a:t>changes</a:t>
            </a:r>
            <a:r>
              <a:rPr spc="-15" dirty="0"/>
              <a:t> </a:t>
            </a:r>
            <a:r>
              <a:rPr spc="-5" dirty="0"/>
              <a:t>need </a:t>
            </a:r>
            <a:r>
              <a:rPr spc="-15" dirty="0"/>
              <a:t>to </a:t>
            </a:r>
            <a:r>
              <a:rPr dirty="0"/>
              <a:t>be</a:t>
            </a:r>
            <a:r>
              <a:rPr spc="-15" dirty="0"/>
              <a:t> </a:t>
            </a:r>
            <a:r>
              <a:rPr spc="-5" dirty="0"/>
              <a:t>implemented.</a:t>
            </a:r>
            <a:r>
              <a:rPr spc="-30" dirty="0"/>
              <a:t> </a:t>
            </a:r>
            <a:r>
              <a:rPr spc="-5" dirty="0"/>
              <a:t>New</a:t>
            </a:r>
            <a:r>
              <a:rPr dirty="0"/>
              <a:t> </a:t>
            </a:r>
            <a:r>
              <a:rPr spc="-5" dirty="0"/>
              <a:t>changes</a:t>
            </a:r>
            <a:r>
              <a:rPr spc="-15" dirty="0"/>
              <a:t> </a:t>
            </a:r>
            <a:r>
              <a:rPr spc="-10" dirty="0"/>
              <a:t>can</a:t>
            </a:r>
            <a:r>
              <a:rPr dirty="0"/>
              <a:t> </a:t>
            </a:r>
            <a:r>
              <a:rPr spc="-5" dirty="0"/>
              <a:t>be</a:t>
            </a:r>
          </a:p>
          <a:p>
            <a:pPr marL="258445" marR="571500">
              <a:lnSpc>
                <a:spcPct val="70000"/>
              </a:lnSpc>
              <a:spcBef>
                <a:spcPts val="525"/>
              </a:spcBef>
            </a:pPr>
            <a:r>
              <a:rPr spc="-5" dirty="0"/>
              <a:t>implemented </a:t>
            </a:r>
            <a:r>
              <a:rPr spc="-15" dirty="0"/>
              <a:t>at </a:t>
            </a:r>
            <a:r>
              <a:rPr spc="-10" dirty="0"/>
              <a:t>very </a:t>
            </a:r>
            <a:r>
              <a:rPr spc="-5" dirty="0"/>
              <a:t>little </a:t>
            </a:r>
            <a:r>
              <a:rPr spc="-15" dirty="0"/>
              <a:t>cost </a:t>
            </a:r>
            <a:r>
              <a:rPr spc="-5" dirty="0"/>
              <a:t>because of </a:t>
            </a:r>
            <a:r>
              <a:rPr dirty="0"/>
              <a:t>the </a:t>
            </a:r>
            <a:r>
              <a:rPr spc="-5" dirty="0"/>
              <a:t>frequency of </a:t>
            </a:r>
            <a:r>
              <a:rPr spc="-10" dirty="0"/>
              <a:t>new </a:t>
            </a:r>
            <a:r>
              <a:rPr spc="-645" dirty="0"/>
              <a:t> </a:t>
            </a:r>
            <a:r>
              <a:rPr spc="-10" dirty="0"/>
              <a:t>increments</a:t>
            </a:r>
            <a:r>
              <a:rPr spc="-15" dirty="0"/>
              <a:t> </a:t>
            </a:r>
            <a:r>
              <a:rPr spc="-5" dirty="0"/>
              <a:t>that</a:t>
            </a:r>
            <a:r>
              <a:rPr dirty="0"/>
              <a:t> </a:t>
            </a:r>
            <a:r>
              <a:rPr spc="-15" dirty="0"/>
              <a:t>are</a:t>
            </a:r>
            <a:r>
              <a:rPr spc="-10" dirty="0"/>
              <a:t> produced.</a:t>
            </a:r>
          </a:p>
          <a:p>
            <a:pPr marL="17145">
              <a:lnSpc>
                <a:spcPct val="100000"/>
              </a:lnSpc>
              <a:spcBef>
                <a:spcPts val="40"/>
              </a:spcBef>
            </a:pPr>
            <a:endParaRPr sz="3600" dirty="0"/>
          </a:p>
          <a:p>
            <a:pPr marL="258445" marR="188595" indent="-228600">
              <a:lnSpc>
                <a:spcPct val="70000"/>
              </a:lnSpc>
              <a:spcBef>
                <a:spcPts val="5"/>
              </a:spcBef>
              <a:buFont typeface="Arial MT"/>
              <a:buChar char="•"/>
              <a:tabLst>
                <a:tab pos="259079" algn="l"/>
              </a:tabLst>
            </a:pPr>
            <a:r>
              <a:rPr spc="-125" dirty="0"/>
              <a:t>To</a:t>
            </a:r>
            <a:r>
              <a:rPr spc="-25" dirty="0"/>
              <a:t> </a:t>
            </a:r>
            <a:r>
              <a:rPr spc="-5" dirty="0"/>
              <a:t>implement</a:t>
            </a:r>
            <a:r>
              <a:rPr spc="-25" dirty="0"/>
              <a:t> </a:t>
            </a:r>
            <a:r>
              <a:rPr dirty="0"/>
              <a:t>a</a:t>
            </a:r>
            <a:r>
              <a:rPr spc="5" dirty="0"/>
              <a:t> </a:t>
            </a:r>
            <a:r>
              <a:rPr spc="-10" dirty="0"/>
              <a:t>new</a:t>
            </a:r>
            <a:r>
              <a:rPr spc="5" dirty="0"/>
              <a:t> </a:t>
            </a:r>
            <a:r>
              <a:rPr spc="-20" dirty="0"/>
              <a:t>feature</a:t>
            </a:r>
            <a:r>
              <a:rPr spc="-15" dirty="0"/>
              <a:t> </a:t>
            </a:r>
            <a:r>
              <a:rPr dirty="0"/>
              <a:t>the</a:t>
            </a:r>
            <a:r>
              <a:rPr spc="5" dirty="0"/>
              <a:t> </a:t>
            </a:r>
            <a:r>
              <a:rPr spc="-10" dirty="0"/>
              <a:t>developers</a:t>
            </a:r>
            <a:r>
              <a:rPr spc="-20" dirty="0"/>
              <a:t> </a:t>
            </a:r>
            <a:r>
              <a:rPr spc="-5" dirty="0"/>
              <a:t>need</a:t>
            </a:r>
            <a:r>
              <a:rPr dirty="0"/>
              <a:t> </a:t>
            </a:r>
            <a:r>
              <a:rPr spc="-15" dirty="0"/>
              <a:t>to </a:t>
            </a:r>
            <a:r>
              <a:rPr dirty="0"/>
              <a:t>lose</a:t>
            </a:r>
            <a:r>
              <a:rPr spc="-25" dirty="0"/>
              <a:t> </a:t>
            </a:r>
            <a:r>
              <a:rPr dirty="0"/>
              <a:t>only</a:t>
            </a:r>
            <a:r>
              <a:rPr spc="-15" dirty="0"/>
              <a:t> </a:t>
            </a:r>
            <a:r>
              <a:rPr dirty="0"/>
              <a:t>the </a:t>
            </a:r>
            <a:r>
              <a:rPr spc="5" dirty="0"/>
              <a:t> </a:t>
            </a:r>
            <a:r>
              <a:rPr spc="-10" dirty="0"/>
              <a:t>work</a:t>
            </a:r>
            <a:r>
              <a:rPr spc="-15" dirty="0"/>
              <a:t> </a:t>
            </a:r>
            <a:r>
              <a:rPr spc="-5" dirty="0"/>
              <a:t>of </a:t>
            </a:r>
            <a:r>
              <a:rPr dirty="0"/>
              <a:t>a </a:t>
            </a:r>
            <a:r>
              <a:rPr spc="-30" dirty="0"/>
              <a:t>few</a:t>
            </a:r>
            <a:r>
              <a:rPr spc="-10" dirty="0"/>
              <a:t> </a:t>
            </a:r>
            <a:r>
              <a:rPr spc="-15" dirty="0"/>
              <a:t>days,</a:t>
            </a:r>
            <a:r>
              <a:rPr spc="-10" dirty="0"/>
              <a:t> </a:t>
            </a:r>
            <a:r>
              <a:rPr spc="-5" dirty="0"/>
              <a:t>or </a:t>
            </a:r>
            <a:r>
              <a:rPr spc="-15" dirty="0"/>
              <a:t>even </a:t>
            </a:r>
            <a:r>
              <a:rPr dirty="0"/>
              <a:t>only</a:t>
            </a:r>
            <a:r>
              <a:rPr spc="-15" dirty="0"/>
              <a:t> </a:t>
            </a:r>
            <a:r>
              <a:rPr spc="-10" dirty="0"/>
              <a:t>hours,</a:t>
            </a:r>
            <a:r>
              <a:rPr dirty="0"/>
              <a:t> </a:t>
            </a:r>
            <a:r>
              <a:rPr spc="-15" dirty="0"/>
              <a:t>to</a:t>
            </a:r>
            <a:r>
              <a:rPr spc="-5" dirty="0"/>
              <a:t> </a:t>
            </a:r>
            <a:r>
              <a:rPr spc="-15" dirty="0"/>
              <a:t>roll</a:t>
            </a:r>
            <a:r>
              <a:rPr spc="-20" dirty="0"/>
              <a:t> </a:t>
            </a:r>
            <a:r>
              <a:rPr spc="-5" dirty="0"/>
              <a:t>back</a:t>
            </a:r>
            <a:r>
              <a:rPr dirty="0"/>
              <a:t> and</a:t>
            </a:r>
            <a:r>
              <a:rPr spc="5" dirty="0"/>
              <a:t> </a:t>
            </a:r>
            <a:r>
              <a:rPr spc="-5" dirty="0"/>
              <a:t>implement </a:t>
            </a:r>
            <a:r>
              <a:rPr spc="-640" dirty="0"/>
              <a:t> </a:t>
            </a:r>
            <a:r>
              <a:rPr dirty="0"/>
              <a:t>it.</a:t>
            </a:r>
          </a:p>
          <a:p>
            <a:pPr marL="17145">
              <a:lnSpc>
                <a:spcPct val="100000"/>
              </a:lnSpc>
              <a:spcBef>
                <a:spcPts val="45"/>
              </a:spcBef>
              <a:buFont typeface="Arial MT"/>
              <a:buChar char="•"/>
            </a:pPr>
            <a:endParaRPr sz="3600" dirty="0"/>
          </a:p>
          <a:p>
            <a:pPr marL="258445" marR="5080" indent="-228600">
              <a:lnSpc>
                <a:spcPct val="70000"/>
              </a:lnSpc>
              <a:buFont typeface="Arial MT"/>
              <a:buChar char="•"/>
              <a:tabLst>
                <a:tab pos="259079" algn="l"/>
              </a:tabLst>
            </a:pPr>
            <a:r>
              <a:rPr spc="-35" dirty="0"/>
              <a:t>At</a:t>
            </a:r>
            <a:r>
              <a:rPr dirty="0"/>
              <a:t> </a:t>
            </a:r>
            <a:r>
              <a:rPr spc="-5" dirty="0"/>
              <a:t>unclear</a:t>
            </a:r>
            <a:r>
              <a:rPr spc="-25" dirty="0"/>
              <a:t> </a:t>
            </a:r>
            <a:r>
              <a:rPr spc="-10" dirty="0"/>
              <a:t>requirements.</a:t>
            </a:r>
            <a:r>
              <a:rPr spc="10" dirty="0"/>
              <a:t> </a:t>
            </a:r>
            <a:r>
              <a:rPr dirty="0"/>
              <a:t>Agile</a:t>
            </a:r>
            <a:r>
              <a:rPr spc="-40" dirty="0"/>
              <a:t> </a:t>
            </a:r>
            <a:r>
              <a:rPr dirty="0"/>
              <a:t>assumes</a:t>
            </a:r>
            <a:r>
              <a:rPr spc="-20" dirty="0"/>
              <a:t> </a:t>
            </a:r>
            <a:r>
              <a:rPr spc="-5" dirty="0"/>
              <a:t>that</a:t>
            </a:r>
            <a:r>
              <a:rPr spc="5" dirty="0"/>
              <a:t> </a:t>
            </a:r>
            <a:r>
              <a:rPr dirty="0"/>
              <a:t>the</a:t>
            </a:r>
            <a:r>
              <a:rPr spc="-5" dirty="0"/>
              <a:t> end</a:t>
            </a:r>
            <a:r>
              <a:rPr dirty="0"/>
              <a:t> </a:t>
            </a:r>
            <a:r>
              <a:rPr spc="-15" dirty="0"/>
              <a:t>users’</a:t>
            </a:r>
            <a:r>
              <a:rPr spc="5" dirty="0"/>
              <a:t> </a:t>
            </a:r>
            <a:r>
              <a:rPr spc="-5" dirty="0"/>
              <a:t>needs </a:t>
            </a:r>
            <a:r>
              <a:rPr dirty="0"/>
              <a:t> </a:t>
            </a:r>
            <a:r>
              <a:rPr spc="-10" dirty="0"/>
              <a:t>are ever </a:t>
            </a:r>
            <a:r>
              <a:rPr dirty="0"/>
              <a:t>changing in a dynamic business and IT </a:t>
            </a:r>
            <a:r>
              <a:rPr spc="-5" dirty="0"/>
              <a:t>world. Changes </a:t>
            </a:r>
            <a:r>
              <a:rPr spc="-10" dirty="0"/>
              <a:t>can </a:t>
            </a:r>
            <a:r>
              <a:rPr spc="-5" dirty="0"/>
              <a:t> be discussed </a:t>
            </a:r>
            <a:r>
              <a:rPr dirty="0"/>
              <a:t>and </a:t>
            </a:r>
            <a:r>
              <a:rPr spc="-15" dirty="0"/>
              <a:t>features </a:t>
            </a:r>
            <a:r>
              <a:rPr spc="-10" dirty="0"/>
              <a:t>can </a:t>
            </a:r>
            <a:r>
              <a:rPr spc="-5" dirty="0"/>
              <a:t>be newly </a:t>
            </a:r>
            <a:r>
              <a:rPr spc="-20" dirty="0"/>
              <a:t>effected </a:t>
            </a:r>
            <a:r>
              <a:rPr spc="-5" dirty="0"/>
              <a:t>or </a:t>
            </a:r>
            <a:r>
              <a:rPr spc="-10" dirty="0"/>
              <a:t>removed </a:t>
            </a:r>
            <a:r>
              <a:rPr dirty="0"/>
              <a:t>based </a:t>
            </a:r>
            <a:r>
              <a:rPr spc="5" dirty="0"/>
              <a:t> </a:t>
            </a:r>
            <a:r>
              <a:rPr spc="-5" dirty="0"/>
              <a:t>on </a:t>
            </a:r>
            <a:r>
              <a:rPr spc="-10" dirty="0"/>
              <a:t>feedback. </a:t>
            </a:r>
            <a:r>
              <a:rPr spc="-5" dirty="0"/>
              <a:t>This </a:t>
            </a:r>
            <a:r>
              <a:rPr spc="-15" dirty="0"/>
              <a:t>effectively </a:t>
            </a:r>
            <a:r>
              <a:rPr spc="-5" dirty="0"/>
              <a:t>gives </a:t>
            </a:r>
            <a:r>
              <a:rPr dirty="0"/>
              <a:t>the </a:t>
            </a:r>
            <a:r>
              <a:rPr spc="-10" dirty="0"/>
              <a:t>customer </a:t>
            </a:r>
            <a:r>
              <a:rPr dirty="0"/>
              <a:t>the finished </a:t>
            </a:r>
            <a:r>
              <a:rPr spc="-20" dirty="0"/>
              <a:t>system </a:t>
            </a:r>
            <a:r>
              <a:rPr spc="-645" dirty="0"/>
              <a:t> </a:t>
            </a:r>
            <a:r>
              <a:rPr spc="-5" dirty="0"/>
              <a:t>they </a:t>
            </a:r>
            <a:r>
              <a:rPr spc="-15" dirty="0"/>
              <a:t>want</a:t>
            </a:r>
            <a:r>
              <a:rPr dirty="0"/>
              <a:t> or</a:t>
            </a:r>
            <a:r>
              <a:rPr spc="-10" dirty="0"/>
              <a:t> </a:t>
            </a:r>
            <a:r>
              <a:rPr spc="-5" dirty="0"/>
              <a:t>need.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E9895-EA17-E9B5-2F67-7C9F224540E5}"/>
              </a:ext>
            </a:extLst>
          </p:cNvPr>
          <p:cNvSpPr>
            <a:spLocks noGrp="1"/>
          </p:cNvSpPr>
          <p:nvPr>
            <p:ph type="title"/>
          </p:nvPr>
        </p:nvSpPr>
        <p:spPr>
          <a:xfrm>
            <a:off x="1122374" y="457200"/>
            <a:ext cx="7031025" cy="1477328"/>
          </a:xfrm>
        </p:spPr>
        <p:txBody>
          <a:bodyPr/>
          <a:lstStyle/>
          <a:p>
            <a:r>
              <a:rPr lang="en-US" dirty="0"/>
              <a:t>Agile-Based Approaches</a:t>
            </a:r>
          </a:p>
        </p:txBody>
      </p:sp>
      <p:sp>
        <p:nvSpPr>
          <p:cNvPr id="3" name="Text Placeholder 2">
            <a:extLst>
              <a:ext uri="{FF2B5EF4-FFF2-40B4-BE49-F238E27FC236}">
                <a16:creationId xmlns:a16="http://schemas.microsoft.com/office/drawing/2014/main" id="{F3B313F1-77C8-28AE-C4E8-A265CD580599}"/>
              </a:ext>
            </a:extLst>
          </p:cNvPr>
          <p:cNvSpPr>
            <a:spLocks noGrp="1"/>
          </p:cNvSpPr>
          <p:nvPr>
            <p:ph type="body" idx="1"/>
          </p:nvPr>
        </p:nvSpPr>
        <p:spPr>
          <a:xfrm>
            <a:off x="899160" y="1535192"/>
            <a:ext cx="10393679" cy="3570208"/>
          </a:xfrm>
        </p:spPr>
        <p:txBody>
          <a:bodyPr/>
          <a:lstStyle/>
          <a:p>
            <a:pPr marL="258445" indent="-457200">
              <a:buFont typeface="+mj-lt"/>
              <a:buAutoNum type="arabicPeriod"/>
            </a:pPr>
            <a:r>
              <a:rPr lang="en-US" spc="-10" dirty="0"/>
              <a:t>Scrum</a:t>
            </a:r>
          </a:p>
          <a:p>
            <a:pPr marL="258445" indent="-457200">
              <a:buFont typeface="+mj-lt"/>
              <a:buAutoNum type="arabicPeriod"/>
            </a:pPr>
            <a:r>
              <a:rPr lang="en-US" spc="-10" dirty="0"/>
              <a:t>Kanban</a:t>
            </a:r>
          </a:p>
          <a:p>
            <a:pPr marL="258445" indent="-457200">
              <a:buFont typeface="+mj-lt"/>
              <a:buAutoNum type="arabicPeriod"/>
            </a:pPr>
            <a:r>
              <a:rPr lang="en-US" spc="-10" dirty="0"/>
              <a:t>Extreme Programming (XP)</a:t>
            </a:r>
          </a:p>
          <a:p>
            <a:pPr marL="258445" indent="-457200">
              <a:buFont typeface="+mj-lt"/>
              <a:buAutoNum type="arabicPeriod"/>
            </a:pPr>
            <a:r>
              <a:rPr lang="en-US" spc="-10" dirty="0"/>
              <a:t>Lean Software Development</a:t>
            </a:r>
          </a:p>
          <a:p>
            <a:pPr marL="258445" indent="-457200">
              <a:buFont typeface="+mj-lt"/>
              <a:buAutoNum type="arabicPeriod"/>
            </a:pPr>
            <a:r>
              <a:rPr lang="en-US" spc="-10" dirty="0"/>
              <a:t>Feature-Driven Development (FDD)</a:t>
            </a:r>
          </a:p>
          <a:p>
            <a:pPr marL="258445" indent="-457200">
              <a:buFont typeface="+mj-lt"/>
              <a:buAutoNum type="arabicPeriod"/>
            </a:pPr>
            <a:r>
              <a:rPr lang="en-US" spc="-10" dirty="0"/>
              <a:t>Adaptive Software Development (ASD)</a:t>
            </a:r>
          </a:p>
          <a:p>
            <a:pPr marL="258445" indent="-457200">
              <a:buFont typeface="+mj-lt"/>
              <a:buAutoNum type="arabicPeriod"/>
            </a:pPr>
            <a:r>
              <a:rPr lang="en-US" spc="-10" dirty="0"/>
              <a:t>Dynamic Systems Development Method (DSDM)</a:t>
            </a:r>
          </a:p>
          <a:p>
            <a:endParaRPr lang="en-US" dirty="0"/>
          </a:p>
        </p:txBody>
      </p:sp>
    </p:spTree>
    <p:extLst>
      <p:ext uri="{BB962C8B-B14F-4D97-AF65-F5344CB8AC3E}">
        <p14:creationId xmlns:p14="http://schemas.microsoft.com/office/powerpoint/2010/main" val="3454441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
        <p:nvSpPr>
          <p:cNvPr id="2" name="object 2"/>
          <p:cNvSpPr txBox="1">
            <a:spLocks noGrp="1"/>
          </p:cNvSpPr>
          <p:nvPr>
            <p:ph type="title"/>
          </p:nvPr>
        </p:nvSpPr>
        <p:spPr>
          <a:xfrm>
            <a:off x="823671" y="492074"/>
            <a:ext cx="5033010" cy="635000"/>
          </a:xfrm>
          <a:prstGeom prst="rect">
            <a:avLst/>
          </a:prstGeom>
        </p:spPr>
        <p:txBody>
          <a:bodyPr vert="horz" wrap="square" lIns="0" tIns="12065" rIns="0" bIns="0" rtlCol="0">
            <a:spAutoFit/>
          </a:bodyPr>
          <a:lstStyle/>
          <a:p>
            <a:pPr marL="12700">
              <a:lnSpc>
                <a:spcPct val="100000"/>
              </a:lnSpc>
              <a:spcBef>
                <a:spcPts val="95"/>
              </a:spcBef>
            </a:pPr>
            <a:r>
              <a:rPr sz="4000" spc="-40" dirty="0"/>
              <a:t>Adaptive</a:t>
            </a:r>
            <a:r>
              <a:rPr sz="4000" spc="-105" dirty="0"/>
              <a:t> </a:t>
            </a:r>
            <a:r>
              <a:rPr sz="4000" spc="-30" dirty="0"/>
              <a:t>Models</a:t>
            </a:r>
            <a:r>
              <a:rPr sz="4000" spc="-80" dirty="0"/>
              <a:t> </a:t>
            </a:r>
            <a:r>
              <a:rPr sz="4000" spc="-5" dirty="0"/>
              <a:t>-</a:t>
            </a:r>
            <a:r>
              <a:rPr sz="4000" spc="-60" dirty="0"/>
              <a:t> </a:t>
            </a:r>
            <a:r>
              <a:rPr sz="4000" spc="-30" dirty="0"/>
              <a:t>DSDM</a:t>
            </a:r>
            <a:endParaRPr sz="4000"/>
          </a:p>
        </p:txBody>
      </p:sp>
      <p:sp>
        <p:nvSpPr>
          <p:cNvPr id="3" name="object 3"/>
          <p:cNvSpPr txBox="1"/>
          <p:nvPr/>
        </p:nvSpPr>
        <p:spPr>
          <a:xfrm>
            <a:off x="562762" y="1394206"/>
            <a:ext cx="10981690" cy="4514215"/>
          </a:xfrm>
          <a:prstGeom prst="rect">
            <a:avLst/>
          </a:prstGeom>
        </p:spPr>
        <p:txBody>
          <a:bodyPr vert="horz" wrap="square" lIns="0" tIns="13335" rIns="0" bIns="0" rtlCol="0">
            <a:spAutoFit/>
          </a:bodyPr>
          <a:lstStyle/>
          <a:p>
            <a:pPr marL="241300" indent="-228600">
              <a:lnSpc>
                <a:spcPts val="2650"/>
              </a:lnSpc>
              <a:spcBef>
                <a:spcPts val="105"/>
              </a:spcBef>
              <a:buFont typeface="Arial MT"/>
              <a:buChar char="•"/>
              <a:tabLst>
                <a:tab pos="241300" algn="l"/>
                <a:tab pos="6416675" algn="l"/>
              </a:tabLst>
            </a:pPr>
            <a:r>
              <a:rPr sz="2600" spc="-5" dirty="0">
                <a:latin typeface="Calibri"/>
                <a:cs typeface="Calibri"/>
              </a:rPr>
              <a:t>The</a:t>
            </a:r>
            <a:r>
              <a:rPr sz="2600" spc="130" dirty="0">
                <a:latin typeface="Calibri"/>
                <a:cs typeface="Calibri"/>
              </a:rPr>
              <a:t> </a:t>
            </a:r>
            <a:r>
              <a:rPr sz="2600" spc="-5" dirty="0">
                <a:latin typeface="Calibri"/>
                <a:cs typeface="Calibri"/>
              </a:rPr>
              <a:t>Dynamic</a:t>
            </a:r>
            <a:r>
              <a:rPr sz="2600" spc="150" dirty="0">
                <a:latin typeface="Calibri"/>
                <a:cs typeface="Calibri"/>
              </a:rPr>
              <a:t> </a:t>
            </a:r>
            <a:r>
              <a:rPr sz="2600" spc="-20" dirty="0">
                <a:latin typeface="Calibri"/>
                <a:cs typeface="Calibri"/>
              </a:rPr>
              <a:t>Systems</a:t>
            </a:r>
            <a:r>
              <a:rPr sz="2600" spc="130" dirty="0">
                <a:latin typeface="Calibri"/>
                <a:cs typeface="Calibri"/>
              </a:rPr>
              <a:t> </a:t>
            </a:r>
            <a:r>
              <a:rPr sz="2600" spc="-10" dirty="0">
                <a:latin typeface="Calibri"/>
                <a:cs typeface="Calibri"/>
              </a:rPr>
              <a:t>Development</a:t>
            </a:r>
            <a:r>
              <a:rPr sz="2600" spc="145" dirty="0">
                <a:latin typeface="Calibri"/>
                <a:cs typeface="Calibri"/>
              </a:rPr>
              <a:t> </a:t>
            </a:r>
            <a:r>
              <a:rPr sz="2600" spc="-5" dirty="0">
                <a:latin typeface="Calibri"/>
                <a:cs typeface="Calibri"/>
              </a:rPr>
              <a:t>Method	</a:t>
            </a:r>
            <a:r>
              <a:rPr sz="2600" dirty="0">
                <a:latin typeface="Calibri"/>
                <a:cs typeface="Calibri"/>
              </a:rPr>
              <a:t>(DSDM</a:t>
            </a:r>
            <a:r>
              <a:rPr sz="2600" spc="130" dirty="0">
                <a:latin typeface="Calibri"/>
                <a:cs typeface="Calibri"/>
              </a:rPr>
              <a:t> </a:t>
            </a:r>
            <a:r>
              <a:rPr sz="2600" dirty="0">
                <a:latin typeface="Calibri"/>
                <a:cs typeface="Calibri"/>
              </a:rPr>
              <a:t>)</a:t>
            </a:r>
            <a:r>
              <a:rPr sz="2600" spc="110" dirty="0">
                <a:latin typeface="Calibri"/>
                <a:cs typeface="Calibri"/>
              </a:rPr>
              <a:t> </a:t>
            </a:r>
            <a:r>
              <a:rPr sz="2600" spc="-10" dirty="0">
                <a:latin typeface="Calibri"/>
                <a:cs typeface="Calibri"/>
              </a:rPr>
              <a:t>provides</a:t>
            </a:r>
            <a:r>
              <a:rPr sz="2600" spc="120" dirty="0">
                <a:latin typeface="Calibri"/>
                <a:cs typeface="Calibri"/>
              </a:rPr>
              <a:t> </a:t>
            </a:r>
            <a:r>
              <a:rPr sz="2600" dirty="0">
                <a:latin typeface="Calibri"/>
                <a:cs typeface="Calibri"/>
              </a:rPr>
              <a:t>a</a:t>
            </a:r>
            <a:r>
              <a:rPr sz="2600" spc="114" dirty="0">
                <a:latin typeface="Calibri"/>
                <a:cs typeface="Calibri"/>
              </a:rPr>
              <a:t> </a:t>
            </a:r>
            <a:r>
              <a:rPr sz="2600" spc="-15" dirty="0">
                <a:latin typeface="Calibri"/>
                <a:cs typeface="Calibri"/>
              </a:rPr>
              <a:t>framework</a:t>
            </a:r>
            <a:r>
              <a:rPr sz="2600" spc="130" dirty="0">
                <a:latin typeface="Calibri"/>
                <a:cs typeface="Calibri"/>
              </a:rPr>
              <a:t> </a:t>
            </a:r>
            <a:r>
              <a:rPr sz="2600" spc="5" dirty="0">
                <a:latin typeface="Calibri"/>
                <a:cs typeface="Calibri"/>
              </a:rPr>
              <a:t>of</a:t>
            </a:r>
            <a:endParaRPr sz="2600" dirty="0">
              <a:latin typeface="Calibri"/>
              <a:cs typeface="Calibri"/>
            </a:endParaRPr>
          </a:p>
          <a:p>
            <a:pPr marL="241300" marR="5080">
              <a:lnSpc>
                <a:spcPct val="70000"/>
              </a:lnSpc>
              <a:spcBef>
                <a:spcPts val="465"/>
              </a:spcBef>
            </a:pPr>
            <a:r>
              <a:rPr sz="2600" spc="-15" dirty="0">
                <a:latin typeface="Calibri"/>
                <a:cs typeface="Calibri"/>
              </a:rPr>
              <a:t>controls</a:t>
            </a:r>
            <a:r>
              <a:rPr sz="2600" spc="300" dirty="0">
                <a:latin typeface="Calibri"/>
                <a:cs typeface="Calibri"/>
              </a:rPr>
              <a:t> </a:t>
            </a:r>
            <a:r>
              <a:rPr sz="2600" spc="-5" dirty="0">
                <a:latin typeface="Calibri"/>
                <a:cs typeface="Calibri"/>
              </a:rPr>
              <a:t>and</a:t>
            </a:r>
            <a:r>
              <a:rPr sz="2600" spc="300" dirty="0">
                <a:latin typeface="Calibri"/>
                <a:cs typeface="Calibri"/>
              </a:rPr>
              <a:t> </a:t>
            </a:r>
            <a:r>
              <a:rPr sz="2600" spc="-15" dirty="0">
                <a:latin typeface="Calibri"/>
                <a:cs typeface="Calibri"/>
              </a:rPr>
              <a:t>best</a:t>
            </a:r>
            <a:r>
              <a:rPr sz="2600" spc="305" dirty="0">
                <a:latin typeface="Calibri"/>
                <a:cs typeface="Calibri"/>
              </a:rPr>
              <a:t> </a:t>
            </a:r>
            <a:r>
              <a:rPr sz="2600" spc="-10" dirty="0">
                <a:latin typeface="Calibri"/>
                <a:cs typeface="Calibri"/>
              </a:rPr>
              <a:t>practice</a:t>
            </a:r>
            <a:r>
              <a:rPr sz="2600" spc="315" dirty="0">
                <a:latin typeface="Calibri"/>
                <a:cs typeface="Calibri"/>
              </a:rPr>
              <a:t> </a:t>
            </a:r>
            <a:r>
              <a:rPr sz="2600" spc="-25" dirty="0">
                <a:latin typeface="Calibri"/>
                <a:cs typeface="Calibri"/>
              </a:rPr>
              <a:t>for</a:t>
            </a:r>
            <a:r>
              <a:rPr sz="2600" spc="300" dirty="0">
                <a:latin typeface="Calibri"/>
                <a:cs typeface="Calibri"/>
              </a:rPr>
              <a:t> </a:t>
            </a:r>
            <a:r>
              <a:rPr sz="2600" dirty="0">
                <a:latin typeface="Calibri"/>
                <a:cs typeface="Calibri"/>
              </a:rPr>
              <a:t>Rapid</a:t>
            </a:r>
            <a:r>
              <a:rPr sz="2600" spc="295" dirty="0">
                <a:latin typeface="Calibri"/>
                <a:cs typeface="Calibri"/>
              </a:rPr>
              <a:t> </a:t>
            </a:r>
            <a:r>
              <a:rPr sz="2600" spc="-5" dirty="0">
                <a:latin typeface="Calibri"/>
                <a:cs typeface="Calibri"/>
              </a:rPr>
              <a:t>Application</a:t>
            </a:r>
            <a:r>
              <a:rPr sz="2600" spc="300" dirty="0">
                <a:latin typeface="Calibri"/>
                <a:cs typeface="Calibri"/>
              </a:rPr>
              <a:t> </a:t>
            </a:r>
            <a:r>
              <a:rPr sz="2600" spc="-10" dirty="0">
                <a:latin typeface="Calibri"/>
                <a:cs typeface="Calibri"/>
              </a:rPr>
              <a:t>Development</a:t>
            </a:r>
            <a:r>
              <a:rPr sz="2600" spc="305" dirty="0">
                <a:latin typeface="Calibri"/>
                <a:cs typeface="Calibri"/>
              </a:rPr>
              <a:t> </a:t>
            </a:r>
            <a:r>
              <a:rPr sz="2600" spc="-5" dirty="0">
                <a:latin typeface="Calibri"/>
                <a:cs typeface="Calibri"/>
              </a:rPr>
              <a:t>(RAD)</a:t>
            </a:r>
            <a:r>
              <a:rPr sz="2600" spc="305" dirty="0">
                <a:latin typeface="Calibri"/>
                <a:cs typeface="Calibri"/>
              </a:rPr>
              <a:t> </a:t>
            </a:r>
            <a:r>
              <a:rPr sz="2600" spc="-5" dirty="0">
                <a:latin typeface="Calibri"/>
                <a:cs typeface="Calibri"/>
              </a:rPr>
              <a:t>and</a:t>
            </a:r>
            <a:r>
              <a:rPr sz="2600" spc="300" dirty="0">
                <a:latin typeface="Calibri"/>
                <a:cs typeface="Calibri"/>
              </a:rPr>
              <a:t> </a:t>
            </a:r>
            <a:r>
              <a:rPr sz="2600" spc="-10" dirty="0">
                <a:latin typeface="Calibri"/>
                <a:cs typeface="Calibri"/>
              </a:rPr>
              <a:t>later </a:t>
            </a:r>
            <a:r>
              <a:rPr sz="2600" spc="-575" dirty="0">
                <a:latin typeface="Calibri"/>
                <a:cs typeface="Calibri"/>
              </a:rPr>
              <a:t> </a:t>
            </a:r>
            <a:r>
              <a:rPr sz="2600" dirty="0">
                <a:latin typeface="Calibri"/>
                <a:cs typeface="Calibri"/>
              </a:rPr>
              <a:t>its</a:t>
            </a:r>
            <a:r>
              <a:rPr sz="2600" spc="-15" dirty="0">
                <a:latin typeface="Calibri"/>
                <a:cs typeface="Calibri"/>
              </a:rPr>
              <a:t> </a:t>
            </a:r>
            <a:r>
              <a:rPr sz="2600" spc="-5" dirty="0">
                <a:latin typeface="Calibri"/>
                <a:cs typeface="Calibri"/>
              </a:rPr>
              <a:t>used</a:t>
            </a:r>
            <a:r>
              <a:rPr sz="2600" spc="-25" dirty="0">
                <a:latin typeface="Calibri"/>
                <a:cs typeface="Calibri"/>
              </a:rPr>
              <a:t> </a:t>
            </a:r>
            <a:r>
              <a:rPr sz="2600" dirty="0">
                <a:latin typeface="Calibri"/>
                <a:cs typeface="Calibri"/>
              </a:rPr>
              <a:t>as</a:t>
            </a:r>
            <a:r>
              <a:rPr sz="2600" spc="-15" dirty="0">
                <a:latin typeface="Calibri"/>
                <a:cs typeface="Calibri"/>
              </a:rPr>
              <a:t> </a:t>
            </a:r>
            <a:r>
              <a:rPr sz="2600" spc="-10" dirty="0">
                <a:latin typeface="Calibri"/>
                <a:cs typeface="Calibri"/>
              </a:rPr>
              <a:t>framework</a:t>
            </a:r>
            <a:r>
              <a:rPr sz="2600" spc="5" dirty="0">
                <a:latin typeface="Calibri"/>
                <a:cs typeface="Calibri"/>
              </a:rPr>
              <a:t> </a:t>
            </a:r>
            <a:r>
              <a:rPr sz="2600" spc="-5" dirty="0">
                <a:latin typeface="Calibri"/>
                <a:cs typeface="Calibri"/>
              </a:rPr>
              <a:t>of </a:t>
            </a:r>
            <a:r>
              <a:rPr sz="2600" dirty="0">
                <a:latin typeface="Calibri"/>
                <a:cs typeface="Calibri"/>
              </a:rPr>
              <a:t>Agile</a:t>
            </a:r>
            <a:r>
              <a:rPr sz="2600" spc="-25" dirty="0">
                <a:latin typeface="Calibri"/>
                <a:cs typeface="Calibri"/>
              </a:rPr>
              <a:t> </a:t>
            </a:r>
            <a:r>
              <a:rPr sz="2600" dirty="0">
                <a:latin typeface="Calibri"/>
                <a:cs typeface="Calibri"/>
              </a:rPr>
              <a:t>model.</a:t>
            </a:r>
          </a:p>
          <a:p>
            <a:pPr>
              <a:lnSpc>
                <a:spcPct val="100000"/>
              </a:lnSpc>
              <a:spcBef>
                <a:spcPts val="30"/>
              </a:spcBef>
            </a:pPr>
            <a:endParaRPr sz="3400" dirty="0">
              <a:latin typeface="Calibri"/>
              <a:cs typeface="Calibri"/>
            </a:endParaRPr>
          </a:p>
          <a:p>
            <a:pPr marL="241300" marR="8890" indent="-228600" algn="just">
              <a:lnSpc>
                <a:spcPct val="70000"/>
              </a:lnSpc>
              <a:buFont typeface="Arial MT"/>
              <a:buChar char="•"/>
              <a:tabLst>
                <a:tab pos="241300" algn="l"/>
              </a:tabLst>
            </a:pPr>
            <a:r>
              <a:rPr sz="2600" dirty="0">
                <a:latin typeface="Calibri"/>
                <a:cs typeface="Calibri"/>
              </a:rPr>
              <a:t>It</a:t>
            </a:r>
            <a:r>
              <a:rPr sz="2600" spc="5" dirty="0">
                <a:latin typeface="Calibri"/>
                <a:cs typeface="Calibri"/>
              </a:rPr>
              <a:t> </a:t>
            </a:r>
            <a:r>
              <a:rPr sz="2600" spc="-5" dirty="0">
                <a:latin typeface="Calibri"/>
                <a:cs typeface="Calibri"/>
              </a:rPr>
              <a:t>is</a:t>
            </a:r>
            <a:r>
              <a:rPr sz="2600" dirty="0">
                <a:latin typeface="Calibri"/>
                <a:cs typeface="Calibri"/>
              </a:rPr>
              <a:t> </a:t>
            </a:r>
            <a:r>
              <a:rPr sz="2600" spc="-5" dirty="0">
                <a:latin typeface="Calibri"/>
                <a:cs typeface="Calibri"/>
              </a:rPr>
              <a:t>particularly</a:t>
            </a:r>
            <a:r>
              <a:rPr sz="2600" dirty="0">
                <a:latin typeface="Calibri"/>
                <a:cs typeface="Calibri"/>
              </a:rPr>
              <a:t> </a:t>
            </a:r>
            <a:r>
              <a:rPr sz="2600" spc="-10" dirty="0">
                <a:latin typeface="Calibri"/>
                <a:cs typeface="Calibri"/>
              </a:rPr>
              <a:t>suitable</a:t>
            </a:r>
            <a:r>
              <a:rPr sz="2600" spc="-5" dirty="0">
                <a:latin typeface="Calibri"/>
                <a:cs typeface="Calibri"/>
              </a:rPr>
              <a:t> </a:t>
            </a:r>
            <a:r>
              <a:rPr sz="2600" spc="-25" dirty="0">
                <a:latin typeface="Calibri"/>
                <a:cs typeface="Calibri"/>
              </a:rPr>
              <a:t>for</a:t>
            </a:r>
            <a:r>
              <a:rPr sz="2600" spc="-20" dirty="0">
                <a:latin typeface="Calibri"/>
                <a:cs typeface="Calibri"/>
              </a:rPr>
              <a:t> </a:t>
            </a:r>
            <a:r>
              <a:rPr sz="2600" spc="-5" dirty="0">
                <a:latin typeface="Calibri"/>
                <a:cs typeface="Calibri"/>
              </a:rPr>
              <a:t>application</a:t>
            </a:r>
            <a:r>
              <a:rPr sz="2600" dirty="0">
                <a:latin typeface="Calibri"/>
                <a:cs typeface="Calibri"/>
              </a:rPr>
              <a:t> </a:t>
            </a:r>
            <a:r>
              <a:rPr sz="2600" spc="-10" dirty="0">
                <a:latin typeface="Calibri"/>
                <a:cs typeface="Calibri"/>
              </a:rPr>
              <a:t>development</a:t>
            </a:r>
            <a:r>
              <a:rPr sz="2600" spc="-5" dirty="0">
                <a:latin typeface="Calibri"/>
                <a:cs typeface="Calibri"/>
              </a:rPr>
              <a:t> </a:t>
            </a:r>
            <a:r>
              <a:rPr sz="2600" spc="-10" dirty="0">
                <a:latin typeface="Calibri"/>
                <a:cs typeface="Calibri"/>
              </a:rPr>
              <a:t>projects</a:t>
            </a:r>
            <a:r>
              <a:rPr sz="2600" spc="-5" dirty="0">
                <a:latin typeface="Calibri"/>
                <a:cs typeface="Calibri"/>
              </a:rPr>
              <a:t> that</a:t>
            </a:r>
            <a:r>
              <a:rPr sz="2600" dirty="0">
                <a:latin typeface="Calibri"/>
                <a:cs typeface="Calibri"/>
              </a:rPr>
              <a:t> </a:t>
            </a:r>
            <a:r>
              <a:rPr sz="2600" spc="-10" dirty="0">
                <a:latin typeface="Calibri"/>
                <a:cs typeface="Calibri"/>
              </a:rPr>
              <a:t>need</a:t>
            </a:r>
            <a:r>
              <a:rPr sz="2600" spc="-5" dirty="0">
                <a:latin typeface="Calibri"/>
                <a:cs typeface="Calibri"/>
              </a:rPr>
              <a:t> </a:t>
            </a:r>
            <a:r>
              <a:rPr sz="2600" b="1" spc="-30" dirty="0">
                <a:latin typeface="Calibri"/>
                <a:cs typeface="Calibri"/>
              </a:rPr>
              <a:t>to </a:t>
            </a:r>
            <a:r>
              <a:rPr sz="2600" b="1" spc="-575" dirty="0">
                <a:latin typeface="Calibri"/>
                <a:cs typeface="Calibri"/>
              </a:rPr>
              <a:t> </a:t>
            </a:r>
            <a:r>
              <a:rPr sz="2600" b="1" spc="-10" dirty="0">
                <a:latin typeface="Calibri"/>
                <a:cs typeface="Calibri"/>
              </a:rPr>
              <a:t>develop</a:t>
            </a:r>
            <a:r>
              <a:rPr sz="2600" b="1" spc="5" dirty="0">
                <a:latin typeface="Calibri"/>
                <a:cs typeface="Calibri"/>
              </a:rPr>
              <a:t> </a:t>
            </a:r>
            <a:r>
              <a:rPr sz="2600" b="1" spc="-10" dirty="0">
                <a:latin typeface="Calibri"/>
                <a:cs typeface="Calibri"/>
              </a:rPr>
              <a:t>complex </a:t>
            </a:r>
            <a:r>
              <a:rPr sz="2600" b="1" spc="-5" dirty="0">
                <a:latin typeface="Calibri"/>
                <a:cs typeface="Calibri"/>
              </a:rPr>
              <a:t>business</a:t>
            </a:r>
            <a:r>
              <a:rPr sz="2600" b="1" spc="15" dirty="0">
                <a:latin typeface="Calibri"/>
                <a:cs typeface="Calibri"/>
              </a:rPr>
              <a:t> </a:t>
            </a:r>
            <a:r>
              <a:rPr sz="2600" b="1" dirty="0">
                <a:latin typeface="Calibri"/>
                <a:cs typeface="Calibri"/>
              </a:rPr>
              <a:t>solutions</a:t>
            </a:r>
            <a:r>
              <a:rPr sz="2600" b="1" spc="5" dirty="0">
                <a:latin typeface="Calibri"/>
                <a:cs typeface="Calibri"/>
              </a:rPr>
              <a:t> </a:t>
            </a:r>
            <a:r>
              <a:rPr sz="2600" b="1" spc="-5" dirty="0">
                <a:latin typeface="Calibri"/>
                <a:cs typeface="Calibri"/>
              </a:rPr>
              <a:t>within</a:t>
            </a:r>
            <a:r>
              <a:rPr sz="2600" b="1" spc="10" dirty="0">
                <a:latin typeface="Calibri"/>
                <a:cs typeface="Calibri"/>
              </a:rPr>
              <a:t> </a:t>
            </a:r>
            <a:r>
              <a:rPr sz="2600" b="1" spc="-10" dirty="0">
                <a:latin typeface="Calibri"/>
                <a:cs typeface="Calibri"/>
              </a:rPr>
              <a:t>tight</a:t>
            </a:r>
            <a:r>
              <a:rPr sz="2600" b="1" dirty="0">
                <a:latin typeface="Calibri"/>
                <a:cs typeface="Calibri"/>
              </a:rPr>
              <a:t> </a:t>
            </a:r>
            <a:r>
              <a:rPr sz="2600" b="1" spc="-10" dirty="0">
                <a:latin typeface="Calibri"/>
                <a:cs typeface="Calibri"/>
              </a:rPr>
              <a:t>timeframes</a:t>
            </a:r>
            <a:r>
              <a:rPr sz="2600" spc="-10" dirty="0">
                <a:latin typeface="Calibri"/>
                <a:cs typeface="Calibri"/>
              </a:rPr>
              <a:t>.</a:t>
            </a:r>
            <a:endParaRPr sz="2600" dirty="0">
              <a:latin typeface="Calibri"/>
              <a:cs typeface="Calibri"/>
            </a:endParaRPr>
          </a:p>
          <a:p>
            <a:pPr>
              <a:lnSpc>
                <a:spcPct val="100000"/>
              </a:lnSpc>
              <a:spcBef>
                <a:spcPts val="40"/>
              </a:spcBef>
              <a:buFont typeface="Arial MT"/>
              <a:buChar char="•"/>
            </a:pPr>
            <a:endParaRPr sz="3400" dirty="0">
              <a:latin typeface="Calibri"/>
              <a:cs typeface="Calibri"/>
            </a:endParaRPr>
          </a:p>
          <a:p>
            <a:pPr marL="241300" marR="5080" indent="-228600" algn="just">
              <a:lnSpc>
                <a:spcPct val="70000"/>
              </a:lnSpc>
              <a:buFont typeface="Arial MT"/>
              <a:buChar char="•"/>
              <a:tabLst>
                <a:tab pos="241300" algn="l"/>
              </a:tabLst>
            </a:pPr>
            <a:r>
              <a:rPr sz="2600" dirty="0">
                <a:latin typeface="Calibri"/>
                <a:cs typeface="Calibri"/>
              </a:rPr>
              <a:t>In DSDM, </a:t>
            </a:r>
            <a:r>
              <a:rPr sz="2600" b="1" dirty="0">
                <a:latin typeface="Calibri"/>
                <a:cs typeface="Calibri"/>
              </a:rPr>
              <a:t>time </a:t>
            </a:r>
            <a:r>
              <a:rPr sz="2600" b="1" spc="-5" dirty="0">
                <a:latin typeface="Calibri"/>
                <a:cs typeface="Calibri"/>
              </a:rPr>
              <a:t>is </a:t>
            </a:r>
            <a:r>
              <a:rPr sz="2600" b="1" spc="-15" dirty="0">
                <a:latin typeface="Calibri"/>
                <a:cs typeface="Calibri"/>
              </a:rPr>
              <a:t>fixed </a:t>
            </a:r>
            <a:r>
              <a:rPr sz="2600" spc="-25" dirty="0">
                <a:latin typeface="Calibri"/>
                <a:cs typeface="Calibri"/>
              </a:rPr>
              <a:t>for </a:t>
            </a:r>
            <a:r>
              <a:rPr sz="2600" dirty="0">
                <a:latin typeface="Calibri"/>
                <a:cs typeface="Calibri"/>
              </a:rPr>
              <a:t>the </a:t>
            </a:r>
            <a:r>
              <a:rPr sz="2600" spc="-20" dirty="0">
                <a:latin typeface="Calibri"/>
                <a:cs typeface="Calibri"/>
              </a:rPr>
              <a:t>life </a:t>
            </a:r>
            <a:r>
              <a:rPr sz="2600" spc="-5" dirty="0">
                <a:latin typeface="Calibri"/>
                <a:cs typeface="Calibri"/>
              </a:rPr>
              <a:t>of </a:t>
            </a:r>
            <a:r>
              <a:rPr sz="2600" dirty="0">
                <a:latin typeface="Calibri"/>
                <a:cs typeface="Calibri"/>
              </a:rPr>
              <a:t>a </a:t>
            </a:r>
            <a:r>
              <a:rPr sz="2600" spc="-10" dirty="0">
                <a:latin typeface="Calibri"/>
                <a:cs typeface="Calibri"/>
              </a:rPr>
              <a:t>project, </a:t>
            </a:r>
            <a:r>
              <a:rPr sz="2600" dirty="0">
                <a:latin typeface="Calibri"/>
                <a:cs typeface="Calibri"/>
              </a:rPr>
              <a:t>and </a:t>
            </a:r>
            <a:r>
              <a:rPr sz="2600" b="1" spc="-10" dirty="0">
                <a:latin typeface="Calibri"/>
                <a:cs typeface="Calibri"/>
              </a:rPr>
              <a:t>resources are </a:t>
            </a:r>
            <a:r>
              <a:rPr sz="2600" b="1" spc="-20" dirty="0">
                <a:latin typeface="Calibri"/>
                <a:cs typeface="Calibri"/>
              </a:rPr>
              <a:t>fixed </a:t>
            </a:r>
            <a:r>
              <a:rPr sz="2600" dirty="0">
                <a:latin typeface="Calibri"/>
                <a:cs typeface="Calibri"/>
              </a:rPr>
              <a:t>as </a:t>
            </a:r>
            <a:r>
              <a:rPr sz="2600" spc="-20" dirty="0">
                <a:latin typeface="Calibri"/>
                <a:cs typeface="Calibri"/>
              </a:rPr>
              <a:t>far </a:t>
            </a:r>
            <a:r>
              <a:rPr sz="2600" dirty="0">
                <a:latin typeface="Calibri"/>
                <a:cs typeface="Calibri"/>
              </a:rPr>
              <a:t>as </a:t>
            </a:r>
            <a:r>
              <a:rPr sz="2600" spc="5" dirty="0">
                <a:latin typeface="Calibri"/>
                <a:cs typeface="Calibri"/>
              </a:rPr>
              <a:t> </a:t>
            </a:r>
            <a:r>
              <a:rPr sz="2600" spc="-5" dirty="0">
                <a:latin typeface="Calibri"/>
                <a:cs typeface="Calibri"/>
              </a:rPr>
              <a:t>possible. This means that </a:t>
            </a:r>
            <a:r>
              <a:rPr sz="2600" dirty="0">
                <a:latin typeface="Calibri"/>
                <a:cs typeface="Calibri"/>
              </a:rPr>
              <a:t>it is the </a:t>
            </a:r>
            <a:r>
              <a:rPr sz="2600" spc="-15" dirty="0">
                <a:latin typeface="Calibri"/>
                <a:cs typeface="Calibri"/>
              </a:rPr>
              <a:t>requirements </a:t>
            </a:r>
            <a:r>
              <a:rPr sz="2600" spc="-5" dirty="0">
                <a:latin typeface="Calibri"/>
                <a:cs typeface="Calibri"/>
              </a:rPr>
              <a:t>that </a:t>
            </a:r>
            <a:r>
              <a:rPr sz="2600" dirty="0">
                <a:latin typeface="Calibri"/>
                <a:cs typeface="Calibri"/>
              </a:rPr>
              <a:t>will </a:t>
            </a:r>
            <a:r>
              <a:rPr sz="2600" spc="-5" dirty="0">
                <a:latin typeface="Calibri"/>
                <a:cs typeface="Calibri"/>
              </a:rPr>
              <a:t>be </a:t>
            </a:r>
            <a:r>
              <a:rPr sz="2600" spc="-10" dirty="0">
                <a:latin typeface="Calibri"/>
                <a:cs typeface="Calibri"/>
              </a:rPr>
              <a:t>satisfied </a:t>
            </a:r>
            <a:r>
              <a:rPr sz="2600" spc="-5" dirty="0">
                <a:latin typeface="Calibri"/>
                <a:cs typeface="Calibri"/>
              </a:rPr>
              <a:t>that </a:t>
            </a:r>
            <a:r>
              <a:rPr sz="2600" spc="-10" dirty="0">
                <a:latin typeface="Calibri"/>
                <a:cs typeface="Calibri"/>
              </a:rPr>
              <a:t>are </a:t>
            </a:r>
            <a:r>
              <a:rPr sz="2600" spc="-5" dirty="0">
                <a:latin typeface="Calibri"/>
                <a:cs typeface="Calibri"/>
              </a:rPr>
              <a:t> allowed </a:t>
            </a:r>
            <a:r>
              <a:rPr sz="2600" spc="-15" dirty="0">
                <a:latin typeface="Calibri"/>
                <a:cs typeface="Calibri"/>
              </a:rPr>
              <a:t>to</a:t>
            </a:r>
            <a:r>
              <a:rPr sz="2600" spc="-5" dirty="0">
                <a:latin typeface="Calibri"/>
                <a:cs typeface="Calibri"/>
              </a:rPr>
              <a:t> change.</a:t>
            </a:r>
            <a:endParaRPr sz="2600" dirty="0">
              <a:latin typeface="Calibri"/>
              <a:cs typeface="Calibri"/>
            </a:endParaRPr>
          </a:p>
          <a:p>
            <a:pPr>
              <a:lnSpc>
                <a:spcPct val="100000"/>
              </a:lnSpc>
              <a:spcBef>
                <a:spcPts val="40"/>
              </a:spcBef>
              <a:buFont typeface="Arial MT"/>
              <a:buChar char="•"/>
            </a:pPr>
            <a:endParaRPr sz="3400" dirty="0">
              <a:latin typeface="Calibri"/>
              <a:cs typeface="Calibri"/>
            </a:endParaRPr>
          </a:p>
          <a:p>
            <a:pPr marL="241300" marR="269240" indent="-228600">
              <a:lnSpc>
                <a:spcPct val="70000"/>
              </a:lnSpc>
              <a:buFont typeface="Arial MT"/>
              <a:buChar char="•"/>
              <a:tabLst>
                <a:tab pos="241300" algn="l"/>
              </a:tabLst>
            </a:pPr>
            <a:r>
              <a:rPr sz="2600" dirty="0">
                <a:latin typeface="Calibri"/>
                <a:cs typeface="Calibri"/>
              </a:rPr>
              <a:t>DSDM </a:t>
            </a:r>
            <a:r>
              <a:rPr sz="2600" spc="-10" dirty="0">
                <a:latin typeface="Calibri"/>
                <a:cs typeface="Calibri"/>
              </a:rPr>
              <a:t>Eliminate problems </a:t>
            </a:r>
            <a:r>
              <a:rPr sz="2600" spc="-5" dirty="0">
                <a:latin typeface="Calibri"/>
                <a:cs typeface="Calibri"/>
              </a:rPr>
              <a:t>of: </a:t>
            </a:r>
            <a:r>
              <a:rPr sz="2600" dirty="0">
                <a:latin typeface="Calibri"/>
                <a:cs typeface="Calibri"/>
              </a:rPr>
              <a:t>Going </a:t>
            </a:r>
            <a:r>
              <a:rPr sz="2600" spc="-10" dirty="0">
                <a:latin typeface="Calibri"/>
                <a:cs typeface="Calibri"/>
              </a:rPr>
              <a:t>over-budget, </a:t>
            </a:r>
            <a:r>
              <a:rPr sz="2600" dirty="0">
                <a:latin typeface="Calibri"/>
                <a:cs typeface="Calibri"/>
              </a:rPr>
              <a:t>Missing </a:t>
            </a:r>
            <a:r>
              <a:rPr sz="2600" spc="-5" dirty="0">
                <a:latin typeface="Calibri"/>
                <a:cs typeface="Calibri"/>
              </a:rPr>
              <a:t>deadlines </a:t>
            </a:r>
            <a:r>
              <a:rPr sz="2600" dirty="0">
                <a:latin typeface="Calibri"/>
                <a:cs typeface="Calibri"/>
              </a:rPr>
              <a:t>and </a:t>
            </a:r>
            <a:r>
              <a:rPr sz="2600" spc="-10" dirty="0">
                <a:latin typeface="Calibri"/>
                <a:cs typeface="Calibri"/>
              </a:rPr>
              <a:t>Users </a:t>
            </a:r>
            <a:r>
              <a:rPr sz="2600" spc="-575" dirty="0">
                <a:latin typeface="Calibri"/>
                <a:cs typeface="Calibri"/>
              </a:rPr>
              <a:t> </a:t>
            </a:r>
            <a:r>
              <a:rPr sz="2600" spc="-5" dirty="0">
                <a:latin typeface="Calibri"/>
                <a:cs typeface="Calibri"/>
              </a:rPr>
              <a:t>not</a:t>
            </a:r>
            <a:r>
              <a:rPr sz="2600" spc="-10" dirty="0">
                <a:latin typeface="Calibri"/>
                <a:cs typeface="Calibri"/>
              </a:rPr>
              <a:t> </a:t>
            </a:r>
            <a:r>
              <a:rPr sz="2600" spc="-15" dirty="0">
                <a:latin typeface="Calibri"/>
                <a:cs typeface="Calibri"/>
              </a:rPr>
              <a:t>involved</a:t>
            </a:r>
            <a:endParaRPr sz="2600" dirty="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
        <p:nvSpPr>
          <p:cNvPr id="2" name="object 2"/>
          <p:cNvSpPr txBox="1">
            <a:spLocks noGrp="1"/>
          </p:cNvSpPr>
          <p:nvPr>
            <p:ph type="title"/>
          </p:nvPr>
        </p:nvSpPr>
        <p:spPr>
          <a:xfrm>
            <a:off x="823671" y="492074"/>
            <a:ext cx="6617970" cy="635000"/>
          </a:xfrm>
          <a:prstGeom prst="rect">
            <a:avLst/>
          </a:prstGeom>
        </p:spPr>
        <p:txBody>
          <a:bodyPr vert="horz" wrap="square" lIns="0" tIns="12065" rIns="0" bIns="0" rtlCol="0">
            <a:spAutoFit/>
          </a:bodyPr>
          <a:lstStyle/>
          <a:p>
            <a:pPr marL="12700">
              <a:lnSpc>
                <a:spcPct val="100000"/>
              </a:lnSpc>
              <a:spcBef>
                <a:spcPts val="95"/>
              </a:spcBef>
            </a:pPr>
            <a:r>
              <a:rPr sz="4000" spc="-40" dirty="0"/>
              <a:t>Adaptive</a:t>
            </a:r>
            <a:r>
              <a:rPr sz="4000" spc="-105" dirty="0"/>
              <a:t> </a:t>
            </a:r>
            <a:r>
              <a:rPr sz="4000" spc="-30" dirty="0"/>
              <a:t>Models</a:t>
            </a:r>
            <a:r>
              <a:rPr sz="4000" spc="-75" dirty="0"/>
              <a:t> </a:t>
            </a:r>
            <a:r>
              <a:rPr sz="4000" spc="-5" dirty="0"/>
              <a:t>–</a:t>
            </a:r>
            <a:r>
              <a:rPr sz="4000" spc="-75" dirty="0"/>
              <a:t> </a:t>
            </a:r>
            <a:r>
              <a:rPr sz="4000" spc="-30" dirty="0"/>
              <a:t>DSDM</a:t>
            </a:r>
            <a:r>
              <a:rPr sz="4000" spc="-110" dirty="0"/>
              <a:t> </a:t>
            </a:r>
            <a:r>
              <a:rPr sz="4000" spc="-25" dirty="0"/>
              <a:t>Phases</a:t>
            </a:r>
            <a:endParaRPr sz="4000"/>
          </a:p>
        </p:txBody>
      </p:sp>
      <p:sp>
        <p:nvSpPr>
          <p:cNvPr id="3" name="object 3"/>
          <p:cNvSpPr txBox="1"/>
          <p:nvPr/>
        </p:nvSpPr>
        <p:spPr>
          <a:xfrm>
            <a:off x="562762" y="1368693"/>
            <a:ext cx="9999980" cy="3677285"/>
          </a:xfrm>
          <a:prstGeom prst="rect">
            <a:avLst/>
          </a:prstGeom>
        </p:spPr>
        <p:txBody>
          <a:bodyPr vert="horz" wrap="square" lIns="0" tIns="103505" rIns="0" bIns="0" rtlCol="0">
            <a:spAutoFit/>
          </a:bodyPr>
          <a:lstStyle/>
          <a:p>
            <a:pPr marL="12700">
              <a:lnSpc>
                <a:spcPct val="100000"/>
              </a:lnSpc>
              <a:spcBef>
                <a:spcPts val="815"/>
              </a:spcBef>
            </a:pPr>
            <a:r>
              <a:rPr sz="2400" spc="-5" dirty="0">
                <a:latin typeface="Calibri"/>
                <a:cs typeface="Calibri"/>
              </a:rPr>
              <a:t>The</a:t>
            </a:r>
            <a:r>
              <a:rPr sz="2400" spc="5" dirty="0">
                <a:latin typeface="Calibri"/>
                <a:cs typeface="Calibri"/>
              </a:rPr>
              <a:t> </a:t>
            </a:r>
            <a:r>
              <a:rPr sz="2400" spc="-5" dirty="0">
                <a:latin typeface="Calibri"/>
                <a:cs typeface="Calibri"/>
              </a:rPr>
              <a:t>actual</a:t>
            </a:r>
            <a:r>
              <a:rPr sz="2400" spc="-10" dirty="0">
                <a:latin typeface="Calibri"/>
                <a:cs typeface="Calibri"/>
              </a:rPr>
              <a:t> </a:t>
            </a:r>
            <a:r>
              <a:rPr sz="2400" b="1" spc="-5" dirty="0">
                <a:latin typeface="Calibri"/>
                <a:cs typeface="Calibri"/>
              </a:rPr>
              <a:t>DSDM</a:t>
            </a:r>
            <a:r>
              <a:rPr sz="2400" b="1" spc="5" dirty="0">
                <a:latin typeface="Calibri"/>
                <a:cs typeface="Calibri"/>
              </a:rPr>
              <a:t> </a:t>
            </a:r>
            <a:r>
              <a:rPr sz="2400" b="1" spc="-15" dirty="0">
                <a:latin typeface="Calibri"/>
                <a:cs typeface="Calibri"/>
              </a:rPr>
              <a:t>lifecycle</a:t>
            </a:r>
            <a:r>
              <a:rPr sz="2400" b="1" spc="5" dirty="0">
                <a:latin typeface="Calibri"/>
                <a:cs typeface="Calibri"/>
              </a:rPr>
              <a:t> </a:t>
            </a:r>
            <a:r>
              <a:rPr sz="2400" dirty="0">
                <a:latin typeface="Calibri"/>
                <a:cs typeface="Calibri"/>
              </a:rPr>
              <a:t>is</a:t>
            </a:r>
            <a:r>
              <a:rPr sz="2400" spc="5" dirty="0">
                <a:latin typeface="Calibri"/>
                <a:cs typeface="Calibri"/>
              </a:rPr>
              <a:t> </a:t>
            </a:r>
            <a:r>
              <a:rPr sz="2400" spc="-25" dirty="0">
                <a:latin typeface="Calibri"/>
                <a:cs typeface="Calibri"/>
              </a:rPr>
              <a:t>broken</a:t>
            </a:r>
            <a:r>
              <a:rPr sz="2400" spc="-5" dirty="0">
                <a:latin typeface="Calibri"/>
                <a:cs typeface="Calibri"/>
              </a:rPr>
              <a:t> </a:t>
            </a:r>
            <a:r>
              <a:rPr sz="2400" spc="-10" dirty="0">
                <a:latin typeface="Calibri"/>
                <a:cs typeface="Calibri"/>
              </a:rPr>
              <a:t>down</a:t>
            </a:r>
            <a:r>
              <a:rPr sz="2400" spc="5" dirty="0">
                <a:latin typeface="Calibri"/>
                <a:cs typeface="Calibri"/>
              </a:rPr>
              <a:t> </a:t>
            </a:r>
            <a:r>
              <a:rPr sz="2400" spc="-15" dirty="0">
                <a:latin typeface="Calibri"/>
                <a:cs typeface="Calibri"/>
              </a:rPr>
              <a:t>into</a:t>
            </a:r>
            <a:r>
              <a:rPr sz="2400" spc="-5" dirty="0">
                <a:latin typeface="Calibri"/>
                <a:cs typeface="Calibri"/>
              </a:rPr>
              <a:t> </a:t>
            </a:r>
            <a:r>
              <a:rPr sz="2400" spc="-10" dirty="0">
                <a:latin typeface="Calibri"/>
                <a:cs typeface="Calibri"/>
              </a:rPr>
              <a:t>seven</a:t>
            </a:r>
            <a:r>
              <a:rPr sz="2400" spc="15" dirty="0">
                <a:latin typeface="Calibri"/>
                <a:cs typeface="Calibri"/>
              </a:rPr>
              <a:t> </a:t>
            </a:r>
            <a:r>
              <a:rPr sz="2400" spc="-20" dirty="0">
                <a:latin typeface="Calibri"/>
                <a:cs typeface="Calibri"/>
              </a:rPr>
              <a:t>different</a:t>
            </a:r>
            <a:r>
              <a:rPr sz="2400" spc="10" dirty="0">
                <a:latin typeface="Calibri"/>
                <a:cs typeface="Calibri"/>
              </a:rPr>
              <a:t> </a:t>
            </a:r>
            <a:r>
              <a:rPr sz="2400" spc="-5" dirty="0">
                <a:latin typeface="Calibri"/>
                <a:cs typeface="Calibri"/>
              </a:rPr>
              <a:t>phases,</a:t>
            </a:r>
            <a:r>
              <a:rPr sz="2400" dirty="0">
                <a:latin typeface="Calibri"/>
                <a:cs typeface="Calibri"/>
              </a:rPr>
              <a:t> these</a:t>
            </a:r>
            <a:r>
              <a:rPr sz="2400" spc="5" dirty="0">
                <a:latin typeface="Calibri"/>
                <a:cs typeface="Calibri"/>
              </a:rPr>
              <a:t> </a:t>
            </a:r>
            <a:r>
              <a:rPr sz="2400" spc="-10" dirty="0">
                <a:latin typeface="Calibri"/>
                <a:cs typeface="Calibri"/>
              </a:rPr>
              <a:t>are:</a:t>
            </a:r>
            <a:endParaRPr sz="2400" dirty="0">
              <a:latin typeface="Calibri"/>
              <a:cs typeface="Calibri"/>
            </a:endParaRPr>
          </a:p>
          <a:p>
            <a:pPr marL="469900" indent="-457200">
              <a:lnSpc>
                <a:spcPct val="100000"/>
              </a:lnSpc>
              <a:spcBef>
                <a:spcPts val="720"/>
              </a:spcBef>
              <a:buAutoNum type="arabicParenR"/>
              <a:tabLst>
                <a:tab pos="469265" algn="l"/>
                <a:tab pos="469900" algn="l"/>
              </a:tabLst>
            </a:pPr>
            <a:r>
              <a:rPr sz="2400" spc="-10" dirty="0">
                <a:latin typeface="Calibri"/>
                <a:cs typeface="Calibri"/>
              </a:rPr>
              <a:t>Pre-Project</a:t>
            </a:r>
            <a:r>
              <a:rPr sz="2400" spc="-40" dirty="0">
                <a:latin typeface="Calibri"/>
                <a:cs typeface="Calibri"/>
              </a:rPr>
              <a:t> </a:t>
            </a:r>
            <a:r>
              <a:rPr sz="2400" spc="-5" dirty="0">
                <a:latin typeface="Calibri"/>
                <a:cs typeface="Calibri"/>
              </a:rPr>
              <a:t>Phase,</a:t>
            </a:r>
            <a:endParaRPr sz="2400" dirty="0">
              <a:latin typeface="Calibri"/>
              <a:cs typeface="Calibri"/>
            </a:endParaRPr>
          </a:p>
          <a:p>
            <a:pPr marL="469900" indent="-457200">
              <a:lnSpc>
                <a:spcPct val="100000"/>
              </a:lnSpc>
              <a:spcBef>
                <a:spcPts val="710"/>
              </a:spcBef>
              <a:buAutoNum type="arabicParenR"/>
              <a:tabLst>
                <a:tab pos="469265" algn="l"/>
                <a:tab pos="469900" algn="l"/>
              </a:tabLst>
            </a:pPr>
            <a:r>
              <a:rPr sz="2400" spc="-10" dirty="0">
                <a:latin typeface="Calibri"/>
                <a:cs typeface="Calibri"/>
              </a:rPr>
              <a:t>Feasibility</a:t>
            </a:r>
            <a:r>
              <a:rPr sz="2400" spc="-40" dirty="0">
                <a:latin typeface="Calibri"/>
                <a:cs typeface="Calibri"/>
              </a:rPr>
              <a:t> </a:t>
            </a:r>
            <a:r>
              <a:rPr sz="2400" spc="-35" dirty="0">
                <a:latin typeface="Calibri"/>
                <a:cs typeface="Calibri"/>
              </a:rPr>
              <a:t>Study,</a:t>
            </a:r>
            <a:endParaRPr sz="2400" dirty="0">
              <a:latin typeface="Calibri"/>
              <a:cs typeface="Calibri"/>
            </a:endParaRPr>
          </a:p>
          <a:p>
            <a:pPr marL="469900" indent="-457200">
              <a:lnSpc>
                <a:spcPct val="100000"/>
              </a:lnSpc>
              <a:spcBef>
                <a:spcPts val="710"/>
              </a:spcBef>
              <a:buAutoNum type="arabicParenR"/>
              <a:tabLst>
                <a:tab pos="469265" algn="l"/>
                <a:tab pos="469900" algn="l"/>
              </a:tabLst>
            </a:pPr>
            <a:r>
              <a:rPr sz="2400" dirty="0">
                <a:latin typeface="Calibri"/>
                <a:cs typeface="Calibri"/>
              </a:rPr>
              <a:t>Business</a:t>
            </a:r>
            <a:r>
              <a:rPr sz="2400" spc="-25" dirty="0">
                <a:latin typeface="Calibri"/>
                <a:cs typeface="Calibri"/>
              </a:rPr>
              <a:t> </a:t>
            </a:r>
            <a:r>
              <a:rPr sz="2400" spc="-5" dirty="0">
                <a:latin typeface="Calibri"/>
                <a:cs typeface="Calibri"/>
              </a:rPr>
              <a:t>Case</a:t>
            </a:r>
            <a:r>
              <a:rPr sz="2400" spc="-30" dirty="0">
                <a:latin typeface="Calibri"/>
                <a:cs typeface="Calibri"/>
              </a:rPr>
              <a:t> </a:t>
            </a:r>
            <a:r>
              <a:rPr sz="2400" spc="-35" dirty="0">
                <a:latin typeface="Calibri"/>
                <a:cs typeface="Calibri"/>
              </a:rPr>
              <a:t>Study,</a:t>
            </a:r>
            <a:endParaRPr sz="2400" dirty="0">
              <a:latin typeface="Calibri"/>
              <a:cs typeface="Calibri"/>
            </a:endParaRPr>
          </a:p>
          <a:p>
            <a:pPr marL="469900" indent="-457200">
              <a:lnSpc>
                <a:spcPct val="100000"/>
              </a:lnSpc>
              <a:spcBef>
                <a:spcPts val="720"/>
              </a:spcBef>
              <a:buAutoNum type="arabicParenR"/>
              <a:tabLst>
                <a:tab pos="469265" algn="l"/>
                <a:tab pos="469900" algn="l"/>
              </a:tabLst>
            </a:pPr>
            <a:r>
              <a:rPr sz="2400" dirty="0">
                <a:latin typeface="Calibri"/>
                <a:cs typeface="Calibri"/>
              </a:rPr>
              <a:t>the</a:t>
            </a:r>
            <a:r>
              <a:rPr sz="2400" spc="-10" dirty="0">
                <a:latin typeface="Calibri"/>
                <a:cs typeface="Calibri"/>
              </a:rPr>
              <a:t> </a:t>
            </a:r>
            <a:r>
              <a:rPr sz="2400" spc="-5" dirty="0">
                <a:latin typeface="Calibri"/>
                <a:cs typeface="Calibri"/>
              </a:rPr>
              <a:t>Functional</a:t>
            </a:r>
            <a:r>
              <a:rPr sz="2400" spc="-20" dirty="0">
                <a:latin typeface="Calibri"/>
                <a:cs typeface="Calibri"/>
              </a:rPr>
              <a:t> </a:t>
            </a:r>
            <a:r>
              <a:rPr sz="2400" spc="-5" dirty="0">
                <a:latin typeface="Calibri"/>
                <a:cs typeface="Calibri"/>
              </a:rPr>
              <a:t>Model</a:t>
            </a:r>
            <a:r>
              <a:rPr sz="2400" spc="-20" dirty="0">
                <a:latin typeface="Calibri"/>
                <a:cs typeface="Calibri"/>
              </a:rPr>
              <a:t> </a:t>
            </a:r>
            <a:r>
              <a:rPr sz="2400" spc="-15" dirty="0">
                <a:latin typeface="Calibri"/>
                <a:cs typeface="Calibri"/>
              </a:rPr>
              <a:t>Iteration</a:t>
            </a:r>
            <a:r>
              <a:rPr sz="2400" spc="-30" dirty="0">
                <a:latin typeface="Calibri"/>
                <a:cs typeface="Calibri"/>
              </a:rPr>
              <a:t> </a:t>
            </a:r>
            <a:r>
              <a:rPr sz="2400" spc="-5" dirty="0">
                <a:latin typeface="Calibri"/>
                <a:cs typeface="Calibri"/>
              </a:rPr>
              <a:t>(FMI),</a:t>
            </a:r>
            <a:endParaRPr sz="2400" dirty="0">
              <a:latin typeface="Calibri"/>
              <a:cs typeface="Calibri"/>
            </a:endParaRPr>
          </a:p>
          <a:p>
            <a:pPr marL="469900" indent="-457200">
              <a:lnSpc>
                <a:spcPct val="100000"/>
              </a:lnSpc>
              <a:spcBef>
                <a:spcPts val="710"/>
              </a:spcBef>
              <a:buAutoNum type="arabicParenR"/>
              <a:tabLst>
                <a:tab pos="469265" algn="l"/>
                <a:tab pos="469900" algn="l"/>
              </a:tabLst>
            </a:pPr>
            <a:r>
              <a:rPr sz="2400" dirty="0">
                <a:latin typeface="Calibri"/>
                <a:cs typeface="Calibri"/>
              </a:rPr>
              <a:t>the</a:t>
            </a:r>
            <a:r>
              <a:rPr sz="2400" spc="-5" dirty="0">
                <a:latin typeface="Calibri"/>
                <a:cs typeface="Calibri"/>
              </a:rPr>
              <a:t> Design</a:t>
            </a:r>
            <a:r>
              <a:rPr sz="2400" spc="-25" dirty="0">
                <a:latin typeface="Calibri"/>
                <a:cs typeface="Calibri"/>
              </a:rPr>
              <a:t> </a:t>
            </a:r>
            <a:r>
              <a:rPr sz="2400" dirty="0">
                <a:latin typeface="Calibri"/>
                <a:cs typeface="Calibri"/>
              </a:rPr>
              <a:t>and</a:t>
            </a:r>
            <a:r>
              <a:rPr sz="2400" spc="-10" dirty="0">
                <a:latin typeface="Calibri"/>
                <a:cs typeface="Calibri"/>
              </a:rPr>
              <a:t> </a:t>
            </a:r>
            <a:r>
              <a:rPr sz="2400" dirty="0">
                <a:latin typeface="Calibri"/>
                <a:cs typeface="Calibri"/>
              </a:rPr>
              <a:t>Build</a:t>
            </a:r>
            <a:r>
              <a:rPr sz="2400" spc="-5" dirty="0">
                <a:latin typeface="Calibri"/>
                <a:cs typeface="Calibri"/>
              </a:rPr>
              <a:t> </a:t>
            </a:r>
            <a:r>
              <a:rPr sz="2400" spc="-15" dirty="0">
                <a:latin typeface="Calibri"/>
                <a:cs typeface="Calibri"/>
              </a:rPr>
              <a:t>Iteration</a:t>
            </a:r>
            <a:r>
              <a:rPr sz="2400" spc="-40" dirty="0">
                <a:latin typeface="Calibri"/>
                <a:cs typeface="Calibri"/>
              </a:rPr>
              <a:t> </a:t>
            </a:r>
            <a:r>
              <a:rPr sz="2400" spc="-5" dirty="0">
                <a:latin typeface="Calibri"/>
                <a:cs typeface="Calibri"/>
              </a:rPr>
              <a:t>(DBI),</a:t>
            </a:r>
            <a:endParaRPr sz="2400" dirty="0">
              <a:latin typeface="Calibri"/>
              <a:cs typeface="Calibri"/>
            </a:endParaRPr>
          </a:p>
          <a:p>
            <a:pPr marL="469900" indent="-457200">
              <a:lnSpc>
                <a:spcPct val="100000"/>
              </a:lnSpc>
              <a:spcBef>
                <a:spcPts val="705"/>
              </a:spcBef>
              <a:buAutoNum type="arabicParenR"/>
              <a:tabLst>
                <a:tab pos="469265" algn="l"/>
                <a:tab pos="469900" algn="l"/>
              </a:tabLst>
            </a:pPr>
            <a:r>
              <a:rPr sz="2400" dirty="0">
                <a:latin typeface="Calibri"/>
                <a:cs typeface="Calibri"/>
              </a:rPr>
              <a:t>the</a:t>
            </a:r>
            <a:r>
              <a:rPr sz="2400" spc="-30" dirty="0">
                <a:latin typeface="Calibri"/>
                <a:cs typeface="Calibri"/>
              </a:rPr>
              <a:t> </a:t>
            </a:r>
            <a:r>
              <a:rPr sz="2400" spc="-5" dirty="0">
                <a:latin typeface="Calibri"/>
                <a:cs typeface="Calibri"/>
              </a:rPr>
              <a:t>Implementation</a:t>
            </a:r>
            <a:r>
              <a:rPr sz="2400" spc="-65" dirty="0">
                <a:latin typeface="Calibri"/>
                <a:cs typeface="Calibri"/>
              </a:rPr>
              <a:t> </a:t>
            </a:r>
            <a:r>
              <a:rPr sz="2400" dirty="0">
                <a:latin typeface="Calibri"/>
                <a:cs typeface="Calibri"/>
              </a:rPr>
              <a:t>Phase</a:t>
            </a:r>
          </a:p>
          <a:p>
            <a:pPr marL="469900" indent="-457200">
              <a:lnSpc>
                <a:spcPct val="100000"/>
              </a:lnSpc>
              <a:spcBef>
                <a:spcPts val="720"/>
              </a:spcBef>
              <a:buAutoNum type="arabicParenR"/>
              <a:tabLst>
                <a:tab pos="469265" algn="l"/>
                <a:tab pos="469900" algn="l"/>
              </a:tabLst>
            </a:pPr>
            <a:r>
              <a:rPr sz="2400" dirty="0">
                <a:latin typeface="Calibri"/>
                <a:cs typeface="Calibri"/>
              </a:rPr>
              <a:t>the</a:t>
            </a:r>
            <a:r>
              <a:rPr sz="2400" spc="-15" dirty="0">
                <a:latin typeface="Calibri"/>
                <a:cs typeface="Calibri"/>
              </a:rPr>
              <a:t> Post-Project</a:t>
            </a:r>
            <a:r>
              <a:rPr sz="2400" spc="-25" dirty="0">
                <a:latin typeface="Calibri"/>
                <a:cs typeface="Calibri"/>
              </a:rPr>
              <a:t> </a:t>
            </a:r>
            <a:r>
              <a:rPr sz="2400" spc="-5" dirty="0">
                <a:latin typeface="Calibri"/>
                <a:cs typeface="Calibri"/>
              </a:rPr>
              <a:t>Phase.</a:t>
            </a:r>
            <a:endParaRPr sz="2400" dirty="0">
              <a:latin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8768" y="573735"/>
            <a:ext cx="5310505" cy="514350"/>
          </a:xfrm>
          <a:prstGeom prst="rect">
            <a:avLst/>
          </a:prstGeom>
        </p:spPr>
        <p:txBody>
          <a:bodyPr vert="horz" wrap="square" lIns="0" tIns="13335" rIns="0" bIns="0" rtlCol="0">
            <a:spAutoFit/>
          </a:bodyPr>
          <a:lstStyle/>
          <a:p>
            <a:pPr marL="12700">
              <a:lnSpc>
                <a:spcPct val="100000"/>
              </a:lnSpc>
              <a:spcBef>
                <a:spcPts val="105"/>
              </a:spcBef>
            </a:pPr>
            <a:r>
              <a:rPr sz="3200" spc="-25" dirty="0"/>
              <a:t>Adaptive</a:t>
            </a:r>
            <a:r>
              <a:rPr sz="3200" spc="-95" dirty="0"/>
              <a:t> </a:t>
            </a:r>
            <a:r>
              <a:rPr sz="3200" spc="-25" dirty="0"/>
              <a:t>Models</a:t>
            </a:r>
            <a:r>
              <a:rPr sz="3200" spc="-90" dirty="0"/>
              <a:t> </a:t>
            </a:r>
            <a:r>
              <a:rPr sz="3200" dirty="0"/>
              <a:t>–</a:t>
            </a:r>
            <a:r>
              <a:rPr sz="3200" spc="-55" dirty="0"/>
              <a:t> </a:t>
            </a:r>
            <a:r>
              <a:rPr sz="3200" spc="-15" dirty="0"/>
              <a:t>DSDM</a:t>
            </a:r>
            <a:r>
              <a:rPr sz="3200" spc="-110" dirty="0"/>
              <a:t> </a:t>
            </a:r>
            <a:r>
              <a:rPr sz="3200" spc="-20" dirty="0"/>
              <a:t>Phases</a:t>
            </a:r>
            <a:endParaRPr sz="3200"/>
          </a:p>
        </p:txBody>
      </p:sp>
      <p:pic>
        <p:nvPicPr>
          <p:cNvPr id="3" name="object 3"/>
          <p:cNvPicPr/>
          <p:nvPr/>
        </p:nvPicPr>
        <p:blipFill>
          <a:blip r:embed="rId2" cstate="print"/>
          <a:stretch>
            <a:fillRect/>
          </a:stretch>
        </p:blipFill>
        <p:spPr>
          <a:xfrm>
            <a:off x="1972306" y="1644780"/>
            <a:ext cx="8466497" cy="4909559"/>
          </a:xfrm>
          <a:prstGeom prst="rect">
            <a:avLst/>
          </a:prstGeom>
        </p:spPr>
      </p:pic>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
        <p:nvSpPr>
          <p:cNvPr id="2" name="object 2"/>
          <p:cNvSpPr txBox="1">
            <a:spLocks noGrp="1"/>
          </p:cNvSpPr>
          <p:nvPr>
            <p:ph type="title"/>
          </p:nvPr>
        </p:nvSpPr>
        <p:spPr>
          <a:xfrm>
            <a:off x="916939" y="412445"/>
            <a:ext cx="7279005" cy="697230"/>
          </a:xfrm>
          <a:prstGeom prst="rect">
            <a:avLst/>
          </a:prstGeom>
        </p:spPr>
        <p:txBody>
          <a:bodyPr vert="horz" wrap="square" lIns="0" tIns="13335" rIns="0" bIns="0" rtlCol="0">
            <a:spAutoFit/>
          </a:bodyPr>
          <a:lstStyle/>
          <a:p>
            <a:pPr marL="12700">
              <a:lnSpc>
                <a:spcPct val="100000"/>
              </a:lnSpc>
              <a:spcBef>
                <a:spcPts val="105"/>
              </a:spcBef>
            </a:pPr>
            <a:r>
              <a:rPr sz="4400" spc="-35" dirty="0"/>
              <a:t>Adaptive</a:t>
            </a:r>
            <a:r>
              <a:rPr sz="4400" spc="-114" dirty="0"/>
              <a:t> </a:t>
            </a:r>
            <a:r>
              <a:rPr sz="4400" spc="-35" dirty="0"/>
              <a:t>Models</a:t>
            </a:r>
            <a:r>
              <a:rPr sz="4400" spc="-125" dirty="0"/>
              <a:t> </a:t>
            </a:r>
            <a:r>
              <a:rPr sz="4400" dirty="0"/>
              <a:t>–</a:t>
            </a:r>
            <a:r>
              <a:rPr sz="4400" spc="-70" dirty="0"/>
              <a:t> </a:t>
            </a:r>
            <a:r>
              <a:rPr sz="4400" spc="-25" dirty="0"/>
              <a:t>DSDM</a:t>
            </a:r>
            <a:r>
              <a:rPr sz="4400" spc="-140" dirty="0"/>
              <a:t> </a:t>
            </a:r>
            <a:r>
              <a:rPr sz="4400" spc="-30" dirty="0"/>
              <a:t>Phases</a:t>
            </a:r>
            <a:endParaRPr sz="4400"/>
          </a:p>
        </p:txBody>
      </p:sp>
      <p:sp>
        <p:nvSpPr>
          <p:cNvPr id="3" name="object 3"/>
          <p:cNvSpPr txBox="1"/>
          <p:nvPr/>
        </p:nvSpPr>
        <p:spPr>
          <a:xfrm>
            <a:off x="916939" y="1733549"/>
            <a:ext cx="10357485" cy="3648075"/>
          </a:xfrm>
          <a:prstGeom prst="rect">
            <a:avLst/>
          </a:prstGeom>
        </p:spPr>
        <p:txBody>
          <a:bodyPr vert="horz" wrap="square" lIns="0" tIns="12065" rIns="0" bIns="0" rtlCol="0">
            <a:spAutoFit/>
          </a:bodyPr>
          <a:lstStyle/>
          <a:p>
            <a:pPr marL="241300" indent="-228600">
              <a:lnSpc>
                <a:spcPct val="100000"/>
              </a:lnSpc>
              <a:spcBef>
                <a:spcPts val="95"/>
              </a:spcBef>
              <a:buFont typeface="Arial MT"/>
              <a:buChar char="•"/>
              <a:tabLst>
                <a:tab pos="241300" algn="l"/>
              </a:tabLst>
            </a:pPr>
            <a:r>
              <a:rPr sz="2800" spc="-15" dirty="0">
                <a:latin typeface="Calibri"/>
                <a:cs typeface="Calibri"/>
              </a:rPr>
              <a:t>Pre-Project:</a:t>
            </a:r>
            <a:r>
              <a:rPr sz="2800" spc="45" dirty="0">
                <a:latin typeface="Calibri"/>
                <a:cs typeface="Calibri"/>
              </a:rPr>
              <a:t> </a:t>
            </a:r>
            <a:r>
              <a:rPr sz="2800" spc="-10" dirty="0">
                <a:latin typeface="Calibri"/>
                <a:cs typeface="Calibri"/>
              </a:rPr>
              <a:t>Identify</a:t>
            </a:r>
            <a:r>
              <a:rPr sz="2800" spc="30" dirty="0">
                <a:latin typeface="Calibri"/>
                <a:cs typeface="Calibri"/>
              </a:rPr>
              <a:t> </a:t>
            </a:r>
            <a:r>
              <a:rPr sz="2800" spc="-5" dirty="0">
                <a:latin typeface="Calibri"/>
                <a:cs typeface="Calibri"/>
              </a:rPr>
              <a:t>a</a:t>
            </a:r>
            <a:r>
              <a:rPr sz="2800" dirty="0">
                <a:latin typeface="Calibri"/>
                <a:cs typeface="Calibri"/>
              </a:rPr>
              <a:t> </a:t>
            </a:r>
            <a:r>
              <a:rPr sz="2800" spc="-15" dirty="0">
                <a:latin typeface="Calibri"/>
                <a:cs typeface="Calibri"/>
              </a:rPr>
              <a:t>project,</a:t>
            </a:r>
            <a:r>
              <a:rPr sz="2800" spc="30" dirty="0">
                <a:latin typeface="Calibri"/>
                <a:cs typeface="Calibri"/>
              </a:rPr>
              <a:t> </a:t>
            </a:r>
            <a:r>
              <a:rPr sz="2800" spc="-25" dirty="0">
                <a:latin typeface="Calibri"/>
                <a:cs typeface="Calibri"/>
              </a:rPr>
              <a:t>Have</a:t>
            </a:r>
            <a:r>
              <a:rPr sz="2800" spc="10" dirty="0">
                <a:latin typeface="Calibri"/>
                <a:cs typeface="Calibri"/>
              </a:rPr>
              <a:t> </a:t>
            </a:r>
            <a:r>
              <a:rPr sz="2800" spc="-5" dirty="0">
                <a:latin typeface="Calibri"/>
                <a:cs typeface="Calibri"/>
              </a:rPr>
              <a:t>funding,</a:t>
            </a:r>
            <a:r>
              <a:rPr sz="2800" spc="40" dirty="0">
                <a:latin typeface="Calibri"/>
                <a:cs typeface="Calibri"/>
              </a:rPr>
              <a:t> </a:t>
            </a:r>
            <a:r>
              <a:rPr sz="2800" spc="-25" dirty="0">
                <a:latin typeface="Calibri"/>
                <a:cs typeface="Calibri"/>
              </a:rPr>
              <a:t>Have</a:t>
            </a:r>
            <a:r>
              <a:rPr sz="2800" spc="10" dirty="0">
                <a:latin typeface="Calibri"/>
                <a:cs typeface="Calibri"/>
              </a:rPr>
              <a:t> </a:t>
            </a:r>
            <a:r>
              <a:rPr sz="2800" spc="-10" dirty="0">
                <a:latin typeface="Calibri"/>
                <a:cs typeface="Calibri"/>
              </a:rPr>
              <a:t>commitment</a:t>
            </a:r>
            <a:endParaRPr sz="2800">
              <a:latin typeface="Calibri"/>
              <a:cs typeface="Calibri"/>
            </a:endParaRPr>
          </a:p>
          <a:p>
            <a:pPr>
              <a:lnSpc>
                <a:spcPct val="100000"/>
              </a:lnSpc>
              <a:spcBef>
                <a:spcPts val="50"/>
              </a:spcBef>
              <a:buFont typeface="Arial MT"/>
              <a:buChar char="•"/>
            </a:pPr>
            <a:endParaRPr sz="4100">
              <a:latin typeface="Calibri"/>
              <a:cs typeface="Calibri"/>
            </a:endParaRPr>
          </a:p>
          <a:p>
            <a:pPr marL="241300" marR="5080" indent="-228600">
              <a:lnSpc>
                <a:spcPts val="3030"/>
              </a:lnSpc>
              <a:buFont typeface="Arial MT"/>
              <a:buChar char="•"/>
              <a:tabLst>
                <a:tab pos="241300" algn="l"/>
                <a:tab pos="1006475" algn="l"/>
                <a:tab pos="1798955" algn="l"/>
                <a:tab pos="2806700" algn="l"/>
                <a:tab pos="4033520" algn="l"/>
                <a:tab pos="5493385" algn="l"/>
                <a:tab pos="6206490" algn="l"/>
                <a:tab pos="8134984" algn="l"/>
                <a:tab pos="9799320" algn="l"/>
              </a:tabLst>
            </a:pPr>
            <a:r>
              <a:rPr sz="2800" spc="-10" dirty="0">
                <a:latin typeface="Calibri"/>
                <a:cs typeface="Calibri"/>
              </a:rPr>
              <a:t>Th</a:t>
            </a:r>
            <a:r>
              <a:rPr sz="2800" spc="-5" dirty="0">
                <a:latin typeface="Calibri"/>
                <a:cs typeface="Calibri"/>
              </a:rPr>
              <a:t>e</a:t>
            </a:r>
            <a:r>
              <a:rPr sz="2800" dirty="0">
                <a:latin typeface="Calibri"/>
                <a:cs typeface="Calibri"/>
              </a:rPr>
              <a:t>	</a:t>
            </a:r>
            <a:r>
              <a:rPr sz="2800" spc="-10" dirty="0">
                <a:latin typeface="Calibri"/>
                <a:cs typeface="Calibri"/>
              </a:rPr>
              <a:t>f</a:t>
            </a:r>
            <a:r>
              <a:rPr sz="2800" spc="-15" dirty="0">
                <a:latin typeface="Calibri"/>
                <a:cs typeface="Calibri"/>
              </a:rPr>
              <a:t>i</a:t>
            </a:r>
            <a:r>
              <a:rPr sz="2800" spc="-50" dirty="0">
                <a:latin typeface="Calibri"/>
                <a:cs typeface="Calibri"/>
              </a:rPr>
              <a:t>r</a:t>
            </a:r>
            <a:r>
              <a:rPr sz="2800" spc="-45" dirty="0">
                <a:latin typeface="Calibri"/>
                <a:cs typeface="Calibri"/>
              </a:rPr>
              <a:t>s</a:t>
            </a:r>
            <a:r>
              <a:rPr sz="2800" spc="-5" dirty="0">
                <a:latin typeface="Calibri"/>
                <a:cs typeface="Calibri"/>
              </a:rPr>
              <a:t>t</a:t>
            </a:r>
            <a:r>
              <a:rPr sz="2800" dirty="0">
                <a:latin typeface="Calibri"/>
                <a:cs typeface="Calibri"/>
              </a:rPr>
              <a:t>	</a:t>
            </a:r>
            <a:r>
              <a:rPr sz="2800" spc="-5" dirty="0">
                <a:latin typeface="Calibri"/>
                <a:cs typeface="Calibri"/>
              </a:rPr>
              <a:t>th</a:t>
            </a:r>
            <a:r>
              <a:rPr sz="2800" spc="-55" dirty="0">
                <a:latin typeface="Calibri"/>
                <a:cs typeface="Calibri"/>
              </a:rPr>
              <a:t>r</a:t>
            </a:r>
            <a:r>
              <a:rPr sz="2800" spc="-5" dirty="0">
                <a:latin typeface="Calibri"/>
                <a:cs typeface="Calibri"/>
              </a:rPr>
              <a:t>ee</a:t>
            </a:r>
            <a:r>
              <a:rPr sz="2800" dirty="0">
                <a:latin typeface="Calibri"/>
                <a:cs typeface="Calibri"/>
              </a:rPr>
              <a:t>	</a:t>
            </a:r>
            <a:r>
              <a:rPr sz="2800" spc="-10" dirty="0">
                <a:latin typeface="Calibri"/>
                <a:cs typeface="Calibri"/>
              </a:rPr>
              <a:t>phase</a:t>
            </a:r>
            <a:r>
              <a:rPr sz="2800" spc="-5" dirty="0">
                <a:latin typeface="Calibri"/>
                <a:cs typeface="Calibri"/>
              </a:rPr>
              <a:t>s</a:t>
            </a:r>
            <a:r>
              <a:rPr sz="2800" dirty="0">
                <a:latin typeface="Calibri"/>
                <a:cs typeface="Calibri"/>
              </a:rPr>
              <a:t>	</a:t>
            </a:r>
            <a:r>
              <a:rPr sz="2800" spc="5" dirty="0">
                <a:latin typeface="Calibri"/>
                <a:cs typeface="Calibri"/>
              </a:rPr>
              <a:t>(</a:t>
            </a:r>
            <a:r>
              <a:rPr sz="2800" spc="-10" dirty="0">
                <a:latin typeface="Calibri"/>
                <a:cs typeface="Calibri"/>
              </a:rPr>
              <a:t>namel</a:t>
            </a:r>
            <a:r>
              <a:rPr sz="2800" spc="-225" dirty="0">
                <a:latin typeface="Calibri"/>
                <a:cs typeface="Calibri"/>
              </a:rPr>
              <a:t>y</a:t>
            </a:r>
            <a:r>
              <a:rPr sz="2800" spc="-5" dirty="0">
                <a:latin typeface="Calibri"/>
                <a:cs typeface="Calibri"/>
              </a:rPr>
              <a:t>,</a:t>
            </a:r>
            <a:r>
              <a:rPr sz="2800" dirty="0">
                <a:latin typeface="Calibri"/>
                <a:cs typeface="Calibri"/>
              </a:rPr>
              <a:t>	t</a:t>
            </a:r>
            <a:r>
              <a:rPr sz="2800" spc="-10" dirty="0">
                <a:latin typeface="Calibri"/>
                <a:cs typeface="Calibri"/>
              </a:rPr>
              <a:t>h</a:t>
            </a:r>
            <a:r>
              <a:rPr sz="2800" spc="-5" dirty="0">
                <a:latin typeface="Calibri"/>
                <a:cs typeface="Calibri"/>
              </a:rPr>
              <a:t>e</a:t>
            </a:r>
            <a:r>
              <a:rPr sz="2800" dirty="0">
                <a:latin typeface="Calibri"/>
                <a:cs typeface="Calibri"/>
              </a:rPr>
              <a:t>	</a:t>
            </a:r>
            <a:r>
              <a:rPr sz="2800" spc="-5" dirty="0">
                <a:latin typeface="Calibri"/>
                <a:cs typeface="Calibri"/>
              </a:rPr>
              <a:t>P</a:t>
            </a:r>
            <a:r>
              <a:rPr sz="2800" spc="-55" dirty="0">
                <a:latin typeface="Calibri"/>
                <a:cs typeface="Calibri"/>
              </a:rPr>
              <a:t>r</a:t>
            </a:r>
            <a:r>
              <a:rPr sz="2800" spc="-10" dirty="0">
                <a:latin typeface="Calibri"/>
                <a:cs typeface="Calibri"/>
              </a:rPr>
              <a:t>e</a:t>
            </a:r>
            <a:r>
              <a:rPr sz="2800" dirty="0">
                <a:latin typeface="Calibri"/>
                <a:cs typeface="Calibri"/>
              </a:rPr>
              <a:t>-</a:t>
            </a:r>
            <a:r>
              <a:rPr sz="2800" spc="-5" dirty="0">
                <a:latin typeface="Calibri"/>
                <a:cs typeface="Calibri"/>
              </a:rPr>
              <a:t>P</a:t>
            </a:r>
            <a:r>
              <a:rPr sz="2800" spc="-55" dirty="0">
                <a:latin typeface="Calibri"/>
                <a:cs typeface="Calibri"/>
              </a:rPr>
              <a:t>r</a:t>
            </a:r>
            <a:r>
              <a:rPr sz="2800" spc="-10" dirty="0">
                <a:latin typeface="Calibri"/>
                <a:cs typeface="Calibri"/>
              </a:rPr>
              <a:t>oje</a:t>
            </a:r>
            <a:r>
              <a:rPr sz="2800" spc="10" dirty="0">
                <a:latin typeface="Calibri"/>
                <a:cs typeface="Calibri"/>
              </a:rPr>
              <a:t>c</a:t>
            </a:r>
            <a:r>
              <a:rPr sz="2800" spc="-5" dirty="0">
                <a:latin typeface="Calibri"/>
                <a:cs typeface="Calibri"/>
              </a:rPr>
              <a:t>t,</a:t>
            </a:r>
            <a:r>
              <a:rPr sz="2800" dirty="0">
                <a:latin typeface="Calibri"/>
                <a:cs typeface="Calibri"/>
              </a:rPr>
              <a:t>	</a:t>
            </a:r>
            <a:r>
              <a:rPr sz="2800" spc="-45" dirty="0">
                <a:latin typeface="Calibri"/>
                <a:cs typeface="Calibri"/>
              </a:rPr>
              <a:t>F</a:t>
            </a:r>
            <a:r>
              <a:rPr sz="2800" spc="-5" dirty="0">
                <a:latin typeface="Calibri"/>
                <a:cs typeface="Calibri"/>
              </a:rPr>
              <a:t>easib</a:t>
            </a:r>
            <a:r>
              <a:rPr sz="2800" spc="-15" dirty="0">
                <a:latin typeface="Calibri"/>
                <a:cs typeface="Calibri"/>
              </a:rPr>
              <a:t>i</a:t>
            </a:r>
            <a:r>
              <a:rPr sz="2800" spc="-5" dirty="0">
                <a:latin typeface="Calibri"/>
                <a:cs typeface="Calibri"/>
              </a:rPr>
              <a:t>lity</a:t>
            </a:r>
            <a:r>
              <a:rPr sz="2800" dirty="0">
                <a:latin typeface="Calibri"/>
                <a:cs typeface="Calibri"/>
              </a:rPr>
              <a:t>	</a:t>
            </a:r>
            <a:r>
              <a:rPr sz="2800" spc="-5" dirty="0">
                <a:latin typeface="Calibri"/>
                <a:cs typeface="Calibri"/>
              </a:rPr>
              <a:t>a</a:t>
            </a:r>
            <a:r>
              <a:rPr sz="2800" dirty="0">
                <a:latin typeface="Calibri"/>
                <a:cs typeface="Calibri"/>
              </a:rPr>
              <a:t>n</a:t>
            </a:r>
            <a:r>
              <a:rPr sz="2800" spc="-5" dirty="0">
                <a:latin typeface="Calibri"/>
                <a:cs typeface="Calibri"/>
              </a:rPr>
              <a:t>d  Business</a:t>
            </a:r>
            <a:r>
              <a:rPr sz="2800" spc="35" dirty="0">
                <a:latin typeface="Calibri"/>
                <a:cs typeface="Calibri"/>
              </a:rPr>
              <a:t> </a:t>
            </a:r>
            <a:r>
              <a:rPr sz="2800" spc="-10" dirty="0">
                <a:latin typeface="Calibri"/>
                <a:cs typeface="Calibri"/>
              </a:rPr>
              <a:t>Studies</a:t>
            </a:r>
            <a:r>
              <a:rPr sz="2800" spc="45" dirty="0">
                <a:latin typeface="Calibri"/>
                <a:cs typeface="Calibri"/>
              </a:rPr>
              <a:t> </a:t>
            </a:r>
            <a:r>
              <a:rPr sz="2800" spc="-10" dirty="0">
                <a:latin typeface="Calibri"/>
                <a:cs typeface="Calibri"/>
              </a:rPr>
              <a:t>phases)</a:t>
            </a:r>
            <a:r>
              <a:rPr sz="2800" spc="25" dirty="0">
                <a:latin typeface="Calibri"/>
                <a:cs typeface="Calibri"/>
              </a:rPr>
              <a:t> </a:t>
            </a:r>
            <a:r>
              <a:rPr sz="2800" spc="-20" dirty="0">
                <a:latin typeface="Calibri"/>
                <a:cs typeface="Calibri"/>
              </a:rPr>
              <a:t>are</a:t>
            </a:r>
            <a:r>
              <a:rPr sz="2800" spc="-5" dirty="0">
                <a:latin typeface="Calibri"/>
                <a:cs typeface="Calibri"/>
              </a:rPr>
              <a:t> </a:t>
            </a:r>
            <a:r>
              <a:rPr sz="2800" spc="-10" dirty="0">
                <a:latin typeface="Calibri"/>
                <a:cs typeface="Calibri"/>
              </a:rPr>
              <a:t>done</a:t>
            </a:r>
            <a:r>
              <a:rPr sz="2800" spc="20" dirty="0">
                <a:latin typeface="Calibri"/>
                <a:cs typeface="Calibri"/>
              </a:rPr>
              <a:t> </a:t>
            </a:r>
            <a:r>
              <a:rPr sz="2800" b="1" spc="-10" dirty="0">
                <a:latin typeface="Calibri"/>
                <a:cs typeface="Calibri"/>
              </a:rPr>
              <a:t>sequentially</a:t>
            </a:r>
            <a:r>
              <a:rPr sz="2800" b="1" spc="40" dirty="0">
                <a:latin typeface="Calibri"/>
                <a:cs typeface="Calibri"/>
              </a:rPr>
              <a:t> </a:t>
            </a:r>
            <a:r>
              <a:rPr sz="2800" spc="-10" dirty="0">
                <a:latin typeface="Calibri"/>
                <a:cs typeface="Calibri"/>
              </a:rPr>
              <a:t>in</a:t>
            </a:r>
            <a:r>
              <a:rPr sz="2800" spc="10" dirty="0">
                <a:latin typeface="Calibri"/>
                <a:cs typeface="Calibri"/>
              </a:rPr>
              <a:t> </a:t>
            </a:r>
            <a:r>
              <a:rPr sz="2800" spc="-60" dirty="0">
                <a:latin typeface="Calibri"/>
                <a:cs typeface="Calibri"/>
              </a:rPr>
              <a:t>order.</a:t>
            </a:r>
            <a:endParaRPr sz="2800">
              <a:latin typeface="Calibri"/>
              <a:cs typeface="Calibri"/>
            </a:endParaRPr>
          </a:p>
          <a:p>
            <a:pPr>
              <a:lnSpc>
                <a:spcPct val="100000"/>
              </a:lnSpc>
              <a:spcBef>
                <a:spcPts val="15"/>
              </a:spcBef>
              <a:buFont typeface="Arial MT"/>
              <a:buChar char="•"/>
            </a:pPr>
            <a:endParaRPr sz="4100">
              <a:latin typeface="Calibri"/>
              <a:cs typeface="Calibri"/>
            </a:endParaRPr>
          </a:p>
          <a:p>
            <a:pPr marL="241300" marR="69215" indent="-228600">
              <a:lnSpc>
                <a:spcPts val="3030"/>
              </a:lnSpc>
              <a:buFont typeface="Arial MT"/>
              <a:buChar char="•"/>
              <a:tabLst>
                <a:tab pos="241300" algn="l"/>
              </a:tabLst>
            </a:pPr>
            <a:r>
              <a:rPr sz="2800" spc="-5" dirty="0">
                <a:latin typeface="Calibri"/>
                <a:cs typeface="Calibri"/>
              </a:rPr>
              <a:t>The</a:t>
            </a:r>
            <a:r>
              <a:rPr sz="2800" spc="5" dirty="0">
                <a:latin typeface="Calibri"/>
                <a:cs typeface="Calibri"/>
              </a:rPr>
              <a:t> </a:t>
            </a:r>
            <a:r>
              <a:rPr sz="2800" spc="-10" dirty="0">
                <a:latin typeface="Calibri"/>
                <a:cs typeface="Calibri"/>
              </a:rPr>
              <a:t>feasibility</a:t>
            </a:r>
            <a:r>
              <a:rPr sz="2800" spc="25" dirty="0">
                <a:latin typeface="Calibri"/>
                <a:cs typeface="Calibri"/>
              </a:rPr>
              <a:t> </a:t>
            </a:r>
            <a:r>
              <a:rPr sz="2800" spc="-10" dirty="0">
                <a:latin typeface="Calibri"/>
                <a:cs typeface="Calibri"/>
              </a:rPr>
              <a:t>study</a:t>
            </a:r>
            <a:r>
              <a:rPr sz="2800" spc="30" dirty="0">
                <a:latin typeface="Calibri"/>
                <a:cs typeface="Calibri"/>
              </a:rPr>
              <a:t> </a:t>
            </a:r>
            <a:r>
              <a:rPr sz="2800" spc="-5" dirty="0">
                <a:latin typeface="Calibri"/>
                <a:cs typeface="Calibri"/>
              </a:rPr>
              <a:t>phase</a:t>
            </a:r>
            <a:r>
              <a:rPr sz="2800" spc="30" dirty="0">
                <a:latin typeface="Calibri"/>
                <a:cs typeface="Calibri"/>
              </a:rPr>
              <a:t> </a:t>
            </a:r>
            <a:r>
              <a:rPr sz="2800" spc="-15" dirty="0">
                <a:latin typeface="Calibri"/>
                <a:cs typeface="Calibri"/>
              </a:rPr>
              <a:t>produce</a:t>
            </a:r>
            <a:r>
              <a:rPr sz="2800" spc="-5" dirty="0">
                <a:latin typeface="Calibri"/>
                <a:cs typeface="Calibri"/>
              </a:rPr>
              <a:t> </a:t>
            </a:r>
            <a:r>
              <a:rPr sz="2800" spc="-15" dirty="0">
                <a:latin typeface="Calibri"/>
                <a:cs typeface="Calibri"/>
              </a:rPr>
              <a:t>feasibility</a:t>
            </a:r>
            <a:r>
              <a:rPr sz="2800" spc="5" dirty="0">
                <a:latin typeface="Calibri"/>
                <a:cs typeface="Calibri"/>
              </a:rPr>
              <a:t> </a:t>
            </a:r>
            <a:r>
              <a:rPr sz="2800" spc="-10" dirty="0">
                <a:latin typeface="Calibri"/>
                <a:cs typeface="Calibri"/>
              </a:rPr>
              <a:t>report</a:t>
            </a:r>
            <a:r>
              <a:rPr sz="2800" spc="25" dirty="0">
                <a:latin typeface="Calibri"/>
                <a:cs typeface="Calibri"/>
              </a:rPr>
              <a:t> </a:t>
            </a:r>
            <a:r>
              <a:rPr sz="2800" spc="-5" dirty="0">
                <a:latin typeface="Calibri"/>
                <a:cs typeface="Calibri"/>
              </a:rPr>
              <a:t>also </a:t>
            </a:r>
            <a:r>
              <a:rPr sz="2800" spc="-15" dirty="0">
                <a:latin typeface="Calibri"/>
                <a:cs typeface="Calibri"/>
              </a:rPr>
              <a:t>define</a:t>
            </a:r>
            <a:r>
              <a:rPr sz="2800" spc="5" dirty="0">
                <a:latin typeface="Calibri"/>
                <a:cs typeface="Calibri"/>
              </a:rPr>
              <a:t> </a:t>
            </a:r>
            <a:r>
              <a:rPr sz="2800" spc="-5" dirty="0">
                <a:latin typeface="Calibri"/>
                <a:cs typeface="Calibri"/>
              </a:rPr>
              <a:t>the </a:t>
            </a:r>
            <a:r>
              <a:rPr sz="2800" dirty="0">
                <a:latin typeface="Calibri"/>
                <a:cs typeface="Calibri"/>
              </a:rPr>
              <a:t> </a:t>
            </a:r>
            <a:r>
              <a:rPr sz="2800" spc="-15" dirty="0">
                <a:latin typeface="Calibri"/>
                <a:cs typeface="Calibri"/>
              </a:rPr>
              <a:t>general</a:t>
            </a:r>
            <a:r>
              <a:rPr sz="2800" dirty="0">
                <a:latin typeface="Calibri"/>
                <a:cs typeface="Calibri"/>
              </a:rPr>
              <a:t> </a:t>
            </a:r>
            <a:r>
              <a:rPr sz="2800" spc="-10" dirty="0">
                <a:latin typeface="Calibri"/>
                <a:cs typeface="Calibri"/>
              </a:rPr>
              <a:t>scope</a:t>
            </a:r>
            <a:r>
              <a:rPr sz="2800" spc="15" dirty="0">
                <a:latin typeface="Calibri"/>
                <a:cs typeface="Calibri"/>
              </a:rPr>
              <a:t> </a:t>
            </a:r>
            <a:r>
              <a:rPr sz="2800" spc="-5" dirty="0">
                <a:latin typeface="Calibri"/>
                <a:cs typeface="Calibri"/>
              </a:rPr>
              <a:t>of</a:t>
            </a:r>
            <a:r>
              <a:rPr sz="2800" spc="10" dirty="0">
                <a:latin typeface="Calibri"/>
                <a:cs typeface="Calibri"/>
              </a:rPr>
              <a:t> </a:t>
            </a:r>
            <a:r>
              <a:rPr sz="2800" spc="-5" dirty="0">
                <a:latin typeface="Calibri"/>
                <a:cs typeface="Calibri"/>
              </a:rPr>
              <a:t>the</a:t>
            </a:r>
            <a:r>
              <a:rPr sz="2800" spc="15" dirty="0">
                <a:latin typeface="Calibri"/>
                <a:cs typeface="Calibri"/>
              </a:rPr>
              <a:t> </a:t>
            </a:r>
            <a:r>
              <a:rPr sz="2800" spc="-10" dirty="0">
                <a:latin typeface="Calibri"/>
                <a:cs typeface="Calibri"/>
              </a:rPr>
              <a:t>project</a:t>
            </a:r>
            <a:r>
              <a:rPr sz="2800" spc="15" dirty="0">
                <a:latin typeface="Calibri"/>
                <a:cs typeface="Calibri"/>
              </a:rPr>
              <a:t> </a:t>
            </a:r>
            <a:r>
              <a:rPr sz="2800" spc="-5" dirty="0">
                <a:latin typeface="Calibri"/>
                <a:cs typeface="Calibri"/>
              </a:rPr>
              <a:t>and</a:t>
            </a:r>
            <a:r>
              <a:rPr sz="2800" spc="30" dirty="0">
                <a:latin typeface="Calibri"/>
                <a:cs typeface="Calibri"/>
              </a:rPr>
              <a:t> </a:t>
            </a:r>
            <a:r>
              <a:rPr sz="2800" spc="-5" dirty="0">
                <a:latin typeface="Calibri"/>
                <a:cs typeface="Calibri"/>
              </a:rPr>
              <a:t>its</a:t>
            </a:r>
            <a:r>
              <a:rPr sz="2800" spc="15" dirty="0">
                <a:latin typeface="Calibri"/>
                <a:cs typeface="Calibri"/>
              </a:rPr>
              <a:t> </a:t>
            </a:r>
            <a:r>
              <a:rPr sz="2800" spc="-5" dirty="0">
                <a:latin typeface="Calibri"/>
                <a:cs typeface="Calibri"/>
              </a:rPr>
              <a:t>objectives.</a:t>
            </a:r>
            <a:r>
              <a:rPr sz="2800" spc="25" dirty="0">
                <a:latin typeface="Calibri"/>
                <a:cs typeface="Calibri"/>
              </a:rPr>
              <a:t> </a:t>
            </a:r>
            <a:r>
              <a:rPr sz="2800" spc="-5" dirty="0">
                <a:latin typeface="Calibri"/>
                <a:cs typeface="Calibri"/>
              </a:rPr>
              <a:t>This</a:t>
            </a:r>
            <a:r>
              <a:rPr sz="2800" spc="15" dirty="0">
                <a:latin typeface="Calibri"/>
                <a:cs typeface="Calibri"/>
              </a:rPr>
              <a:t> </a:t>
            </a:r>
            <a:r>
              <a:rPr sz="2800" spc="-10" dirty="0">
                <a:latin typeface="Calibri"/>
                <a:cs typeface="Calibri"/>
              </a:rPr>
              <a:t>phase</a:t>
            </a:r>
            <a:r>
              <a:rPr sz="2800" spc="15" dirty="0">
                <a:latin typeface="Calibri"/>
                <a:cs typeface="Calibri"/>
              </a:rPr>
              <a:t> </a:t>
            </a:r>
            <a:r>
              <a:rPr sz="2800" spc="-10" dirty="0">
                <a:latin typeface="Calibri"/>
                <a:cs typeface="Calibri"/>
              </a:rPr>
              <a:t>should</a:t>
            </a:r>
            <a:r>
              <a:rPr sz="2800" spc="50" dirty="0">
                <a:latin typeface="Calibri"/>
                <a:cs typeface="Calibri"/>
              </a:rPr>
              <a:t> </a:t>
            </a:r>
            <a:r>
              <a:rPr sz="2800" spc="-5" dirty="0">
                <a:latin typeface="Calibri"/>
                <a:cs typeface="Calibri"/>
              </a:rPr>
              <a:t>also </a:t>
            </a:r>
            <a:r>
              <a:rPr sz="2800" spc="-620" dirty="0">
                <a:latin typeface="Calibri"/>
                <a:cs typeface="Calibri"/>
              </a:rPr>
              <a:t> </a:t>
            </a:r>
            <a:r>
              <a:rPr sz="2800" spc="-15" dirty="0">
                <a:latin typeface="Calibri"/>
                <a:cs typeface="Calibri"/>
              </a:rPr>
              <a:t>produce</a:t>
            </a:r>
            <a:r>
              <a:rPr sz="2800" spc="40" dirty="0">
                <a:latin typeface="Calibri"/>
                <a:cs typeface="Calibri"/>
              </a:rPr>
              <a:t> </a:t>
            </a:r>
            <a:r>
              <a:rPr sz="2800" spc="-5" dirty="0">
                <a:latin typeface="Calibri"/>
                <a:cs typeface="Calibri"/>
              </a:rPr>
              <a:t>an</a:t>
            </a:r>
            <a:r>
              <a:rPr sz="2800" spc="10" dirty="0">
                <a:latin typeface="Calibri"/>
                <a:cs typeface="Calibri"/>
              </a:rPr>
              <a:t> </a:t>
            </a:r>
            <a:r>
              <a:rPr sz="2800" spc="-10" dirty="0">
                <a:latin typeface="Calibri"/>
                <a:cs typeface="Calibri"/>
              </a:rPr>
              <a:t>outline</a:t>
            </a:r>
            <a:r>
              <a:rPr sz="2800" spc="20" dirty="0">
                <a:latin typeface="Calibri"/>
                <a:cs typeface="Calibri"/>
              </a:rPr>
              <a:t> </a:t>
            </a:r>
            <a:r>
              <a:rPr sz="2800" spc="-10" dirty="0">
                <a:latin typeface="Calibri"/>
                <a:cs typeface="Calibri"/>
              </a:rPr>
              <a:t>plan</a:t>
            </a:r>
            <a:r>
              <a:rPr sz="2800" spc="25" dirty="0">
                <a:latin typeface="Calibri"/>
                <a:cs typeface="Calibri"/>
              </a:rPr>
              <a:t> </a:t>
            </a:r>
            <a:r>
              <a:rPr sz="2800" spc="-25" dirty="0">
                <a:latin typeface="Calibri"/>
                <a:cs typeface="Calibri"/>
              </a:rPr>
              <a:t>for</a:t>
            </a:r>
            <a:r>
              <a:rPr sz="2800" spc="5" dirty="0">
                <a:latin typeface="Calibri"/>
                <a:cs typeface="Calibri"/>
              </a:rPr>
              <a:t> </a:t>
            </a:r>
            <a:r>
              <a:rPr sz="2800" spc="-5" dirty="0">
                <a:latin typeface="Calibri"/>
                <a:cs typeface="Calibri"/>
              </a:rPr>
              <a:t>the</a:t>
            </a:r>
            <a:r>
              <a:rPr sz="2800" spc="20" dirty="0">
                <a:latin typeface="Calibri"/>
                <a:cs typeface="Calibri"/>
              </a:rPr>
              <a:t> </a:t>
            </a:r>
            <a:r>
              <a:rPr sz="2800" spc="-10" dirty="0">
                <a:latin typeface="Calibri"/>
                <a:cs typeface="Calibri"/>
              </a:rPr>
              <a:t>development</a:t>
            </a:r>
            <a:r>
              <a:rPr sz="2800" spc="30" dirty="0">
                <a:latin typeface="Calibri"/>
                <a:cs typeface="Calibri"/>
              </a:rPr>
              <a:t> </a:t>
            </a:r>
            <a:r>
              <a:rPr sz="2800" spc="-5" dirty="0">
                <a:latin typeface="Calibri"/>
                <a:cs typeface="Calibri"/>
              </a:rPr>
              <a:t>of</a:t>
            </a:r>
            <a:r>
              <a:rPr sz="2800" spc="5" dirty="0">
                <a:latin typeface="Calibri"/>
                <a:cs typeface="Calibri"/>
              </a:rPr>
              <a:t> </a:t>
            </a:r>
            <a:r>
              <a:rPr sz="2800" spc="-5" dirty="0">
                <a:latin typeface="Calibri"/>
                <a:cs typeface="Calibri"/>
              </a:rPr>
              <a:t>the</a:t>
            </a:r>
            <a:r>
              <a:rPr sz="2800" spc="5" dirty="0">
                <a:latin typeface="Calibri"/>
                <a:cs typeface="Calibri"/>
              </a:rPr>
              <a:t> </a:t>
            </a:r>
            <a:r>
              <a:rPr sz="2800" spc="-5" dirty="0">
                <a:latin typeface="Calibri"/>
                <a:cs typeface="Calibri"/>
              </a:rPr>
              <a:t>end</a:t>
            </a:r>
            <a:r>
              <a:rPr sz="2800" spc="25" dirty="0">
                <a:latin typeface="Calibri"/>
                <a:cs typeface="Calibri"/>
              </a:rPr>
              <a:t> </a:t>
            </a:r>
            <a:r>
              <a:rPr sz="2800" spc="-15" dirty="0">
                <a:latin typeface="Calibri"/>
                <a:cs typeface="Calibri"/>
              </a:rPr>
              <a:t>product.</a:t>
            </a:r>
            <a:endParaRPr sz="2800">
              <a:latin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
        <p:nvSpPr>
          <p:cNvPr id="2" name="object 2"/>
          <p:cNvSpPr txBox="1">
            <a:spLocks noGrp="1"/>
          </p:cNvSpPr>
          <p:nvPr>
            <p:ph type="title"/>
          </p:nvPr>
        </p:nvSpPr>
        <p:spPr>
          <a:xfrm>
            <a:off x="916939" y="609676"/>
            <a:ext cx="7279005" cy="697230"/>
          </a:xfrm>
          <a:prstGeom prst="rect">
            <a:avLst/>
          </a:prstGeom>
        </p:spPr>
        <p:txBody>
          <a:bodyPr vert="horz" wrap="square" lIns="0" tIns="13335" rIns="0" bIns="0" rtlCol="0">
            <a:spAutoFit/>
          </a:bodyPr>
          <a:lstStyle/>
          <a:p>
            <a:pPr marL="12700">
              <a:lnSpc>
                <a:spcPct val="100000"/>
              </a:lnSpc>
              <a:spcBef>
                <a:spcPts val="105"/>
              </a:spcBef>
            </a:pPr>
            <a:r>
              <a:rPr sz="4400" spc="-35" dirty="0"/>
              <a:t>Adaptive</a:t>
            </a:r>
            <a:r>
              <a:rPr sz="4400" spc="-114" dirty="0"/>
              <a:t> </a:t>
            </a:r>
            <a:r>
              <a:rPr sz="4400" spc="-35" dirty="0"/>
              <a:t>Models</a:t>
            </a:r>
            <a:r>
              <a:rPr sz="4400" spc="-125" dirty="0"/>
              <a:t> </a:t>
            </a:r>
            <a:r>
              <a:rPr sz="4400" dirty="0"/>
              <a:t>–</a:t>
            </a:r>
            <a:r>
              <a:rPr sz="4400" spc="-70" dirty="0"/>
              <a:t> </a:t>
            </a:r>
            <a:r>
              <a:rPr sz="4400" spc="-25" dirty="0"/>
              <a:t>DSDM</a:t>
            </a:r>
            <a:r>
              <a:rPr sz="4400" spc="-140" dirty="0"/>
              <a:t> </a:t>
            </a:r>
            <a:r>
              <a:rPr sz="4400" spc="-30" dirty="0"/>
              <a:t>Phases</a:t>
            </a:r>
            <a:endParaRPr sz="4400"/>
          </a:p>
        </p:txBody>
      </p:sp>
      <p:sp>
        <p:nvSpPr>
          <p:cNvPr id="3" name="object 3"/>
          <p:cNvSpPr txBox="1"/>
          <p:nvPr/>
        </p:nvSpPr>
        <p:spPr>
          <a:xfrm>
            <a:off x="916939" y="1624660"/>
            <a:ext cx="10177780" cy="3906520"/>
          </a:xfrm>
          <a:prstGeom prst="rect">
            <a:avLst/>
          </a:prstGeom>
        </p:spPr>
        <p:txBody>
          <a:bodyPr vert="horz" wrap="square" lIns="0" tIns="97790" rIns="0" bIns="0" rtlCol="0">
            <a:spAutoFit/>
          </a:bodyPr>
          <a:lstStyle/>
          <a:p>
            <a:pPr marL="241300" marR="387985" indent="-228600">
              <a:lnSpc>
                <a:spcPct val="80000"/>
              </a:lnSpc>
              <a:spcBef>
                <a:spcPts val="770"/>
              </a:spcBef>
            </a:pPr>
            <a:r>
              <a:rPr sz="2800" spc="-5" dirty="0">
                <a:latin typeface="Calibri"/>
                <a:cs typeface="Calibri"/>
              </a:rPr>
              <a:t>The</a:t>
            </a:r>
            <a:r>
              <a:rPr sz="2800" spc="5" dirty="0">
                <a:latin typeface="Calibri"/>
                <a:cs typeface="Calibri"/>
              </a:rPr>
              <a:t> </a:t>
            </a:r>
            <a:r>
              <a:rPr sz="2800" b="1" spc="-5" dirty="0">
                <a:latin typeface="Calibri"/>
                <a:cs typeface="Calibri"/>
              </a:rPr>
              <a:t>Business</a:t>
            </a:r>
            <a:r>
              <a:rPr sz="2800" b="1" spc="15" dirty="0">
                <a:latin typeface="Calibri"/>
                <a:cs typeface="Calibri"/>
              </a:rPr>
              <a:t> </a:t>
            </a:r>
            <a:r>
              <a:rPr sz="2800" b="1" spc="-5" dirty="0">
                <a:latin typeface="Calibri"/>
                <a:cs typeface="Calibri"/>
              </a:rPr>
              <a:t>Study</a:t>
            </a:r>
            <a:r>
              <a:rPr sz="2800" b="1" spc="5" dirty="0">
                <a:latin typeface="Calibri"/>
                <a:cs typeface="Calibri"/>
              </a:rPr>
              <a:t> </a:t>
            </a:r>
            <a:r>
              <a:rPr sz="2800" spc="-5" dirty="0">
                <a:latin typeface="Calibri"/>
                <a:cs typeface="Calibri"/>
              </a:rPr>
              <a:t>phase</a:t>
            </a:r>
            <a:r>
              <a:rPr sz="2800" spc="25" dirty="0">
                <a:latin typeface="Calibri"/>
                <a:cs typeface="Calibri"/>
              </a:rPr>
              <a:t> </a:t>
            </a:r>
            <a:r>
              <a:rPr sz="2800" spc="-5" dirty="0">
                <a:latin typeface="Calibri"/>
                <a:cs typeface="Calibri"/>
              </a:rPr>
              <a:t>of the</a:t>
            </a:r>
            <a:r>
              <a:rPr sz="2800" dirty="0">
                <a:latin typeface="Calibri"/>
                <a:cs typeface="Calibri"/>
              </a:rPr>
              <a:t> </a:t>
            </a:r>
            <a:r>
              <a:rPr sz="2800" spc="-15" dirty="0">
                <a:latin typeface="Calibri"/>
                <a:cs typeface="Calibri"/>
              </a:rPr>
              <a:t>project</a:t>
            </a:r>
            <a:r>
              <a:rPr sz="2800" spc="30" dirty="0">
                <a:latin typeface="Calibri"/>
                <a:cs typeface="Calibri"/>
              </a:rPr>
              <a:t> </a:t>
            </a:r>
            <a:r>
              <a:rPr sz="2800" spc="-10" dirty="0">
                <a:latin typeface="Calibri"/>
                <a:cs typeface="Calibri"/>
              </a:rPr>
              <a:t>should</a:t>
            </a:r>
            <a:r>
              <a:rPr sz="2800" spc="25" dirty="0">
                <a:latin typeface="Calibri"/>
                <a:cs typeface="Calibri"/>
              </a:rPr>
              <a:t> </a:t>
            </a:r>
            <a:r>
              <a:rPr sz="2800" spc="-25" dirty="0">
                <a:latin typeface="Calibri"/>
                <a:cs typeface="Calibri"/>
              </a:rPr>
              <a:t>have</a:t>
            </a:r>
            <a:r>
              <a:rPr sz="2800" dirty="0">
                <a:latin typeface="Calibri"/>
                <a:cs typeface="Calibri"/>
              </a:rPr>
              <a:t> </a:t>
            </a:r>
            <a:r>
              <a:rPr sz="2800" spc="-10" dirty="0">
                <a:latin typeface="Calibri"/>
                <a:cs typeface="Calibri"/>
              </a:rPr>
              <a:t>three</a:t>
            </a:r>
            <a:r>
              <a:rPr sz="2800" spc="15" dirty="0">
                <a:latin typeface="Calibri"/>
                <a:cs typeface="Calibri"/>
              </a:rPr>
              <a:t> </a:t>
            </a:r>
            <a:r>
              <a:rPr sz="2800" spc="-10" dirty="0">
                <a:latin typeface="Calibri"/>
                <a:cs typeface="Calibri"/>
              </a:rPr>
              <a:t>outputs; </a:t>
            </a:r>
            <a:r>
              <a:rPr sz="2800" spc="-615" dirty="0">
                <a:latin typeface="Calibri"/>
                <a:cs typeface="Calibri"/>
              </a:rPr>
              <a:t> </a:t>
            </a:r>
            <a:r>
              <a:rPr sz="2800" spc="-5" dirty="0">
                <a:latin typeface="Calibri"/>
                <a:cs typeface="Calibri"/>
              </a:rPr>
              <a:t>these</a:t>
            </a:r>
            <a:r>
              <a:rPr sz="2800" spc="20" dirty="0">
                <a:latin typeface="Calibri"/>
                <a:cs typeface="Calibri"/>
              </a:rPr>
              <a:t> </a:t>
            </a:r>
            <a:r>
              <a:rPr sz="2800" spc="-10" dirty="0">
                <a:latin typeface="Calibri"/>
                <a:cs typeface="Calibri"/>
              </a:rPr>
              <a:t>should</a:t>
            </a:r>
            <a:r>
              <a:rPr sz="2800" spc="50" dirty="0">
                <a:latin typeface="Calibri"/>
                <a:cs typeface="Calibri"/>
              </a:rPr>
              <a:t> </a:t>
            </a:r>
            <a:r>
              <a:rPr sz="2800" spc="-5" dirty="0">
                <a:latin typeface="Calibri"/>
                <a:cs typeface="Calibri"/>
              </a:rPr>
              <a:t>be</a:t>
            </a:r>
            <a:r>
              <a:rPr sz="2800" dirty="0">
                <a:latin typeface="Calibri"/>
                <a:cs typeface="Calibri"/>
              </a:rPr>
              <a:t> </a:t>
            </a:r>
            <a:r>
              <a:rPr sz="2800" spc="-5" dirty="0">
                <a:latin typeface="Calibri"/>
                <a:cs typeface="Calibri"/>
              </a:rPr>
              <a:t>the</a:t>
            </a:r>
            <a:r>
              <a:rPr sz="2800" spc="15" dirty="0">
                <a:latin typeface="Calibri"/>
                <a:cs typeface="Calibri"/>
              </a:rPr>
              <a:t> </a:t>
            </a:r>
            <a:r>
              <a:rPr sz="2800" spc="-5" dirty="0">
                <a:latin typeface="Calibri"/>
                <a:cs typeface="Calibri"/>
              </a:rPr>
              <a:t>Business</a:t>
            </a:r>
            <a:r>
              <a:rPr sz="2800" spc="55" dirty="0">
                <a:latin typeface="Calibri"/>
                <a:cs typeface="Calibri"/>
              </a:rPr>
              <a:t> </a:t>
            </a:r>
            <a:r>
              <a:rPr sz="2800" spc="-15" dirty="0">
                <a:latin typeface="Calibri"/>
                <a:cs typeface="Calibri"/>
              </a:rPr>
              <a:t>Area</a:t>
            </a:r>
            <a:r>
              <a:rPr sz="2800" spc="10" dirty="0">
                <a:latin typeface="Calibri"/>
                <a:cs typeface="Calibri"/>
              </a:rPr>
              <a:t> </a:t>
            </a:r>
            <a:r>
              <a:rPr sz="2800" spc="-10" dirty="0">
                <a:latin typeface="Calibri"/>
                <a:cs typeface="Calibri"/>
              </a:rPr>
              <a:t>Definition</a:t>
            </a:r>
            <a:r>
              <a:rPr sz="2800" spc="30" dirty="0">
                <a:latin typeface="Calibri"/>
                <a:cs typeface="Calibri"/>
              </a:rPr>
              <a:t> </a:t>
            </a:r>
            <a:r>
              <a:rPr sz="2800" spc="-5" dirty="0">
                <a:latin typeface="Calibri"/>
                <a:cs typeface="Calibri"/>
              </a:rPr>
              <a:t>(BAD),</a:t>
            </a:r>
            <a:r>
              <a:rPr sz="2800" spc="20" dirty="0">
                <a:latin typeface="Calibri"/>
                <a:cs typeface="Calibri"/>
              </a:rPr>
              <a:t> </a:t>
            </a:r>
            <a:r>
              <a:rPr sz="2800" spc="-5" dirty="0">
                <a:latin typeface="Calibri"/>
                <a:cs typeface="Calibri"/>
              </a:rPr>
              <a:t>the</a:t>
            </a:r>
            <a:r>
              <a:rPr sz="2800" spc="20" dirty="0">
                <a:latin typeface="Calibri"/>
                <a:cs typeface="Calibri"/>
              </a:rPr>
              <a:t> </a:t>
            </a:r>
            <a:r>
              <a:rPr sz="2800" spc="-25" dirty="0">
                <a:latin typeface="Calibri"/>
                <a:cs typeface="Calibri"/>
              </a:rPr>
              <a:t>System </a:t>
            </a:r>
            <a:r>
              <a:rPr sz="2800" spc="-20" dirty="0">
                <a:latin typeface="Calibri"/>
                <a:cs typeface="Calibri"/>
              </a:rPr>
              <a:t> </a:t>
            </a:r>
            <a:r>
              <a:rPr sz="2800" spc="-10" dirty="0">
                <a:latin typeface="Calibri"/>
                <a:cs typeface="Calibri"/>
              </a:rPr>
              <a:t>Architecture</a:t>
            </a:r>
            <a:r>
              <a:rPr sz="2800" spc="15" dirty="0">
                <a:latin typeface="Calibri"/>
                <a:cs typeface="Calibri"/>
              </a:rPr>
              <a:t> </a:t>
            </a:r>
            <a:r>
              <a:rPr sz="2800" spc="-10" dirty="0">
                <a:latin typeface="Calibri"/>
                <a:cs typeface="Calibri"/>
              </a:rPr>
              <a:t>Definition</a:t>
            </a:r>
            <a:r>
              <a:rPr sz="2800" spc="40" dirty="0">
                <a:latin typeface="Calibri"/>
                <a:cs typeface="Calibri"/>
              </a:rPr>
              <a:t> </a:t>
            </a:r>
            <a:r>
              <a:rPr sz="2800" spc="-10" dirty="0">
                <a:latin typeface="Calibri"/>
                <a:cs typeface="Calibri"/>
              </a:rPr>
              <a:t>(SAD)</a:t>
            </a:r>
            <a:r>
              <a:rPr sz="2800" spc="35" dirty="0">
                <a:latin typeface="Calibri"/>
                <a:cs typeface="Calibri"/>
              </a:rPr>
              <a:t> </a:t>
            </a:r>
            <a:r>
              <a:rPr sz="2800" spc="-5" dirty="0">
                <a:latin typeface="Calibri"/>
                <a:cs typeface="Calibri"/>
              </a:rPr>
              <a:t>and</a:t>
            </a:r>
            <a:r>
              <a:rPr sz="2800" spc="20" dirty="0">
                <a:latin typeface="Calibri"/>
                <a:cs typeface="Calibri"/>
              </a:rPr>
              <a:t> </a:t>
            </a:r>
            <a:r>
              <a:rPr sz="2800" spc="-5" dirty="0">
                <a:latin typeface="Calibri"/>
                <a:cs typeface="Calibri"/>
              </a:rPr>
              <a:t>the</a:t>
            </a:r>
            <a:r>
              <a:rPr sz="2800" spc="20" dirty="0">
                <a:latin typeface="Calibri"/>
                <a:cs typeface="Calibri"/>
              </a:rPr>
              <a:t> </a:t>
            </a:r>
            <a:r>
              <a:rPr sz="2800" spc="-10" dirty="0">
                <a:latin typeface="Calibri"/>
                <a:cs typeface="Calibri"/>
              </a:rPr>
              <a:t>Outline</a:t>
            </a:r>
            <a:r>
              <a:rPr sz="2800" spc="25" dirty="0">
                <a:latin typeface="Calibri"/>
                <a:cs typeface="Calibri"/>
              </a:rPr>
              <a:t> </a:t>
            </a:r>
            <a:r>
              <a:rPr sz="2800" spc="-15" dirty="0">
                <a:latin typeface="Calibri"/>
                <a:cs typeface="Calibri"/>
              </a:rPr>
              <a:t>Prototyping</a:t>
            </a:r>
            <a:r>
              <a:rPr sz="2800" spc="40" dirty="0">
                <a:latin typeface="Calibri"/>
                <a:cs typeface="Calibri"/>
              </a:rPr>
              <a:t> </a:t>
            </a:r>
            <a:r>
              <a:rPr sz="2800" spc="-10" dirty="0">
                <a:latin typeface="Calibri"/>
                <a:cs typeface="Calibri"/>
              </a:rPr>
              <a:t>plan:</a:t>
            </a:r>
            <a:endParaRPr sz="2800">
              <a:latin typeface="Calibri"/>
              <a:cs typeface="Calibri"/>
            </a:endParaRPr>
          </a:p>
          <a:p>
            <a:pPr marL="241300" marR="49530" indent="-228600">
              <a:lnSpc>
                <a:spcPts val="2690"/>
              </a:lnSpc>
              <a:spcBef>
                <a:spcPts val="969"/>
              </a:spcBef>
              <a:buFont typeface="Arial MT"/>
              <a:buChar char="•"/>
              <a:tabLst>
                <a:tab pos="241300" algn="l"/>
              </a:tabLst>
            </a:pPr>
            <a:r>
              <a:rPr sz="2800" b="1" i="1" spc="-5" dirty="0">
                <a:latin typeface="Calibri"/>
                <a:cs typeface="Calibri"/>
              </a:rPr>
              <a:t>Business</a:t>
            </a:r>
            <a:r>
              <a:rPr sz="2800" b="1" i="1" spc="10" dirty="0">
                <a:latin typeface="Calibri"/>
                <a:cs typeface="Calibri"/>
              </a:rPr>
              <a:t> </a:t>
            </a:r>
            <a:r>
              <a:rPr sz="2800" b="1" i="1" spc="-5" dirty="0">
                <a:latin typeface="Calibri"/>
                <a:cs typeface="Calibri"/>
              </a:rPr>
              <a:t>Area</a:t>
            </a:r>
            <a:r>
              <a:rPr sz="2800" b="1" i="1" spc="30" dirty="0">
                <a:latin typeface="Calibri"/>
                <a:cs typeface="Calibri"/>
              </a:rPr>
              <a:t> </a:t>
            </a:r>
            <a:r>
              <a:rPr sz="2800" b="1" i="1" spc="-10" dirty="0">
                <a:latin typeface="Calibri"/>
                <a:cs typeface="Calibri"/>
              </a:rPr>
              <a:t>Definition</a:t>
            </a:r>
            <a:r>
              <a:rPr sz="2800" spc="-10" dirty="0">
                <a:latin typeface="Calibri"/>
                <a:cs typeface="Calibri"/>
              </a:rPr>
              <a:t>.</a:t>
            </a:r>
            <a:r>
              <a:rPr sz="2800" spc="30" dirty="0">
                <a:latin typeface="Calibri"/>
                <a:cs typeface="Calibri"/>
              </a:rPr>
              <a:t> </a:t>
            </a:r>
            <a:r>
              <a:rPr sz="2800" spc="-10" dirty="0">
                <a:latin typeface="Calibri"/>
                <a:cs typeface="Calibri"/>
              </a:rPr>
              <a:t>Identifies</a:t>
            </a:r>
            <a:r>
              <a:rPr sz="2800" spc="10" dirty="0">
                <a:latin typeface="Calibri"/>
                <a:cs typeface="Calibri"/>
              </a:rPr>
              <a:t> </a:t>
            </a:r>
            <a:r>
              <a:rPr sz="2800" spc="-5" dirty="0">
                <a:latin typeface="Calibri"/>
                <a:cs typeface="Calibri"/>
              </a:rPr>
              <a:t>the</a:t>
            </a:r>
            <a:r>
              <a:rPr sz="2800" spc="15" dirty="0">
                <a:latin typeface="Calibri"/>
                <a:cs typeface="Calibri"/>
              </a:rPr>
              <a:t> </a:t>
            </a:r>
            <a:r>
              <a:rPr sz="2800" b="1" spc="-10" dirty="0">
                <a:latin typeface="Calibri"/>
                <a:cs typeface="Calibri"/>
              </a:rPr>
              <a:t>high-level</a:t>
            </a:r>
            <a:r>
              <a:rPr sz="2800" b="1" spc="45" dirty="0">
                <a:latin typeface="Calibri"/>
                <a:cs typeface="Calibri"/>
              </a:rPr>
              <a:t> </a:t>
            </a:r>
            <a:r>
              <a:rPr sz="2800" b="1" spc="-15" dirty="0">
                <a:latin typeface="Calibri"/>
                <a:cs typeface="Calibri"/>
              </a:rPr>
              <a:t>requirements</a:t>
            </a:r>
            <a:r>
              <a:rPr sz="2800" b="1" spc="60" dirty="0">
                <a:latin typeface="Calibri"/>
                <a:cs typeface="Calibri"/>
              </a:rPr>
              <a:t> </a:t>
            </a:r>
            <a:r>
              <a:rPr sz="2800" spc="-5" dirty="0">
                <a:latin typeface="Calibri"/>
                <a:cs typeface="Calibri"/>
              </a:rPr>
              <a:t>and </a:t>
            </a:r>
            <a:r>
              <a:rPr sz="2800" spc="-615" dirty="0">
                <a:latin typeface="Calibri"/>
                <a:cs typeface="Calibri"/>
              </a:rPr>
              <a:t> </a:t>
            </a:r>
            <a:r>
              <a:rPr sz="2800" spc="-15" dirty="0">
                <a:latin typeface="Calibri"/>
                <a:cs typeface="Calibri"/>
              </a:rPr>
              <a:t>provides</a:t>
            </a:r>
            <a:r>
              <a:rPr sz="2800" spc="30" dirty="0">
                <a:latin typeface="Calibri"/>
                <a:cs typeface="Calibri"/>
              </a:rPr>
              <a:t> </a:t>
            </a:r>
            <a:r>
              <a:rPr sz="2800" spc="-5" dirty="0">
                <a:latin typeface="Calibri"/>
                <a:cs typeface="Calibri"/>
              </a:rPr>
              <a:t>a</a:t>
            </a:r>
            <a:r>
              <a:rPr sz="2800" spc="5" dirty="0">
                <a:latin typeface="Calibri"/>
                <a:cs typeface="Calibri"/>
              </a:rPr>
              <a:t> </a:t>
            </a:r>
            <a:r>
              <a:rPr sz="2800" spc="-10" dirty="0">
                <a:latin typeface="Calibri"/>
                <a:cs typeface="Calibri"/>
              </a:rPr>
              <a:t>process </a:t>
            </a:r>
            <a:r>
              <a:rPr sz="2800" b="1" spc="-5" dirty="0">
                <a:latin typeface="Calibri"/>
                <a:cs typeface="Calibri"/>
              </a:rPr>
              <a:t>description</a:t>
            </a:r>
            <a:r>
              <a:rPr sz="2800" b="1" spc="20" dirty="0">
                <a:latin typeface="Calibri"/>
                <a:cs typeface="Calibri"/>
              </a:rPr>
              <a:t> </a:t>
            </a:r>
            <a:r>
              <a:rPr sz="2800" b="1" spc="-5" dirty="0">
                <a:latin typeface="Calibri"/>
                <a:cs typeface="Calibri"/>
              </a:rPr>
              <a:t>of</a:t>
            </a:r>
            <a:r>
              <a:rPr sz="2800" b="1" dirty="0">
                <a:latin typeface="Calibri"/>
                <a:cs typeface="Calibri"/>
              </a:rPr>
              <a:t> </a:t>
            </a:r>
            <a:r>
              <a:rPr sz="2800" b="1" spc="-5" dirty="0">
                <a:latin typeface="Calibri"/>
                <a:cs typeface="Calibri"/>
              </a:rPr>
              <a:t>the</a:t>
            </a:r>
            <a:r>
              <a:rPr sz="2800" b="1" spc="5" dirty="0">
                <a:latin typeface="Calibri"/>
                <a:cs typeface="Calibri"/>
              </a:rPr>
              <a:t> </a:t>
            </a:r>
            <a:r>
              <a:rPr sz="2800" b="1" spc="-5" dirty="0">
                <a:latin typeface="Calibri"/>
                <a:cs typeface="Calibri"/>
              </a:rPr>
              <a:t>end</a:t>
            </a:r>
            <a:r>
              <a:rPr sz="2800" b="1" dirty="0">
                <a:latin typeface="Calibri"/>
                <a:cs typeface="Calibri"/>
              </a:rPr>
              <a:t> </a:t>
            </a:r>
            <a:r>
              <a:rPr sz="2800" b="1" spc="-10" dirty="0">
                <a:latin typeface="Calibri"/>
                <a:cs typeface="Calibri"/>
              </a:rPr>
              <a:t>product.</a:t>
            </a:r>
            <a:endParaRPr sz="2800">
              <a:latin typeface="Calibri"/>
              <a:cs typeface="Calibri"/>
            </a:endParaRPr>
          </a:p>
          <a:p>
            <a:pPr marL="241300" marR="5080" indent="-228600">
              <a:lnSpc>
                <a:spcPts val="2690"/>
              </a:lnSpc>
              <a:spcBef>
                <a:spcPts val="1005"/>
              </a:spcBef>
              <a:buFont typeface="Arial MT"/>
              <a:buChar char="•"/>
              <a:tabLst>
                <a:tab pos="241300" algn="l"/>
              </a:tabLst>
            </a:pPr>
            <a:r>
              <a:rPr sz="2800" b="1" i="1" spc="-20" dirty="0">
                <a:latin typeface="Calibri"/>
                <a:cs typeface="Calibri"/>
              </a:rPr>
              <a:t>System</a:t>
            </a:r>
            <a:r>
              <a:rPr sz="2800" b="1" i="1" spc="5" dirty="0">
                <a:latin typeface="Calibri"/>
                <a:cs typeface="Calibri"/>
              </a:rPr>
              <a:t> </a:t>
            </a:r>
            <a:r>
              <a:rPr sz="2800" b="1" i="1" spc="-5" dirty="0">
                <a:latin typeface="Calibri"/>
                <a:cs typeface="Calibri"/>
              </a:rPr>
              <a:t>Architecture</a:t>
            </a:r>
            <a:r>
              <a:rPr sz="2800" b="1" i="1" spc="35" dirty="0">
                <a:latin typeface="Calibri"/>
                <a:cs typeface="Calibri"/>
              </a:rPr>
              <a:t> </a:t>
            </a:r>
            <a:r>
              <a:rPr sz="2800" b="1" i="1" spc="-10" dirty="0">
                <a:latin typeface="Calibri"/>
                <a:cs typeface="Calibri"/>
              </a:rPr>
              <a:t>Definition</a:t>
            </a:r>
            <a:r>
              <a:rPr sz="2800" spc="-10" dirty="0">
                <a:latin typeface="Calibri"/>
                <a:cs typeface="Calibri"/>
              </a:rPr>
              <a:t>.</a:t>
            </a:r>
            <a:r>
              <a:rPr sz="2800" spc="20" dirty="0">
                <a:latin typeface="Calibri"/>
                <a:cs typeface="Calibri"/>
              </a:rPr>
              <a:t> </a:t>
            </a:r>
            <a:r>
              <a:rPr sz="2800" spc="-20" dirty="0">
                <a:latin typeface="Calibri"/>
                <a:cs typeface="Calibri"/>
              </a:rPr>
              <a:t>Sketches</a:t>
            </a:r>
            <a:r>
              <a:rPr sz="2800" spc="10" dirty="0">
                <a:latin typeface="Calibri"/>
                <a:cs typeface="Calibri"/>
              </a:rPr>
              <a:t> </a:t>
            </a:r>
            <a:r>
              <a:rPr sz="2800" spc="-10" dirty="0">
                <a:latin typeface="Calibri"/>
                <a:cs typeface="Calibri"/>
              </a:rPr>
              <a:t>out</a:t>
            </a:r>
            <a:r>
              <a:rPr sz="2800" spc="10" dirty="0">
                <a:latin typeface="Calibri"/>
                <a:cs typeface="Calibri"/>
              </a:rPr>
              <a:t> </a:t>
            </a:r>
            <a:r>
              <a:rPr sz="2800" spc="-5" dirty="0">
                <a:latin typeface="Calibri"/>
                <a:cs typeface="Calibri"/>
              </a:rPr>
              <a:t>the</a:t>
            </a:r>
            <a:r>
              <a:rPr sz="2800" spc="20" dirty="0">
                <a:latin typeface="Calibri"/>
                <a:cs typeface="Calibri"/>
              </a:rPr>
              <a:t> </a:t>
            </a:r>
            <a:r>
              <a:rPr sz="2800" b="1" spc="-15" dirty="0">
                <a:latin typeface="Calibri"/>
                <a:cs typeface="Calibri"/>
              </a:rPr>
              <a:t>architecture</a:t>
            </a:r>
            <a:r>
              <a:rPr sz="2800" b="1" spc="45" dirty="0">
                <a:latin typeface="Calibri"/>
                <a:cs typeface="Calibri"/>
              </a:rPr>
              <a:t> </a:t>
            </a:r>
            <a:r>
              <a:rPr sz="2800" spc="-5" dirty="0">
                <a:latin typeface="Calibri"/>
                <a:cs typeface="Calibri"/>
              </a:rPr>
              <a:t>of end </a:t>
            </a:r>
            <a:r>
              <a:rPr sz="2800" spc="-615" dirty="0">
                <a:latin typeface="Calibri"/>
                <a:cs typeface="Calibri"/>
              </a:rPr>
              <a:t> </a:t>
            </a:r>
            <a:r>
              <a:rPr sz="2800" spc="-25" dirty="0">
                <a:latin typeface="Calibri"/>
                <a:cs typeface="Calibri"/>
              </a:rPr>
              <a:t>system.</a:t>
            </a:r>
            <a:r>
              <a:rPr sz="2800" spc="35" dirty="0">
                <a:latin typeface="Calibri"/>
                <a:cs typeface="Calibri"/>
              </a:rPr>
              <a:t> </a:t>
            </a:r>
            <a:r>
              <a:rPr sz="2800" spc="-10" dirty="0">
                <a:latin typeface="Calibri"/>
                <a:cs typeface="Calibri"/>
              </a:rPr>
              <a:t>Note</a:t>
            </a:r>
            <a:r>
              <a:rPr sz="2800" spc="10" dirty="0">
                <a:latin typeface="Calibri"/>
                <a:cs typeface="Calibri"/>
              </a:rPr>
              <a:t> </a:t>
            </a:r>
            <a:r>
              <a:rPr sz="2800" spc="-10" dirty="0">
                <a:latin typeface="Calibri"/>
                <a:cs typeface="Calibri"/>
              </a:rPr>
              <a:t>that</a:t>
            </a:r>
            <a:r>
              <a:rPr sz="2800" spc="20" dirty="0">
                <a:latin typeface="Calibri"/>
                <a:cs typeface="Calibri"/>
              </a:rPr>
              <a:t> </a:t>
            </a:r>
            <a:r>
              <a:rPr sz="2800" spc="-5" dirty="0">
                <a:latin typeface="Calibri"/>
                <a:cs typeface="Calibri"/>
              </a:rPr>
              <a:t>it</a:t>
            </a:r>
            <a:r>
              <a:rPr sz="2800" spc="5" dirty="0">
                <a:latin typeface="Calibri"/>
                <a:cs typeface="Calibri"/>
              </a:rPr>
              <a:t> </a:t>
            </a:r>
            <a:r>
              <a:rPr sz="2800" spc="-5" dirty="0">
                <a:latin typeface="Calibri"/>
                <a:cs typeface="Calibri"/>
              </a:rPr>
              <a:t>is</a:t>
            </a:r>
            <a:r>
              <a:rPr sz="2800" spc="20" dirty="0">
                <a:latin typeface="Calibri"/>
                <a:cs typeface="Calibri"/>
              </a:rPr>
              <a:t> </a:t>
            </a:r>
            <a:r>
              <a:rPr sz="2800" spc="-20" dirty="0">
                <a:latin typeface="Calibri"/>
                <a:cs typeface="Calibri"/>
              </a:rPr>
              <a:t>likely</a:t>
            </a:r>
            <a:r>
              <a:rPr sz="2800" spc="5" dirty="0">
                <a:latin typeface="Calibri"/>
                <a:cs typeface="Calibri"/>
              </a:rPr>
              <a:t> </a:t>
            </a:r>
            <a:r>
              <a:rPr sz="2800" spc="-10" dirty="0">
                <a:latin typeface="Calibri"/>
                <a:cs typeface="Calibri"/>
              </a:rPr>
              <a:t>that</a:t>
            </a:r>
            <a:r>
              <a:rPr sz="2800" spc="20" dirty="0">
                <a:latin typeface="Calibri"/>
                <a:cs typeface="Calibri"/>
              </a:rPr>
              <a:t> </a:t>
            </a:r>
            <a:r>
              <a:rPr sz="2800" spc="-5" dirty="0">
                <a:latin typeface="Calibri"/>
                <a:cs typeface="Calibri"/>
              </a:rPr>
              <a:t>this</a:t>
            </a:r>
            <a:r>
              <a:rPr sz="2800" spc="25" dirty="0">
                <a:latin typeface="Calibri"/>
                <a:cs typeface="Calibri"/>
              </a:rPr>
              <a:t> </a:t>
            </a:r>
            <a:r>
              <a:rPr sz="2800" spc="-5" dirty="0">
                <a:latin typeface="Calibri"/>
                <a:cs typeface="Calibri"/>
              </a:rPr>
              <a:t>will</a:t>
            </a:r>
            <a:r>
              <a:rPr sz="2800" spc="-114" dirty="0">
                <a:latin typeface="Calibri"/>
                <a:cs typeface="Calibri"/>
              </a:rPr>
              <a:t> </a:t>
            </a:r>
            <a:r>
              <a:rPr sz="2800" b="1" spc="-20" dirty="0">
                <a:latin typeface="Calibri"/>
                <a:cs typeface="Calibri"/>
              </a:rPr>
              <a:t>evolve</a:t>
            </a:r>
            <a:r>
              <a:rPr sz="2800" b="1" spc="20" dirty="0">
                <a:latin typeface="Calibri"/>
                <a:cs typeface="Calibri"/>
              </a:rPr>
              <a:t> </a:t>
            </a:r>
            <a:r>
              <a:rPr sz="2800" spc="-15" dirty="0">
                <a:latin typeface="Calibri"/>
                <a:cs typeface="Calibri"/>
              </a:rPr>
              <a:t>over</a:t>
            </a:r>
            <a:r>
              <a:rPr sz="2800" spc="5" dirty="0">
                <a:latin typeface="Calibri"/>
                <a:cs typeface="Calibri"/>
              </a:rPr>
              <a:t> </a:t>
            </a:r>
            <a:r>
              <a:rPr sz="2800" spc="-5" dirty="0">
                <a:latin typeface="Calibri"/>
                <a:cs typeface="Calibri"/>
              </a:rPr>
              <a:t>the</a:t>
            </a:r>
            <a:r>
              <a:rPr sz="2800" spc="10" dirty="0">
                <a:latin typeface="Calibri"/>
                <a:cs typeface="Calibri"/>
              </a:rPr>
              <a:t> </a:t>
            </a:r>
            <a:r>
              <a:rPr sz="2800" spc="-25" dirty="0">
                <a:latin typeface="Calibri"/>
                <a:cs typeface="Calibri"/>
              </a:rPr>
              <a:t>life</a:t>
            </a:r>
            <a:r>
              <a:rPr sz="2800" dirty="0">
                <a:latin typeface="Calibri"/>
                <a:cs typeface="Calibri"/>
              </a:rPr>
              <a:t> </a:t>
            </a:r>
            <a:r>
              <a:rPr sz="2800" spc="-5" dirty="0">
                <a:latin typeface="Calibri"/>
                <a:cs typeface="Calibri"/>
              </a:rPr>
              <a:t>of</a:t>
            </a:r>
            <a:r>
              <a:rPr sz="2800" dirty="0">
                <a:latin typeface="Calibri"/>
                <a:cs typeface="Calibri"/>
              </a:rPr>
              <a:t> </a:t>
            </a:r>
            <a:r>
              <a:rPr sz="2800" spc="-5" dirty="0">
                <a:latin typeface="Calibri"/>
                <a:cs typeface="Calibri"/>
              </a:rPr>
              <a:t>the </a:t>
            </a:r>
            <a:r>
              <a:rPr sz="2800" dirty="0">
                <a:latin typeface="Calibri"/>
                <a:cs typeface="Calibri"/>
              </a:rPr>
              <a:t> </a:t>
            </a:r>
            <a:r>
              <a:rPr sz="2800" spc="-10" dirty="0">
                <a:latin typeface="Calibri"/>
                <a:cs typeface="Calibri"/>
              </a:rPr>
              <a:t>project.</a:t>
            </a:r>
            <a:endParaRPr sz="2800">
              <a:latin typeface="Calibri"/>
              <a:cs typeface="Calibri"/>
            </a:endParaRPr>
          </a:p>
          <a:p>
            <a:pPr marL="241300" marR="113664" indent="-228600">
              <a:lnSpc>
                <a:spcPct val="80000"/>
              </a:lnSpc>
              <a:spcBef>
                <a:spcPts val="1020"/>
              </a:spcBef>
              <a:buFont typeface="Arial MT"/>
              <a:buChar char="•"/>
              <a:tabLst>
                <a:tab pos="241300" algn="l"/>
              </a:tabLst>
            </a:pPr>
            <a:r>
              <a:rPr sz="2800" b="1" i="1" spc="-5" dirty="0">
                <a:latin typeface="Calibri"/>
                <a:cs typeface="Calibri"/>
              </a:rPr>
              <a:t>Outline</a:t>
            </a:r>
            <a:r>
              <a:rPr sz="2800" b="1" i="1" spc="30" dirty="0">
                <a:latin typeface="Calibri"/>
                <a:cs typeface="Calibri"/>
              </a:rPr>
              <a:t> </a:t>
            </a:r>
            <a:r>
              <a:rPr sz="2800" b="1" i="1" spc="-5" dirty="0">
                <a:latin typeface="Calibri"/>
                <a:cs typeface="Calibri"/>
              </a:rPr>
              <a:t>Prototyping</a:t>
            </a:r>
            <a:r>
              <a:rPr sz="2800" b="1" i="1" spc="5" dirty="0">
                <a:latin typeface="Calibri"/>
                <a:cs typeface="Calibri"/>
              </a:rPr>
              <a:t> </a:t>
            </a:r>
            <a:r>
              <a:rPr sz="2800" b="1" i="1" spc="-15" dirty="0">
                <a:latin typeface="Calibri"/>
                <a:cs typeface="Calibri"/>
              </a:rPr>
              <a:t>Plan</a:t>
            </a:r>
            <a:r>
              <a:rPr sz="2800" spc="-15" dirty="0">
                <a:latin typeface="Calibri"/>
                <a:cs typeface="Calibri"/>
              </a:rPr>
              <a:t>.</a:t>
            </a:r>
            <a:r>
              <a:rPr sz="2800" spc="15" dirty="0">
                <a:latin typeface="Calibri"/>
                <a:cs typeface="Calibri"/>
              </a:rPr>
              <a:t> </a:t>
            </a:r>
            <a:r>
              <a:rPr sz="2800" spc="-10" dirty="0">
                <a:latin typeface="Calibri"/>
                <a:cs typeface="Calibri"/>
              </a:rPr>
              <a:t>This</a:t>
            </a:r>
            <a:r>
              <a:rPr sz="2800" spc="5" dirty="0">
                <a:latin typeface="Calibri"/>
                <a:cs typeface="Calibri"/>
              </a:rPr>
              <a:t> </a:t>
            </a:r>
            <a:r>
              <a:rPr sz="2800" spc="-25" dirty="0">
                <a:latin typeface="Calibri"/>
                <a:cs typeface="Calibri"/>
              </a:rPr>
              <a:t>states</a:t>
            </a:r>
            <a:r>
              <a:rPr sz="2800" spc="15" dirty="0">
                <a:latin typeface="Calibri"/>
                <a:cs typeface="Calibri"/>
              </a:rPr>
              <a:t> </a:t>
            </a:r>
            <a:r>
              <a:rPr sz="2800" spc="-5" dirty="0">
                <a:latin typeface="Calibri"/>
                <a:cs typeface="Calibri"/>
              </a:rPr>
              <a:t>the</a:t>
            </a:r>
            <a:r>
              <a:rPr sz="2800" spc="25" dirty="0">
                <a:latin typeface="Calibri"/>
                <a:cs typeface="Calibri"/>
              </a:rPr>
              <a:t> </a:t>
            </a:r>
            <a:r>
              <a:rPr sz="2800" b="1" spc="-10" dirty="0">
                <a:latin typeface="Calibri"/>
                <a:cs typeface="Calibri"/>
              </a:rPr>
              <a:t>prototyping</a:t>
            </a:r>
            <a:r>
              <a:rPr sz="2800" b="1" spc="10" dirty="0">
                <a:latin typeface="Calibri"/>
                <a:cs typeface="Calibri"/>
              </a:rPr>
              <a:t> </a:t>
            </a:r>
            <a:r>
              <a:rPr sz="2800" b="1" spc="-25" dirty="0">
                <a:latin typeface="Calibri"/>
                <a:cs typeface="Calibri"/>
              </a:rPr>
              <a:t>strategy</a:t>
            </a:r>
            <a:r>
              <a:rPr sz="2800" b="1" spc="30" dirty="0">
                <a:latin typeface="Calibri"/>
                <a:cs typeface="Calibri"/>
              </a:rPr>
              <a:t> </a:t>
            </a:r>
            <a:r>
              <a:rPr sz="2800" spc="-20" dirty="0">
                <a:latin typeface="Calibri"/>
                <a:cs typeface="Calibri"/>
              </a:rPr>
              <a:t>to</a:t>
            </a:r>
            <a:r>
              <a:rPr sz="2800" dirty="0">
                <a:latin typeface="Calibri"/>
                <a:cs typeface="Calibri"/>
              </a:rPr>
              <a:t> </a:t>
            </a:r>
            <a:r>
              <a:rPr sz="2800" spc="-10" dirty="0">
                <a:latin typeface="Calibri"/>
                <a:cs typeface="Calibri"/>
              </a:rPr>
              <a:t>be </a:t>
            </a:r>
            <a:r>
              <a:rPr sz="2800" spc="-620" dirty="0">
                <a:latin typeface="Calibri"/>
                <a:cs typeface="Calibri"/>
              </a:rPr>
              <a:t> </a:t>
            </a:r>
            <a:r>
              <a:rPr sz="2800" spc="-10" dirty="0">
                <a:latin typeface="Calibri"/>
                <a:cs typeface="Calibri"/>
              </a:rPr>
              <a:t>adopted</a:t>
            </a:r>
            <a:r>
              <a:rPr sz="2800" spc="15" dirty="0">
                <a:latin typeface="Calibri"/>
                <a:cs typeface="Calibri"/>
              </a:rPr>
              <a:t> </a:t>
            </a:r>
            <a:r>
              <a:rPr sz="2800" spc="-25" dirty="0">
                <a:latin typeface="Calibri"/>
                <a:cs typeface="Calibri"/>
              </a:rPr>
              <a:t>for</a:t>
            </a:r>
            <a:r>
              <a:rPr sz="2800" spc="15" dirty="0">
                <a:latin typeface="Calibri"/>
                <a:cs typeface="Calibri"/>
              </a:rPr>
              <a:t> </a:t>
            </a:r>
            <a:r>
              <a:rPr sz="2800" spc="-5" dirty="0">
                <a:latin typeface="Calibri"/>
                <a:cs typeface="Calibri"/>
              </a:rPr>
              <a:t>the</a:t>
            </a:r>
            <a:r>
              <a:rPr sz="2800" dirty="0">
                <a:latin typeface="Calibri"/>
                <a:cs typeface="Calibri"/>
              </a:rPr>
              <a:t> </a:t>
            </a:r>
            <a:r>
              <a:rPr sz="2800" spc="-10" dirty="0">
                <a:latin typeface="Calibri"/>
                <a:cs typeface="Calibri"/>
              </a:rPr>
              <a:t>development</a:t>
            </a:r>
            <a:r>
              <a:rPr sz="2800" spc="25" dirty="0">
                <a:latin typeface="Calibri"/>
                <a:cs typeface="Calibri"/>
              </a:rPr>
              <a:t> </a:t>
            </a:r>
            <a:r>
              <a:rPr sz="2800" spc="-5" dirty="0">
                <a:latin typeface="Calibri"/>
                <a:cs typeface="Calibri"/>
              </a:rPr>
              <a:t>of</a:t>
            </a:r>
            <a:r>
              <a:rPr sz="2800" spc="5" dirty="0">
                <a:latin typeface="Calibri"/>
                <a:cs typeface="Calibri"/>
              </a:rPr>
              <a:t> </a:t>
            </a:r>
            <a:r>
              <a:rPr sz="2800" spc="-5" dirty="0">
                <a:latin typeface="Calibri"/>
                <a:cs typeface="Calibri"/>
              </a:rPr>
              <a:t>the</a:t>
            </a:r>
            <a:r>
              <a:rPr sz="2800" spc="15" dirty="0">
                <a:latin typeface="Calibri"/>
                <a:cs typeface="Calibri"/>
              </a:rPr>
              <a:t> </a:t>
            </a:r>
            <a:r>
              <a:rPr sz="2800" spc="-5" dirty="0">
                <a:latin typeface="Calibri"/>
                <a:cs typeface="Calibri"/>
              </a:rPr>
              <a:t>end</a:t>
            </a:r>
            <a:r>
              <a:rPr sz="2800" spc="25" dirty="0">
                <a:latin typeface="Calibri"/>
                <a:cs typeface="Calibri"/>
              </a:rPr>
              <a:t> </a:t>
            </a:r>
            <a:r>
              <a:rPr sz="2800" spc="-15" dirty="0">
                <a:latin typeface="Calibri"/>
                <a:cs typeface="Calibri"/>
              </a:rPr>
              <a:t>product.</a:t>
            </a:r>
            <a:endParaRPr sz="2800">
              <a:latin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
        <p:nvSpPr>
          <p:cNvPr id="2" name="object 2"/>
          <p:cNvSpPr txBox="1">
            <a:spLocks noGrp="1"/>
          </p:cNvSpPr>
          <p:nvPr>
            <p:ph type="title"/>
          </p:nvPr>
        </p:nvSpPr>
        <p:spPr>
          <a:xfrm>
            <a:off x="916939" y="609676"/>
            <a:ext cx="7279005" cy="697230"/>
          </a:xfrm>
          <a:prstGeom prst="rect">
            <a:avLst/>
          </a:prstGeom>
        </p:spPr>
        <p:txBody>
          <a:bodyPr vert="horz" wrap="square" lIns="0" tIns="13335" rIns="0" bIns="0" rtlCol="0">
            <a:spAutoFit/>
          </a:bodyPr>
          <a:lstStyle/>
          <a:p>
            <a:pPr marL="12700">
              <a:lnSpc>
                <a:spcPct val="100000"/>
              </a:lnSpc>
              <a:spcBef>
                <a:spcPts val="105"/>
              </a:spcBef>
            </a:pPr>
            <a:r>
              <a:rPr sz="4400" spc="-35" dirty="0"/>
              <a:t>Adaptive</a:t>
            </a:r>
            <a:r>
              <a:rPr sz="4400" spc="-114" dirty="0"/>
              <a:t> </a:t>
            </a:r>
            <a:r>
              <a:rPr sz="4400" spc="-35" dirty="0"/>
              <a:t>Models</a:t>
            </a:r>
            <a:r>
              <a:rPr sz="4400" spc="-125" dirty="0"/>
              <a:t> </a:t>
            </a:r>
            <a:r>
              <a:rPr sz="4400" dirty="0"/>
              <a:t>–</a:t>
            </a:r>
            <a:r>
              <a:rPr sz="4400" spc="-70" dirty="0"/>
              <a:t> </a:t>
            </a:r>
            <a:r>
              <a:rPr sz="4400" spc="-25" dirty="0"/>
              <a:t>DSDM</a:t>
            </a:r>
            <a:r>
              <a:rPr sz="4400" spc="-140" dirty="0"/>
              <a:t> </a:t>
            </a:r>
            <a:r>
              <a:rPr sz="4400" spc="-30" dirty="0"/>
              <a:t>Phases</a:t>
            </a:r>
            <a:endParaRPr sz="4400" dirty="0"/>
          </a:p>
        </p:txBody>
      </p:sp>
      <p:sp>
        <p:nvSpPr>
          <p:cNvPr id="3" name="object 3"/>
          <p:cNvSpPr txBox="1"/>
          <p:nvPr/>
        </p:nvSpPr>
        <p:spPr>
          <a:xfrm>
            <a:off x="916939" y="1638376"/>
            <a:ext cx="10359390" cy="3954145"/>
          </a:xfrm>
          <a:prstGeom prst="rect">
            <a:avLst/>
          </a:prstGeom>
        </p:spPr>
        <p:txBody>
          <a:bodyPr vert="horz" wrap="square" lIns="0" tIns="12700" rIns="0" bIns="0" rtlCol="0">
            <a:spAutoFit/>
          </a:bodyPr>
          <a:lstStyle/>
          <a:p>
            <a:pPr marL="12700">
              <a:lnSpc>
                <a:spcPts val="2595"/>
              </a:lnSpc>
              <a:spcBef>
                <a:spcPts val="100"/>
              </a:spcBef>
            </a:pPr>
            <a:r>
              <a:rPr sz="2400" spc="-5" dirty="0">
                <a:latin typeface="Calibri"/>
                <a:cs typeface="Calibri"/>
              </a:rPr>
              <a:t>The</a:t>
            </a:r>
            <a:r>
              <a:rPr sz="2400" spc="10" dirty="0">
                <a:latin typeface="Calibri"/>
                <a:cs typeface="Calibri"/>
              </a:rPr>
              <a:t> </a:t>
            </a:r>
            <a:r>
              <a:rPr sz="2400" spc="-20" dirty="0">
                <a:latin typeface="Calibri"/>
                <a:cs typeface="Calibri"/>
              </a:rPr>
              <a:t>core</a:t>
            </a:r>
            <a:r>
              <a:rPr sz="2400" spc="5" dirty="0">
                <a:latin typeface="Calibri"/>
                <a:cs typeface="Calibri"/>
              </a:rPr>
              <a:t> </a:t>
            </a:r>
            <a:r>
              <a:rPr sz="2400" spc="-5" dirty="0">
                <a:latin typeface="Calibri"/>
                <a:cs typeface="Calibri"/>
              </a:rPr>
              <a:t>phases</a:t>
            </a:r>
            <a:r>
              <a:rPr sz="2400" dirty="0">
                <a:latin typeface="Calibri"/>
                <a:cs typeface="Calibri"/>
              </a:rPr>
              <a:t> </a:t>
            </a:r>
            <a:r>
              <a:rPr sz="2400" spc="-10" dirty="0">
                <a:latin typeface="Calibri"/>
                <a:cs typeface="Calibri"/>
              </a:rPr>
              <a:t>of</a:t>
            </a:r>
            <a:r>
              <a:rPr sz="2400" spc="5" dirty="0">
                <a:latin typeface="Calibri"/>
                <a:cs typeface="Calibri"/>
              </a:rPr>
              <a:t> </a:t>
            </a:r>
            <a:r>
              <a:rPr sz="2400" dirty="0">
                <a:latin typeface="Calibri"/>
                <a:cs typeface="Calibri"/>
              </a:rPr>
              <a:t>the</a:t>
            </a:r>
            <a:r>
              <a:rPr sz="2400" spc="-10" dirty="0">
                <a:latin typeface="Calibri"/>
                <a:cs typeface="Calibri"/>
              </a:rPr>
              <a:t> </a:t>
            </a:r>
            <a:r>
              <a:rPr sz="2400" spc="-5" dirty="0">
                <a:latin typeface="Calibri"/>
                <a:cs typeface="Calibri"/>
              </a:rPr>
              <a:t>DSDM</a:t>
            </a:r>
            <a:r>
              <a:rPr sz="2400" spc="-20" dirty="0">
                <a:latin typeface="Calibri"/>
                <a:cs typeface="Calibri"/>
              </a:rPr>
              <a:t> </a:t>
            </a:r>
            <a:r>
              <a:rPr sz="2400" spc="-15" dirty="0">
                <a:latin typeface="Calibri"/>
                <a:cs typeface="Calibri"/>
              </a:rPr>
              <a:t>are</a:t>
            </a:r>
            <a:r>
              <a:rPr sz="2400" spc="5" dirty="0">
                <a:latin typeface="Calibri"/>
                <a:cs typeface="Calibri"/>
              </a:rPr>
              <a:t> </a:t>
            </a:r>
            <a:r>
              <a:rPr sz="2400" dirty="0">
                <a:latin typeface="Calibri"/>
                <a:cs typeface="Calibri"/>
              </a:rPr>
              <a:t>the</a:t>
            </a:r>
            <a:r>
              <a:rPr sz="2400" spc="5" dirty="0">
                <a:latin typeface="Calibri"/>
                <a:cs typeface="Calibri"/>
              </a:rPr>
              <a:t> </a:t>
            </a:r>
            <a:r>
              <a:rPr sz="2400" spc="-5" dirty="0">
                <a:latin typeface="Calibri"/>
                <a:cs typeface="Calibri"/>
              </a:rPr>
              <a:t>FMI</a:t>
            </a:r>
            <a:r>
              <a:rPr sz="2400" spc="-20" dirty="0">
                <a:latin typeface="Calibri"/>
                <a:cs typeface="Calibri"/>
              </a:rPr>
              <a:t> </a:t>
            </a:r>
            <a:r>
              <a:rPr sz="2400" spc="-5" dirty="0">
                <a:latin typeface="Calibri"/>
                <a:cs typeface="Calibri"/>
              </a:rPr>
              <a:t>(functional</a:t>
            </a:r>
            <a:r>
              <a:rPr sz="2400" spc="-15" dirty="0">
                <a:latin typeface="Calibri"/>
                <a:cs typeface="Calibri"/>
              </a:rPr>
              <a:t> </a:t>
            </a:r>
            <a:r>
              <a:rPr sz="2400" dirty="0">
                <a:latin typeface="Calibri"/>
                <a:cs typeface="Calibri"/>
              </a:rPr>
              <a:t>model</a:t>
            </a:r>
            <a:r>
              <a:rPr sz="2400" spc="5" dirty="0">
                <a:latin typeface="Calibri"/>
                <a:cs typeface="Calibri"/>
              </a:rPr>
              <a:t> </a:t>
            </a:r>
            <a:r>
              <a:rPr sz="2400" spc="-15" dirty="0">
                <a:latin typeface="Calibri"/>
                <a:cs typeface="Calibri"/>
              </a:rPr>
              <a:t>Iteration),</a:t>
            </a:r>
            <a:r>
              <a:rPr sz="2400" spc="-30" dirty="0">
                <a:latin typeface="Calibri"/>
                <a:cs typeface="Calibri"/>
              </a:rPr>
              <a:t> </a:t>
            </a:r>
            <a:r>
              <a:rPr sz="2400" dirty="0">
                <a:latin typeface="Calibri"/>
                <a:cs typeface="Calibri"/>
              </a:rPr>
              <a:t>the</a:t>
            </a:r>
            <a:r>
              <a:rPr sz="2400" spc="5" dirty="0">
                <a:latin typeface="Calibri"/>
                <a:cs typeface="Calibri"/>
              </a:rPr>
              <a:t> </a:t>
            </a:r>
            <a:r>
              <a:rPr sz="2400" spc="-5" dirty="0">
                <a:latin typeface="Calibri"/>
                <a:cs typeface="Calibri"/>
              </a:rPr>
              <a:t>DBI</a:t>
            </a:r>
            <a:r>
              <a:rPr sz="2400" spc="-20" dirty="0">
                <a:latin typeface="Calibri"/>
                <a:cs typeface="Calibri"/>
              </a:rPr>
              <a:t> </a:t>
            </a:r>
            <a:r>
              <a:rPr sz="2400" dirty="0">
                <a:latin typeface="Calibri"/>
                <a:cs typeface="Calibri"/>
              </a:rPr>
              <a:t>and</a:t>
            </a:r>
            <a:endParaRPr sz="2400">
              <a:latin typeface="Calibri"/>
              <a:cs typeface="Calibri"/>
            </a:endParaRPr>
          </a:p>
          <a:p>
            <a:pPr marL="241300">
              <a:lnSpc>
                <a:spcPts val="2595"/>
              </a:lnSpc>
            </a:pPr>
            <a:r>
              <a:rPr sz="2400" dirty="0">
                <a:latin typeface="Calibri"/>
                <a:cs typeface="Calibri"/>
              </a:rPr>
              <a:t>the</a:t>
            </a:r>
            <a:r>
              <a:rPr sz="2400" spc="-25" dirty="0">
                <a:latin typeface="Calibri"/>
                <a:cs typeface="Calibri"/>
              </a:rPr>
              <a:t> </a:t>
            </a:r>
            <a:r>
              <a:rPr sz="2400" spc="-5" dirty="0">
                <a:latin typeface="Calibri"/>
                <a:cs typeface="Calibri"/>
              </a:rPr>
              <a:t>Implementation</a:t>
            </a:r>
            <a:r>
              <a:rPr sz="2400" spc="-50" dirty="0">
                <a:latin typeface="Calibri"/>
                <a:cs typeface="Calibri"/>
              </a:rPr>
              <a:t> </a:t>
            </a:r>
            <a:r>
              <a:rPr sz="2400" dirty="0">
                <a:latin typeface="Calibri"/>
                <a:cs typeface="Calibri"/>
              </a:rPr>
              <a:t>Phase</a:t>
            </a:r>
            <a:endParaRPr sz="2400">
              <a:latin typeface="Calibri"/>
              <a:cs typeface="Calibri"/>
            </a:endParaRPr>
          </a:p>
          <a:p>
            <a:pPr marL="12700">
              <a:lnSpc>
                <a:spcPct val="100000"/>
              </a:lnSpc>
              <a:spcBef>
                <a:spcPts val="420"/>
              </a:spcBef>
            </a:pPr>
            <a:r>
              <a:rPr sz="2400" b="1" spc="-5" dirty="0">
                <a:latin typeface="Calibri"/>
                <a:cs typeface="Calibri"/>
              </a:rPr>
              <a:t>The</a:t>
            </a:r>
            <a:r>
              <a:rPr sz="2400" b="1" spc="-15" dirty="0">
                <a:latin typeface="Calibri"/>
                <a:cs typeface="Calibri"/>
              </a:rPr>
              <a:t> </a:t>
            </a:r>
            <a:r>
              <a:rPr sz="2400" b="1" i="1" dirty="0">
                <a:latin typeface="Calibri"/>
                <a:cs typeface="Calibri"/>
              </a:rPr>
              <a:t>FMI</a:t>
            </a:r>
            <a:r>
              <a:rPr sz="2400" b="1" i="1" spc="-15" dirty="0">
                <a:latin typeface="Calibri"/>
                <a:cs typeface="Calibri"/>
              </a:rPr>
              <a:t> </a:t>
            </a:r>
            <a:r>
              <a:rPr sz="2400" b="1" i="1" spc="-5" dirty="0">
                <a:latin typeface="Calibri"/>
                <a:cs typeface="Calibri"/>
              </a:rPr>
              <a:t>Phase</a:t>
            </a:r>
            <a:r>
              <a:rPr sz="2400" b="1" i="1" spc="-30" dirty="0">
                <a:latin typeface="Calibri"/>
                <a:cs typeface="Calibri"/>
              </a:rPr>
              <a:t> </a:t>
            </a:r>
            <a:r>
              <a:rPr sz="2400" b="1" spc="-15" dirty="0">
                <a:latin typeface="Calibri"/>
                <a:cs typeface="Calibri"/>
              </a:rPr>
              <a:t>involves:</a:t>
            </a:r>
            <a:endParaRPr sz="2400">
              <a:latin typeface="Calibri"/>
              <a:cs typeface="Calibri"/>
            </a:endParaRPr>
          </a:p>
          <a:p>
            <a:pPr marL="241300" indent="-228600">
              <a:lnSpc>
                <a:spcPct val="100000"/>
              </a:lnSpc>
              <a:spcBef>
                <a:spcPts val="434"/>
              </a:spcBef>
              <a:buFont typeface="Arial MT"/>
              <a:buChar char="•"/>
              <a:tabLst>
                <a:tab pos="241300" algn="l"/>
              </a:tabLst>
            </a:pPr>
            <a:r>
              <a:rPr sz="2400" spc="-5" dirty="0">
                <a:latin typeface="Calibri"/>
                <a:cs typeface="Calibri"/>
              </a:rPr>
              <a:t>Analysis</a:t>
            </a:r>
            <a:r>
              <a:rPr sz="2400" spc="-30" dirty="0">
                <a:latin typeface="Calibri"/>
                <a:cs typeface="Calibri"/>
              </a:rPr>
              <a:t> </a:t>
            </a:r>
            <a:r>
              <a:rPr sz="2400" spc="-5" dirty="0">
                <a:latin typeface="Calibri"/>
                <a:cs typeface="Calibri"/>
              </a:rPr>
              <a:t>of</a:t>
            </a:r>
            <a:r>
              <a:rPr sz="2400" dirty="0">
                <a:latin typeface="Calibri"/>
                <a:cs typeface="Calibri"/>
              </a:rPr>
              <a:t> the</a:t>
            </a:r>
            <a:r>
              <a:rPr sz="2400" spc="-15" dirty="0">
                <a:latin typeface="Calibri"/>
                <a:cs typeface="Calibri"/>
              </a:rPr>
              <a:t> features</a:t>
            </a:r>
            <a:r>
              <a:rPr sz="2400" spc="5" dirty="0">
                <a:latin typeface="Calibri"/>
                <a:cs typeface="Calibri"/>
              </a:rPr>
              <a:t> </a:t>
            </a:r>
            <a:r>
              <a:rPr sz="2400" spc="-15" dirty="0">
                <a:latin typeface="Calibri"/>
                <a:cs typeface="Calibri"/>
              </a:rPr>
              <a:t>to</a:t>
            </a:r>
            <a:r>
              <a:rPr sz="2400" spc="-30" dirty="0">
                <a:latin typeface="Calibri"/>
                <a:cs typeface="Calibri"/>
              </a:rPr>
              <a:t> </a:t>
            </a:r>
            <a:r>
              <a:rPr sz="2400" spc="-5" dirty="0">
                <a:latin typeface="Calibri"/>
                <a:cs typeface="Calibri"/>
              </a:rPr>
              <a:t>be designed</a:t>
            </a:r>
            <a:r>
              <a:rPr sz="2400" dirty="0">
                <a:latin typeface="Calibri"/>
                <a:cs typeface="Calibri"/>
              </a:rPr>
              <a:t> and </a:t>
            </a:r>
            <a:r>
              <a:rPr sz="2400" spc="-5" dirty="0">
                <a:latin typeface="Calibri"/>
                <a:cs typeface="Calibri"/>
              </a:rPr>
              <a:t>implemented.</a:t>
            </a:r>
            <a:endParaRPr sz="2400">
              <a:latin typeface="Calibri"/>
              <a:cs typeface="Calibri"/>
            </a:endParaRPr>
          </a:p>
          <a:p>
            <a:pPr marL="241300" marR="5080" indent="-228600">
              <a:lnSpc>
                <a:spcPts val="2300"/>
              </a:lnSpc>
              <a:spcBef>
                <a:spcPts val="980"/>
              </a:spcBef>
              <a:buFont typeface="Arial MT"/>
              <a:buChar char="•"/>
              <a:tabLst>
                <a:tab pos="241300" algn="l"/>
              </a:tabLst>
            </a:pPr>
            <a:r>
              <a:rPr sz="2400" spc="-5" dirty="0">
                <a:latin typeface="Calibri"/>
                <a:cs typeface="Calibri"/>
              </a:rPr>
              <a:t>The</a:t>
            </a:r>
            <a:r>
              <a:rPr sz="2400" spc="35" dirty="0">
                <a:latin typeface="Calibri"/>
                <a:cs typeface="Calibri"/>
              </a:rPr>
              <a:t> </a:t>
            </a:r>
            <a:r>
              <a:rPr sz="2400" spc="-10" dirty="0">
                <a:latin typeface="Calibri"/>
                <a:cs typeface="Calibri"/>
              </a:rPr>
              <a:t>production</a:t>
            </a:r>
            <a:r>
              <a:rPr sz="2400" spc="30" dirty="0">
                <a:latin typeface="Calibri"/>
                <a:cs typeface="Calibri"/>
              </a:rPr>
              <a:t> </a:t>
            </a:r>
            <a:r>
              <a:rPr sz="2400" spc="-5" dirty="0">
                <a:latin typeface="Calibri"/>
                <a:cs typeface="Calibri"/>
              </a:rPr>
              <a:t>of</a:t>
            </a:r>
            <a:r>
              <a:rPr sz="2400" spc="30" dirty="0">
                <a:latin typeface="Calibri"/>
                <a:cs typeface="Calibri"/>
              </a:rPr>
              <a:t> </a:t>
            </a:r>
            <a:r>
              <a:rPr sz="2400" dirty="0">
                <a:latin typeface="Calibri"/>
                <a:cs typeface="Calibri"/>
              </a:rPr>
              <a:t>the</a:t>
            </a:r>
            <a:r>
              <a:rPr sz="2400" spc="40" dirty="0">
                <a:latin typeface="Calibri"/>
                <a:cs typeface="Calibri"/>
              </a:rPr>
              <a:t> </a:t>
            </a:r>
            <a:r>
              <a:rPr sz="2400" b="1" spc="-5" dirty="0">
                <a:latin typeface="Calibri"/>
                <a:cs typeface="Calibri"/>
              </a:rPr>
              <a:t>Functional</a:t>
            </a:r>
            <a:r>
              <a:rPr sz="2400" b="1" spc="40" dirty="0">
                <a:latin typeface="Calibri"/>
                <a:cs typeface="Calibri"/>
              </a:rPr>
              <a:t> </a:t>
            </a:r>
            <a:r>
              <a:rPr sz="2400" b="1" spc="-5" dirty="0">
                <a:latin typeface="Calibri"/>
                <a:cs typeface="Calibri"/>
              </a:rPr>
              <a:t>Model</a:t>
            </a:r>
            <a:r>
              <a:rPr sz="2400" spc="-5" dirty="0">
                <a:latin typeface="Calibri"/>
                <a:cs typeface="Calibri"/>
              </a:rPr>
              <a:t>.</a:t>
            </a:r>
            <a:r>
              <a:rPr sz="2400" spc="25" dirty="0">
                <a:latin typeface="Calibri"/>
                <a:cs typeface="Calibri"/>
              </a:rPr>
              <a:t> </a:t>
            </a:r>
            <a:r>
              <a:rPr sz="2400" spc="-5" dirty="0">
                <a:latin typeface="Calibri"/>
                <a:cs typeface="Calibri"/>
              </a:rPr>
              <a:t>This</a:t>
            </a:r>
            <a:r>
              <a:rPr sz="2400" spc="25" dirty="0">
                <a:latin typeface="Calibri"/>
                <a:cs typeface="Calibri"/>
              </a:rPr>
              <a:t> </a:t>
            </a:r>
            <a:r>
              <a:rPr sz="2400" dirty="0">
                <a:latin typeface="Calibri"/>
                <a:cs typeface="Calibri"/>
              </a:rPr>
              <a:t>is</a:t>
            </a:r>
            <a:r>
              <a:rPr sz="2400" spc="30" dirty="0">
                <a:latin typeface="Calibri"/>
                <a:cs typeface="Calibri"/>
              </a:rPr>
              <a:t> </a:t>
            </a:r>
            <a:r>
              <a:rPr sz="2400" dirty="0">
                <a:latin typeface="Calibri"/>
                <a:cs typeface="Calibri"/>
              </a:rPr>
              <a:t>the</a:t>
            </a:r>
            <a:r>
              <a:rPr sz="2400" spc="35" dirty="0">
                <a:latin typeface="Calibri"/>
                <a:cs typeface="Calibri"/>
              </a:rPr>
              <a:t> </a:t>
            </a:r>
            <a:r>
              <a:rPr sz="2400" spc="-5" dirty="0">
                <a:latin typeface="Calibri"/>
                <a:cs typeface="Calibri"/>
              </a:rPr>
              <a:t>primary</a:t>
            </a:r>
            <a:r>
              <a:rPr sz="2400" spc="40" dirty="0">
                <a:latin typeface="Calibri"/>
                <a:cs typeface="Calibri"/>
              </a:rPr>
              <a:t> </a:t>
            </a:r>
            <a:r>
              <a:rPr sz="2400" spc="-5" dirty="0">
                <a:latin typeface="Calibri"/>
                <a:cs typeface="Calibri"/>
              </a:rPr>
              <a:t>output</a:t>
            </a:r>
            <a:r>
              <a:rPr sz="2400" spc="25" dirty="0">
                <a:latin typeface="Calibri"/>
                <a:cs typeface="Calibri"/>
              </a:rPr>
              <a:t> </a:t>
            </a:r>
            <a:r>
              <a:rPr sz="2400" spc="-5" dirty="0">
                <a:latin typeface="Calibri"/>
                <a:cs typeface="Calibri"/>
              </a:rPr>
              <a:t>of</a:t>
            </a:r>
            <a:r>
              <a:rPr sz="2400" spc="30" dirty="0">
                <a:latin typeface="Calibri"/>
                <a:cs typeface="Calibri"/>
              </a:rPr>
              <a:t> </a:t>
            </a:r>
            <a:r>
              <a:rPr sz="2400" dirty="0">
                <a:latin typeface="Calibri"/>
                <a:cs typeface="Calibri"/>
              </a:rPr>
              <a:t>this</a:t>
            </a:r>
            <a:r>
              <a:rPr sz="2400" spc="30" dirty="0">
                <a:latin typeface="Calibri"/>
                <a:cs typeface="Calibri"/>
              </a:rPr>
              <a:t> </a:t>
            </a:r>
            <a:r>
              <a:rPr sz="2400" spc="-5" dirty="0">
                <a:latin typeface="Calibri"/>
                <a:cs typeface="Calibri"/>
              </a:rPr>
              <a:t>phase. </a:t>
            </a:r>
            <a:r>
              <a:rPr sz="2400" spc="-525" dirty="0">
                <a:latin typeface="Calibri"/>
                <a:cs typeface="Calibri"/>
              </a:rPr>
              <a:t> </a:t>
            </a:r>
            <a:r>
              <a:rPr sz="2400" spc="-5" dirty="0">
                <a:latin typeface="Calibri"/>
                <a:cs typeface="Calibri"/>
              </a:rPr>
              <a:t>It</a:t>
            </a:r>
            <a:r>
              <a:rPr sz="2400" spc="-20" dirty="0">
                <a:latin typeface="Calibri"/>
                <a:cs typeface="Calibri"/>
              </a:rPr>
              <a:t> </a:t>
            </a:r>
            <a:r>
              <a:rPr sz="2400" spc="-15" dirty="0">
                <a:latin typeface="Calibri"/>
                <a:cs typeface="Calibri"/>
              </a:rPr>
              <a:t>may</a:t>
            </a:r>
            <a:r>
              <a:rPr sz="2400" spc="-10" dirty="0">
                <a:latin typeface="Calibri"/>
                <a:cs typeface="Calibri"/>
              </a:rPr>
              <a:t> </a:t>
            </a:r>
            <a:r>
              <a:rPr sz="2400" dirty="0">
                <a:latin typeface="Calibri"/>
                <a:cs typeface="Calibri"/>
              </a:rPr>
              <a:t>include </a:t>
            </a:r>
            <a:r>
              <a:rPr sz="2400" b="1" spc="-10" dirty="0">
                <a:latin typeface="Calibri"/>
                <a:cs typeface="Calibri"/>
              </a:rPr>
              <a:t>prototype</a:t>
            </a:r>
            <a:r>
              <a:rPr sz="2400" b="1" spc="-5" dirty="0">
                <a:latin typeface="Calibri"/>
                <a:cs typeface="Calibri"/>
              </a:rPr>
              <a:t> code</a:t>
            </a:r>
            <a:r>
              <a:rPr sz="2400" b="1" spc="-25" dirty="0">
                <a:latin typeface="Calibri"/>
                <a:cs typeface="Calibri"/>
              </a:rPr>
              <a:t> </a:t>
            </a:r>
            <a:r>
              <a:rPr sz="2400" dirty="0">
                <a:latin typeface="Calibri"/>
                <a:cs typeface="Calibri"/>
              </a:rPr>
              <a:t>as</a:t>
            </a:r>
            <a:r>
              <a:rPr sz="2400" spc="-10" dirty="0">
                <a:latin typeface="Calibri"/>
                <a:cs typeface="Calibri"/>
              </a:rPr>
              <a:t> well</a:t>
            </a:r>
            <a:r>
              <a:rPr sz="2400" dirty="0">
                <a:latin typeface="Calibri"/>
                <a:cs typeface="Calibri"/>
              </a:rPr>
              <a:t> as</a:t>
            </a:r>
            <a:r>
              <a:rPr sz="2400" spc="-20" dirty="0">
                <a:latin typeface="Calibri"/>
                <a:cs typeface="Calibri"/>
              </a:rPr>
              <a:t> </a:t>
            </a:r>
            <a:r>
              <a:rPr sz="2400" b="1" spc="-5" dirty="0">
                <a:latin typeface="Calibri"/>
                <a:cs typeface="Calibri"/>
              </a:rPr>
              <a:t>analysis</a:t>
            </a:r>
            <a:r>
              <a:rPr sz="2400" b="1" dirty="0">
                <a:latin typeface="Calibri"/>
                <a:cs typeface="Calibri"/>
              </a:rPr>
              <a:t> models</a:t>
            </a:r>
            <a:r>
              <a:rPr sz="2400" dirty="0">
                <a:latin typeface="Calibri"/>
                <a:cs typeface="Calibri"/>
              </a:rPr>
              <a:t>.</a:t>
            </a:r>
            <a:endParaRPr sz="2400">
              <a:latin typeface="Calibri"/>
              <a:cs typeface="Calibri"/>
            </a:endParaRPr>
          </a:p>
          <a:p>
            <a:pPr>
              <a:lnSpc>
                <a:spcPct val="100000"/>
              </a:lnSpc>
              <a:spcBef>
                <a:spcPts val="60"/>
              </a:spcBef>
              <a:buFont typeface="Arial MT"/>
              <a:buChar char="•"/>
            </a:pPr>
            <a:endParaRPr sz="3500">
              <a:latin typeface="Calibri"/>
              <a:cs typeface="Calibri"/>
            </a:endParaRPr>
          </a:p>
          <a:p>
            <a:pPr marL="241300" marR="5080" indent="-228600" algn="just">
              <a:lnSpc>
                <a:spcPct val="80000"/>
              </a:lnSpc>
              <a:buFont typeface="Arial MT"/>
              <a:buChar char="•"/>
              <a:tabLst>
                <a:tab pos="241300" algn="l"/>
              </a:tabLst>
            </a:pPr>
            <a:r>
              <a:rPr sz="2400" b="1" spc="-5" dirty="0">
                <a:latin typeface="Calibri"/>
                <a:cs typeface="Calibri"/>
              </a:rPr>
              <a:t>Coding </a:t>
            </a:r>
            <a:r>
              <a:rPr sz="2400" b="1" dirty="0">
                <a:latin typeface="Calibri"/>
                <a:cs typeface="Calibri"/>
              </a:rPr>
              <a:t>and </a:t>
            </a:r>
            <a:r>
              <a:rPr sz="2400" b="1" spc="-10" dirty="0">
                <a:latin typeface="Calibri"/>
                <a:cs typeface="Calibri"/>
              </a:rPr>
              <a:t>prototyping</a:t>
            </a:r>
            <a:r>
              <a:rPr sz="2400" spc="-10" dirty="0">
                <a:latin typeface="Calibri"/>
                <a:cs typeface="Calibri"/>
              </a:rPr>
              <a:t>. Prototypes </a:t>
            </a:r>
            <a:r>
              <a:rPr sz="2400" spc="-20" dirty="0">
                <a:latin typeface="Calibri"/>
                <a:cs typeface="Calibri"/>
              </a:rPr>
              <a:t>may </a:t>
            </a:r>
            <a:r>
              <a:rPr sz="2400" spc="-5" dirty="0">
                <a:latin typeface="Calibri"/>
                <a:cs typeface="Calibri"/>
              </a:rPr>
              <a:t>be used </a:t>
            </a:r>
            <a:r>
              <a:rPr sz="2400" spc="-15" dirty="0">
                <a:latin typeface="Calibri"/>
                <a:cs typeface="Calibri"/>
              </a:rPr>
              <a:t>to </a:t>
            </a:r>
            <a:r>
              <a:rPr sz="2400" spc="-5" dirty="0">
                <a:latin typeface="Calibri"/>
                <a:cs typeface="Calibri"/>
              </a:rPr>
              <a:t>help </a:t>
            </a:r>
            <a:r>
              <a:rPr sz="2400" spc="-15" dirty="0">
                <a:latin typeface="Calibri"/>
                <a:cs typeface="Calibri"/>
              </a:rPr>
              <a:t>improve </a:t>
            </a:r>
            <a:r>
              <a:rPr sz="2400" spc="-5" dirty="0">
                <a:latin typeface="Calibri"/>
                <a:cs typeface="Calibri"/>
              </a:rPr>
              <a:t>the analysis or </a:t>
            </a:r>
            <a:r>
              <a:rPr sz="2400" dirty="0">
                <a:latin typeface="Calibri"/>
                <a:cs typeface="Calibri"/>
              </a:rPr>
              <a:t> </a:t>
            </a:r>
            <a:r>
              <a:rPr sz="2400" spc="-10" dirty="0">
                <a:latin typeface="Calibri"/>
                <a:cs typeface="Calibri"/>
              </a:rPr>
              <a:t>understanding</a:t>
            </a:r>
            <a:r>
              <a:rPr sz="2400" spc="-5" dirty="0">
                <a:latin typeface="Calibri"/>
                <a:cs typeface="Calibri"/>
              </a:rPr>
              <a:t> of</a:t>
            </a:r>
            <a:r>
              <a:rPr sz="2400" dirty="0">
                <a:latin typeface="Calibri"/>
                <a:cs typeface="Calibri"/>
              </a:rPr>
              <a:t> the</a:t>
            </a:r>
            <a:r>
              <a:rPr sz="2400" spc="5" dirty="0">
                <a:latin typeface="Calibri"/>
                <a:cs typeface="Calibri"/>
              </a:rPr>
              <a:t> </a:t>
            </a:r>
            <a:r>
              <a:rPr sz="2400" spc="-20" dirty="0">
                <a:latin typeface="Calibri"/>
                <a:cs typeface="Calibri"/>
              </a:rPr>
              <a:t>system.</a:t>
            </a:r>
            <a:r>
              <a:rPr sz="2400" spc="-15" dirty="0">
                <a:latin typeface="Calibri"/>
                <a:cs typeface="Calibri"/>
              </a:rPr>
              <a:t> </a:t>
            </a:r>
            <a:r>
              <a:rPr sz="2400" spc="-5" dirty="0">
                <a:latin typeface="Calibri"/>
                <a:cs typeface="Calibri"/>
              </a:rPr>
              <a:t>These</a:t>
            </a:r>
            <a:r>
              <a:rPr sz="2400" dirty="0">
                <a:latin typeface="Calibri"/>
                <a:cs typeface="Calibri"/>
              </a:rPr>
              <a:t> </a:t>
            </a:r>
            <a:r>
              <a:rPr sz="2400" spc="-10" dirty="0">
                <a:latin typeface="Calibri"/>
                <a:cs typeface="Calibri"/>
              </a:rPr>
              <a:t>prototypes</a:t>
            </a:r>
            <a:r>
              <a:rPr sz="2400" spc="-5" dirty="0">
                <a:latin typeface="Calibri"/>
                <a:cs typeface="Calibri"/>
              </a:rPr>
              <a:t> </a:t>
            </a:r>
            <a:r>
              <a:rPr sz="2400" spc="-20" dirty="0">
                <a:latin typeface="Calibri"/>
                <a:cs typeface="Calibri"/>
              </a:rPr>
              <a:t>may</a:t>
            </a:r>
            <a:r>
              <a:rPr sz="2400" spc="-15" dirty="0">
                <a:latin typeface="Calibri"/>
                <a:cs typeface="Calibri"/>
              </a:rPr>
              <a:t> </a:t>
            </a:r>
            <a:r>
              <a:rPr sz="2400" spc="-10" dirty="0">
                <a:latin typeface="Calibri"/>
                <a:cs typeface="Calibri"/>
              </a:rPr>
              <a:t>continue</a:t>
            </a:r>
            <a:r>
              <a:rPr sz="2400" spc="-5" dirty="0">
                <a:latin typeface="Calibri"/>
                <a:cs typeface="Calibri"/>
              </a:rPr>
              <a:t> </a:t>
            </a:r>
            <a:r>
              <a:rPr sz="2400" spc="-15" dirty="0">
                <a:latin typeface="Calibri"/>
                <a:cs typeface="Calibri"/>
              </a:rPr>
              <a:t>to</a:t>
            </a:r>
            <a:r>
              <a:rPr sz="2400" spc="-10" dirty="0">
                <a:latin typeface="Calibri"/>
                <a:cs typeface="Calibri"/>
              </a:rPr>
              <a:t> </a:t>
            </a:r>
            <a:r>
              <a:rPr sz="2400" b="1" spc="-10" dirty="0">
                <a:latin typeface="Calibri"/>
                <a:cs typeface="Calibri"/>
              </a:rPr>
              <a:t>evolve </a:t>
            </a:r>
            <a:r>
              <a:rPr sz="2400" b="1" spc="-5" dirty="0">
                <a:latin typeface="Calibri"/>
                <a:cs typeface="Calibri"/>
              </a:rPr>
              <a:t> </a:t>
            </a:r>
            <a:r>
              <a:rPr sz="2400" spc="-5" dirty="0">
                <a:latin typeface="Calibri"/>
                <a:cs typeface="Calibri"/>
              </a:rPr>
              <a:t>(particularly </a:t>
            </a:r>
            <a:r>
              <a:rPr sz="2400" dirty="0">
                <a:latin typeface="Calibri"/>
                <a:cs typeface="Calibri"/>
              </a:rPr>
              <a:t>in the </a:t>
            </a:r>
            <a:r>
              <a:rPr sz="2400" spc="-10" dirty="0">
                <a:latin typeface="Calibri"/>
                <a:cs typeface="Calibri"/>
              </a:rPr>
              <a:t>next </a:t>
            </a:r>
            <a:r>
              <a:rPr sz="2400" spc="-5" dirty="0">
                <a:latin typeface="Calibri"/>
                <a:cs typeface="Calibri"/>
              </a:rPr>
              <a:t>phase) </a:t>
            </a:r>
            <a:r>
              <a:rPr sz="2400" spc="-10" dirty="0">
                <a:latin typeface="Calibri"/>
                <a:cs typeface="Calibri"/>
              </a:rPr>
              <a:t>until </a:t>
            </a:r>
            <a:r>
              <a:rPr sz="2400" dirty="0">
                <a:latin typeface="Calibri"/>
                <a:cs typeface="Calibri"/>
              </a:rPr>
              <a:t>the </a:t>
            </a:r>
            <a:r>
              <a:rPr sz="2400" spc="-5" dirty="0">
                <a:latin typeface="Calibri"/>
                <a:cs typeface="Calibri"/>
              </a:rPr>
              <a:t>quality </a:t>
            </a:r>
            <a:r>
              <a:rPr sz="2400" spc="-10" dirty="0">
                <a:latin typeface="Calibri"/>
                <a:cs typeface="Calibri"/>
              </a:rPr>
              <a:t>level </a:t>
            </a:r>
            <a:r>
              <a:rPr sz="2400" spc="-5" dirty="0">
                <a:latin typeface="Calibri"/>
                <a:cs typeface="Calibri"/>
              </a:rPr>
              <a:t>achieved </a:t>
            </a:r>
            <a:r>
              <a:rPr sz="2400" dirty="0">
                <a:latin typeface="Calibri"/>
                <a:cs typeface="Calibri"/>
              </a:rPr>
              <a:t>is </a:t>
            </a:r>
            <a:r>
              <a:rPr sz="2400" spc="-5" dirty="0">
                <a:latin typeface="Calibri"/>
                <a:cs typeface="Calibri"/>
              </a:rPr>
              <a:t>high enough </a:t>
            </a:r>
            <a:r>
              <a:rPr sz="2400" spc="-10" dirty="0">
                <a:latin typeface="Calibri"/>
                <a:cs typeface="Calibri"/>
              </a:rPr>
              <a:t>that </a:t>
            </a:r>
            <a:r>
              <a:rPr sz="2400" spc="-530" dirty="0">
                <a:latin typeface="Calibri"/>
                <a:cs typeface="Calibri"/>
              </a:rPr>
              <a:t> </a:t>
            </a:r>
            <a:r>
              <a:rPr sz="2400" dirty="0">
                <a:latin typeface="Calibri"/>
                <a:cs typeface="Calibri"/>
              </a:rPr>
              <a:t>they</a:t>
            </a:r>
            <a:r>
              <a:rPr sz="2400" spc="-20" dirty="0">
                <a:latin typeface="Calibri"/>
                <a:cs typeface="Calibri"/>
              </a:rPr>
              <a:t> </a:t>
            </a:r>
            <a:r>
              <a:rPr sz="2400" spc="-10" dirty="0">
                <a:latin typeface="Calibri"/>
                <a:cs typeface="Calibri"/>
              </a:rPr>
              <a:t>can</a:t>
            </a:r>
            <a:r>
              <a:rPr sz="2400" spc="-5" dirty="0">
                <a:latin typeface="Calibri"/>
                <a:cs typeface="Calibri"/>
              </a:rPr>
              <a:t> be</a:t>
            </a:r>
            <a:r>
              <a:rPr sz="2400" dirty="0">
                <a:latin typeface="Calibri"/>
                <a:cs typeface="Calibri"/>
              </a:rPr>
              <a:t> </a:t>
            </a:r>
            <a:r>
              <a:rPr sz="2400" spc="-5" dirty="0">
                <a:latin typeface="Calibri"/>
                <a:cs typeface="Calibri"/>
              </a:rPr>
              <a:t>used</a:t>
            </a:r>
            <a:r>
              <a:rPr sz="2400" dirty="0">
                <a:latin typeface="Calibri"/>
                <a:cs typeface="Calibri"/>
              </a:rPr>
              <a:t> in</a:t>
            </a:r>
            <a:r>
              <a:rPr sz="2400" spc="-5" dirty="0">
                <a:latin typeface="Calibri"/>
                <a:cs typeface="Calibri"/>
              </a:rPr>
              <a:t> </a:t>
            </a:r>
            <a:r>
              <a:rPr sz="2400" dirty="0">
                <a:latin typeface="Calibri"/>
                <a:cs typeface="Calibri"/>
              </a:rPr>
              <a:t>the</a:t>
            </a:r>
            <a:r>
              <a:rPr sz="2400" spc="-15" dirty="0">
                <a:latin typeface="Calibri"/>
                <a:cs typeface="Calibri"/>
              </a:rPr>
              <a:t> </a:t>
            </a:r>
            <a:r>
              <a:rPr sz="2400" spc="-10" dirty="0">
                <a:latin typeface="Calibri"/>
                <a:cs typeface="Calibri"/>
              </a:rPr>
              <a:t>delivered</a:t>
            </a:r>
            <a:r>
              <a:rPr sz="2400" spc="20" dirty="0">
                <a:latin typeface="Calibri"/>
                <a:cs typeface="Calibri"/>
              </a:rPr>
              <a:t> </a:t>
            </a:r>
            <a:r>
              <a:rPr sz="2400" spc="-20" dirty="0">
                <a:latin typeface="Calibri"/>
                <a:cs typeface="Calibri"/>
              </a:rPr>
              <a:t>system.</a:t>
            </a:r>
            <a:endParaRPr sz="2400">
              <a:latin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
        <p:nvSpPr>
          <p:cNvPr id="2" name="object 2"/>
          <p:cNvSpPr txBox="1">
            <a:spLocks noGrp="1"/>
          </p:cNvSpPr>
          <p:nvPr>
            <p:ph type="title"/>
          </p:nvPr>
        </p:nvSpPr>
        <p:spPr>
          <a:xfrm>
            <a:off x="916939" y="609676"/>
            <a:ext cx="7279005" cy="697230"/>
          </a:xfrm>
          <a:prstGeom prst="rect">
            <a:avLst/>
          </a:prstGeom>
        </p:spPr>
        <p:txBody>
          <a:bodyPr vert="horz" wrap="square" lIns="0" tIns="13335" rIns="0" bIns="0" rtlCol="0">
            <a:spAutoFit/>
          </a:bodyPr>
          <a:lstStyle/>
          <a:p>
            <a:pPr marL="12700">
              <a:lnSpc>
                <a:spcPct val="100000"/>
              </a:lnSpc>
              <a:spcBef>
                <a:spcPts val="105"/>
              </a:spcBef>
            </a:pPr>
            <a:r>
              <a:rPr sz="4400" spc="-35" dirty="0"/>
              <a:t>Adaptive</a:t>
            </a:r>
            <a:r>
              <a:rPr sz="4400" spc="-114" dirty="0"/>
              <a:t> </a:t>
            </a:r>
            <a:r>
              <a:rPr sz="4400" spc="-35" dirty="0"/>
              <a:t>Models</a:t>
            </a:r>
            <a:r>
              <a:rPr sz="4400" spc="-125" dirty="0"/>
              <a:t> </a:t>
            </a:r>
            <a:r>
              <a:rPr sz="4400" dirty="0"/>
              <a:t>–</a:t>
            </a:r>
            <a:r>
              <a:rPr sz="4400" spc="-70" dirty="0"/>
              <a:t> </a:t>
            </a:r>
            <a:r>
              <a:rPr sz="4400" spc="-25" dirty="0"/>
              <a:t>DSDM</a:t>
            </a:r>
            <a:r>
              <a:rPr sz="4400" spc="-140" dirty="0"/>
              <a:t> </a:t>
            </a:r>
            <a:r>
              <a:rPr sz="4400" spc="-30" dirty="0"/>
              <a:t>Phases</a:t>
            </a:r>
            <a:endParaRPr sz="4400"/>
          </a:p>
        </p:txBody>
      </p:sp>
      <p:sp>
        <p:nvSpPr>
          <p:cNvPr id="3" name="object 3"/>
          <p:cNvSpPr txBox="1"/>
          <p:nvPr/>
        </p:nvSpPr>
        <p:spPr>
          <a:xfrm>
            <a:off x="916939" y="1707159"/>
            <a:ext cx="10360025" cy="3992245"/>
          </a:xfrm>
          <a:prstGeom prst="rect">
            <a:avLst/>
          </a:prstGeom>
        </p:spPr>
        <p:txBody>
          <a:bodyPr vert="horz" wrap="square" lIns="0" tIns="98425" rIns="0" bIns="0" rtlCol="0">
            <a:spAutoFit/>
          </a:bodyPr>
          <a:lstStyle/>
          <a:p>
            <a:pPr marL="12700" algn="just">
              <a:lnSpc>
                <a:spcPct val="100000"/>
              </a:lnSpc>
              <a:spcBef>
                <a:spcPts val="775"/>
              </a:spcBef>
            </a:pPr>
            <a:r>
              <a:rPr sz="2800" b="1" spc="-10" dirty="0">
                <a:latin typeface="Calibri"/>
                <a:cs typeface="Calibri"/>
              </a:rPr>
              <a:t>The</a:t>
            </a:r>
            <a:r>
              <a:rPr sz="2800" b="1" spc="15" dirty="0">
                <a:latin typeface="Calibri"/>
                <a:cs typeface="Calibri"/>
              </a:rPr>
              <a:t> </a:t>
            </a:r>
            <a:r>
              <a:rPr sz="2800" b="1" i="1" spc="-10" dirty="0">
                <a:latin typeface="Calibri"/>
                <a:cs typeface="Calibri"/>
              </a:rPr>
              <a:t>DBI</a:t>
            </a:r>
            <a:r>
              <a:rPr sz="2800" b="1" i="1" spc="20" dirty="0">
                <a:latin typeface="Calibri"/>
                <a:cs typeface="Calibri"/>
              </a:rPr>
              <a:t> </a:t>
            </a:r>
            <a:r>
              <a:rPr sz="2800" b="1" i="1" spc="-5" dirty="0">
                <a:latin typeface="Calibri"/>
                <a:cs typeface="Calibri"/>
              </a:rPr>
              <a:t>(Design</a:t>
            </a:r>
            <a:r>
              <a:rPr sz="2800" b="1" i="1" spc="20" dirty="0">
                <a:latin typeface="Calibri"/>
                <a:cs typeface="Calibri"/>
              </a:rPr>
              <a:t> </a:t>
            </a:r>
            <a:r>
              <a:rPr sz="2800" b="1" i="1" spc="-5" dirty="0">
                <a:latin typeface="Calibri"/>
                <a:cs typeface="Calibri"/>
              </a:rPr>
              <a:t>and</a:t>
            </a:r>
            <a:r>
              <a:rPr sz="2800" b="1" i="1" spc="5" dirty="0">
                <a:latin typeface="Calibri"/>
                <a:cs typeface="Calibri"/>
              </a:rPr>
              <a:t> </a:t>
            </a:r>
            <a:r>
              <a:rPr sz="2800" b="1" i="1" spc="-5" dirty="0">
                <a:latin typeface="Calibri"/>
                <a:cs typeface="Calibri"/>
              </a:rPr>
              <a:t>Build</a:t>
            </a:r>
            <a:r>
              <a:rPr sz="2800" b="1" i="1" spc="5" dirty="0">
                <a:latin typeface="Calibri"/>
                <a:cs typeface="Calibri"/>
              </a:rPr>
              <a:t> </a:t>
            </a:r>
            <a:r>
              <a:rPr sz="2800" b="1" i="1" spc="-10" dirty="0">
                <a:latin typeface="Calibri"/>
                <a:cs typeface="Calibri"/>
              </a:rPr>
              <a:t>Iteration)</a:t>
            </a:r>
            <a:r>
              <a:rPr sz="2800" b="1" i="1" spc="35" dirty="0">
                <a:latin typeface="Calibri"/>
                <a:cs typeface="Calibri"/>
              </a:rPr>
              <a:t> </a:t>
            </a:r>
            <a:r>
              <a:rPr sz="2800" b="1" i="1" spc="-10" dirty="0">
                <a:latin typeface="Calibri"/>
                <a:cs typeface="Calibri"/>
              </a:rPr>
              <a:t>Phase</a:t>
            </a:r>
            <a:r>
              <a:rPr sz="2800" b="1" i="1" spc="5" dirty="0">
                <a:latin typeface="Calibri"/>
                <a:cs typeface="Calibri"/>
              </a:rPr>
              <a:t> </a:t>
            </a:r>
            <a:r>
              <a:rPr sz="2800" b="1" spc="-20" dirty="0">
                <a:latin typeface="Calibri"/>
                <a:cs typeface="Calibri"/>
              </a:rPr>
              <a:t>involves:</a:t>
            </a:r>
            <a:endParaRPr sz="2800">
              <a:latin typeface="Calibri"/>
              <a:cs typeface="Calibri"/>
            </a:endParaRPr>
          </a:p>
          <a:p>
            <a:pPr marL="241300" marR="6350" indent="-228600" algn="just">
              <a:lnSpc>
                <a:spcPts val="3020"/>
              </a:lnSpc>
              <a:spcBef>
                <a:spcPts val="1060"/>
              </a:spcBef>
              <a:buFont typeface="Arial MT"/>
              <a:buChar char="•"/>
              <a:tabLst>
                <a:tab pos="241300" algn="l"/>
              </a:tabLst>
            </a:pPr>
            <a:r>
              <a:rPr sz="2800" b="1" spc="-5" dirty="0">
                <a:latin typeface="Calibri"/>
                <a:cs typeface="Calibri"/>
              </a:rPr>
              <a:t>Designing </a:t>
            </a:r>
            <a:r>
              <a:rPr sz="2800" b="1" spc="-10" dirty="0">
                <a:latin typeface="Calibri"/>
                <a:cs typeface="Calibri"/>
              </a:rPr>
              <a:t>and </a:t>
            </a:r>
            <a:r>
              <a:rPr sz="2800" b="1" spc="-5" dirty="0">
                <a:latin typeface="Calibri"/>
                <a:cs typeface="Calibri"/>
              </a:rPr>
              <a:t>Building the </a:t>
            </a:r>
            <a:r>
              <a:rPr sz="2800" b="1" spc="-15" dirty="0">
                <a:latin typeface="Calibri"/>
                <a:cs typeface="Calibri"/>
              </a:rPr>
              <a:t>features to </a:t>
            </a:r>
            <a:r>
              <a:rPr sz="2800" b="1" spc="-5" dirty="0">
                <a:latin typeface="Calibri"/>
                <a:cs typeface="Calibri"/>
              </a:rPr>
              <a:t>be </a:t>
            </a:r>
            <a:r>
              <a:rPr sz="2800" b="1" spc="-10" dirty="0">
                <a:latin typeface="Calibri"/>
                <a:cs typeface="Calibri"/>
              </a:rPr>
              <a:t>implemented </a:t>
            </a:r>
            <a:r>
              <a:rPr sz="2800" b="1" spc="-5" dirty="0">
                <a:latin typeface="Calibri"/>
                <a:cs typeface="Calibri"/>
              </a:rPr>
              <a:t>during this </a:t>
            </a:r>
            <a:r>
              <a:rPr sz="2800" b="1" dirty="0">
                <a:latin typeface="Calibri"/>
                <a:cs typeface="Calibri"/>
              </a:rPr>
              <a:t> </a:t>
            </a:r>
            <a:r>
              <a:rPr sz="2800" b="1" spc="-5" dirty="0">
                <a:latin typeface="Calibri"/>
                <a:cs typeface="Calibri"/>
              </a:rPr>
              <a:t>phase</a:t>
            </a:r>
            <a:r>
              <a:rPr sz="2800" spc="-5" dirty="0">
                <a:latin typeface="Calibri"/>
                <a:cs typeface="Calibri"/>
              </a:rPr>
              <a:t>.</a:t>
            </a:r>
            <a:r>
              <a:rPr sz="2800" dirty="0">
                <a:latin typeface="Calibri"/>
                <a:cs typeface="Calibri"/>
              </a:rPr>
              <a:t> </a:t>
            </a:r>
            <a:r>
              <a:rPr sz="2800" spc="-5" dirty="0">
                <a:latin typeface="Calibri"/>
                <a:cs typeface="Calibri"/>
              </a:rPr>
              <a:t>This</a:t>
            </a:r>
            <a:r>
              <a:rPr sz="2800" dirty="0">
                <a:latin typeface="Calibri"/>
                <a:cs typeface="Calibri"/>
              </a:rPr>
              <a:t> </a:t>
            </a:r>
            <a:r>
              <a:rPr sz="2800" spc="-15" dirty="0">
                <a:latin typeface="Calibri"/>
                <a:cs typeface="Calibri"/>
              </a:rPr>
              <a:t>involves</a:t>
            </a:r>
            <a:r>
              <a:rPr sz="2800" spc="-10" dirty="0">
                <a:latin typeface="Calibri"/>
                <a:cs typeface="Calibri"/>
              </a:rPr>
              <a:t> </a:t>
            </a:r>
            <a:r>
              <a:rPr sz="2800" spc="-15" dirty="0">
                <a:latin typeface="Calibri"/>
                <a:cs typeface="Calibri"/>
              </a:rPr>
              <a:t>reviewing</a:t>
            </a:r>
            <a:r>
              <a:rPr sz="2800" spc="-10" dirty="0">
                <a:latin typeface="Calibri"/>
                <a:cs typeface="Calibri"/>
              </a:rPr>
              <a:t> </a:t>
            </a:r>
            <a:r>
              <a:rPr sz="2800" spc="-5" dirty="0">
                <a:latin typeface="Calibri"/>
                <a:cs typeface="Calibri"/>
              </a:rPr>
              <a:t>the</a:t>
            </a:r>
            <a:r>
              <a:rPr sz="2800" dirty="0">
                <a:latin typeface="Calibri"/>
                <a:cs typeface="Calibri"/>
              </a:rPr>
              <a:t> </a:t>
            </a:r>
            <a:r>
              <a:rPr sz="2800" spc="-10" dirty="0">
                <a:latin typeface="Calibri"/>
                <a:cs typeface="Calibri"/>
              </a:rPr>
              <a:t>designs</a:t>
            </a:r>
            <a:r>
              <a:rPr sz="2800" spc="-5" dirty="0">
                <a:latin typeface="Calibri"/>
                <a:cs typeface="Calibri"/>
              </a:rPr>
              <a:t> </a:t>
            </a:r>
            <a:r>
              <a:rPr sz="2800" spc="-15" dirty="0">
                <a:latin typeface="Calibri"/>
                <a:cs typeface="Calibri"/>
              </a:rPr>
              <a:t>produced</a:t>
            </a:r>
            <a:r>
              <a:rPr sz="2800" spc="-10" dirty="0">
                <a:latin typeface="Calibri"/>
                <a:cs typeface="Calibri"/>
              </a:rPr>
              <a:t> </a:t>
            </a:r>
            <a:r>
              <a:rPr sz="2800" dirty="0">
                <a:latin typeface="Calibri"/>
                <a:cs typeface="Calibri"/>
              </a:rPr>
              <a:t>so</a:t>
            </a:r>
            <a:r>
              <a:rPr sz="2800" spc="5" dirty="0">
                <a:latin typeface="Calibri"/>
                <a:cs typeface="Calibri"/>
              </a:rPr>
              <a:t> </a:t>
            </a:r>
            <a:r>
              <a:rPr sz="2800" spc="-80" dirty="0">
                <a:latin typeface="Calibri"/>
                <a:cs typeface="Calibri"/>
              </a:rPr>
              <a:t>far,</a:t>
            </a:r>
            <a:r>
              <a:rPr sz="2800" spc="-75" dirty="0">
                <a:latin typeface="Calibri"/>
                <a:cs typeface="Calibri"/>
              </a:rPr>
              <a:t> </a:t>
            </a:r>
            <a:r>
              <a:rPr sz="2800" spc="-5" dirty="0">
                <a:latin typeface="Calibri"/>
                <a:cs typeface="Calibri"/>
              </a:rPr>
              <a:t>the </a:t>
            </a:r>
            <a:r>
              <a:rPr sz="2800" dirty="0">
                <a:latin typeface="Calibri"/>
                <a:cs typeface="Calibri"/>
              </a:rPr>
              <a:t> </a:t>
            </a:r>
            <a:r>
              <a:rPr sz="2800" spc="-5" dirty="0">
                <a:latin typeface="Calibri"/>
                <a:cs typeface="Calibri"/>
              </a:rPr>
              <a:t>functional </a:t>
            </a:r>
            <a:r>
              <a:rPr sz="2800" spc="-15" dirty="0">
                <a:latin typeface="Calibri"/>
                <a:cs typeface="Calibri"/>
              </a:rPr>
              <a:t>prototypes, </a:t>
            </a:r>
            <a:r>
              <a:rPr sz="2800" spc="5" dirty="0">
                <a:latin typeface="Calibri"/>
                <a:cs typeface="Calibri"/>
              </a:rPr>
              <a:t>as </a:t>
            </a:r>
            <a:r>
              <a:rPr sz="2800" spc="-10" dirty="0">
                <a:latin typeface="Calibri"/>
                <a:cs typeface="Calibri"/>
              </a:rPr>
              <a:t>well </a:t>
            </a:r>
            <a:r>
              <a:rPr sz="2800" spc="-5" dirty="0">
                <a:latin typeface="Calibri"/>
                <a:cs typeface="Calibri"/>
              </a:rPr>
              <a:t>as the </a:t>
            </a:r>
            <a:r>
              <a:rPr sz="2800" b="1" spc="-10" dirty="0">
                <a:latin typeface="Calibri"/>
                <a:cs typeface="Calibri"/>
              </a:rPr>
              <a:t>creation </a:t>
            </a:r>
            <a:r>
              <a:rPr sz="2800" b="1" spc="-5" dirty="0">
                <a:latin typeface="Calibri"/>
                <a:cs typeface="Calibri"/>
              </a:rPr>
              <a:t>of </a:t>
            </a:r>
            <a:r>
              <a:rPr sz="2800" b="1" spc="-10" dirty="0">
                <a:latin typeface="Calibri"/>
                <a:cs typeface="Calibri"/>
              </a:rPr>
              <a:t>code </a:t>
            </a:r>
            <a:r>
              <a:rPr sz="2800" b="1" spc="-15" dirty="0">
                <a:latin typeface="Calibri"/>
                <a:cs typeface="Calibri"/>
              </a:rPr>
              <a:t>to </a:t>
            </a:r>
            <a:r>
              <a:rPr sz="2800" b="1" spc="-5" dirty="0">
                <a:latin typeface="Calibri"/>
                <a:cs typeface="Calibri"/>
              </a:rPr>
              <a:t>implement </a:t>
            </a:r>
            <a:r>
              <a:rPr sz="2800" b="1" dirty="0">
                <a:latin typeface="Calibri"/>
                <a:cs typeface="Calibri"/>
              </a:rPr>
              <a:t> </a:t>
            </a:r>
            <a:r>
              <a:rPr sz="2800" b="1" spc="-5" dirty="0">
                <a:latin typeface="Calibri"/>
                <a:cs typeface="Calibri"/>
              </a:rPr>
              <a:t>the</a:t>
            </a:r>
            <a:r>
              <a:rPr sz="2800" b="1" spc="5" dirty="0">
                <a:latin typeface="Calibri"/>
                <a:cs typeface="Calibri"/>
              </a:rPr>
              <a:t> </a:t>
            </a:r>
            <a:r>
              <a:rPr sz="2800" b="1" spc="-15" dirty="0">
                <a:latin typeface="Calibri"/>
                <a:cs typeface="Calibri"/>
              </a:rPr>
              <a:t>required</a:t>
            </a:r>
            <a:r>
              <a:rPr sz="2800" b="1" spc="35" dirty="0">
                <a:latin typeface="Calibri"/>
                <a:cs typeface="Calibri"/>
              </a:rPr>
              <a:t> </a:t>
            </a:r>
            <a:r>
              <a:rPr sz="2800" b="1" spc="-5" dirty="0">
                <a:latin typeface="Calibri"/>
                <a:cs typeface="Calibri"/>
              </a:rPr>
              <a:t>functionality</a:t>
            </a:r>
            <a:r>
              <a:rPr sz="2800" spc="-5" dirty="0">
                <a:latin typeface="Calibri"/>
                <a:cs typeface="Calibri"/>
              </a:rPr>
              <a:t>.</a:t>
            </a:r>
            <a:endParaRPr sz="2800">
              <a:latin typeface="Calibri"/>
              <a:cs typeface="Calibri"/>
            </a:endParaRPr>
          </a:p>
          <a:p>
            <a:pPr>
              <a:lnSpc>
                <a:spcPct val="100000"/>
              </a:lnSpc>
              <a:spcBef>
                <a:spcPts val="40"/>
              </a:spcBef>
              <a:buFont typeface="Arial MT"/>
              <a:buChar char="•"/>
            </a:pPr>
            <a:endParaRPr sz="4050">
              <a:latin typeface="Calibri"/>
              <a:cs typeface="Calibri"/>
            </a:endParaRPr>
          </a:p>
          <a:p>
            <a:pPr marL="241300" marR="5080" indent="-228600" algn="just">
              <a:lnSpc>
                <a:spcPct val="90000"/>
              </a:lnSpc>
              <a:buFont typeface="Arial MT"/>
              <a:buChar char="•"/>
              <a:tabLst>
                <a:tab pos="241300" algn="l"/>
              </a:tabLst>
            </a:pPr>
            <a:r>
              <a:rPr sz="2800" spc="-5" dirty="0">
                <a:latin typeface="Calibri"/>
                <a:cs typeface="Calibri"/>
              </a:rPr>
              <a:t>The </a:t>
            </a:r>
            <a:r>
              <a:rPr sz="2800" b="1" dirty="0">
                <a:latin typeface="Calibri"/>
                <a:cs typeface="Calibri"/>
              </a:rPr>
              <a:t>primary </a:t>
            </a:r>
            <a:r>
              <a:rPr sz="2800" b="1" spc="-5" dirty="0">
                <a:latin typeface="Calibri"/>
                <a:cs typeface="Calibri"/>
              </a:rPr>
              <a:t>output </a:t>
            </a:r>
            <a:r>
              <a:rPr sz="2800" spc="-5" dirty="0">
                <a:latin typeface="Calibri"/>
                <a:cs typeface="Calibri"/>
              </a:rPr>
              <a:t>of this </a:t>
            </a:r>
            <a:r>
              <a:rPr sz="2800" spc="-25" dirty="0">
                <a:latin typeface="Calibri"/>
                <a:cs typeface="Calibri"/>
              </a:rPr>
              <a:t>state </a:t>
            </a:r>
            <a:r>
              <a:rPr sz="2800" spc="-10" dirty="0">
                <a:latin typeface="Calibri"/>
                <a:cs typeface="Calibri"/>
              </a:rPr>
              <a:t>is </a:t>
            </a:r>
            <a:r>
              <a:rPr sz="2800" spc="-5" dirty="0">
                <a:latin typeface="Calibri"/>
                <a:cs typeface="Calibri"/>
              </a:rPr>
              <a:t>the </a:t>
            </a:r>
            <a:r>
              <a:rPr sz="2800" b="1" spc="-20" dirty="0">
                <a:latin typeface="Calibri"/>
                <a:cs typeface="Calibri"/>
              </a:rPr>
              <a:t>tested </a:t>
            </a:r>
            <a:r>
              <a:rPr sz="2800" b="1" spc="-25" dirty="0">
                <a:latin typeface="Calibri"/>
                <a:cs typeface="Calibri"/>
              </a:rPr>
              <a:t>system</a:t>
            </a:r>
            <a:r>
              <a:rPr sz="2800" spc="-25" dirty="0">
                <a:latin typeface="Calibri"/>
                <a:cs typeface="Calibri"/>
              </a:rPr>
              <a:t>. </a:t>
            </a:r>
            <a:r>
              <a:rPr sz="2800" spc="-5" dirty="0">
                <a:latin typeface="Calibri"/>
                <a:cs typeface="Calibri"/>
              </a:rPr>
              <a:t>This </a:t>
            </a:r>
            <a:r>
              <a:rPr sz="2800" spc="-30" dirty="0">
                <a:latin typeface="Calibri"/>
                <a:cs typeface="Calibri"/>
              </a:rPr>
              <a:t>system </a:t>
            </a:r>
            <a:r>
              <a:rPr sz="2800" spc="-25" dirty="0">
                <a:latin typeface="Calibri"/>
                <a:cs typeface="Calibri"/>
              </a:rPr>
              <a:t> </a:t>
            </a:r>
            <a:r>
              <a:rPr sz="2800" spc="-10" dirty="0">
                <a:latin typeface="Calibri"/>
                <a:cs typeface="Calibri"/>
              </a:rPr>
              <a:t>must meet </a:t>
            </a:r>
            <a:r>
              <a:rPr sz="2800" spc="-5" dirty="0">
                <a:latin typeface="Calibri"/>
                <a:cs typeface="Calibri"/>
              </a:rPr>
              <a:t>all the </a:t>
            </a:r>
            <a:r>
              <a:rPr sz="2800" spc="-15" dirty="0">
                <a:latin typeface="Calibri"/>
                <a:cs typeface="Calibri"/>
              </a:rPr>
              <a:t>requirements </a:t>
            </a:r>
            <a:r>
              <a:rPr sz="2800" spc="-10" dirty="0">
                <a:latin typeface="Calibri"/>
                <a:cs typeface="Calibri"/>
              </a:rPr>
              <a:t>selected </a:t>
            </a:r>
            <a:r>
              <a:rPr sz="2800" spc="-5" dirty="0">
                <a:latin typeface="Calibri"/>
                <a:cs typeface="Calibri"/>
              </a:rPr>
              <a:t>as essential </a:t>
            </a:r>
            <a:r>
              <a:rPr sz="2800" spc="-10" dirty="0">
                <a:latin typeface="Calibri"/>
                <a:cs typeface="Calibri"/>
              </a:rPr>
              <a:t>in </a:t>
            </a:r>
            <a:r>
              <a:rPr sz="2800" spc="-5" dirty="0">
                <a:latin typeface="Calibri"/>
                <a:cs typeface="Calibri"/>
              </a:rPr>
              <a:t>the particular </a:t>
            </a:r>
            <a:r>
              <a:rPr sz="2800" dirty="0">
                <a:latin typeface="Calibri"/>
                <a:cs typeface="Calibri"/>
              </a:rPr>
              <a:t> </a:t>
            </a:r>
            <a:r>
              <a:rPr sz="2800" spc="-15" dirty="0">
                <a:latin typeface="Calibri"/>
                <a:cs typeface="Calibri"/>
              </a:rPr>
              <a:t>iteration</a:t>
            </a:r>
            <a:r>
              <a:rPr sz="2800" spc="-25" dirty="0">
                <a:latin typeface="Calibri"/>
                <a:cs typeface="Calibri"/>
              </a:rPr>
              <a:t> </a:t>
            </a:r>
            <a:r>
              <a:rPr sz="2800" spc="-10" dirty="0">
                <a:latin typeface="Calibri"/>
                <a:cs typeface="Calibri"/>
              </a:rPr>
              <a:t>being</a:t>
            </a:r>
            <a:r>
              <a:rPr sz="2800" spc="15" dirty="0">
                <a:latin typeface="Calibri"/>
                <a:cs typeface="Calibri"/>
              </a:rPr>
              <a:t> </a:t>
            </a:r>
            <a:r>
              <a:rPr sz="2800" spc="-10" dirty="0">
                <a:latin typeface="Calibri"/>
                <a:cs typeface="Calibri"/>
              </a:rPr>
              <a:t>implemented.</a:t>
            </a:r>
            <a:endParaRPr sz="2800">
              <a:latin typeface="Calibri"/>
              <a:cs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
        <p:nvSpPr>
          <p:cNvPr id="2" name="object 2"/>
          <p:cNvSpPr txBox="1">
            <a:spLocks noGrp="1"/>
          </p:cNvSpPr>
          <p:nvPr>
            <p:ph type="title"/>
          </p:nvPr>
        </p:nvSpPr>
        <p:spPr>
          <a:xfrm>
            <a:off x="916939" y="609676"/>
            <a:ext cx="7279005" cy="697230"/>
          </a:xfrm>
          <a:prstGeom prst="rect">
            <a:avLst/>
          </a:prstGeom>
        </p:spPr>
        <p:txBody>
          <a:bodyPr vert="horz" wrap="square" lIns="0" tIns="13335" rIns="0" bIns="0" rtlCol="0">
            <a:spAutoFit/>
          </a:bodyPr>
          <a:lstStyle/>
          <a:p>
            <a:pPr marL="12700">
              <a:lnSpc>
                <a:spcPct val="100000"/>
              </a:lnSpc>
              <a:spcBef>
                <a:spcPts val="105"/>
              </a:spcBef>
            </a:pPr>
            <a:r>
              <a:rPr sz="4400" spc="-35" dirty="0"/>
              <a:t>Adaptive</a:t>
            </a:r>
            <a:r>
              <a:rPr sz="4400" spc="-114" dirty="0"/>
              <a:t> </a:t>
            </a:r>
            <a:r>
              <a:rPr sz="4400" spc="-35" dirty="0"/>
              <a:t>Models</a:t>
            </a:r>
            <a:r>
              <a:rPr sz="4400" spc="-125" dirty="0"/>
              <a:t> </a:t>
            </a:r>
            <a:r>
              <a:rPr sz="4400" dirty="0"/>
              <a:t>–</a:t>
            </a:r>
            <a:r>
              <a:rPr sz="4400" spc="-70" dirty="0"/>
              <a:t> </a:t>
            </a:r>
            <a:r>
              <a:rPr sz="4400" spc="-25" dirty="0"/>
              <a:t>DSDM</a:t>
            </a:r>
            <a:r>
              <a:rPr sz="4400" spc="-140" dirty="0"/>
              <a:t> </a:t>
            </a:r>
            <a:r>
              <a:rPr sz="4400" spc="-30" dirty="0"/>
              <a:t>Phases</a:t>
            </a:r>
            <a:endParaRPr sz="4400"/>
          </a:p>
        </p:txBody>
      </p:sp>
      <p:sp>
        <p:nvSpPr>
          <p:cNvPr id="3" name="object 3"/>
          <p:cNvSpPr txBox="1"/>
          <p:nvPr/>
        </p:nvSpPr>
        <p:spPr>
          <a:xfrm>
            <a:off x="916939" y="1520190"/>
            <a:ext cx="10358755" cy="4359910"/>
          </a:xfrm>
          <a:prstGeom prst="rect">
            <a:avLst/>
          </a:prstGeom>
        </p:spPr>
        <p:txBody>
          <a:bodyPr vert="horz" wrap="square" lIns="0" tIns="12065" rIns="0" bIns="0" rtlCol="0">
            <a:spAutoFit/>
          </a:bodyPr>
          <a:lstStyle/>
          <a:p>
            <a:pPr marL="295275" indent="-283210">
              <a:lnSpc>
                <a:spcPts val="3329"/>
              </a:lnSpc>
              <a:spcBef>
                <a:spcPts val="95"/>
              </a:spcBef>
              <a:buSzPct val="96428"/>
              <a:buFont typeface="Wingdings"/>
              <a:buChar char=""/>
              <a:tabLst>
                <a:tab pos="295910" algn="l"/>
              </a:tabLst>
            </a:pPr>
            <a:r>
              <a:rPr sz="2800" b="1" spc="-10" dirty="0">
                <a:latin typeface="Calibri"/>
                <a:cs typeface="Calibri"/>
              </a:rPr>
              <a:t>The</a:t>
            </a:r>
            <a:r>
              <a:rPr sz="2800" b="1" dirty="0">
                <a:latin typeface="Calibri"/>
                <a:cs typeface="Calibri"/>
              </a:rPr>
              <a:t> </a:t>
            </a:r>
            <a:r>
              <a:rPr sz="2800" b="1" i="1" spc="-10" dirty="0">
                <a:latin typeface="Calibri"/>
                <a:cs typeface="Calibri"/>
              </a:rPr>
              <a:t>Implementation</a:t>
            </a:r>
            <a:r>
              <a:rPr sz="2800" b="1" i="1" spc="45" dirty="0">
                <a:latin typeface="Calibri"/>
                <a:cs typeface="Calibri"/>
              </a:rPr>
              <a:t> </a:t>
            </a:r>
            <a:r>
              <a:rPr sz="2800" b="1" i="1" spc="-10" dirty="0">
                <a:latin typeface="Calibri"/>
                <a:cs typeface="Calibri"/>
              </a:rPr>
              <a:t>Phase</a:t>
            </a:r>
            <a:r>
              <a:rPr sz="2800" b="1" i="1" spc="5" dirty="0">
                <a:latin typeface="Calibri"/>
                <a:cs typeface="Calibri"/>
              </a:rPr>
              <a:t> </a:t>
            </a:r>
            <a:r>
              <a:rPr sz="2800" b="1" spc="-20" dirty="0">
                <a:latin typeface="Calibri"/>
                <a:cs typeface="Calibri"/>
              </a:rPr>
              <a:t>involves:</a:t>
            </a:r>
            <a:endParaRPr sz="2800">
              <a:latin typeface="Calibri"/>
              <a:cs typeface="Calibri"/>
            </a:endParaRPr>
          </a:p>
          <a:p>
            <a:pPr marL="698500" marR="6350" lvl="1" indent="-228600">
              <a:lnSpc>
                <a:spcPct val="80000"/>
              </a:lnSpc>
              <a:spcBef>
                <a:spcPts val="550"/>
              </a:spcBef>
              <a:buFont typeface="Arial MT"/>
              <a:buChar char="•"/>
              <a:tabLst>
                <a:tab pos="699135" algn="l"/>
              </a:tabLst>
            </a:pPr>
            <a:r>
              <a:rPr sz="2400" b="1" spc="-5" dirty="0">
                <a:latin typeface="Calibri"/>
                <a:cs typeface="Calibri"/>
              </a:rPr>
              <a:t>The</a:t>
            </a:r>
            <a:r>
              <a:rPr sz="2400" b="1" spc="260" dirty="0">
                <a:latin typeface="Calibri"/>
                <a:cs typeface="Calibri"/>
              </a:rPr>
              <a:t> </a:t>
            </a:r>
            <a:r>
              <a:rPr sz="2400" b="1" spc="-15" dirty="0">
                <a:latin typeface="Calibri"/>
                <a:cs typeface="Calibri"/>
              </a:rPr>
              <a:t>transfer</a:t>
            </a:r>
            <a:r>
              <a:rPr sz="2400" b="1" spc="260" dirty="0">
                <a:latin typeface="Calibri"/>
                <a:cs typeface="Calibri"/>
              </a:rPr>
              <a:t> </a:t>
            </a:r>
            <a:r>
              <a:rPr sz="2400" b="1" dirty="0">
                <a:latin typeface="Calibri"/>
                <a:cs typeface="Calibri"/>
              </a:rPr>
              <a:t>of</a:t>
            </a:r>
            <a:r>
              <a:rPr sz="2400" b="1" spc="254" dirty="0">
                <a:latin typeface="Calibri"/>
                <a:cs typeface="Calibri"/>
              </a:rPr>
              <a:t> </a:t>
            </a:r>
            <a:r>
              <a:rPr sz="2400" b="1" spc="-5" dirty="0">
                <a:latin typeface="Calibri"/>
                <a:cs typeface="Calibri"/>
              </a:rPr>
              <a:t>the</a:t>
            </a:r>
            <a:r>
              <a:rPr sz="2400" b="1" spc="260" dirty="0">
                <a:latin typeface="Calibri"/>
                <a:cs typeface="Calibri"/>
              </a:rPr>
              <a:t> </a:t>
            </a:r>
            <a:r>
              <a:rPr sz="2400" b="1" spc="-10" dirty="0">
                <a:latin typeface="Calibri"/>
                <a:cs typeface="Calibri"/>
              </a:rPr>
              <a:t>completed</a:t>
            </a:r>
            <a:r>
              <a:rPr sz="2400" b="1" spc="270" dirty="0">
                <a:latin typeface="Calibri"/>
                <a:cs typeface="Calibri"/>
              </a:rPr>
              <a:t> </a:t>
            </a:r>
            <a:r>
              <a:rPr sz="2400" b="1" spc="-20" dirty="0">
                <a:latin typeface="Calibri"/>
                <a:cs typeface="Calibri"/>
              </a:rPr>
              <a:t>system</a:t>
            </a:r>
            <a:r>
              <a:rPr sz="2400" b="1" spc="265" dirty="0">
                <a:latin typeface="Calibri"/>
                <a:cs typeface="Calibri"/>
              </a:rPr>
              <a:t> </a:t>
            </a:r>
            <a:r>
              <a:rPr sz="2400" b="1" spc="-15" dirty="0">
                <a:latin typeface="Calibri"/>
                <a:cs typeface="Calibri"/>
              </a:rPr>
              <a:t>from</a:t>
            </a:r>
            <a:r>
              <a:rPr sz="2400" b="1" spc="265" dirty="0">
                <a:latin typeface="Calibri"/>
                <a:cs typeface="Calibri"/>
              </a:rPr>
              <a:t> </a:t>
            </a:r>
            <a:r>
              <a:rPr sz="2400" b="1" spc="-5" dirty="0">
                <a:latin typeface="Calibri"/>
                <a:cs typeface="Calibri"/>
              </a:rPr>
              <a:t>the</a:t>
            </a:r>
            <a:r>
              <a:rPr sz="2400" b="1" spc="265" dirty="0">
                <a:latin typeface="Calibri"/>
                <a:cs typeface="Calibri"/>
              </a:rPr>
              <a:t> </a:t>
            </a:r>
            <a:r>
              <a:rPr sz="2400" b="1" spc="-10" dirty="0">
                <a:latin typeface="Calibri"/>
                <a:cs typeface="Calibri"/>
              </a:rPr>
              <a:t>development</a:t>
            </a:r>
            <a:r>
              <a:rPr sz="2400" b="1" spc="260" dirty="0">
                <a:latin typeface="Calibri"/>
                <a:cs typeface="Calibri"/>
              </a:rPr>
              <a:t> </a:t>
            </a:r>
            <a:r>
              <a:rPr sz="2400" b="1" spc="-10" dirty="0">
                <a:latin typeface="Calibri"/>
                <a:cs typeface="Calibri"/>
              </a:rPr>
              <a:t>environment </a:t>
            </a:r>
            <a:r>
              <a:rPr sz="2400" b="1" spc="-530" dirty="0">
                <a:latin typeface="Calibri"/>
                <a:cs typeface="Calibri"/>
              </a:rPr>
              <a:t> </a:t>
            </a:r>
            <a:r>
              <a:rPr sz="2400" b="1" spc="-15" dirty="0">
                <a:latin typeface="Calibri"/>
                <a:cs typeface="Calibri"/>
              </a:rPr>
              <a:t>to</a:t>
            </a:r>
            <a:r>
              <a:rPr sz="2400" b="1" spc="-5" dirty="0">
                <a:latin typeface="Calibri"/>
                <a:cs typeface="Calibri"/>
              </a:rPr>
              <a:t> the</a:t>
            </a:r>
            <a:r>
              <a:rPr sz="2400" b="1" spc="10" dirty="0">
                <a:latin typeface="Calibri"/>
                <a:cs typeface="Calibri"/>
              </a:rPr>
              <a:t> </a:t>
            </a:r>
            <a:r>
              <a:rPr sz="2400" b="1" spc="-10" dirty="0">
                <a:latin typeface="Calibri"/>
                <a:cs typeface="Calibri"/>
              </a:rPr>
              <a:t>production</a:t>
            </a:r>
            <a:r>
              <a:rPr sz="2400" b="1" spc="-15" dirty="0">
                <a:latin typeface="Calibri"/>
                <a:cs typeface="Calibri"/>
              </a:rPr>
              <a:t> </a:t>
            </a:r>
            <a:r>
              <a:rPr sz="2400" b="1" spc="-10" dirty="0">
                <a:latin typeface="Calibri"/>
                <a:cs typeface="Calibri"/>
              </a:rPr>
              <a:t>environment.</a:t>
            </a:r>
            <a:endParaRPr sz="2400">
              <a:latin typeface="Calibri"/>
              <a:cs typeface="Calibri"/>
            </a:endParaRPr>
          </a:p>
          <a:p>
            <a:pPr marL="698500" marR="5715" lvl="1" indent="-228600">
              <a:lnSpc>
                <a:spcPts val="2300"/>
              </a:lnSpc>
              <a:spcBef>
                <a:spcPts val="475"/>
              </a:spcBef>
              <a:buFont typeface="Arial MT"/>
              <a:buChar char="•"/>
              <a:tabLst>
                <a:tab pos="699135" algn="l"/>
              </a:tabLst>
            </a:pPr>
            <a:r>
              <a:rPr sz="2400" spc="-5" dirty="0">
                <a:latin typeface="Calibri"/>
                <a:cs typeface="Calibri"/>
              </a:rPr>
              <a:t>The</a:t>
            </a:r>
            <a:r>
              <a:rPr sz="2400" spc="150" dirty="0">
                <a:latin typeface="Calibri"/>
                <a:cs typeface="Calibri"/>
              </a:rPr>
              <a:t> </a:t>
            </a:r>
            <a:r>
              <a:rPr sz="2400" spc="-10" dirty="0">
                <a:latin typeface="Calibri"/>
                <a:cs typeface="Calibri"/>
              </a:rPr>
              <a:t>provision</a:t>
            </a:r>
            <a:r>
              <a:rPr sz="2400" spc="155" dirty="0">
                <a:latin typeface="Calibri"/>
                <a:cs typeface="Calibri"/>
              </a:rPr>
              <a:t> </a:t>
            </a:r>
            <a:r>
              <a:rPr sz="2400" spc="-5" dirty="0">
                <a:latin typeface="Calibri"/>
                <a:cs typeface="Calibri"/>
              </a:rPr>
              <a:t>of</a:t>
            </a:r>
            <a:r>
              <a:rPr sz="2400" spc="155" dirty="0">
                <a:latin typeface="Calibri"/>
                <a:cs typeface="Calibri"/>
              </a:rPr>
              <a:t> </a:t>
            </a:r>
            <a:r>
              <a:rPr sz="2400" spc="-5" dirty="0">
                <a:latin typeface="Calibri"/>
                <a:cs typeface="Calibri"/>
              </a:rPr>
              <a:t>other</a:t>
            </a:r>
            <a:r>
              <a:rPr sz="2400" spc="160" dirty="0">
                <a:latin typeface="Calibri"/>
                <a:cs typeface="Calibri"/>
              </a:rPr>
              <a:t> </a:t>
            </a:r>
            <a:r>
              <a:rPr sz="2400" spc="-10" dirty="0">
                <a:latin typeface="Calibri"/>
                <a:cs typeface="Calibri"/>
              </a:rPr>
              <a:t>deliverables</a:t>
            </a:r>
            <a:r>
              <a:rPr sz="2400" spc="150" dirty="0">
                <a:latin typeface="Calibri"/>
                <a:cs typeface="Calibri"/>
              </a:rPr>
              <a:t> </a:t>
            </a:r>
            <a:r>
              <a:rPr sz="2400" spc="-5" dirty="0">
                <a:latin typeface="Calibri"/>
                <a:cs typeface="Calibri"/>
              </a:rPr>
              <a:t>such</a:t>
            </a:r>
            <a:r>
              <a:rPr sz="2400" spc="145" dirty="0">
                <a:latin typeface="Calibri"/>
                <a:cs typeface="Calibri"/>
              </a:rPr>
              <a:t> </a:t>
            </a:r>
            <a:r>
              <a:rPr sz="2400" dirty="0">
                <a:latin typeface="Calibri"/>
                <a:cs typeface="Calibri"/>
              </a:rPr>
              <a:t>as</a:t>
            </a:r>
            <a:r>
              <a:rPr sz="2400" spc="140" dirty="0">
                <a:latin typeface="Calibri"/>
                <a:cs typeface="Calibri"/>
              </a:rPr>
              <a:t> </a:t>
            </a:r>
            <a:r>
              <a:rPr sz="2400" b="1" dirty="0">
                <a:latin typeface="Calibri"/>
                <a:cs typeface="Calibri"/>
              </a:rPr>
              <a:t>User</a:t>
            </a:r>
            <a:r>
              <a:rPr sz="2400" b="1" spc="135" dirty="0">
                <a:latin typeface="Calibri"/>
                <a:cs typeface="Calibri"/>
              </a:rPr>
              <a:t> </a:t>
            </a:r>
            <a:r>
              <a:rPr sz="2400" b="1" spc="-10" dirty="0">
                <a:latin typeface="Calibri"/>
                <a:cs typeface="Calibri"/>
              </a:rPr>
              <a:t>training</a:t>
            </a:r>
            <a:r>
              <a:rPr sz="2400" spc="-10" dirty="0">
                <a:latin typeface="Calibri"/>
                <a:cs typeface="Calibri"/>
              </a:rPr>
              <a:t>,</a:t>
            </a:r>
            <a:r>
              <a:rPr sz="2400" spc="150" dirty="0">
                <a:latin typeface="Calibri"/>
                <a:cs typeface="Calibri"/>
              </a:rPr>
              <a:t> </a:t>
            </a:r>
            <a:r>
              <a:rPr sz="2400" dirty="0">
                <a:latin typeface="Calibri"/>
                <a:cs typeface="Calibri"/>
              </a:rPr>
              <a:t>the</a:t>
            </a:r>
            <a:r>
              <a:rPr sz="2400" spc="160" dirty="0">
                <a:latin typeface="Calibri"/>
                <a:cs typeface="Calibri"/>
              </a:rPr>
              <a:t> </a:t>
            </a:r>
            <a:r>
              <a:rPr sz="2400" spc="-10" dirty="0">
                <a:latin typeface="Calibri"/>
                <a:cs typeface="Calibri"/>
              </a:rPr>
              <a:t>creation</a:t>
            </a:r>
            <a:r>
              <a:rPr sz="2400" spc="145" dirty="0">
                <a:latin typeface="Calibri"/>
                <a:cs typeface="Calibri"/>
              </a:rPr>
              <a:t> </a:t>
            </a:r>
            <a:r>
              <a:rPr sz="2400" spc="-5" dirty="0">
                <a:latin typeface="Calibri"/>
                <a:cs typeface="Calibri"/>
              </a:rPr>
              <a:t>of</a:t>
            </a:r>
            <a:r>
              <a:rPr sz="2400" spc="140" dirty="0">
                <a:latin typeface="Calibri"/>
                <a:cs typeface="Calibri"/>
              </a:rPr>
              <a:t> </a:t>
            </a:r>
            <a:r>
              <a:rPr sz="2400" dirty="0">
                <a:latin typeface="Calibri"/>
                <a:cs typeface="Calibri"/>
              </a:rPr>
              <a:t>the </a:t>
            </a:r>
            <a:r>
              <a:rPr sz="2400" spc="-525" dirty="0">
                <a:latin typeface="Calibri"/>
                <a:cs typeface="Calibri"/>
              </a:rPr>
              <a:t> </a:t>
            </a:r>
            <a:r>
              <a:rPr sz="2400" spc="-5" dirty="0">
                <a:latin typeface="Calibri"/>
                <a:cs typeface="Calibri"/>
              </a:rPr>
              <a:t>User </a:t>
            </a:r>
            <a:r>
              <a:rPr sz="2400" dirty="0">
                <a:latin typeface="Calibri"/>
                <a:cs typeface="Calibri"/>
              </a:rPr>
              <a:t>Manual</a:t>
            </a:r>
            <a:r>
              <a:rPr sz="2400" spc="-15" dirty="0">
                <a:latin typeface="Calibri"/>
                <a:cs typeface="Calibri"/>
              </a:rPr>
              <a:t> </a:t>
            </a:r>
            <a:r>
              <a:rPr sz="2400" dirty="0">
                <a:latin typeface="Calibri"/>
                <a:cs typeface="Calibri"/>
              </a:rPr>
              <a:t>and the </a:t>
            </a:r>
            <a:r>
              <a:rPr sz="2400" b="1" spc="-5" dirty="0">
                <a:latin typeface="Calibri"/>
                <a:cs typeface="Calibri"/>
              </a:rPr>
              <a:t>Project</a:t>
            </a:r>
            <a:r>
              <a:rPr sz="2400" b="1" spc="-25" dirty="0">
                <a:latin typeface="Calibri"/>
                <a:cs typeface="Calibri"/>
              </a:rPr>
              <a:t> </a:t>
            </a:r>
            <a:r>
              <a:rPr sz="2400" b="1" spc="-10" dirty="0">
                <a:latin typeface="Calibri"/>
                <a:cs typeface="Calibri"/>
              </a:rPr>
              <a:t>Review</a:t>
            </a:r>
            <a:r>
              <a:rPr sz="2400" b="1" spc="-20" dirty="0">
                <a:latin typeface="Calibri"/>
                <a:cs typeface="Calibri"/>
              </a:rPr>
              <a:t> </a:t>
            </a:r>
            <a:r>
              <a:rPr sz="2400" b="1" spc="-10" dirty="0">
                <a:latin typeface="Calibri"/>
                <a:cs typeface="Calibri"/>
              </a:rPr>
              <a:t>Report</a:t>
            </a:r>
            <a:r>
              <a:rPr sz="2400" spc="-10" dirty="0">
                <a:latin typeface="Calibri"/>
                <a:cs typeface="Calibri"/>
              </a:rPr>
              <a:t>.</a:t>
            </a:r>
            <a:endParaRPr sz="2400">
              <a:latin typeface="Calibri"/>
              <a:cs typeface="Calibri"/>
            </a:endParaRPr>
          </a:p>
          <a:p>
            <a:pPr marL="698500" marR="5080" lvl="1" indent="-228600">
              <a:lnSpc>
                <a:spcPts val="2300"/>
              </a:lnSpc>
              <a:spcBef>
                <a:spcPts val="515"/>
              </a:spcBef>
              <a:buFont typeface="Arial MT"/>
              <a:buChar char="•"/>
              <a:tabLst>
                <a:tab pos="699135" algn="l"/>
                <a:tab pos="2656840" algn="l"/>
                <a:tab pos="3898900" algn="l"/>
                <a:tab pos="4904740" algn="l"/>
                <a:tab pos="5901690" algn="l"/>
                <a:tab pos="7960995" algn="l"/>
                <a:tab pos="8886190" algn="l"/>
              </a:tabLst>
            </a:pPr>
            <a:r>
              <a:rPr sz="2400" spc="-5" dirty="0">
                <a:latin typeface="Calibri"/>
                <a:cs typeface="Calibri"/>
              </a:rPr>
              <a:t>I</a:t>
            </a:r>
            <a:r>
              <a:rPr sz="2400" dirty="0">
                <a:latin typeface="Calibri"/>
                <a:cs typeface="Calibri"/>
              </a:rPr>
              <a:t>f </a:t>
            </a:r>
            <a:r>
              <a:rPr sz="2400" spc="-90" dirty="0">
                <a:latin typeface="Calibri"/>
                <a:cs typeface="Calibri"/>
              </a:rPr>
              <a:t> </a:t>
            </a:r>
            <a:r>
              <a:rPr sz="2400" dirty="0">
                <a:latin typeface="Calibri"/>
                <a:cs typeface="Calibri"/>
              </a:rPr>
              <a:t>issues </a:t>
            </a:r>
            <a:r>
              <a:rPr sz="2400" spc="-100" dirty="0">
                <a:latin typeface="Calibri"/>
                <a:cs typeface="Calibri"/>
              </a:rPr>
              <a:t> </a:t>
            </a:r>
            <a:r>
              <a:rPr sz="2400" dirty="0">
                <a:latin typeface="Calibri"/>
                <a:cs typeface="Calibri"/>
              </a:rPr>
              <a:t>arise,	th</a:t>
            </a:r>
            <a:r>
              <a:rPr sz="2400" spc="5" dirty="0">
                <a:latin typeface="Calibri"/>
                <a:cs typeface="Calibri"/>
              </a:rPr>
              <a:t>e</a:t>
            </a:r>
            <a:r>
              <a:rPr sz="2400" dirty="0">
                <a:latin typeface="Calibri"/>
                <a:cs typeface="Calibri"/>
              </a:rPr>
              <a:t>n </a:t>
            </a:r>
            <a:r>
              <a:rPr sz="2400" spc="-95" dirty="0">
                <a:latin typeface="Calibri"/>
                <a:cs typeface="Calibri"/>
              </a:rPr>
              <a:t> </a:t>
            </a:r>
            <a:r>
              <a:rPr sz="2400" dirty="0">
                <a:latin typeface="Calibri"/>
                <a:cs typeface="Calibri"/>
              </a:rPr>
              <a:t>the	</a:t>
            </a:r>
            <a:r>
              <a:rPr sz="2400" spc="-5" dirty="0">
                <a:latin typeface="Calibri"/>
                <a:cs typeface="Calibri"/>
              </a:rPr>
              <a:t>p</a:t>
            </a:r>
            <a:r>
              <a:rPr sz="2400" spc="-35" dirty="0">
                <a:latin typeface="Calibri"/>
                <a:cs typeface="Calibri"/>
              </a:rPr>
              <a:t>r</a:t>
            </a:r>
            <a:r>
              <a:rPr sz="2400" spc="-5" dirty="0">
                <a:latin typeface="Calibri"/>
                <a:cs typeface="Calibri"/>
              </a:rPr>
              <a:t>ojec</a:t>
            </a:r>
            <a:r>
              <a:rPr sz="2400" dirty="0">
                <a:latin typeface="Calibri"/>
                <a:cs typeface="Calibri"/>
              </a:rPr>
              <a:t>t	</a:t>
            </a:r>
            <a:r>
              <a:rPr sz="2400" spc="-20" dirty="0">
                <a:latin typeface="Calibri"/>
                <a:cs typeface="Calibri"/>
              </a:rPr>
              <a:t>c</a:t>
            </a:r>
            <a:r>
              <a:rPr sz="2400" spc="-10" dirty="0">
                <a:latin typeface="Calibri"/>
                <a:cs typeface="Calibri"/>
              </a:rPr>
              <a:t>a</a:t>
            </a:r>
            <a:r>
              <a:rPr sz="2400" dirty="0">
                <a:latin typeface="Calibri"/>
                <a:cs typeface="Calibri"/>
              </a:rPr>
              <a:t>n </a:t>
            </a:r>
            <a:r>
              <a:rPr sz="2400" spc="-90" dirty="0">
                <a:latin typeface="Calibri"/>
                <a:cs typeface="Calibri"/>
              </a:rPr>
              <a:t> </a:t>
            </a:r>
            <a:r>
              <a:rPr sz="2400" spc="-5" dirty="0">
                <a:latin typeface="Calibri"/>
                <a:cs typeface="Calibri"/>
              </a:rPr>
              <a:t>b</a:t>
            </a:r>
            <a:r>
              <a:rPr sz="2400" dirty="0">
                <a:latin typeface="Calibri"/>
                <a:cs typeface="Calibri"/>
              </a:rPr>
              <a:t>e	</a:t>
            </a:r>
            <a:r>
              <a:rPr sz="2400" spc="-35" dirty="0">
                <a:latin typeface="Calibri"/>
                <a:cs typeface="Calibri"/>
              </a:rPr>
              <a:t>r</a:t>
            </a:r>
            <a:r>
              <a:rPr sz="2400" dirty="0">
                <a:latin typeface="Calibri"/>
                <a:cs typeface="Calibri"/>
              </a:rPr>
              <a:t>ei</a:t>
            </a:r>
            <a:r>
              <a:rPr sz="2400" spc="-20" dirty="0">
                <a:latin typeface="Calibri"/>
                <a:cs typeface="Calibri"/>
              </a:rPr>
              <a:t>t</a:t>
            </a:r>
            <a:r>
              <a:rPr sz="2400" dirty="0">
                <a:latin typeface="Calibri"/>
                <a:cs typeface="Calibri"/>
              </a:rPr>
              <a:t>e</a:t>
            </a:r>
            <a:r>
              <a:rPr sz="2400" spc="-40" dirty="0">
                <a:latin typeface="Calibri"/>
                <a:cs typeface="Calibri"/>
              </a:rPr>
              <a:t>r</a:t>
            </a:r>
            <a:r>
              <a:rPr sz="2400" spc="-25" dirty="0">
                <a:latin typeface="Calibri"/>
                <a:cs typeface="Calibri"/>
              </a:rPr>
              <a:t>at</a:t>
            </a:r>
            <a:r>
              <a:rPr sz="2400" dirty="0">
                <a:latin typeface="Calibri"/>
                <a:cs typeface="Calibri"/>
              </a:rPr>
              <a:t>ed </a:t>
            </a:r>
            <a:r>
              <a:rPr sz="2400" spc="-90" dirty="0">
                <a:latin typeface="Calibri"/>
                <a:cs typeface="Calibri"/>
              </a:rPr>
              <a:t> </a:t>
            </a:r>
            <a:r>
              <a:rPr sz="2400" spc="-5" dirty="0">
                <a:latin typeface="Calibri"/>
                <a:cs typeface="Calibri"/>
              </a:rPr>
              <a:t>ba</a:t>
            </a:r>
            <a:r>
              <a:rPr sz="2400" dirty="0">
                <a:latin typeface="Calibri"/>
                <a:cs typeface="Calibri"/>
              </a:rPr>
              <a:t>ck	</a:t>
            </a:r>
            <a:r>
              <a:rPr sz="2400" spc="-25" dirty="0">
                <a:latin typeface="Calibri"/>
                <a:cs typeface="Calibri"/>
              </a:rPr>
              <a:t>t</a:t>
            </a:r>
            <a:r>
              <a:rPr sz="2400" dirty="0">
                <a:latin typeface="Calibri"/>
                <a:cs typeface="Calibri"/>
              </a:rPr>
              <a:t>o </a:t>
            </a:r>
            <a:r>
              <a:rPr sz="2400" spc="-110" dirty="0">
                <a:latin typeface="Calibri"/>
                <a:cs typeface="Calibri"/>
              </a:rPr>
              <a:t> </a:t>
            </a:r>
            <a:r>
              <a:rPr sz="2400" dirty="0">
                <a:latin typeface="Calibri"/>
                <a:cs typeface="Calibri"/>
              </a:rPr>
              <a:t>the	app</a:t>
            </a:r>
            <a:r>
              <a:rPr sz="2400" spc="-35" dirty="0">
                <a:latin typeface="Calibri"/>
                <a:cs typeface="Calibri"/>
              </a:rPr>
              <a:t>r</a:t>
            </a:r>
            <a:r>
              <a:rPr sz="2400" spc="-5" dirty="0">
                <a:latin typeface="Calibri"/>
                <a:cs typeface="Calibri"/>
              </a:rPr>
              <a:t>opri</a:t>
            </a:r>
            <a:r>
              <a:rPr sz="2400" spc="-25" dirty="0">
                <a:latin typeface="Calibri"/>
                <a:cs typeface="Calibri"/>
              </a:rPr>
              <a:t>at</a:t>
            </a:r>
            <a:r>
              <a:rPr sz="2400" dirty="0">
                <a:latin typeface="Calibri"/>
                <a:cs typeface="Calibri"/>
              </a:rPr>
              <a:t>e  </a:t>
            </a:r>
            <a:r>
              <a:rPr sz="2400" spc="-5" dirty="0">
                <a:latin typeface="Calibri"/>
                <a:cs typeface="Calibri"/>
              </a:rPr>
              <a:t>phase.</a:t>
            </a:r>
            <a:endParaRPr sz="2400">
              <a:latin typeface="Calibri"/>
              <a:cs typeface="Calibri"/>
            </a:endParaRPr>
          </a:p>
          <a:p>
            <a:pPr marL="241300" marR="5080" indent="-228600" algn="just">
              <a:lnSpc>
                <a:spcPts val="2690"/>
              </a:lnSpc>
              <a:spcBef>
                <a:spcPts val="980"/>
              </a:spcBef>
              <a:buSzPct val="96428"/>
              <a:buFont typeface="Wingdings"/>
              <a:buChar char=""/>
              <a:tabLst>
                <a:tab pos="295910" algn="l"/>
              </a:tabLst>
            </a:pPr>
            <a:r>
              <a:rPr sz="2800" spc="-10" dirty="0">
                <a:latin typeface="Calibri"/>
                <a:cs typeface="Calibri"/>
              </a:rPr>
              <a:t>The</a:t>
            </a:r>
            <a:r>
              <a:rPr sz="2800" spc="595" dirty="0">
                <a:latin typeface="Calibri"/>
                <a:cs typeface="Calibri"/>
              </a:rPr>
              <a:t> </a:t>
            </a:r>
            <a:r>
              <a:rPr sz="2800" spc="-20" dirty="0">
                <a:latin typeface="Calibri"/>
                <a:cs typeface="Calibri"/>
              </a:rPr>
              <a:t>core</a:t>
            </a:r>
            <a:r>
              <a:rPr sz="2800" spc="-10" dirty="0">
                <a:latin typeface="Calibri"/>
                <a:cs typeface="Calibri"/>
              </a:rPr>
              <a:t> </a:t>
            </a:r>
            <a:r>
              <a:rPr sz="2800" spc="-15" dirty="0">
                <a:latin typeface="Calibri"/>
                <a:cs typeface="Calibri"/>
              </a:rPr>
              <a:t>three</a:t>
            </a:r>
            <a:r>
              <a:rPr sz="2800" spc="590" dirty="0">
                <a:latin typeface="Calibri"/>
                <a:cs typeface="Calibri"/>
              </a:rPr>
              <a:t> </a:t>
            </a:r>
            <a:r>
              <a:rPr sz="2800" spc="-5" dirty="0">
                <a:latin typeface="Calibri"/>
                <a:cs typeface="Calibri"/>
              </a:rPr>
              <a:t>phases,</a:t>
            </a:r>
            <a:r>
              <a:rPr sz="2800" spc="605" dirty="0">
                <a:latin typeface="Calibri"/>
                <a:cs typeface="Calibri"/>
              </a:rPr>
              <a:t> </a:t>
            </a:r>
            <a:r>
              <a:rPr sz="2800" spc="-5" dirty="0">
                <a:latin typeface="Calibri"/>
                <a:cs typeface="Calibri"/>
              </a:rPr>
              <a:t>the</a:t>
            </a:r>
            <a:r>
              <a:rPr sz="2800" spc="600" dirty="0">
                <a:latin typeface="Calibri"/>
                <a:cs typeface="Calibri"/>
              </a:rPr>
              <a:t> </a:t>
            </a:r>
            <a:r>
              <a:rPr sz="2800" spc="-5" dirty="0">
                <a:latin typeface="Calibri"/>
                <a:cs typeface="Calibri"/>
              </a:rPr>
              <a:t>FMI,</a:t>
            </a:r>
            <a:r>
              <a:rPr sz="2800" spc="600" dirty="0">
                <a:latin typeface="Calibri"/>
                <a:cs typeface="Calibri"/>
              </a:rPr>
              <a:t> </a:t>
            </a:r>
            <a:r>
              <a:rPr sz="2800" spc="-5" dirty="0">
                <a:latin typeface="Calibri"/>
                <a:cs typeface="Calibri"/>
              </a:rPr>
              <a:t>the</a:t>
            </a:r>
            <a:r>
              <a:rPr sz="2800" spc="590" dirty="0">
                <a:latin typeface="Calibri"/>
                <a:cs typeface="Calibri"/>
              </a:rPr>
              <a:t> </a:t>
            </a:r>
            <a:r>
              <a:rPr sz="2800" spc="-5" dirty="0">
                <a:latin typeface="Calibri"/>
                <a:cs typeface="Calibri"/>
              </a:rPr>
              <a:t>DBI</a:t>
            </a:r>
            <a:r>
              <a:rPr sz="2800" spc="605" dirty="0">
                <a:latin typeface="Calibri"/>
                <a:cs typeface="Calibri"/>
              </a:rPr>
              <a:t> </a:t>
            </a:r>
            <a:r>
              <a:rPr sz="2800" spc="-5" dirty="0">
                <a:latin typeface="Calibri"/>
                <a:cs typeface="Calibri"/>
              </a:rPr>
              <a:t>and</a:t>
            </a:r>
            <a:r>
              <a:rPr sz="2800" spc="585" dirty="0">
                <a:latin typeface="Calibri"/>
                <a:cs typeface="Calibri"/>
              </a:rPr>
              <a:t> </a:t>
            </a:r>
            <a:r>
              <a:rPr sz="2800" spc="-5" dirty="0">
                <a:latin typeface="Calibri"/>
                <a:cs typeface="Calibri"/>
              </a:rPr>
              <a:t>the</a:t>
            </a:r>
            <a:r>
              <a:rPr sz="2800" spc="610" dirty="0">
                <a:latin typeface="Calibri"/>
                <a:cs typeface="Calibri"/>
              </a:rPr>
              <a:t> </a:t>
            </a:r>
            <a:r>
              <a:rPr sz="2800" spc="-10" dirty="0">
                <a:latin typeface="Calibri"/>
                <a:cs typeface="Calibri"/>
              </a:rPr>
              <a:t>Implementation </a:t>
            </a:r>
            <a:r>
              <a:rPr sz="2800" spc="-625" dirty="0">
                <a:latin typeface="Calibri"/>
                <a:cs typeface="Calibri"/>
              </a:rPr>
              <a:t> </a:t>
            </a:r>
            <a:r>
              <a:rPr sz="2800" spc="-5" dirty="0">
                <a:latin typeface="Calibri"/>
                <a:cs typeface="Calibri"/>
              </a:rPr>
              <a:t>Phase</a:t>
            </a:r>
            <a:r>
              <a:rPr sz="2800" spc="10" dirty="0">
                <a:latin typeface="Calibri"/>
                <a:cs typeface="Calibri"/>
              </a:rPr>
              <a:t> </a:t>
            </a:r>
            <a:r>
              <a:rPr sz="2800" spc="-20" dirty="0">
                <a:latin typeface="Calibri"/>
                <a:cs typeface="Calibri"/>
              </a:rPr>
              <a:t>are</a:t>
            </a:r>
            <a:r>
              <a:rPr sz="2800" spc="-10" dirty="0">
                <a:latin typeface="Calibri"/>
                <a:cs typeface="Calibri"/>
              </a:rPr>
              <a:t> </a:t>
            </a:r>
            <a:r>
              <a:rPr sz="2800" spc="-15" dirty="0">
                <a:latin typeface="Calibri"/>
                <a:cs typeface="Calibri"/>
              </a:rPr>
              <a:t>expected</a:t>
            </a:r>
            <a:r>
              <a:rPr sz="2800" spc="10" dirty="0">
                <a:latin typeface="Calibri"/>
                <a:cs typeface="Calibri"/>
              </a:rPr>
              <a:t> </a:t>
            </a:r>
            <a:r>
              <a:rPr sz="2800" spc="-15" dirty="0">
                <a:latin typeface="Calibri"/>
                <a:cs typeface="Calibri"/>
              </a:rPr>
              <a:t>to</a:t>
            </a:r>
            <a:r>
              <a:rPr sz="2800" dirty="0">
                <a:latin typeface="Calibri"/>
                <a:cs typeface="Calibri"/>
              </a:rPr>
              <a:t> </a:t>
            </a:r>
            <a:r>
              <a:rPr sz="2800" spc="-5" dirty="0">
                <a:latin typeface="Calibri"/>
                <a:cs typeface="Calibri"/>
              </a:rPr>
              <a:t>be</a:t>
            </a:r>
            <a:r>
              <a:rPr sz="2800" dirty="0">
                <a:latin typeface="Calibri"/>
                <a:cs typeface="Calibri"/>
              </a:rPr>
              <a:t> </a:t>
            </a:r>
            <a:r>
              <a:rPr sz="2800" spc="-20" dirty="0">
                <a:latin typeface="Calibri"/>
                <a:cs typeface="Calibri"/>
              </a:rPr>
              <a:t>iterative</a:t>
            </a:r>
            <a:r>
              <a:rPr sz="2800" dirty="0">
                <a:latin typeface="Calibri"/>
                <a:cs typeface="Calibri"/>
              </a:rPr>
              <a:t> </a:t>
            </a:r>
            <a:r>
              <a:rPr sz="2800" spc="-5" dirty="0">
                <a:latin typeface="Calibri"/>
                <a:cs typeface="Calibri"/>
              </a:rPr>
              <a:t>and</a:t>
            </a:r>
            <a:r>
              <a:rPr sz="2800" spc="10" dirty="0">
                <a:latin typeface="Calibri"/>
                <a:cs typeface="Calibri"/>
              </a:rPr>
              <a:t> </a:t>
            </a:r>
            <a:r>
              <a:rPr sz="2800" spc="-15" dirty="0">
                <a:latin typeface="Calibri"/>
                <a:cs typeface="Calibri"/>
              </a:rPr>
              <a:t>incremental.</a:t>
            </a:r>
            <a:endParaRPr sz="2800">
              <a:latin typeface="Calibri"/>
              <a:cs typeface="Calibri"/>
            </a:endParaRPr>
          </a:p>
          <a:p>
            <a:pPr marL="241300" marR="6985" indent="-228600" algn="just">
              <a:lnSpc>
                <a:spcPct val="80000"/>
              </a:lnSpc>
              <a:spcBef>
                <a:spcPts val="1030"/>
              </a:spcBef>
              <a:buSzPct val="96428"/>
              <a:buFont typeface="Wingdings"/>
              <a:buChar char=""/>
              <a:tabLst>
                <a:tab pos="295910" algn="l"/>
              </a:tabLst>
            </a:pPr>
            <a:r>
              <a:rPr sz="2800" spc="-10" dirty="0">
                <a:latin typeface="Calibri"/>
                <a:cs typeface="Calibri"/>
              </a:rPr>
              <a:t>post-project </a:t>
            </a:r>
            <a:r>
              <a:rPr sz="2800" spc="-5" dirty="0">
                <a:latin typeface="Calibri"/>
                <a:cs typeface="Calibri"/>
              </a:rPr>
              <a:t>phase </a:t>
            </a:r>
            <a:r>
              <a:rPr sz="2800" spc="-10" dirty="0">
                <a:latin typeface="Calibri"/>
                <a:cs typeface="Calibri"/>
              </a:rPr>
              <a:t>providing </a:t>
            </a:r>
            <a:r>
              <a:rPr sz="2800" spc="-5" dirty="0">
                <a:latin typeface="Calibri"/>
                <a:cs typeface="Calibri"/>
              </a:rPr>
              <a:t>a help desk </a:t>
            </a:r>
            <a:r>
              <a:rPr sz="2800" spc="-25" dirty="0">
                <a:latin typeface="Calibri"/>
                <a:cs typeface="Calibri"/>
              </a:rPr>
              <a:t>for </a:t>
            </a:r>
            <a:r>
              <a:rPr sz="2800" spc="-15" dirty="0">
                <a:latin typeface="Calibri"/>
                <a:cs typeface="Calibri"/>
              </a:rPr>
              <a:t>users to </a:t>
            </a:r>
            <a:r>
              <a:rPr sz="2800" spc="-10" dirty="0">
                <a:latin typeface="Calibri"/>
                <a:cs typeface="Calibri"/>
              </a:rPr>
              <a:t>ensure that </a:t>
            </a:r>
            <a:r>
              <a:rPr sz="2800" spc="-5" dirty="0">
                <a:latin typeface="Calibri"/>
                <a:cs typeface="Calibri"/>
              </a:rPr>
              <a:t>the </a:t>
            </a:r>
            <a:r>
              <a:rPr sz="2800" dirty="0">
                <a:latin typeface="Calibri"/>
                <a:cs typeface="Calibri"/>
              </a:rPr>
              <a:t> </a:t>
            </a:r>
            <a:r>
              <a:rPr sz="2800" spc="-10" dirty="0">
                <a:latin typeface="Calibri"/>
                <a:cs typeface="Calibri"/>
              </a:rPr>
              <a:t>product </a:t>
            </a:r>
            <a:r>
              <a:rPr sz="2800" spc="-20" dirty="0">
                <a:latin typeface="Calibri"/>
                <a:cs typeface="Calibri"/>
              </a:rPr>
              <a:t>operates effectively </a:t>
            </a:r>
            <a:r>
              <a:rPr sz="2800" spc="-5" dirty="0">
                <a:latin typeface="Calibri"/>
                <a:cs typeface="Calibri"/>
              </a:rPr>
              <a:t>and checking </a:t>
            </a:r>
            <a:r>
              <a:rPr sz="2800" spc="-10" dirty="0">
                <a:latin typeface="Calibri"/>
                <a:cs typeface="Calibri"/>
              </a:rPr>
              <a:t>that </a:t>
            </a:r>
            <a:r>
              <a:rPr sz="2800" spc="-5" dirty="0">
                <a:latin typeface="Calibri"/>
                <a:cs typeface="Calibri"/>
              </a:rPr>
              <a:t>the </a:t>
            </a:r>
            <a:r>
              <a:rPr sz="2800" spc="-15" dirty="0">
                <a:latin typeface="Calibri"/>
                <a:cs typeface="Calibri"/>
              </a:rPr>
              <a:t>expected </a:t>
            </a:r>
            <a:r>
              <a:rPr sz="2800" spc="-5" dirty="0">
                <a:latin typeface="Calibri"/>
                <a:cs typeface="Calibri"/>
              </a:rPr>
              <a:t>business </a:t>
            </a:r>
            <a:r>
              <a:rPr sz="2800" dirty="0">
                <a:latin typeface="Calibri"/>
                <a:cs typeface="Calibri"/>
              </a:rPr>
              <a:t> </a:t>
            </a:r>
            <a:r>
              <a:rPr sz="2800" spc="-10" dirty="0">
                <a:latin typeface="Calibri"/>
                <a:cs typeface="Calibri"/>
              </a:rPr>
              <a:t>benefits</a:t>
            </a:r>
            <a:r>
              <a:rPr sz="2800" spc="10" dirty="0">
                <a:latin typeface="Calibri"/>
                <a:cs typeface="Calibri"/>
              </a:rPr>
              <a:t> </a:t>
            </a:r>
            <a:r>
              <a:rPr sz="2800" spc="-25" dirty="0">
                <a:latin typeface="Calibri"/>
                <a:cs typeface="Calibri"/>
              </a:rPr>
              <a:t>have</a:t>
            </a:r>
            <a:r>
              <a:rPr sz="2800" spc="5" dirty="0">
                <a:latin typeface="Calibri"/>
                <a:cs typeface="Calibri"/>
              </a:rPr>
              <a:t> </a:t>
            </a:r>
            <a:r>
              <a:rPr sz="2800" spc="-10" dirty="0">
                <a:latin typeface="Calibri"/>
                <a:cs typeface="Calibri"/>
              </a:rPr>
              <a:t>been</a:t>
            </a:r>
            <a:r>
              <a:rPr sz="2800" spc="10" dirty="0">
                <a:latin typeface="Calibri"/>
                <a:cs typeface="Calibri"/>
              </a:rPr>
              <a:t> </a:t>
            </a:r>
            <a:r>
              <a:rPr sz="2800" spc="-10" dirty="0">
                <a:latin typeface="Calibri"/>
                <a:cs typeface="Calibri"/>
              </a:rPr>
              <a:t>achieved.</a:t>
            </a:r>
            <a:endParaRPr sz="2800">
              <a:latin typeface="Calibri"/>
              <a:cs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
        <p:nvSpPr>
          <p:cNvPr id="2" name="object 2"/>
          <p:cNvSpPr txBox="1">
            <a:spLocks noGrp="1"/>
          </p:cNvSpPr>
          <p:nvPr>
            <p:ph type="title"/>
          </p:nvPr>
        </p:nvSpPr>
        <p:spPr>
          <a:xfrm>
            <a:off x="916939" y="609676"/>
            <a:ext cx="7057390" cy="697230"/>
          </a:xfrm>
          <a:prstGeom prst="rect">
            <a:avLst/>
          </a:prstGeom>
        </p:spPr>
        <p:txBody>
          <a:bodyPr vert="horz" wrap="square" lIns="0" tIns="13335" rIns="0" bIns="0" rtlCol="0">
            <a:spAutoFit/>
          </a:bodyPr>
          <a:lstStyle/>
          <a:p>
            <a:pPr marL="12700">
              <a:lnSpc>
                <a:spcPct val="100000"/>
              </a:lnSpc>
              <a:spcBef>
                <a:spcPts val="105"/>
              </a:spcBef>
            </a:pPr>
            <a:r>
              <a:rPr sz="4400" spc="-50" dirty="0"/>
              <a:t>Advantages</a:t>
            </a:r>
            <a:r>
              <a:rPr sz="4400" spc="-110" dirty="0"/>
              <a:t> </a:t>
            </a:r>
            <a:r>
              <a:rPr sz="4400" spc="-15" dirty="0"/>
              <a:t>of</a:t>
            </a:r>
            <a:r>
              <a:rPr sz="4400" spc="-80" dirty="0"/>
              <a:t> </a:t>
            </a:r>
            <a:r>
              <a:rPr sz="4400" spc="-20" dirty="0"/>
              <a:t>the</a:t>
            </a:r>
            <a:r>
              <a:rPr sz="4400" spc="-85" dirty="0"/>
              <a:t> </a:t>
            </a:r>
            <a:r>
              <a:rPr sz="4400" spc="-25" dirty="0"/>
              <a:t>DSDM</a:t>
            </a:r>
            <a:r>
              <a:rPr sz="4400" spc="-145" dirty="0"/>
              <a:t> </a:t>
            </a:r>
            <a:r>
              <a:rPr sz="4400" spc="-35" dirty="0"/>
              <a:t>Model</a:t>
            </a:r>
            <a:endParaRPr sz="4400"/>
          </a:p>
        </p:txBody>
      </p:sp>
      <p:sp>
        <p:nvSpPr>
          <p:cNvPr id="3" name="object 3"/>
          <p:cNvSpPr txBox="1"/>
          <p:nvPr/>
        </p:nvSpPr>
        <p:spPr>
          <a:xfrm>
            <a:off x="916939" y="1756830"/>
            <a:ext cx="10293350" cy="3891915"/>
          </a:xfrm>
          <a:prstGeom prst="rect">
            <a:avLst/>
          </a:prstGeom>
        </p:spPr>
        <p:txBody>
          <a:bodyPr vert="horz" wrap="square" lIns="0" tIns="48894" rIns="0" bIns="0" rtlCol="0">
            <a:spAutoFit/>
          </a:bodyPr>
          <a:lstStyle/>
          <a:p>
            <a:pPr marL="241300" indent="-228600">
              <a:lnSpc>
                <a:spcPct val="100000"/>
              </a:lnSpc>
              <a:spcBef>
                <a:spcPts val="384"/>
              </a:spcBef>
              <a:buFont typeface="Arial MT"/>
              <a:buChar char="•"/>
              <a:tabLst>
                <a:tab pos="241300" algn="l"/>
              </a:tabLst>
            </a:pPr>
            <a:r>
              <a:rPr sz="2800" spc="-15" dirty="0">
                <a:latin typeface="Calibri"/>
                <a:cs typeface="Calibri"/>
              </a:rPr>
              <a:t>Improves</a:t>
            </a:r>
            <a:r>
              <a:rPr sz="2800" dirty="0">
                <a:latin typeface="Calibri"/>
                <a:cs typeface="Calibri"/>
              </a:rPr>
              <a:t> </a:t>
            </a:r>
            <a:r>
              <a:rPr sz="2800" spc="-15" dirty="0">
                <a:latin typeface="Calibri"/>
                <a:cs typeface="Calibri"/>
              </a:rPr>
              <a:t>collaboration</a:t>
            </a:r>
            <a:endParaRPr sz="2800" dirty="0">
              <a:latin typeface="Calibri"/>
              <a:cs typeface="Calibri"/>
            </a:endParaRPr>
          </a:p>
          <a:p>
            <a:pPr marL="698500" marR="5080" lvl="1" indent="-228600">
              <a:lnSpc>
                <a:spcPts val="2590"/>
              </a:lnSpc>
              <a:spcBef>
                <a:spcPts val="575"/>
              </a:spcBef>
              <a:buFont typeface="Arial MT"/>
              <a:buChar char="•"/>
              <a:tabLst>
                <a:tab pos="699135" algn="l"/>
              </a:tabLst>
            </a:pPr>
            <a:r>
              <a:rPr sz="2400" dirty="0">
                <a:latin typeface="Calibri"/>
                <a:cs typeface="Calibri"/>
              </a:rPr>
              <a:t>Help</a:t>
            </a:r>
            <a:r>
              <a:rPr sz="2400" spc="5" dirty="0">
                <a:latin typeface="Calibri"/>
                <a:cs typeface="Calibri"/>
              </a:rPr>
              <a:t> </a:t>
            </a:r>
            <a:r>
              <a:rPr sz="2400" spc="-15" dirty="0">
                <a:latin typeface="Calibri"/>
                <a:cs typeface="Calibri"/>
              </a:rPr>
              <a:t>to</a:t>
            </a:r>
            <a:r>
              <a:rPr sz="2400" spc="-5" dirty="0">
                <a:latin typeface="Calibri"/>
                <a:cs typeface="Calibri"/>
              </a:rPr>
              <a:t> enhance</a:t>
            </a:r>
            <a:r>
              <a:rPr sz="2400" dirty="0">
                <a:latin typeface="Calibri"/>
                <a:cs typeface="Calibri"/>
              </a:rPr>
              <a:t> </a:t>
            </a:r>
            <a:r>
              <a:rPr sz="2400" spc="-10" dirty="0">
                <a:latin typeface="Calibri"/>
                <a:cs typeface="Calibri"/>
              </a:rPr>
              <a:t>communication</a:t>
            </a:r>
            <a:r>
              <a:rPr sz="2400" spc="-30" dirty="0">
                <a:latin typeface="Calibri"/>
                <a:cs typeface="Calibri"/>
              </a:rPr>
              <a:t> </a:t>
            </a:r>
            <a:r>
              <a:rPr sz="2400" spc="-20" dirty="0">
                <a:latin typeface="Calibri"/>
                <a:cs typeface="Calibri"/>
              </a:rPr>
              <a:t>efforts</a:t>
            </a:r>
            <a:r>
              <a:rPr sz="2400" spc="5" dirty="0">
                <a:latin typeface="Calibri"/>
                <a:cs typeface="Calibri"/>
              </a:rPr>
              <a:t> </a:t>
            </a:r>
            <a:r>
              <a:rPr sz="2400" spc="-10" dirty="0">
                <a:latin typeface="Calibri"/>
                <a:cs typeface="Calibri"/>
              </a:rPr>
              <a:t>across</a:t>
            </a:r>
            <a:r>
              <a:rPr sz="2400" spc="-15" dirty="0">
                <a:latin typeface="Calibri"/>
                <a:cs typeface="Calibri"/>
              </a:rPr>
              <a:t> </a:t>
            </a:r>
            <a:r>
              <a:rPr sz="2400" spc="-10" dirty="0">
                <a:latin typeface="Calibri"/>
                <a:cs typeface="Calibri"/>
              </a:rPr>
              <a:t>various</a:t>
            </a:r>
            <a:r>
              <a:rPr sz="2400" spc="5" dirty="0">
                <a:latin typeface="Calibri"/>
                <a:cs typeface="Calibri"/>
              </a:rPr>
              <a:t> </a:t>
            </a:r>
            <a:r>
              <a:rPr sz="2400" spc="-5" dirty="0">
                <a:latin typeface="Calibri"/>
                <a:cs typeface="Calibri"/>
              </a:rPr>
              <a:t>cross-functional</a:t>
            </a:r>
            <a:r>
              <a:rPr sz="2400" spc="-10" dirty="0">
                <a:latin typeface="Calibri"/>
                <a:cs typeface="Calibri"/>
              </a:rPr>
              <a:t> </a:t>
            </a:r>
            <a:r>
              <a:rPr sz="2400" spc="-5" dirty="0">
                <a:latin typeface="Calibri"/>
                <a:cs typeface="Calibri"/>
              </a:rPr>
              <a:t>teams </a:t>
            </a:r>
            <a:r>
              <a:rPr sz="2400" spc="-525" dirty="0">
                <a:latin typeface="Calibri"/>
                <a:cs typeface="Calibri"/>
              </a:rPr>
              <a:t> </a:t>
            </a:r>
            <a:r>
              <a:rPr sz="2400" dirty="0">
                <a:latin typeface="Calibri"/>
                <a:cs typeface="Calibri"/>
              </a:rPr>
              <a:t>and</a:t>
            </a:r>
            <a:r>
              <a:rPr sz="2400" spc="-10" dirty="0">
                <a:latin typeface="Calibri"/>
                <a:cs typeface="Calibri"/>
              </a:rPr>
              <a:t> </a:t>
            </a:r>
            <a:r>
              <a:rPr sz="2400" spc="-5" dirty="0">
                <a:latin typeface="Calibri"/>
                <a:cs typeface="Calibri"/>
              </a:rPr>
              <a:t>departments.</a:t>
            </a:r>
            <a:endParaRPr sz="2400" dirty="0">
              <a:latin typeface="Calibri"/>
              <a:cs typeface="Calibri"/>
            </a:endParaRPr>
          </a:p>
          <a:p>
            <a:pPr marL="698500" marR="1462405" lvl="1" indent="-228600">
              <a:lnSpc>
                <a:spcPts val="2590"/>
              </a:lnSpc>
              <a:spcBef>
                <a:spcPts val="505"/>
              </a:spcBef>
              <a:buFont typeface="Arial MT"/>
              <a:buChar char="•"/>
              <a:tabLst>
                <a:tab pos="699135" algn="l"/>
              </a:tabLst>
            </a:pPr>
            <a:r>
              <a:rPr sz="2400" spc="-10" dirty="0">
                <a:latin typeface="Calibri"/>
                <a:cs typeface="Calibri"/>
              </a:rPr>
              <a:t>Minimize</a:t>
            </a:r>
            <a:r>
              <a:rPr sz="2400" spc="-20" dirty="0">
                <a:latin typeface="Calibri"/>
                <a:cs typeface="Calibri"/>
              </a:rPr>
              <a:t> </a:t>
            </a:r>
            <a:r>
              <a:rPr sz="2400" spc="-10" dirty="0">
                <a:latin typeface="Calibri"/>
                <a:cs typeface="Calibri"/>
              </a:rPr>
              <a:t>confusion</a:t>
            </a:r>
            <a:r>
              <a:rPr sz="2400" spc="-5" dirty="0">
                <a:latin typeface="Calibri"/>
                <a:cs typeface="Calibri"/>
              </a:rPr>
              <a:t> since</a:t>
            </a:r>
            <a:r>
              <a:rPr sz="2400" spc="5" dirty="0">
                <a:latin typeface="Calibri"/>
                <a:cs typeface="Calibri"/>
              </a:rPr>
              <a:t> </a:t>
            </a:r>
            <a:r>
              <a:rPr sz="2400" spc="-10" dirty="0">
                <a:latin typeface="Calibri"/>
                <a:cs typeface="Calibri"/>
              </a:rPr>
              <a:t>everyone</a:t>
            </a:r>
            <a:r>
              <a:rPr sz="2400" spc="-20" dirty="0">
                <a:latin typeface="Calibri"/>
                <a:cs typeface="Calibri"/>
              </a:rPr>
              <a:t> </a:t>
            </a:r>
            <a:r>
              <a:rPr sz="2400" spc="-5" dirty="0">
                <a:latin typeface="Calibri"/>
                <a:cs typeface="Calibri"/>
              </a:rPr>
              <a:t>remains</a:t>
            </a:r>
            <a:r>
              <a:rPr sz="2400" dirty="0">
                <a:latin typeface="Calibri"/>
                <a:cs typeface="Calibri"/>
              </a:rPr>
              <a:t> </a:t>
            </a:r>
            <a:r>
              <a:rPr sz="2400" spc="-10" dirty="0">
                <a:latin typeface="Calibri"/>
                <a:cs typeface="Calibri"/>
              </a:rPr>
              <a:t>updated</a:t>
            </a:r>
            <a:r>
              <a:rPr sz="2400" dirty="0">
                <a:latin typeface="Calibri"/>
                <a:cs typeface="Calibri"/>
              </a:rPr>
              <a:t> </a:t>
            </a:r>
            <a:r>
              <a:rPr sz="2400" spc="-5" dirty="0">
                <a:latin typeface="Calibri"/>
                <a:cs typeface="Calibri"/>
              </a:rPr>
              <a:t>on </a:t>
            </a:r>
            <a:r>
              <a:rPr sz="2400" dirty="0">
                <a:latin typeface="Calibri"/>
                <a:cs typeface="Calibri"/>
              </a:rPr>
              <a:t>the </a:t>
            </a:r>
            <a:r>
              <a:rPr sz="2400" spc="-15" dirty="0">
                <a:latin typeface="Calibri"/>
                <a:cs typeface="Calibri"/>
              </a:rPr>
              <a:t>latest </a:t>
            </a:r>
            <a:r>
              <a:rPr sz="2400" spc="-525" dirty="0">
                <a:latin typeface="Calibri"/>
                <a:cs typeface="Calibri"/>
              </a:rPr>
              <a:t> </a:t>
            </a:r>
            <a:r>
              <a:rPr sz="2400" spc="-10" dirty="0">
                <a:latin typeface="Calibri"/>
                <a:cs typeface="Calibri"/>
              </a:rPr>
              <a:t>developments</a:t>
            </a:r>
            <a:r>
              <a:rPr sz="2400" spc="-5" dirty="0">
                <a:latin typeface="Calibri"/>
                <a:cs typeface="Calibri"/>
              </a:rPr>
              <a:t> </a:t>
            </a:r>
            <a:r>
              <a:rPr sz="2400" spc="-10" dirty="0">
                <a:latin typeface="Calibri"/>
                <a:cs typeface="Calibri"/>
              </a:rPr>
              <a:t>that</a:t>
            </a:r>
            <a:r>
              <a:rPr sz="2400" dirty="0">
                <a:latin typeface="Calibri"/>
                <a:cs typeface="Calibri"/>
              </a:rPr>
              <a:t> </a:t>
            </a:r>
            <a:r>
              <a:rPr sz="2400" spc="-5" dirty="0">
                <a:latin typeface="Calibri"/>
                <a:cs typeface="Calibri"/>
              </a:rPr>
              <a:t>occur</a:t>
            </a:r>
            <a:r>
              <a:rPr sz="2400" spc="-20" dirty="0">
                <a:latin typeface="Calibri"/>
                <a:cs typeface="Calibri"/>
              </a:rPr>
              <a:t> </a:t>
            </a:r>
            <a:r>
              <a:rPr sz="2400" dirty="0">
                <a:latin typeface="Calibri"/>
                <a:cs typeface="Calibri"/>
              </a:rPr>
              <a:t>within</a:t>
            </a:r>
            <a:r>
              <a:rPr sz="2400" spc="-25" dirty="0">
                <a:latin typeface="Calibri"/>
                <a:cs typeface="Calibri"/>
              </a:rPr>
              <a:t> </a:t>
            </a:r>
            <a:r>
              <a:rPr sz="2400" dirty="0">
                <a:latin typeface="Calibri"/>
                <a:cs typeface="Calibri"/>
              </a:rPr>
              <a:t>the</a:t>
            </a:r>
            <a:r>
              <a:rPr sz="2400" spc="-15" dirty="0">
                <a:latin typeface="Calibri"/>
                <a:cs typeface="Calibri"/>
              </a:rPr>
              <a:t> </a:t>
            </a:r>
            <a:r>
              <a:rPr sz="2400" spc="-10" dirty="0">
                <a:latin typeface="Calibri"/>
                <a:cs typeface="Calibri"/>
              </a:rPr>
              <a:t>project.</a:t>
            </a:r>
            <a:endParaRPr sz="2400" dirty="0">
              <a:latin typeface="Calibri"/>
              <a:cs typeface="Calibri"/>
            </a:endParaRPr>
          </a:p>
          <a:p>
            <a:pPr marL="241300" indent="-228600">
              <a:lnSpc>
                <a:spcPct val="100000"/>
              </a:lnSpc>
              <a:spcBef>
                <a:spcPts val="600"/>
              </a:spcBef>
              <a:buFont typeface="Arial MT"/>
              <a:buChar char="•"/>
              <a:tabLst>
                <a:tab pos="241300" algn="l"/>
              </a:tabLst>
            </a:pPr>
            <a:r>
              <a:rPr sz="2800" spc="-10" dirty="0">
                <a:latin typeface="Calibri"/>
                <a:cs typeface="Calibri"/>
              </a:rPr>
              <a:t>Supports</a:t>
            </a:r>
            <a:r>
              <a:rPr sz="2800" spc="40" dirty="0">
                <a:latin typeface="Calibri"/>
                <a:cs typeface="Calibri"/>
              </a:rPr>
              <a:t> </a:t>
            </a:r>
            <a:r>
              <a:rPr sz="2800" spc="-15" dirty="0">
                <a:latin typeface="Calibri"/>
                <a:cs typeface="Calibri"/>
              </a:rPr>
              <a:t>rapid</a:t>
            </a:r>
            <a:r>
              <a:rPr sz="2800" spc="20" dirty="0">
                <a:latin typeface="Calibri"/>
                <a:cs typeface="Calibri"/>
              </a:rPr>
              <a:t> </a:t>
            </a:r>
            <a:r>
              <a:rPr sz="2800" spc="-15" dirty="0">
                <a:latin typeface="Calibri"/>
                <a:cs typeface="Calibri"/>
              </a:rPr>
              <a:t>deliverables</a:t>
            </a:r>
            <a:endParaRPr sz="2800" dirty="0">
              <a:latin typeface="Calibri"/>
              <a:cs typeface="Calibri"/>
            </a:endParaRPr>
          </a:p>
          <a:p>
            <a:pPr marL="698500" marR="176530" lvl="1" indent="-228600">
              <a:lnSpc>
                <a:spcPts val="2590"/>
              </a:lnSpc>
              <a:spcBef>
                <a:spcPts val="570"/>
              </a:spcBef>
              <a:buFont typeface="Arial MT"/>
              <a:buChar char="•"/>
              <a:tabLst>
                <a:tab pos="699135" algn="l"/>
              </a:tabLst>
            </a:pPr>
            <a:r>
              <a:rPr sz="2400" spc="-10" dirty="0">
                <a:latin typeface="Calibri"/>
                <a:cs typeface="Calibri"/>
              </a:rPr>
              <a:t>Allows product </a:t>
            </a:r>
            <a:r>
              <a:rPr sz="2400" spc="-5" dirty="0">
                <a:latin typeface="Calibri"/>
                <a:cs typeface="Calibri"/>
              </a:rPr>
              <a:t>teams </a:t>
            </a:r>
            <a:r>
              <a:rPr sz="2400" spc="-15" dirty="0">
                <a:latin typeface="Calibri"/>
                <a:cs typeface="Calibri"/>
              </a:rPr>
              <a:t>to </a:t>
            </a:r>
            <a:r>
              <a:rPr sz="2400" spc="-5" dirty="0">
                <a:latin typeface="Calibri"/>
                <a:cs typeface="Calibri"/>
              </a:rPr>
              <a:t>release </a:t>
            </a:r>
            <a:r>
              <a:rPr sz="2400" dirty="0">
                <a:latin typeface="Calibri"/>
                <a:cs typeface="Calibri"/>
              </a:rPr>
              <a:t>their </a:t>
            </a:r>
            <a:r>
              <a:rPr sz="2400" spc="-10" dirty="0">
                <a:latin typeface="Calibri"/>
                <a:cs typeface="Calibri"/>
              </a:rPr>
              <a:t>deliverables </a:t>
            </a:r>
            <a:r>
              <a:rPr sz="2400" spc="-30" dirty="0">
                <a:latin typeface="Calibri"/>
                <a:cs typeface="Calibri"/>
              </a:rPr>
              <a:t>rapidly, </a:t>
            </a:r>
            <a:r>
              <a:rPr sz="2400" dirty="0">
                <a:latin typeface="Calibri"/>
                <a:cs typeface="Calibri"/>
              </a:rPr>
              <a:t>minimizing </a:t>
            </a:r>
            <a:r>
              <a:rPr sz="2400" spc="-15" dirty="0">
                <a:latin typeface="Calibri"/>
                <a:cs typeface="Calibri"/>
              </a:rPr>
              <a:t>delays </a:t>
            </a:r>
            <a:r>
              <a:rPr sz="2400" spc="-530" dirty="0">
                <a:latin typeface="Calibri"/>
                <a:cs typeface="Calibri"/>
              </a:rPr>
              <a:t> </a:t>
            </a:r>
            <a:r>
              <a:rPr sz="2400" dirty="0">
                <a:latin typeface="Calibri"/>
                <a:cs typeface="Calibri"/>
              </a:rPr>
              <a:t>and</a:t>
            </a:r>
            <a:r>
              <a:rPr sz="2400" spc="-10" dirty="0">
                <a:latin typeface="Calibri"/>
                <a:cs typeface="Calibri"/>
              </a:rPr>
              <a:t> attending</a:t>
            </a:r>
            <a:r>
              <a:rPr sz="2400" spc="-15" dirty="0">
                <a:latin typeface="Calibri"/>
                <a:cs typeface="Calibri"/>
              </a:rPr>
              <a:t> to</a:t>
            </a:r>
            <a:r>
              <a:rPr sz="2400" spc="-10" dirty="0">
                <a:latin typeface="Calibri"/>
                <a:cs typeface="Calibri"/>
              </a:rPr>
              <a:t> </a:t>
            </a:r>
            <a:r>
              <a:rPr sz="2400" dirty="0">
                <a:latin typeface="Calibri"/>
                <a:cs typeface="Calibri"/>
              </a:rPr>
              <a:t>a</a:t>
            </a:r>
            <a:r>
              <a:rPr sz="2400" spc="-5" dirty="0">
                <a:latin typeface="Calibri"/>
                <a:cs typeface="Calibri"/>
              </a:rPr>
              <a:t> </a:t>
            </a:r>
            <a:r>
              <a:rPr sz="2400" spc="-10" dirty="0">
                <a:latin typeface="Calibri"/>
                <a:cs typeface="Calibri"/>
              </a:rPr>
              <a:t>reasonable</a:t>
            </a:r>
            <a:r>
              <a:rPr sz="2400" dirty="0">
                <a:latin typeface="Calibri"/>
                <a:cs typeface="Calibri"/>
              </a:rPr>
              <a:t> timeline.</a:t>
            </a:r>
          </a:p>
          <a:p>
            <a:pPr marL="698500" marR="735965" lvl="1" indent="-228600">
              <a:lnSpc>
                <a:spcPts val="2590"/>
              </a:lnSpc>
              <a:spcBef>
                <a:spcPts val="500"/>
              </a:spcBef>
              <a:buFont typeface="Arial MT"/>
              <a:buChar char="•"/>
              <a:tabLst>
                <a:tab pos="699135" algn="l"/>
              </a:tabLst>
            </a:pPr>
            <a:r>
              <a:rPr sz="2400" spc="-5" dirty="0">
                <a:latin typeface="Calibri"/>
                <a:cs typeface="Calibri"/>
              </a:rPr>
              <a:t>Helps teams increase </a:t>
            </a:r>
            <a:r>
              <a:rPr sz="2400" spc="-25" dirty="0">
                <a:latin typeface="Calibri"/>
                <a:cs typeface="Calibri"/>
              </a:rPr>
              <a:t>efficiency, </a:t>
            </a:r>
            <a:r>
              <a:rPr sz="2400" dirty="0">
                <a:latin typeface="Calibri"/>
                <a:cs typeface="Calibri"/>
              </a:rPr>
              <a:t>meet </a:t>
            </a:r>
            <a:r>
              <a:rPr sz="2400" spc="-5" dirty="0">
                <a:latin typeface="Calibri"/>
                <a:cs typeface="Calibri"/>
              </a:rPr>
              <a:t>client needs </a:t>
            </a:r>
            <a:r>
              <a:rPr sz="2400" dirty="0">
                <a:latin typeface="Calibri"/>
                <a:cs typeface="Calibri"/>
              </a:rPr>
              <a:t>and </a:t>
            </a:r>
            <a:r>
              <a:rPr sz="2400" spc="-5" dirty="0">
                <a:latin typeface="Calibri"/>
                <a:cs typeface="Calibri"/>
              </a:rPr>
              <a:t>achieve </a:t>
            </a:r>
            <a:r>
              <a:rPr sz="2400" dirty="0">
                <a:latin typeface="Calibri"/>
                <a:cs typeface="Calibri"/>
              </a:rPr>
              <a:t>a launch </a:t>
            </a:r>
            <a:r>
              <a:rPr sz="2400" spc="-530" dirty="0">
                <a:latin typeface="Calibri"/>
                <a:cs typeface="Calibri"/>
              </a:rPr>
              <a:t> </a:t>
            </a:r>
            <a:r>
              <a:rPr sz="2400" spc="-40" dirty="0">
                <a:latin typeface="Calibri"/>
                <a:cs typeface="Calibri"/>
              </a:rPr>
              <a:t>sooner.</a:t>
            </a:r>
            <a:endParaRPr sz="2400" dirty="0">
              <a:latin typeface="Calibri"/>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
        <p:nvSpPr>
          <p:cNvPr id="2" name="object 2"/>
          <p:cNvSpPr txBox="1">
            <a:spLocks noGrp="1"/>
          </p:cNvSpPr>
          <p:nvPr>
            <p:ph type="title"/>
          </p:nvPr>
        </p:nvSpPr>
        <p:spPr>
          <a:xfrm>
            <a:off x="916939" y="609676"/>
            <a:ext cx="8288020" cy="697230"/>
          </a:xfrm>
          <a:prstGeom prst="rect">
            <a:avLst/>
          </a:prstGeom>
        </p:spPr>
        <p:txBody>
          <a:bodyPr vert="horz" wrap="square" lIns="0" tIns="13335" rIns="0" bIns="0" rtlCol="0">
            <a:spAutoFit/>
          </a:bodyPr>
          <a:lstStyle/>
          <a:p>
            <a:pPr marL="12700">
              <a:lnSpc>
                <a:spcPct val="100000"/>
              </a:lnSpc>
              <a:spcBef>
                <a:spcPts val="105"/>
              </a:spcBef>
            </a:pPr>
            <a:r>
              <a:rPr sz="4400" spc="-50" dirty="0"/>
              <a:t>Advantages</a:t>
            </a:r>
            <a:r>
              <a:rPr sz="4400" spc="-100" dirty="0"/>
              <a:t> </a:t>
            </a:r>
            <a:r>
              <a:rPr sz="4400" spc="-15" dirty="0"/>
              <a:t>of</a:t>
            </a:r>
            <a:r>
              <a:rPr sz="4400" spc="-75" dirty="0"/>
              <a:t> </a:t>
            </a:r>
            <a:r>
              <a:rPr sz="4400" spc="-20" dirty="0"/>
              <a:t>the</a:t>
            </a:r>
            <a:r>
              <a:rPr sz="4400" spc="-80" dirty="0"/>
              <a:t> </a:t>
            </a:r>
            <a:r>
              <a:rPr sz="4400" spc="-25" dirty="0"/>
              <a:t>DSDM</a:t>
            </a:r>
            <a:r>
              <a:rPr sz="4400" spc="-140" dirty="0"/>
              <a:t> </a:t>
            </a:r>
            <a:r>
              <a:rPr sz="4400" spc="-35" dirty="0"/>
              <a:t>Model</a:t>
            </a:r>
            <a:r>
              <a:rPr sz="4400" spc="-95" dirty="0"/>
              <a:t> </a:t>
            </a:r>
            <a:r>
              <a:rPr sz="4400" spc="-45" dirty="0"/>
              <a:t>cont.</a:t>
            </a:r>
            <a:endParaRPr sz="4400"/>
          </a:p>
        </p:txBody>
      </p:sp>
      <p:sp>
        <p:nvSpPr>
          <p:cNvPr id="3" name="object 3"/>
          <p:cNvSpPr txBox="1"/>
          <p:nvPr/>
        </p:nvSpPr>
        <p:spPr>
          <a:xfrm>
            <a:off x="916939" y="1756830"/>
            <a:ext cx="10273665" cy="3681095"/>
          </a:xfrm>
          <a:prstGeom prst="rect">
            <a:avLst/>
          </a:prstGeom>
        </p:spPr>
        <p:txBody>
          <a:bodyPr vert="horz" wrap="square" lIns="0" tIns="48894" rIns="0" bIns="0" rtlCol="0">
            <a:spAutoFit/>
          </a:bodyPr>
          <a:lstStyle/>
          <a:p>
            <a:pPr marL="241300" indent="-228600">
              <a:lnSpc>
                <a:spcPct val="100000"/>
              </a:lnSpc>
              <a:spcBef>
                <a:spcPts val="384"/>
              </a:spcBef>
              <a:buFont typeface="Arial MT"/>
              <a:buChar char="•"/>
              <a:tabLst>
                <a:tab pos="241300" algn="l"/>
              </a:tabLst>
            </a:pPr>
            <a:r>
              <a:rPr sz="2800" spc="-15" dirty="0">
                <a:latin typeface="Calibri"/>
                <a:cs typeface="Calibri"/>
              </a:rPr>
              <a:t>Promotes</a:t>
            </a:r>
            <a:r>
              <a:rPr sz="2800" spc="-5" dirty="0">
                <a:latin typeface="Calibri"/>
                <a:cs typeface="Calibri"/>
              </a:rPr>
              <a:t> </a:t>
            </a:r>
            <a:r>
              <a:rPr sz="2800" spc="-10" dirty="0">
                <a:latin typeface="Calibri"/>
                <a:cs typeface="Calibri"/>
              </a:rPr>
              <a:t>feedback</a:t>
            </a:r>
            <a:endParaRPr sz="2800" dirty="0">
              <a:latin typeface="Calibri"/>
              <a:cs typeface="Calibri"/>
            </a:endParaRPr>
          </a:p>
          <a:p>
            <a:pPr marL="698500" marR="250825" lvl="1" indent="-228600">
              <a:lnSpc>
                <a:spcPts val="2590"/>
              </a:lnSpc>
              <a:spcBef>
                <a:spcPts val="575"/>
              </a:spcBef>
              <a:buFont typeface="Arial MT"/>
              <a:buChar char="•"/>
              <a:tabLst>
                <a:tab pos="699135" algn="l"/>
              </a:tabLst>
            </a:pPr>
            <a:r>
              <a:rPr sz="2400" spc="-15" dirty="0">
                <a:latin typeface="Calibri"/>
                <a:cs typeface="Calibri"/>
              </a:rPr>
              <a:t>Encourages </a:t>
            </a:r>
            <a:r>
              <a:rPr sz="2400" spc="-5" dirty="0">
                <a:latin typeface="Calibri"/>
                <a:cs typeface="Calibri"/>
              </a:rPr>
              <a:t>teams </a:t>
            </a:r>
            <a:r>
              <a:rPr sz="2400" spc="-15" dirty="0">
                <a:latin typeface="Calibri"/>
                <a:cs typeface="Calibri"/>
              </a:rPr>
              <a:t>to </a:t>
            </a:r>
            <a:r>
              <a:rPr sz="2400" spc="-30" dirty="0">
                <a:latin typeface="Calibri"/>
                <a:cs typeface="Calibri"/>
              </a:rPr>
              <a:t>stay </a:t>
            </a:r>
            <a:r>
              <a:rPr sz="2400" dirty="0">
                <a:latin typeface="Calibri"/>
                <a:cs typeface="Calibri"/>
              </a:rPr>
              <a:t>in close </a:t>
            </a:r>
            <a:r>
              <a:rPr sz="2400" spc="-10" dirty="0">
                <a:latin typeface="Calibri"/>
                <a:cs typeface="Calibri"/>
              </a:rPr>
              <a:t>communication </a:t>
            </a:r>
            <a:r>
              <a:rPr sz="2400" dirty="0">
                <a:latin typeface="Calibri"/>
                <a:cs typeface="Calibri"/>
              </a:rPr>
              <a:t>with </a:t>
            </a:r>
            <a:r>
              <a:rPr sz="2400" spc="-15" dirty="0">
                <a:latin typeface="Calibri"/>
                <a:cs typeface="Calibri"/>
              </a:rPr>
              <a:t>interested </a:t>
            </a:r>
            <a:r>
              <a:rPr sz="2400" spc="-5" dirty="0">
                <a:latin typeface="Calibri"/>
                <a:cs typeface="Calibri"/>
              </a:rPr>
              <a:t>parties </a:t>
            </a:r>
            <a:r>
              <a:rPr sz="2400" spc="-15" dirty="0">
                <a:latin typeface="Calibri"/>
                <a:cs typeface="Calibri"/>
              </a:rPr>
              <a:t>to </a:t>
            </a:r>
            <a:r>
              <a:rPr sz="2400" spc="-530" dirty="0">
                <a:latin typeface="Calibri"/>
                <a:cs typeface="Calibri"/>
              </a:rPr>
              <a:t> </a:t>
            </a:r>
            <a:r>
              <a:rPr sz="2400" spc="-10" dirty="0">
                <a:latin typeface="Calibri"/>
                <a:cs typeface="Calibri"/>
              </a:rPr>
              <a:t>receive</a:t>
            </a:r>
            <a:r>
              <a:rPr sz="2400" spc="-5" dirty="0">
                <a:latin typeface="Calibri"/>
                <a:cs typeface="Calibri"/>
              </a:rPr>
              <a:t> </a:t>
            </a:r>
            <a:r>
              <a:rPr sz="2400" spc="-10" dirty="0">
                <a:latin typeface="Calibri"/>
                <a:cs typeface="Calibri"/>
              </a:rPr>
              <a:t>frequent</a:t>
            </a:r>
            <a:r>
              <a:rPr sz="2400" spc="5" dirty="0">
                <a:latin typeface="Calibri"/>
                <a:cs typeface="Calibri"/>
              </a:rPr>
              <a:t> </a:t>
            </a:r>
            <a:r>
              <a:rPr sz="2400" spc="-10" dirty="0">
                <a:latin typeface="Calibri"/>
                <a:cs typeface="Calibri"/>
              </a:rPr>
              <a:t>feedback</a:t>
            </a:r>
            <a:r>
              <a:rPr sz="2400" spc="-15" dirty="0">
                <a:latin typeface="Calibri"/>
                <a:cs typeface="Calibri"/>
              </a:rPr>
              <a:t> </a:t>
            </a:r>
            <a:r>
              <a:rPr sz="2400" dirty="0">
                <a:latin typeface="Calibri"/>
                <a:cs typeface="Calibri"/>
              </a:rPr>
              <a:t>and</a:t>
            </a:r>
            <a:r>
              <a:rPr sz="2400" spc="-5" dirty="0">
                <a:latin typeface="Calibri"/>
                <a:cs typeface="Calibri"/>
              </a:rPr>
              <a:t> suggestions.</a:t>
            </a:r>
            <a:endParaRPr sz="2400" dirty="0">
              <a:latin typeface="Calibri"/>
              <a:cs typeface="Calibri"/>
            </a:endParaRPr>
          </a:p>
          <a:p>
            <a:pPr marL="241300" indent="-228600">
              <a:lnSpc>
                <a:spcPct val="100000"/>
              </a:lnSpc>
              <a:spcBef>
                <a:spcPts val="595"/>
              </a:spcBef>
              <a:buFont typeface="Arial MT"/>
              <a:buChar char="•"/>
              <a:tabLst>
                <a:tab pos="241300" algn="l"/>
              </a:tabLst>
            </a:pPr>
            <a:r>
              <a:rPr sz="2800" spc="-10" dirty="0">
                <a:latin typeface="Calibri"/>
                <a:cs typeface="Calibri"/>
              </a:rPr>
              <a:t>Enhances</a:t>
            </a:r>
            <a:r>
              <a:rPr sz="2800" spc="15" dirty="0">
                <a:latin typeface="Calibri"/>
                <a:cs typeface="Calibri"/>
              </a:rPr>
              <a:t> </a:t>
            </a:r>
            <a:r>
              <a:rPr sz="2800" spc="-10" dirty="0">
                <a:latin typeface="Calibri"/>
                <a:cs typeface="Calibri"/>
              </a:rPr>
              <a:t>project</a:t>
            </a:r>
            <a:r>
              <a:rPr sz="2800" spc="10" dirty="0">
                <a:latin typeface="Calibri"/>
                <a:cs typeface="Calibri"/>
              </a:rPr>
              <a:t> </a:t>
            </a:r>
            <a:r>
              <a:rPr sz="2800" spc="-15" dirty="0">
                <a:latin typeface="Calibri"/>
                <a:cs typeface="Calibri"/>
              </a:rPr>
              <a:t>organization</a:t>
            </a:r>
            <a:endParaRPr sz="2800" dirty="0">
              <a:latin typeface="Calibri"/>
              <a:cs typeface="Calibri"/>
            </a:endParaRPr>
          </a:p>
          <a:p>
            <a:pPr marL="698500" lvl="1" indent="-229235">
              <a:lnSpc>
                <a:spcPts val="2735"/>
              </a:lnSpc>
              <a:spcBef>
                <a:spcPts val="244"/>
              </a:spcBef>
              <a:buFont typeface="Arial MT"/>
              <a:buChar char="•"/>
              <a:tabLst>
                <a:tab pos="699135" algn="l"/>
              </a:tabLst>
            </a:pPr>
            <a:r>
              <a:rPr sz="2400" spc="-10" dirty="0">
                <a:latin typeface="Calibri"/>
                <a:cs typeface="Calibri"/>
              </a:rPr>
              <a:t>There</a:t>
            </a:r>
            <a:r>
              <a:rPr sz="2400" spc="10" dirty="0">
                <a:latin typeface="Calibri"/>
                <a:cs typeface="Calibri"/>
              </a:rPr>
              <a:t> </a:t>
            </a:r>
            <a:r>
              <a:rPr sz="2400" spc="-15" dirty="0">
                <a:latin typeface="Calibri"/>
                <a:cs typeface="Calibri"/>
              </a:rPr>
              <a:t>are</a:t>
            </a:r>
            <a:r>
              <a:rPr sz="2400" dirty="0">
                <a:latin typeface="Calibri"/>
                <a:cs typeface="Calibri"/>
              </a:rPr>
              <a:t> a</a:t>
            </a:r>
            <a:r>
              <a:rPr sz="2400" spc="-10" dirty="0">
                <a:latin typeface="Calibri"/>
                <a:cs typeface="Calibri"/>
              </a:rPr>
              <a:t> </a:t>
            </a:r>
            <a:r>
              <a:rPr sz="2400" spc="-5" dirty="0">
                <a:latin typeface="Calibri"/>
                <a:cs typeface="Calibri"/>
              </a:rPr>
              <a:t>variety</a:t>
            </a:r>
            <a:r>
              <a:rPr sz="2400" dirty="0">
                <a:latin typeface="Calibri"/>
                <a:cs typeface="Calibri"/>
              </a:rPr>
              <a:t> </a:t>
            </a:r>
            <a:r>
              <a:rPr sz="2400" spc="-10" dirty="0">
                <a:latin typeface="Calibri"/>
                <a:cs typeface="Calibri"/>
              </a:rPr>
              <a:t>of</a:t>
            </a:r>
            <a:r>
              <a:rPr sz="2400" spc="-5" dirty="0">
                <a:latin typeface="Calibri"/>
                <a:cs typeface="Calibri"/>
              </a:rPr>
              <a:t> </a:t>
            </a:r>
            <a:r>
              <a:rPr sz="2400" spc="-10" dirty="0">
                <a:latin typeface="Calibri"/>
                <a:cs typeface="Calibri"/>
              </a:rPr>
              <a:t>tools</a:t>
            </a:r>
            <a:r>
              <a:rPr sz="2400" spc="5" dirty="0">
                <a:latin typeface="Calibri"/>
                <a:cs typeface="Calibri"/>
              </a:rPr>
              <a:t> </a:t>
            </a:r>
            <a:r>
              <a:rPr sz="2400" dirty="0">
                <a:latin typeface="Calibri"/>
                <a:cs typeface="Calibri"/>
              </a:rPr>
              <a:t>and</a:t>
            </a:r>
            <a:r>
              <a:rPr sz="2400" spc="-10" dirty="0">
                <a:latin typeface="Calibri"/>
                <a:cs typeface="Calibri"/>
              </a:rPr>
              <a:t> </a:t>
            </a:r>
            <a:r>
              <a:rPr sz="2400" spc="-15" dirty="0">
                <a:latin typeface="Calibri"/>
                <a:cs typeface="Calibri"/>
              </a:rPr>
              <a:t>strategies</a:t>
            </a:r>
            <a:r>
              <a:rPr sz="2400" spc="-20" dirty="0">
                <a:latin typeface="Calibri"/>
                <a:cs typeface="Calibri"/>
              </a:rPr>
              <a:t> </a:t>
            </a:r>
            <a:r>
              <a:rPr sz="2400" spc="-5" dirty="0">
                <a:latin typeface="Calibri"/>
                <a:cs typeface="Calibri"/>
              </a:rPr>
              <a:t>they</a:t>
            </a:r>
            <a:r>
              <a:rPr sz="2400" spc="-10" dirty="0">
                <a:latin typeface="Calibri"/>
                <a:cs typeface="Calibri"/>
              </a:rPr>
              <a:t> can</a:t>
            </a:r>
            <a:r>
              <a:rPr sz="2400" dirty="0">
                <a:latin typeface="Calibri"/>
                <a:cs typeface="Calibri"/>
              </a:rPr>
              <a:t> </a:t>
            </a:r>
            <a:r>
              <a:rPr sz="2400" spc="-5" dirty="0">
                <a:latin typeface="Calibri"/>
                <a:cs typeface="Calibri"/>
              </a:rPr>
              <a:t>use</a:t>
            </a:r>
            <a:r>
              <a:rPr sz="2400" spc="5" dirty="0">
                <a:latin typeface="Calibri"/>
                <a:cs typeface="Calibri"/>
              </a:rPr>
              <a:t> </a:t>
            </a:r>
            <a:r>
              <a:rPr sz="2400" spc="-15" dirty="0">
                <a:latin typeface="Calibri"/>
                <a:cs typeface="Calibri"/>
              </a:rPr>
              <a:t>to </a:t>
            </a:r>
            <a:r>
              <a:rPr sz="2400" spc="-5" dirty="0">
                <a:latin typeface="Calibri"/>
                <a:cs typeface="Calibri"/>
              </a:rPr>
              <a:t>help</a:t>
            </a:r>
            <a:r>
              <a:rPr sz="2400" dirty="0">
                <a:latin typeface="Calibri"/>
                <a:cs typeface="Calibri"/>
              </a:rPr>
              <a:t> </a:t>
            </a:r>
            <a:r>
              <a:rPr sz="2400" spc="-15" dirty="0">
                <a:latin typeface="Calibri"/>
                <a:cs typeface="Calibri"/>
              </a:rPr>
              <a:t>better</a:t>
            </a:r>
            <a:r>
              <a:rPr sz="2400" spc="-10" dirty="0">
                <a:latin typeface="Calibri"/>
                <a:cs typeface="Calibri"/>
              </a:rPr>
              <a:t> </a:t>
            </a:r>
            <a:r>
              <a:rPr sz="2400" spc="-5" dirty="0">
                <a:latin typeface="Calibri"/>
                <a:cs typeface="Calibri"/>
              </a:rPr>
              <a:t>manage</a:t>
            </a:r>
            <a:endParaRPr sz="2400" dirty="0">
              <a:latin typeface="Calibri"/>
              <a:cs typeface="Calibri"/>
            </a:endParaRPr>
          </a:p>
          <a:p>
            <a:pPr marL="698500">
              <a:lnSpc>
                <a:spcPts val="2735"/>
              </a:lnSpc>
            </a:pPr>
            <a:r>
              <a:rPr sz="2400" dirty="0">
                <a:latin typeface="Calibri"/>
                <a:cs typeface="Calibri"/>
              </a:rPr>
              <a:t>the</a:t>
            </a:r>
            <a:r>
              <a:rPr sz="2400" spc="-25" dirty="0">
                <a:latin typeface="Calibri"/>
                <a:cs typeface="Calibri"/>
              </a:rPr>
              <a:t> </a:t>
            </a:r>
            <a:r>
              <a:rPr sz="2400" spc="-15" dirty="0">
                <a:latin typeface="Calibri"/>
                <a:cs typeface="Calibri"/>
              </a:rPr>
              <a:t>overall</a:t>
            </a:r>
            <a:r>
              <a:rPr sz="2400" spc="-25" dirty="0">
                <a:latin typeface="Calibri"/>
                <a:cs typeface="Calibri"/>
              </a:rPr>
              <a:t> </a:t>
            </a:r>
            <a:r>
              <a:rPr sz="2400" spc="-10" dirty="0">
                <a:latin typeface="Calibri"/>
                <a:cs typeface="Calibri"/>
              </a:rPr>
              <a:t>operation.</a:t>
            </a:r>
            <a:endParaRPr sz="2400" dirty="0">
              <a:latin typeface="Calibri"/>
              <a:cs typeface="Calibri"/>
            </a:endParaRPr>
          </a:p>
          <a:p>
            <a:pPr marL="241300" indent="-228600">
              <a:lnSpc>
                <a:spcPct val="100000"/>
              </a:lnSpc>
              <a:spcBef>
                <a:spcPts val="630"/>
              </a:spcBef>
              <a:buFont typeface="Arial MT"/>
              <a:buChar char="•"/>
              <a:tabLst>
                <a:tab pos="241300" algn="l"/>
              </a:tabLst>
            </a:pPr>
            <a:r>
              <a:rPr sz="2800" spc="-10" dirty="0">
                <a:latin typeface="Calibri"/>
                <a:cs typeface="Calibri"/>
              </a:rPr>
              <a:t>Sets </a:t>
            </a:r>
            <a:r>
              <a:rPr sz="2800" spc="-5" dirty="0">
                <a:latin typeface="Calibri"/>
                <a:cs typeface="Calibri"/>
              </a:rPr>
              <a:t>clear</a:t>
            </a:r>
            <a:r>
              <a:rPr sz="2800" spc="-15" dirty="0">
                <a:latin typeface="Calibri"/>
                <a:cs typeface="Calibri"/>
              </a:rPr>
              <a:t> </a:t>
            </a:r>
            <a:r>
              <a:rPr sz="2800" spc="-5" dirty="0">
                <a:latin typeface="Calibri"/>
                <a:cs typeface="Calibri"/>
              </a:rPr>
              <a:t>guidelines</a:t>
            </a:r>
            <a:endParaRPr sz="2800" dirty="0">
              <a:latin typeface="Calibri"/>
              <a:cs typeface="Calibri"/>
            </a:endParaRPr>
          </a:p>
          <a:p>
            <a:pPr marL="698500" lvl="1" indent="-229235">
              <a:lnSpc>
                <a:spcPts val="2740"/>
              </a:lnSpc>
              <a:spcBef>
                <a:spcPts val="245"/>
              </a:spcBef>
              <a:buFont typeface="Arial MT"/>
              <a:buChar char="•"/>
              <a:tabLst>
                <a:tab pos="699135" algn="l"/>
              </a:tabLst>
            </a:pPr>
            <a:r>
              <a:rPr sz="2400" spc="-5" dirty="0">
                <a:latin typeface="Calibri"/>
                <a:cs typeface="Calibri"/>
              </a:rPr>
              <a:t>Help teams</a:t>
            </a:r>
            <a:r>
              <a:rPr sz="2400" spc="-25" dirty="0">
                <a:latin typeface="Calibri"/>
                <a:cs typeface="Calibri"/>
              </a:rPr>
              <a:t> </a:t>
            </a:r>
            <a:r>
              <a:rPr sz="2400" spc="-5" dirty="0">
                <a:latin typeface="Calibri"/>
                <a:cs typeface="Calibri"/>
              </a:rPr>
              <a:t>manage</a:t>
            </a:r>
            <a:r>
              <a:rPr sz="2400" dirty="0">
                <a:latin typeface="Calibri"/>
                <a:cs typeface="Calibri"/>
              </a:rPr>
              <a:t> their</a:t>
            </a:r>
            <a:r>
              <a:rPr sz="2400" spc="-15" dirty="0">
                <a:latin typeface="Calibri"/>
                <a:cs typeface="Calibri"/>
              </a:rPr>
              <a:t> efforts</a:t>
            </a:r>
            <a:r>
              <a:rPr sz="2400" spc="-20" dirty="0">
                <a:latin typeface="Calibri"/>
                <a:cs typeface="Calibri"/>
              </a:rPr>
              <a:t> </a:t>
            </a:r>
            <a:r>
              <a:rPr sz="2400" spc="-15" dirty="0">
                <a:latin typeface="Calibri"/>
                <a:cs typeface="Calibri"/>
              </a:rPr>
              <a:t>to </a:t>
            </a:r>
            <a:r>
              <a:rPr sz="2400" spc="-5" dirty="0">
                <a:latin typeface="Calibri"/>
                <a:cs typeface="Calibri"/>
              </a:rPr>
              <a:t>ensure</a:t>
            </a:r>
            <a:r>
              <a:rPr sz="2400" spc="10" dirty="0">
                <a:latin typeface="Calibri"/>
                <a:cs typeface="Calibri"/>
              </a:rPr>
              <a:t> </a:t>
            </a:r>
            <a:r>
              <a:rPr sz="2400" spc="-5" dirty="0">
                <a:latin typeface="Calibri"/>
                <a:cs typeface="Calibri"/>
              </a:rPr>
              <a:t>they</a:t>
            </a:r>
            <a:r>
              <a:rPr sz="2400" spc="-10" dirty="0">
                <a:latin typeface="Calibri"/>
                <a:cs typeface="Calibri"/>
              </a:rPr>
              <a:t> </a:t>
            </a:r>
            <a:r>
              <a:rPr sz="2400" dirty="0">
                <a:latin typeface="Calibri"/>
                <a:cs typeface="Calibri"/>
              </a:rPr>
              <a:t>meet</a:t>
            </a:r>
            <a:r>
              <a:rPr sz="2400" spc="-35" dirty="0">
                <a:latin typeface="Calibri"/>
                <a:cs typeface="Calibri"/>
              </a:rPr>
              <a:t> </a:t>
            </a:r>
            <a:r>
              <a:rPr sz="2400" spc="-5" dirty="0">
                <a:latin typeface="Calibri"/>
                <a:cs typeface="Calibri"/>
              </a:rPr>
              <a:t>deadlines</a:t>
            </a:r>
            <a:r>
              <a:rPr sz="2400" spc="5" dirty="0">
                <a:latin typeface="Calibri"/>
                <a:cs typeface="Calibri"/>
              </a:rPr>
              <a:t> </a:t>
            </a:r>
            <a:r>
              <a:rPr sz="2400" dirty="0">
                <a:latin typeface="Calibri"/>
                <a:cs typeface="Calibri"/>
              </a:rPr>
              <a:t>and </a:t>
            </a:r>
            <a:r>
              <a:rPr sz="2400" spc="-30" dirty="0">
                <a:latin typeface="Calibri"/>
                <a:cs typeface="Calibri"/>
              </a:rPr>
              <a:t>stay</a:t>
            </a:r>
            <a:endParaRPr sz="2400" dirty="0">
              <a:latin typeface="Calibri"/>
              <a:cs typeface="Calibri"/>
            </a:endParaRPr>
          </a:p>
          <a:p>
            <a:pPr marL="698500">
              <a:lnSpc>
                <a:spcPts val="2740"/>
              </a:lnSpc>
            </a:pPr>
            <a:r>
              <a:rPr sz="2400" dirty="0">
                <a:latin typeface="Calibri"/>
                <a:cs typeface="Calibri"/>
              </a:rPr>
              <a:t>within</a:t>
            </a:r>
            <a:r>
              <a:rPr sz="2400" spc="-35" dirty="0">
                <a:latin typeface="Calibri"/>
                <a:cs typeface="Calibri"/>
              </a:rPr>
              <a:t> </a:t>
            </a:r>
            <a:r>
              <a:rPr sz="2400" dirty="0">
                <a:latin typeface="Calibri"/>
                <a:cs typeface="Calibri"/>
              </a:rPr>
              <a:t>the</a:t>
            </a:r>
            <a:r>
              <a:rPr sz="2400" spc="-25" dirty="0">
                <a:latin typeface="Calibri"/>
                <a:cs typeface="Calibri"/>
              </a:rPr>
              <a:t> </a:t>
            </a:r>
            <a:r>
              <a:rPr sz="2400" spc="-10" dirty="0">
                <a:latin typeface="Calibri"/>
                <a:cs typeface="Calibri"/>
              </a:rPr>
              <a:t>budget.</a:t>
            </a:r>
            <a:endParaRPr sz="2400" dirty="0">
              <a:latin typeface="Calibri"/>
              <a:cs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dirty="0"/>
              <a:t>Eng.</a:t>
            </a:r>
            <a:r>
              <a:rPr spc="-55" dirty="0"/>
              <a:t> </a:t>
            </a:r>
            <a:r>
              <a:rPr dirty="0"/>
              <a:t>Asmaa</a:t>
            </a:r>
            <a:r>
              <a:rPr spc="-25" dirty="0"/>
              <a:t> </a:t>
            </a:r>
            <a:r>
              <a:rPr spc="-5" dirty="0"/>
              <a:t>Lafi</a:t>
            </a:r>
          </a:p>
        </p:txBody>
      </p:sp>
      <p:sp>
        <p:nvSpPr>
          <p:cNvPr id="2" name="object 2"/>
          <p:cNvSpPr txBox="1">
            <a:spLocks noGrp="1"/>
          </p:cNvSpPr>
          <p:nvPr>
            <p:ph type="title"/>
          </p:nvPr>
        </p:nvSpPr>
        <p:spPr>
          <a:xfrm>
            <a:off x="916939" y="609676"/>
            <a:ext cx="7673340" cy="697230"/>
          </a:xfrm>
          <a:prstGeom prst="rect">
            <a:avLst/>
          </a:prstGeom>
        </p:spPr>
        <p:txBody>
          <a:bodyPr vert="horz" wrap="square" lIns="0" tIns="13335" rIns="0" bIns="0" rtlCol="0">
            <a:spAutoFit/>
          </a:bodyPr>
          <a:lstStyle/>
          <a:p>
            <a:pPr marL="12700">
              <a:lnSpc>
                <a:spcPct val="100000"/>
              </a:lnSpc>
              <a:spcBef>
                <a:spcPts val="105"/>
              </a:spcBef>
            </a:pPr>
            <a:r>
              <a:rPr sz="4400" spc="-50" dirty="0"/>
              <a:t>Disadvantages</a:t>
            </a:r>
            <a:r>
              <a:rPr sz="4400" spc="-90" dirty="0"/>
              <a:t> </a:t>
            </a:r>
            <a:r>
              <a:rPr sz="4400" spc="-15" dirty="0"/>
              <a:t>of</a:t>
            </a:r>
            <a:r>
              <a:rPr sz="4400" spc="-70" dirty="0"/>
              <a:t> </a:t>
            </a:r>
            <a:r>
              <a:rPr sz="4400" spc="-20" dirty="0"/>
              <a:t>the</a:t>
            </a:r>
            <a:r>
              <a:rPr sz="4400" spc="-90" dirty="0"/>
              <a:t> </a:t>
            </a:r>
            <a:r>
              <a:rPr sz="4400" spc="-25" dirty="0"/>
              <a:t>DSDM</a:t>
            </a:r>
            <a:r>
              <a:rPr sz="4400" spc="-130" dirty="0"/>
              <a:t> </a:t>
            </a:r>
            <a:r>
              <a:rPr sz="4400" spc="-35" dirty="0"/>
              <a:t>Model</a:t>
            </a:r>
            <a:endParaRPr sz="4400"/>
          </a:p>
        </p:txBody>
      </p:sp>
      <p:sp>
        <p:nvSpPr>
          <p:cNvPr id="3" name="object 3"/>
          <p:cNvSpPr txBox="1"/>
          <p:nvPr/>
        </p:nvSpPr>
        <p:spPr>
          <a:xfrm>
            <a:off x="916939" y="1759435"/>
            <a:ext cx="10347960" cy="2920415"/>
          </a:xfrm>
          <a:prstGeom prst="rect">
            <a:avLst/>
          </a:prstGeom>
        </p:spPr>
        <p:txBody>
          <a:bodyPr vert="horz" wrap="square" lIns="0" tIns="51435" rIns="0" bIns="0" rtlCol="0">
            <a:spAutoFit/>
          </a:bodyPr>
          <a:lstStyle/>
          <a:p>
            <a:pPr marL="241300" indent="-228600">
              <a:lnSpc>
                <a:spcPct val="100000"/>
              </a:lnSpc>
              <a:spcBef>
                <a:spcPts val="405"/>
              </a:spcBef>
              <a:buFont typeface="Arial MT"/>
              <a:buChar char="•"/>
              <a:tabLst>
                <a:tab pos="241300" algn="l"/>
              </a:tabLst>
            </a:pPr>
            <a:r>
              <a:rPr sz="2600" spc="-10" dirty="0">
                <a:latin typeface="Calibri"/>
                <a:cs typeface="Calibri"/>
              </a:rPr>
              <a:t>Requires</a:t>
            </a:r>
            <a:r>
              <a:rPr sz="2600" spc="-60" dirty="0">
                <a:latin typeface="Calibri"/>
                <a:cs typeface="Calibri"/>
              </a:rPr>
              <a:t> </a:t>
            </a:r>
            <a:r>
              <a:rPr sz="2600" spc="-5" dirty="0">
                <a:latin typeface="Calibri"/>
                <a:cs typeface="Calibri"/>
              </a:rPr>
              <a:t>resources</a:t>
            </a:r>
            <a:endParaRPr sz="2600" dirty="0">
              <a:latin typeface="Calibri"/>
              <a:cs typeface="Calibri"/>
            </a:endParaRPr>
          </a:p>
          <a:p>
            <a:pPr marL="698500" marR="48260" lvl="1" indent="-228600">
              <a:lnSpc>
                <a:spcPct val="90100"/>
              </a:lnSpc>
              <a:spcBef>
                <a:spcPts val="520"/>
              </a:spcBef>
              <a:buFont typeface="Arial MT"/>
              <a:buChar char="•"/>
              <a:tabLst>
                <a:tab pos="698500" algn="l"/>
                <a:tab pos="699135" algn="l"/>
              </a:tabLst>
            </a:pPr>
            <a:r>
              <a:rPr sz="2200" spc="-5" dirty="0">
                <a:latin typeface="Calibri"/>
                <a:cs typeface="Calibri"/>
              </a:rPr>
              <a:t>Can be</a:t>
            </a:r>
            <a:r>
              <a:rPr sz="2200" dirty="0">
                <a:latin typeface="Calibri"/>
                <a:cs typeface="Calibri"/>
              </a:rPr>
              <a:t> </a:t>
            </a:r>
            <a:r>
              <a:rPr sz="2200" spc="-10" dirty="0">
                <a:latin typeface="Calibri"/>
                <a:cs typeface="Calibri"/>
              </a:rPr>
              <a:t>costly</a:t>
            </a:r>
            <a:r>
              <a:rPr sz="2200" dirty="0">
                <a:latin typeface="Calibri"/>
                <a:cs typeface="Calibri"/>
              </a:rPr>
              <a:t> </a:t>
            </a:r>
            <a:r>
              <a:rPr sz="2200" spc="-20" dirty="0">
                <a:latin typeface="Calibri"/>
                <a:cs typeface="Calibri"/>
              </a:rPr>
              <a:t>to</a:t>
            </a:r>
            <a:r>
              <a:rPr sz="2200" spc="20" dirty="0">
                <a:latin typeface="Calibri"/>
                <a:cs typeface="Calibri"/>
              </a:rPr>
              <a:t> </a:t>
            </a:r>
            <a:r>
              <a:rPr sz="2200" spc="-10" dirty="0">
                <a:latin typeface="Calibri"/>
                <a:cs typeface="Calibri"/>
              </a:rPr>
              <a:t>implement.</a:t>
            </a:r>
            <a:r>
              <a:rPr sz="2200" spc="25" dirty="0">
                <a:latin typeface="Calibri"/>
                <a:cs typeface="Calibri"/>
              </a:rPr>
              <a:t> </a:t>
            </a:r>
            <a:r>
              <a:rPr sz="2200" spc="-5" dirty="0">
                <a:latin typeface="Calibri"/>
                <a:cs typeface="Calibri"/>
              </a:rPr>
              <a:t>Although</a:t>
            </a:r>
            <a:r>
              <a:rPr sz="2200" spc="5" dirty="0">
                <a:latin typeface="Calibri"/>
                <a:cs typeface="Calibri"/>
              </a:rPr>
              <a:t> </a:t>
            </a:r>
            <a:r>
              <a:rPr sz="2200" spc="-5" dirty="0">
                <a:latin typeface="Calibri"/>
                <a:cs typeface="Calibri"/>
              </a:rPr>
              <a:t>it</a:t>
            </a:r>
            <a:r>
              <a:rPr sz="2200" spc="5" dirty="0">
                <a:latin typeface="Calibri"/>
                <a:cs typeface="Calibri"/>
              </a:rPr>
              <a:t> </a:t>
            </a:r>
            <a:r>
              <a:rPr sz="2200" spc="-10" dirty="0">
                <a:latin typeface="Calibri"/>
                <a:cs typeface="Calibri"/>
              </a:rPr>
              <a:t>requires </a:t>
            </a:r>
            <a:r>
              <a:rPr sz="2200" spc="-5" dirty="0">
                <a:latin typeface="Calibri"/>
                <a:cs typeface="Calibri"/>
              </a:rPr>
              <a:t>an</a:t>
            </a:r>
            <a:r>
              <a:rPr sz="2200" dirty="0">
                <a:latin typeface="Calibri"/>
                <a:cs typeface="Calibri"/>
              </a:rPr>
              <a:t> </a:t>
            </a:r>
            <a:r>
              <a:rPr sz="2200" spc="-15" dirty="0">
                <a:latin typeface="Calibri"/>
                <a:cs typeface="Calibri"/>
              </a:rPr>
              <a:t>investment</a:t>
            </a:r>
            <a:r>
              <a:rPr sz="2200" spc="25" dirty="0">
                <a:latin typeface="Calibri"/>
                <a:cs typeface="Calibri"/>
              </a:rPr>
              <a:t> </a:t>
            </a:r>
            <a:r>
              <a:rPr sz="2200" spc="-20" dirty="0">
                <a:latin typeface="Calibri"/>
                <a:cs typeface="Calibri"/>
              </a:rPr>
              <a:t>to</a:t>
            </a:r>
            <a:r>
              <a:rPr sz="2200" spc="15" dirty="0">
                <a:latin typeface="Calibri"/>
                <a:cs typeface="Calibri"/>
              </a:rPr>
              <a:t> </a:t>
            </a:r>
            <a:r>
              <a:rPr sz="2200" spc="-10" dirty="0">
                <a:latin typeface="Calibri"/>
                <a:cs typeface="Calibri"/>
              </a:rPr>
              <a:t>implement,</a:t>
            </a:r>
            <a:r>
              <a:rPr sz="2200" spc="30" dirty="0">
                <a:latin typeface="Calibri"/>
                <a:cs typeface="Calibri"/>
              </a:rPr>
              <a:t> </a:t>
            </a:r>
            <a:r>
              <a:rPr sz="2200" spc="-5" dirty="0">
                <a:latin typeface="Calibri"/>
                <a:cs typeface="Calibri"/>
              </a:rPr>
              <a:t>it</a:t>
            </a:r>
            <a:r>
              <a:rPr sz="2200" spc="5" dirty="0">
                <a:latin typeface="Calibri"/>
                <a:cs typeface="Calibri"/>
              </a:rPr>
              <a:t> </a:t>
            </a:r>
            <a:r>
              <a:rPr sz="2200" spc="-15" dirty="0">
                <a:latin typeface="Calibri"/>
                <a:cs typeface="Calibri"/>
              </a:rPr>
              <a:t>may </a:t>
            </a:r>
            <a:r>
              <a:rPr sz="2200" spc="-480" dirty="0">
                <a:latin typeface="Calibri"/>
                <a:cs typeface="Calibri"/>
              </a:rPr>
              <a:t> </a:t>
            </a:r>
            <a:r>
              <a:rPr sz="2200" spc="-5" dirty="0">
                <a:latin typeface="Calibri"/>
                <a:cs typeface="Calibri"/>
              </a:rPr>
              <a:t>also</a:t>
            </a:r>
            <a:r>
              <a:rPr sz="2200" dirty="0">
                <a:latin typeface="Calibri"/>
                <a:cs typeface="Calibri"/>
              </a:rPr>
              <a:t> </a:t>
            </a:r>
            <a:r>
              <a:rPr sz="2200" spc="-20" dirty="0">
                <a:latin typeface="Calibri"/>
                <a:cs typeface="Calibri"/>
              </a:rPr>
              <a:t>save</a:t>
            </a:r>
            <a:r>
              <a:rPr sz="2200" spc="5" dirty="0">
                <a:latin typeface="Calibri"/>
                <a:cs typeface="Calibri"/>
              </a:rPr>
              <a:t> </a:t>
            </a:r>
            <a:r>
              <a:rPr sz="2200" spc="-5" dirty="0">
                <a:latin typeface="Calibri"/>
                <a:cs typeface="Calibri"/>
              </a:rPr>
              <a:t>an </a:t>
            </a:r>
            <a:r>
              <a:rPr sz="2200" spc="-15" dirty="0">
                <a:latin typeface="Calibri"/>
                <a:cs typeface="Calibri"/>
              </a:rPr>
              <a:t>organization</a:t>
            </a:r>
            <a:r>
              <a:rPr sz="2200" spc="-20" dirty="0">
                <a:latin typeface="Calibri"/>
                <a:cs typeface="Calibri"/>
              </a:rPr>
              <a:t> </a:t>
            </a:r>
            <a:r>
              <a:rPr sz="2200" spc="-10" dirty="0">
                <a:latin typeface="Calibri"/>
                <a:cs typeface="Calibri"/>
              </a:rPr>
              <a:t>money</a:t>
            </a:r>
            <a:r>
              <a:rPr sz="2200" spc="25" dirty="0">
                <a:latin typeface="Calibri"/>
                <a:cs typeface="Calibri"/>
              </a:rPr>
              <a:t> </a:t>
            </a:r>
            <a:r>
              <a:rPr sz="2200" spc="-10" dirty="0">
                <a:latin typeface="Calibri"/>
                <a:cs typeface="Calibri"/>
              </a:rPr>
              <a:t>by</a:t>
            </a:r>
            <a:r>
              <a:rPr sz="2200" spc="10" dirty="0">
                <a:latin typeface="Calibri"/>
                <a:cs typeface="Calibri"/>
              </a:rPr>
              <a:t> </a:t>
            </a:r>
            <a:r>
              <a:rPr sz="2200" spc="-10" dirty="0">
                <a:latin typeface="Calibri"/>
                <a:cs typeface="Calibri"/>
              </a:rPr>
              <a:t>encouraging</a:t>
            </a:r>
            <a:r>
              <a:rPr sz="2200" spc="-5" dirty="0">
                <a:latin typeface="Calibri"/>
                <a:cs typeface="Calibri"/>
              </a:rPr>
              <a:t> </a:t>
            </a:r>
            <a:r>
              <a:rPr sz="2200" spc="-10" dirty="0">
                <a:latin typeface="Calibri"/>
                <a:cs typeface="Calibri"/>
              </a:rPr>
              <a:t>teams</a:t>
            </a:r>
            <a:r>
              <a:rPr sz="2200" spc="25" dirty="0">
                <a:latin typeface="Calibri"/>
                <a:cs typeface="Calibri"/>
              </a:rPr>
              <a:t> </a:t>
            </a:r>
            <a:r>
              <a:rPr sz="2200" spc="-20" dirty="0">
                <a:latin typeface="Calibri"/>
                <a:cs typeface="Calibri"/>
              </a:rPr>
              <a:t>to</a:t>
            </a:r>
            <a:r>
              <a:rPr sz="2200" spc="10" dirty="0">
                <a:latin typeface="Calibri"/>
                <a:cs typeface="Calibri"/>
              </a:rPr>
              <a:t> </a:t>
            </a:r>
            <a:r>
              <a:rPr sz="2200" spc="-10" dirty="0">
                <a:latin typeface="Calibri"/>
                <a:cs typeface="Calibri"/>
              </a:rPr>
              <a:t>work</a:t>
            </a:r>
            <a:r>
              <a:rPr sz="2200" spc="5" dirty="0">
                <a:latin typeface="Calibri"/>
                <a:cs typeface="Calibri"/>
              </a:rPr>
              <a:t> </a:t>
            </a:r>
            <a:r>
              <a:rPr sz="2200" spc="-15" dirty="0">
                <a:latin typeface="Calibri"/>
                <a:cs typeface="Calibri"/>
              </a:rPr>
              <a:t>efficiently</a:t>
            </a:r>
            <a:r>
              <a:rPr sz="2200" spc="25" dirty="0">
                <a:latin typeface="Calibri"/>
                <a:cs typeface="Calibri"/>
              </a:rPr>
              <a:t> </a:t>
            </a:r>
            <a:r>
              <a:rPr sz="2200" spc="-5" dirty="0">
                <a:latin typeface="Calibri"/>
                <a:cs typeface="Calibri"/>
              </a:rPr>
              <a:t>and </a:t>
            </a:r>
            <a:r>
              <a:rPr sz="2200" dirty="0">
                <a:latin typeface="Calibri"/>
                <a:cs typeface="Calibri"/>
              </a:rPr>
              <a:t> </a:t>
            </a:r>
            <a:r>
              <a:rPr sz="2200" spc="-10" dirty="0">
                <a:latin typeface="Calibri"/>
                <a:cs typeface="Calibri"/>
              </a:rPr>
              <a:t>reducing </a:t>
            </a:r>
            <a:r>
              <a:rPr sz="2200" spc="-15" dirty="0">
                <a:latin typeface="Calibri"/>
                <a:cs typeface="Calibri"/>
              </a:rPr>
              <a:t>time-to-market</a:t>
            </a:r>
            <a:r>
              <a:rPr sz="2200" spc="50" dirty="0">
                <a:latin typeface="Calibri"/>
                <a:cs typeface="Calibri"/>
              </a:rPr>
              <a:t> </a:t>
            </a:r>
            <a:r>
              <a:rPr sz="2200" spc="-15" dirty="0">
                <a:latin typeface="Calibri"/>
                <a:cs typeface="Calibri"/>
              </a:rPr>
              <a:t>for</a:t>
            </a:r>
            <a:r>
              <a:rPr sz="2200" spc="5" dirty="0">
                <a:latin typeface="Calibri"/>
                <a:cs typeface="Calibri"/>
              </a:rPr>
              <a:t> </a:t>
            </a:r>
            <a:r>
              <a:rPr sz="2200" spc="-10" dirty="0">
                <a:latin typeface="Calibri"/>
                <a:cs typeface="Calibri"/>
              </a:rPr>
              <a:t>products.</a:t>
            </a:r>
            <a:endParaRPr sz="2200" dirty="0">
              <a:latin typeface="Calibri"/>
              <a:cs typeface="Calibri"/>
            </a:endParaRPr>
          </a:p>
          <a:p>
            <a:pPr marL="241300" indent="-228600">
              <a:lnSpc>
                <a:spcPct val="100000"/>
              </a:lnSpc>
              <a:spcBef>
                <a:spcPts val="665"/>
              </a:spcBef>
              <a:buFont typeface="Arial MT"/>
              <a:buChar char="•"/>
              <a:tabLst>
                <a:tab pos="241300" algn="l"/>
              </a:tabLst>
            </a:pPr>
            <a:r>
              <a:rPr sz="2600" spc="-5" dirty="0">
                <a:latin typeface="Calibri"/>
                <a:cs typeface="Calibri"/>
              </a:rPr>
              <a:t>Minimizes</a:t>
            </a:r>
            <a:r>
              <a:rPr sz="2600" spc="-55" dirty="0">
                <a:latin typeface="Calibri"/>
                <a:cs typeface="Calibri"/>
              </a:rPr>
              <a:t> </a:t>
            </a:r>
            <a:r>
              <a:rPr sz="2600" spc="-5" dirty="0">
                <a:latin typeface="Calibri"/>
                <a:cs typeface="Calibri"/>
              </a:rPr>
              <a:t>creativity</a:t>
            </a:r>
            <a:endParaRPr sz="2600" dirty="0">
              <a:latin typeface="Calibri"/>
              <a:cs typeface="Calibri"/>
            </a:endParaRPr>
          </a:p>
          <a:p>
            <a:pPr marL="698500" marR="364490" lvl="1" indent="-228600">
              <a:lnSpc>
                <a:spcPts val="2380"/>
              </a:lnSpc>
              <a:spcBef>
                <a:spcPts val="555"/>
              </a:spcBef>
              <a:buFont typeface="Arial MT"/>
              <a:buChar char="•"/>
              <a:tabLst>
                <a:tab pos="762635" algn="l"/>
                <a:tab pos="763270" algn="l"/>
              </a:tabLst>
            </a:pPr>
            <a:r>
              <a:rPr dirty="0"/>
              <a:t>	</a:t>
            </a:r>
            <a:r>
              <a:rPr sz="2200" spc="-5" dirty="0">
                <a:latin typeface="Calibri"/>
                <a:cs typeface="Calibri"/>
              </a:rPr>
              <a:t>It </a:t>
            </a:r>
            <a:r>
              <a:rPr sz="2200" spc="-15" dirty="0">
                <a:latin typeface="Calibri"/>
                <a:cs typeface="Calibri"/>
              </a:rPr>
              <a:t>encourages</a:t>
            </a:r>
            <a:r>
              <a:rPr sz="2200" spc="25" dirty="0">
                <a:latin typeface="Calibri"/>
                <a:cs typeface="Calibri"/>
              </a:rPr>
              <a:t> </a:t>
            </a:r>
            <a:r>
              <a:rPr sz="2200" spc="-10" dirty="0">
                <a:latin typeface="Calibri"/>
                <a:cs typeface="Calibri"/>
              </a:rPr>
              <a:t>developers</a:t>
            </a:r>
            <a:r>
              <a:rPr sz="2200" spc="10" dirty="0">
                <a:latin typeface="Calibri"/>
                <a:cs typeface="Calibri"/>
              </a:rPr>
              <a:t> </a:t>
            </a:r>
            <a:r>
              <a:rPr sz="2200" spc="-20" dirty="0">
                <a:latin typeface="Calibri"/>
                <a:cs typeface="Calibri"/>
              </a:rPr>
              <a:t>to</a:t>
            </a:r>
            <a:r>
              <a:rPr sz="2200" spc="5" dirty="0">
                <a:latin typeface="Calibri"/>
                <a:cs typeface="Calibri"/>
              </a:rPr>
              <a:t> </a:t>
            </a:r>
            <a:r>
              <a:rPr sz="2200" spc="-10" dirty="0">
                <a:latin typeface="Calibri"/>
                <a:cs typeface="Calibri"/>
              </a:rPr>
              <a:t>work</a:t>
            </a:r>
            <a:r>
              <a:rPr sz="2200" spc="5" dirty="0">
                <a:latin typeface="Calibri"/>
                <a:cs typeface="Calibri"/>
              </a:rPr>
              <a:t> </a:t>
            </a:r>
            <a:r>
              <a:rPr sz="2200" spc="-30" dirty="0">
                <a:latin typeface="Calibri"/>
                <a:cs typeface="Calibri"/>
              </a:rPr>
              <a:t>quickly,</a:t>
            </a:r>
            <a:r>
              <a:rPr sz="2200" spc="5" dirty="0">
                <a:latin typeface="Calibri"/>
                <a:cs typeface="Calibri"/>
              </a:rPr>
              <a:t> </a:t>
            </a:r>
            <a:r>
              <a:rPr sz="2200" spc="-5" dirty="0">
                <a:latin typeface="Calibri"/>
                <a:cs typeface="Calibri"/>
              </a:rPr>
              <a:t>it</a:t>
            </a:r>
            <a:r>
              <a:rPr sz="2200" dirty="0">
                <a:latin typeface="Calibri"/>
                <a:cs typeface="Calibri"/>
              </a:rPr>
              <a:t> </a:t>
            </a:r>
            <a:r>
              <a:rPr sz="2200" spc="-15" dirty="0">
                <a:latin typeface="Calibri"/>
                <a:cs typeface="Calibri"/>
              </a:rPr>
              <a:t>may</a:t>
            </a:r>
            <a:r>
              <a:rPr sz="2200" spc="10" dirty="0">
                <a:latin typeface="Calibri"/>
                <a:cs typeface="Calibri"/>
              </a:rPr>
              <a:t> </a:t>
            </a:r>
            <a:r>
              <a:rPr sz="2200" spc="-5" dirty="0">
                <a:latin typeface="Calibri"/>
                <a:cs typeface="Calibri"/>
              </a:rPr>
              <a:t>limit</a:t>
            </a:r>
            <a:r>
              <a:rPr sz="2200" dirty="0">
                <a:latin typeface="Calibri"/>
                <a:cs typeface="Calibri"/>
              </a:rPr>
              <a:t> </a:t>
            </a:r>
            <a:r>
              <a:rPr sz="2200" spc="-5" dirty="0">
                <a:latin typeface="Calibri"/>
                <a:cs typeface="Calibri"/>
              </a:rPr>
              <a:t>risk-taking.</a:t>
            </a:r>
            <a:r>
              <a:rPr sz="2200" spc="-10" dirty="0">
                <a:latin typeface="Calibri"/>
                <a:cs typeface="Calibri"/>
              </a:rPr>
              <a:t> The</a:t>
            </a:r>
            <a:r>
              <a:rPr sz="2200" spc="15" dirty="0">
                <a:latin typeface="Calibri"/>
                <a:cs typeface="Calibri"/>
              </a:rPr>
              <a:t> </a:t>
            </a:r>
            <a:r>
              <a:rPr sz="2200" spc="-15" dirty="0">
                <a:latin typeface="Calibri"/>
                <a:cs typeface="Calibri"/>
              </a:rPr>
              <a:t>focus</a:t>
            </a:r>
            <a:r>
              <a:rPr sz="2200" dirty="0">
                <a:latin typeface="Calibri"/>
                <a:cs typeface="Calibri"/>
              </a:rPr>
              <a:t> </a:t>
            </a:r>
            <a:r>
              <a:rPr sz="2200" spc="-10" dirty="0">
                <a:latin typeface="Calibri"/>
                <a:cs typeface="Calibri"/>
              </a:rPr>
              <a:t>on </a:t>
            </a:r>
            <a:r>
              <a:rPr sz="2200" spc="-5" dirty="0">
                <a:latin typeface="Calibri"/>
                <a:cs typeface="Calibri"/>
              </a:rPr>
              <a:t> </a:t>
            </a:r>
            <a:r>
              <a:rPr sz="2200" spc="-20" dirty="0">
                <a:latin typeface="Calibri"/>
                <a:cs typeface="Calibri"/>
              </a:rPr>
              <a:t>iterative</a:t>
            </a:r>
            <a:r>
              <a:rPr sz="2200" spc="5" dirty="0">
                <a:latin typeface="Calibri"/>
                <a:cs typeface="Calibri"/>
              </a:rPr>
              <a:t> </a:t>
            </a:r>
            <a:r>
              <a:rPr sz="2200" spc="-10" dirty="0">
                <a:latin typeface="Calibri"/>
                <a:cs typeface="Calibri"/>
              </a:rPr>
              <a:t>development</a:t>
            </a:r>
            <a:r>
              <a:rPr sz="2200" spc="30" dirty="0">
                <a:latin typeface="Calibri"/>
                <a:cs typeface="Calibri"/>
              </a:rPr>
              <a:t> </a:t>
            </a:r>
            <a:r>
              <a:rPr sz="2200" spc="-15" dirty="0">
                <a:latin typeface="Calibri"/>
                <a:cs typeface="Calibri"/>
              </a:rPr>
              <a:t>may</a:t>
            </a:r>
            <a:r>
              <a:rPr sz="2200" spc="15" dirty="0">
                <a:latin typeface="Calibri"/>
                <a:cs typeface="Calibri"/>
              </a:rPr>
              <a:t> </a:t>
            </a:r>
            <a:r>
              <a:rPr sz="2200" spc="-5" dirty="0">
                <a:latin typeface="Calibri"/>
                <a:cs typeface="Calibri"/>
              </a:rPr>
              <a:t>allow</a:t>
            </a:r>
            <a:r>
              <a:rPr sz="2200" dirty="0">
                <a:latin typeface="Calibri"/>
                <a:cs typeface="Calibri"/>
              </a:rPr>
              <a:t> </a:t>
            </a:r>
            <a:r>
              <a:rPr sz="2200" spc="-10" dirty="0">
                <a:latin typeface="Calibri"/>
                <a:cs typeface="Calibri"/>
              </a:rPr>
              <a:t>professionals</a:t>
            </a:r>
            <a:r>
              <a:rPr sz="2200" spc="5" dirty="0">
                <a:latin typeface="Calibri"/>
                <a:cs typeface="Calibri"/>
              </a:rPr>
              <a:t> </a:t>
            </a:r>
            <a:r>
              <a:rPr sz="2200" spc="-20" dirty="0">
                <a:latin typeface="Calibri"/>
                <a:cs typeface="Calibri"/>
              </a:rPr>
              <a:t>to</a:t>
            </a:r>
            <a:r>
              <a:rPr sz="2200" spc="15" dirty="0">
                <a:latin typeface="Calibri"/>
                <a:cs typeface="Calibri"/>
              </a:rPr>
              <a:t> </a:t>
            </a:r>
            <a:r>
              <a:rPr sz="2200" spc="-10" dirty="0">
                <a:latin typeface="Calibri"/>
                <a:cs typeface="Calibri"/>
              </a:rPr>
              <a:t>revisit</a:t>
            </a:r>
            <a:r>
              <a:rPr sz="2200" spc="-20" dirty="0">
                <a:latin typeface="Calibri"/>
                <a:cs typeface="Calibri"/>
              </a:rPr>
              <a:t> </a:t>
            </a:r>
            <a:r>
              <a:rPr sz="2200" spc="-5" dirty="0">
                <a:latin typeface="Calibri"/>
                <a:cs typeface="Calibri"/>
              </a:rPr>
              <a:t>their</a:t>
            </a:r>
            <a:r>
              <a:rPr sz="2200" spc="10" dirty="0">
                <a:latin typeface="Calibri"/>
                <a:cs typeface="Calibri"/>
              </a:rPr>
              <a:t> </a:t>
            </a:r>
            <a:r>
              <a:rPr sz="2200" spc="-10" dirty="0">
                <a:latin typeface="Calibri"/>
                <a:cs typeface="Calibri"/>
              </a:rPr>
              <a:t>work</a:t>
            </a:r>
            <a:r>
              <a:rPr sz="2200" spc="10" dirty="0">
                <a:latin typeface="Calibri"/>
                <a:cs typeface="Calibri"/>
              </a:rPr>
              <a:t> </a:t>
            </a:r>
            <a:r>
              <a:rPr sz="2200" spc="-15" dirty="0">
                <a:latin typeface="Calibri"/>
                <a:cs typeface="Calibri"/>
              </a:rPr>
              <a:t>to</a:t>
            </a:r>
            <a:r>
              <a:rPr sz="2200" spc="10" dirty="0">
                <a:latin typeface="Calibri"/>
                <a:cs typeface="Calibri"/>
              </a:rPr>
              <a:t> </a:t>
            </a:r>
            <a:r>
              <a:rPr sz="2200" spc="-10" dirty="0">
                <a:latin typeface="Calibri"/>
                <a:cs typeface="Calibri"/>
              </a:rPr>
              <a:t>infuse</a:t>
            </a:r>
            <a:r>
              <a:rPr sz="2200" spc="5" dirty="0">
                <a:latin typeface="Calibri"/>
                <a:cs typeface="Calibri"/>
              </a:rPr>
              <a:t> </a:t>
            </a:r>
            <a:r>
              <a:rPr sz="2200" spc="-10" dirty="0">
                <a:latin typeface="Calibri"/>
                <a:cs typeface="Calibri"/>
              </a:rPr>
              <a:t>more </a:t>
            </a:r>
            <a:r>
              <a:rPr sz="2200" spc="-480" dirty="0">
                <a:latin typeface="Calibri"/>
                <a:cs typeface="Calibri"/>
              </a:rPr>
              <a:t> </a:t>
            </a:r>
            <a:r>
              <a:rPr sz="2200" spc="-10" dirty="0">
                <a:latin typeface="Calibri"/>
                <a:cs typeface="Calibri"/>
              </a:rPr>
              <a:t>unique, </a:t>
            </a:r>
            <a:r>
              <a:rPr sz="2200" spc="-15" dirty="0">
                <a:latin typeface="Calibri"/>
                <a:cs typeface="Calibri"/>
              </a:rPr>
              <a:t>creative</a:t>
            </a:r>
            <a:r>
              <a:rPr sz="2200" dirty="0">
                <a:latin typeface="Calibri"/>
                <a:cs typeface="Calibri"/>
              </a:rPr>
              <a:t> </a:t>
            </a:r>
            <a:r>
              <a:rPr sz="2200" spc="-10" dirty="0">
                <a:latin typeface="Calibri"/>
                <a:cs typeface="Calibri"/>
              </a:rPr>
              <a:t>elements</a:t>
            </a:r>
            <a:r>
              <a:rPr sz="2200" spc="25" dirty="0">
                <a:latin typeface="Calibri"/>
                <a:cs typeface="Calibri"/>
              </a:rPr>
              <a:t> </a:t>
            </a:r>
            <a:r>
              <a:rPr sz="2200" spc="-50" dirty="0">
                <a:latin typeface="Calibri"/>
                <a:cs typeface="Calibri"/>
              </a:rPr>
              <a:t>later.</a:t>
            </a:r>
            <a:endParaRPr sz="2200" dirty="0">
              <a:latin typeface="Calibri"/>
              <a:cs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C3CD0-B9EA-FE32-B3F6-1476ED169E83}"/>
              </a:ext>
            </a:extLst>
          </p:cNvPr>
          <p:cNvSpPr>
            <a:spLocks noGrp="1"/>
          </p:cNvSpPr>
          <p:nvPr>
            <p:ph type="title"/>
          </p:nvPr>
        </p:nvSpPr>
        <p:spPr>
          <a:xfrm>
            <a:off x="1122375" y="381000"/>
            <a:ext cx="5850890" cy="756919"/>
          </a:xfrm>
        </p:spPr>
        <p:txBody>
          <a:bodyPr/>
          <a:lstStyle/>
          <a:p>
            <a:r>
              <a:rPr lang="en-US" dirty="0"/>
              <a:t>Scrum</a:t>
            </a:r>
          </a:p>
        </p:txBody>
      </p:sp>
      <p:sp>
        <p:nvSpPr>
          <p:cNvPr id="3" name="Text Placeholder 2">
            <a:extLst>
              <a:ext uri="{FF2B5EF4-FFF2-40B4-BE49-F238E27FC236}">
                <a16:creationId xmlns:a16="http://schemas.microsoft.com/office/drawing/2014/main" id="{B135E751-B78F-1071-F3EE-1B4501342E83}"/>
              </a:ext>
            </a:extLst>
          </p:cNvPr>
          <p:cNvSpPr>
            <a:spLocks noGrp="1"/>
          </p:cNvSpPr>
          <p:nvPr>
            <p:ph type="body" idx="1"/>
          </p:nvPr>
        </p:nvSpPr>
        <p:spPr>
          <a:xfrm>
            <a:off x="899160" y="1261694"/>
            <a:ext cx="10393679" cy="3831818"/>
          </a:xfrm>
        </p:spPr>
        <p:txBody>
          <a:bodyPr/>
          <a:lstStyle/>
          <a:p>
            <a:pPr marL="342900" indent="-342900">
              <a:buFont typeface="Arial" panose="020B0604020202020204" pitchFamily="34" charset="0"/>
              <a:buChar char="•"/>
            </a:pPr>
            <a:r>
              <a:rPr lang="en-US" sz="2200" kern="1200" spc="-5" dirty="0"/>
              <a:t>Scrum entails an iterative approach to project management. The Scrum methodology prescribes breaking a project down into sprints that typically only last one to four weeks. Each sprint ends with the completion of a workable version or draft of the final project deliverable.</a:t>
            </a:r>
          </a:p>
          <a:p>
            <a:pPr marL="342900" indent="-342900">
              <a:buFont typeface="Arial" panose="020B0604020202020204" pitchFamily="34" charset="0"/>
              <a:buChar char="•"/>
            </a:pPr>
            <a:endParaRPr lang="en-US" sz="2200" kern="1200" spc="-5" dirty="0"/>
          </a:p>
          <a:p>
            <a:pPr marL="342900" indent="-342900">
              <a:buFont typeface="Arial" panose="020B0604020202020204" pitchFamily="34" charset="0"/>
              <a:buChar char="•"/>
            </a:pPr>
            <a:r>
              <a:rPr lang="en-US" sz="2200" kern="1200" spc="-5" dirty="0"/>
              <a:t>The Scrum approach’s short iterations enable your team to continuously deliver a working version of the final product. </a:t>
            </a:r>
          </a:p>
          <a:p>
            <a:pPr marL="342900" indent="-342900">
              <a:buFont typeface="Arial" panose="020B0604020202020204" pitchFamily="34" charset="0"/>
              <a:buChar char="•"/>
            </a:pPr>
            <a:endParaRPr lang="en-US" sz="2200" kern="1200" spc="-5" dirty="0"/>
          </a:p>
          <a:p>
            <a:pPr marL="342900" indent="-342900">
              <a:buFont typeface="Arial" panose="020B0604020202020204" pitchFamily="34" charset="0"/>
              <a:buChar char="•"/>
            </a:pPr>
            <a:r>
              <a:rPr lang="en-US" sz="2200" kern="1200" spc="-5" dirty="0"/>
              <a:t>It’s flexible enough to be used for any complex project in any industry but works best when your project results in a concrete product rather than a service.</a:t>
            </a:r>
          </a:p>
          <a:p>
            <a:endParaRPr lang="en-US" dirty="0"/>
          </a:p>
        </p:txBody>
      </p:sp>
    </p:spTree>
    <p:extLst>
      <p:ext uri="{BB962C8B-B14F-4D97-AF65-F5344CB8AC3E}">
        <p14:creationId xmlns:p14="http://schemas.microsoft.com/office/powerpoint/2010/main" val="16917736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C3CD0-B9EA-FE32-B3F6-1476ED169E83}"/>
              </a:ext>
            </a:extLst>
          </p:cNvPr>
          <p:cNvSpPr>
            <a:spLocks noGrp="1"/>
          </p:cNvSpPr>
          <p:nvPr>
            <p:ph type="title"/>
          </p:nvPr>
        </p:nvSpPr>
        <p:spPr>
          <a:xfrm>
            <a:off x="1122374" y="381000"/>
            <a:ext cx="8631226" cy="1477328"/>
          </a:xfrm>
        </p:spPr>
        <p:txBody>
          <a:bodyPr/>
          <a:lstStyle/>
          <a:p>
            <a:r>
              <a:rPr lang="en-US" dirty="0"/>
              <a:t>Scrum </a:t>
            </a:r>
            <a:r>
              <a:rPr lang="en-US" kern="1200" spc="-5" dirty="0"/>
              <a:t>R</a:t>
            </a:r>
            <a:r>
              <a:rPr lang="en-US" sz="4800" kern="1200" spc="-5" dirty="0"/>
              <a:t>oles and Responsibilities</a:t>
            </a:r>
            <a:endParaRPr lang="en-US" dirty="0"/>
          </a:p>
        </p:txBody>
      </p:sp>
      <p:sp>
        <p:nvSpPr>
          <p:cNvPr id="3" name="Text Placeholder 2">
            <a:extLst>
              <a:ext uri="{FF2B5EF4-FFF2-40B4-BE49-F238E27FC236}">
                <a16:creationId xmlns:a16="http://schemas.microsoft.com/office/drawing/2014/main" id="{B135E751-B78F-1071-F3EE-1B4501342E83}"/>
              </a:ext>
            </a:extLst>
          </p:cNvPr>
          <p:cNvSpPr>
            <a:spLocks noGrp="1"/>
          </p:cNvSpPr>
          <p:nvPr>
            <p:ph type="body" idx="1"/>
          </p:nvPr>
        </p:nvSpPr>
        <p:spPr>
          <a:xfrm>
            <a:off x="899160" y="1261694"/>
            <a:ext cx="10393679" cy="4847481"/>
          </a:xfrm>
        </p:spPr>
        <p:txBody>
          <a:bodyPr/>
          <a:lstStyle/>
          <a:p>
            <a:pPr marL="342900" indent="-342900">
              <a:buFont typeface="Arial" panose="020B0604020202020204" pitchFamily="34" charset="0"/>
              <a:buChar char="•"/>
            </a:pPr>
            <a:r>
              <a:rPr lang="en-US" sz="2200" kern="1200" spc="-5" dirty="0"/>
              <a:t>Scrum in Agile requires particular roles and responsibilities, including the following:</a:t>
            </a:r>
          </a:p>
          <a:p>
            <a:pPr marL="342900" indent="-342900">
              <a:buFont typeface="Arial" panose="020B0604020202020204" pitchFamily="34" charset="0"/>
              <a:buChar char="•"/>
            </a:pPr>
            <a:endParaRPr lang="en-US" sz="2200" kern="1200" spc="-5" dirty="0"/>
          </a:p>
          <a:p>
            <a:pPr marL="342900" indent="-342900">
              <a:buFont typeface="Arial" panose="020B0604020202020204" pitchFamily="34" charset="0"/>
              <a:buChar char="•"/>
            </a:pPr>
            <a:r>
              <a:rPr lang="en-US" sz="2200" b="1" u="sng" kern="1200" spc="-5" dirty="0"/>
              <a:t>Product owner: </a:t>
            </a:r>
            <a:r>
              <a:rPr lang="en-US" sz="2200" kern="1200" spc="-5" dirty="0"/>
              <a:t>The product owner on a project is the person responsible for representing the customer’s best interest. This person has the ultimate authority over the final product. The product owner’s job is to ensure product requirements, functionality, and priorities are understood and achieved.</a:t>
            </a:r>
          </a:p>
          <a:p>
            <a:pPr marL="342900" indent="-342900">
              <a:buFont typeface="Arial" panose="020B0604020202020204" pitchFamily="34" charset="0"/>
              <a:buChar char="•"/>
            </a:pPr>
            <a:endParaRPr lang="en-US" sz="2200" kern="1200" spc="-5" dirty="0"/>
          </a:p>
          <a:p>
            <a:pPr marL="342900" indent="-342900">
              <a:buFont typeface="Arial" panose="020B0604020202020204" pitchFamily="34" charset="0"/>
              <a:buChar char="•"/>
            </a:pPr>
            <a:r>
              <a:rPr lang="en-US" sz="2200" b="1" u="sng" kern="1200" spc="-5" dirty="0"/>
              <a:t>Scrum master: </a:t>
            </a:r>
            <a:r>
              <a:rPr lang="en-US" sz="2200" kern="1200" spc="-5" dirty="0"/>
              <a:t>The Scrum master is responsible for arranging the daily meetings, improving team interactions, and maximizing productivity. The difference between the project manager and Scrum master is that the latter focuses on being a </a:t>
            </a:r>
            <a:r>
              <a:rPr lang="en-US" sz="2200" kern="1200" spc="-5" dirty="0">
                <a:hlinkClick r:id="rId2">
                  <a:extLst>
                    <a:ext uri="{A12FA001-AC4F-418D-AE19-62706E023703}">
                      <ahyp:hlinkClr xmlns:ahyp="http://schemas.microsoft.com/office/drawing/2018/hyperlinkcolor" val="tx"/>
                    </a:ext>
                  </a:extLst>
                </a:hlinkClick>
              </a:rPr>
              <a:t>servant leader</a:t>
            </a:r>
            <a:r>
              <a:rPr lang="en-US" sz="2200" kern="1200" spc="-5" dirty="0"/>
              <a:t>. The Agile project manager’s roles and responsibilities often include the position of Scrum master. However, they can delegate this to anyone on the team who’s a Scrum expert and a strong facilitator. </a:t>
            </a:r>
          </a:p>
          <a:p>
            <a:endParaRPr lang="en-US" dirty="0"/>
          </a:p>
        </p:txBody>
      </p:sp>
    </p:spTree>
    <p:extLst>
      <p:ext uri="{BB962C8B-B14F-4D97-AF65-F5344CB8AC3E}">
        <p14:creationId xmlns:p14="http://schemas.microsoft.com/office/powerpoint/2010/main" val="35076725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C3CD0-B9EA-FE32-B3F6-1476ED169E83}"/>
              </a:ext>
            </a:extLst>
          </p:cNvPr>
          <p:cNvSpPr>
            <a:spLocks noGrp="1"/>
          </p:cNvSpPr>
          <p:nvPr>
            <p:ph type="title"/>
          </p:nvPr>
        </p:nvSpPr>
        <p:spPr>
          <a:xfrm>
            <a:off x="1122374" y="381000"/>
            <a:ext cx="8174025" cy="1477328"/>
          </a:xfrm>
        </p:spPr>
        <p:txBody>
          <a:bodyPr/>
          <a:lstStyle/>
          <a:p>
            <a:r>
              <a:rPr lang="en-US" dirty="0"/>
              <a:t>Scrum </a:t>
            </a:r>
            <a:r>
              <a:rPr lang="en-US" kern="1200" spc="-5" dirty="0"/>
              <a:t>R</a:t>
            </a:r>
            <a:r>
              <a:rPr lang="en-US" sz="4800" kern="1200" spc="-5" dirty="0"/>
              <a:t>oles and Responsibilities</a:t>
            </a:r>
            <a:endParaRPr lang="en-US" dirty="0"/>
          </a:p>
        </p:txBody>
      </p:sp>
      <p:sp>
        <p:nvSpPr>
          <p:cNvPr id="3" name="Text Placeholder 2">
            <a:extLst>
              <a:ext uri="{FF2B5EF4-FFF2-40B4-BE49-F238E27FC236}">
                <a16:creationId xmlns:a16="http://schemas.microsoft.com/office/drawing/2014/main" id="{B135E751-B78F-1071-F3EE-1B4501342E83}"/>
              </a:ext>
            </a:extLst>
          </p:cNvPr>
          <p:cNvSpPr>
            <a:spLocks noGrp="1"/>
          </p:cNvSpPr>
          <p:nvPr>
            <p:ph type="body" idx="1"/>
          </p:nvPr>
        </p:nvSpPr>
        <p:spPr>
          <a:xfrm>
            <a:off x="899160" y="1261694"/>
            <a:ext cx="10393679" cy="3154710"/>
          </a:xfrm>
        </p:spPr>
        <p:txBody>
          <a:bodyPr/>
          <a:lstStyle/>
          <a:p>
            <a:pPr marL="342900" indent="-342900">
              <a:buFont typeface="Arial" panose="020B0604020202020204" pitchFamily="34" charset="0"/>
              <a:buChar char="•"/>
            </a:pPr>
            <a:r>
              <a:rPr lang="en-US" sz="2200" kern="1200" spc="-5" dirty="0"/>
              <a:t>Scrum in Agile requires particular roles and responsibilities, including the following:</a:t>
            </a:r>
          </a:p>
          <a:p>
            <a:pPr marL="342900" indent="-342900">
              <a:buFont typeface="Arial" panose="020B0604020202020204" pitchFamily="34" charset="0"/>
              <a:buChar char="•"/>
            </a:pPr>
            <a:endParaRPr lang="en-US" sz="2200" kern="1200" spc="-5" dirty="0"/>
          </a:p>
          <a:p>
            <a:pPr marL="342900" indent="-342900">
              <a:buFont typeface="Arial" panose="020B0604020202020204" pitchFamily="34" charset="0"/>
              <a:buChar char="•"/>
            </a:pPr>
            <a:r>
              <a:rPr lang="en-US" sz="2200" b="1" u="sng" kern="1200" spc="-5" dirty="0"/>
              <a:t>Development team: </a:t>
            </a:r>
            <a:r>
              <a:rPr lang="en-US" sz="2200" kern="1200" spc="-5" dirty="0"/>
              <a:t>The development team is your Scrum project team. It’s typically self-organized and cross-functional. This team includes all the people necessary to design, produce, test, and release the final product.</a:t>
            </a:r>
          </a:p>
          <a:p>
            <a:pPr marL="342900" indent="-342900">
              <a:buFont typeface="Arial" panose="020B0604020202020204" pitchFamily="34" charset="0"/>
              <a:buChar char="•"/>
            </a:pPr>
            <a:endParaRPr lang="en-US" sz="2200" kern="1200" spc="-5" dirty="0"/>
          </a:p>
          <a:p>
            <a:pPr marL="342900" indent="-342900">
              <a:buFont typeface="Arial" panose="020B0604020202020204" pitchFamily="34" charset="0"/>
              <a:buChar char="•"/>
            </a:pPr>
            <a:r>
              <a:rPr lang="en-US" sz="2200" b="1" u="sng" kern="1200" spc="-5" dirty="0"/>
              <a:t>Scrum team: </a:t>
            </a:r>
            <a:r>
              <a:rPr lang="en-US" sz="2200" kern="1200" spc="-5" dirty="0"/>
              <a:t>The Scrum team structure includes your development team, Scrum master, and product owner. </a:t>
            </a:r>
          </a:p>
          <a:p>
            <a:endParaRPr lang="en-US" dirty="0"/>
          </a:p>
        </p:txBody>
      </p:sp>
    </p:spTree>
    <p:extLst>
      <p:ext uri="{BB962C8B-B14F-4D97-AF65-F5344CB8AC3E}">
        <p14:creationId xmlns:p14="http://schemas.microsoft.com/office/powerpoint/2010/main" val="31653271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C3CD0-B9EA-FE32-B3F6-1476ED169E83}"/>
              </a:ext>
            </a:extLst>
          </p:cNvPr>
          <p:cNvSpPr>
            <a:spLocks noGrp="1"/>
          </p:cNvSpPr>
          <p:nvPr>
            <p:ph type="title"/>
          </p:nvPr>
        </p:nvSpPr>
        <p:spPr>
          <a:xfrm>
            <a:off x="1122374" y="381000"/>
            <a:ext cx="8174025" cy="738664"/>
          </a:xfrm>
        </p:spPr>
        <p:txBody>
          <a:bodyPr/>
          <a:lstStyle/>
          <a:p>
            <a:r>
              <a:rPr lang="en-US" dirty="0"/>
              <a:t>Scrum </a:t>
            </a:r>
            <a:r>
              <a:rPr lang="en-US" kern="1200" spc="-5" dirty="0"/>
              <a:t>Terminology</a:t>
            </a:r>
            <a:endParaRPr lang="en-US" dirty="0"/>
          </a:p>
        </p:txBody>
      </p:sp>
      <p:sp>
        <p:nvSpPr>
          <p:cNvPr id="3" name="Text Placeholder 2">
            <a:extLst>
              <a:ext uri="{FF2B5EF4-FFF2-40B4-BE49-F238E27FC236}">
                <a16:creationId xmlns:a16="http://schemas.microsoft.com/office/drawing/2014/main" id="{B135E751-B78F-1071-F3EE-1B4501342E83}"/>
              </a:ext>
            </a:extLst>
          </p:cNvPr>
          <p:cNvSpPr>
            <a:spLocks noGrp="1"/>
          </p:cNvSpPr>
          <p:nvPr>
            <p:ph type="body" idx="1"/>
          </p:nvPr>
        </p:nvSpPr>
        <p:spPr>
          <a:xfrm>
            <a:off x="899160" y="1261694"/>
            <a:ext cx="10393679" cy="4739759"/>
          </a:xfrm>
        </p:spPr>
        <p:txBody>
          <a:bodyPr/>
          <a:lstStyle/>
          <a:p>
            <a:pPr marL="342900" indent="-342900">
              <a:buFont typeface="Arial" panose="020B0604020202020204" pitchFamily="34" charset="0"/>
              <a:buChar char="•"/>
            </a:pPr>
            <a:r>
              <a:rPr lang="en-US" sz="2200" kern="1200" spc="-5" dirty="0"/>
              <a:t>The following are key terms commonly used in the Scrum framework:</a:t>
            </a:r>
          </a:p>
          <a:p>
            <a:pPr marL="342900" indent="-342900">
              <a:buFont typeface="Arial" panose="020B0604020202020204" pitchFamily="34" charset="0"/>
              <a:buChar char="•"/>
            </a:pPr>
            <a:endParaRPr lang="en-US" sz="2200" kern="1200" spc="-5" dirty="0"/>
          </a:p>
          <a:p>
            <a:pPr marL="342900" indent="-342900" algn="l">
              <a:buFont typeface="Arial" panose="020B0604020202020204" pitchFamily="34" charset="0"/>
              <a:buChar char="•"/>
            </a:pPr>
            <a:r>
              <a:rPr lang="en-US" sz="2200" b="1" u="sng" kern="1200" spc="-5" dirty="0"/>
              <a:t>Product backlog: </a:t>
            </a:r>
            <a:r>
              <a:rPr lang="en-US" sz="2200" kern="1200" spc="-5" dirty="0"/>
              <a:t>The backlog is a list of tasks and requirements that you must include in the final product. It’s the product owner’s responsibility to create and manage the backlog.</a:t>
            </a:r>
          </a:p>
          <a:p>
            <a:pPr marL="342900" indent="-342900" algn="l">
              <a:buFont typeface="Arial" panose="020B0604020202020204" pitchFamily="34" charset="0"/>
              <a:buChar char="•"/>
            </a:pPr>
            <a:endParaRPr lang="en-US" sz="2200" kern="1200" spc="-5" dirty="0"/>
          </a:p>
          <a:p>
            <a:pPr marL="342900" indent="-342900" algn="l">
              <a:buFont typeface="Arial" panose="020B0604020202020204" pitchFamily="34" charset="0"/>
              <a:buChar char="•"/>
            </a:pPr>
            <a:r>
              <a:rPr lang="en-US" sz="2200" b="1" u="sng" kern="1200" spc="-5" dirty="0"/>
              <a:t>Sprint:</a:t>
            </a:r>
            <a:r>
              <a:rPr lang="en-US" sz="2200" kern="1200" spc="-5" dirty="0"/>
              <a:t> A sprint is a set time frame for completing each set of tasks from the backlog. Every sprint should be the same length. Two weeks is typical, but the sprint can be anywhere between one to four weeks, depending on the team and project’s needs. </a:t>
            </a:r>
          </a:p>
          <a:p>
            <a:pPr marL="342900" indent="-342900" algn="l">
              <a:buFont typeface="Arial" panose="020B0604020202020204" pitchFamily="34" charset="0"/>
              <a:buChar char="•"/>
            </a:pPr>
            <a:endParaRPr lang="en-US" sz="2200" kern="1200" spc="-5" dirty="0"/>
          </a:p>
          <a:p>
            <a:pPr marL="342900" indent="-342900" algn="l">
              <a:buFont typeface="Arial" panose="020B0604020202020204" pitchFamily="34" charset="0"/>
              <a:buChar char="•"/>
            </a:pPr>
            <a:r>
              <a:rPr lang="en-US" sz="2200" b="1" u="sng" kern="1200" spc="-5" dirty="0"/>
              <a:t>Backlog planning: </a:t>
            </a:r>
            <a:r>
              <a:rPr lang="en-US" sz="2200" kern="1200" spc="-5" dirty="0"/>
              <a:t>(sometimes called Agile sprint planning) refers to determining which tasks on the backlog list you will include in each sprint.  </a:t>
            </a:r>
          </a:p>
          <a:p>
            <a:pPr marL="342900" indent="-342900" algn="l">
              <a:buFont typeface="Arial" panose="020B0604020202020204" pitchFamily="34" charset="0"/>
              <a:buChar char="•"/>
            </a:pPr>
            <a:r>
              <a:rPr lang="en-US" sz="2200" kern="1200" spc="-5" dirty="0"/>
              <a:t>Sprint backlog. The portion of the backlog that is assigned to the current sprint. </a:t>
            </a:r>
          </a:p>
          <a:p>
            <a:pPr marL="342900" indent="-342900">
              <a:buFont typeface="Arial" panose="020B0604020202020204" pitchFamily="34" charset="0"/>
              <a:buChar char="•"/>
            </a:pPr>
            <a:endParaRPr lang="en-US" sz="2200" kern="1200" spc="-5" dirty="0"/>
          </a:p>
        </p:txBody>
      </p:sp>
    </p:spTree>
    <p:extLst>
      <p:ext uri="{BB962C8B-B14F-4D97-AF65-F5344CB8AC3E}">
        <p14:creationId xmlns:p14="http://schemas.microsoft.com/office/powerpoint/2010/main" val="11710598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C3CD0-B9EA-FE32-B3F6-1476ED169E83}"/>
              </a:ext>
            </a:extLst>
          </p:cNvPr>
          <p:cNvSpPr>
            <a:spLocks noGrp="1"/>
          </p:cNvSpPr>
          <p:nvPr>
            <p:ph type="title"/>
          </p:nvPr>
        </p:nvSpPr>
        <p:spPr>
          <a:xfrm>
            <a:off x="1122374" y="381000"/>
            <a:ext cx="8174025" cy="738664"/>
          </a:xfrm>
        </p:spPr>
        <p:txBody>
          <a:bodyPr/>
          <a:lstStyle/>
          <a:p>
            <a:r>
              <a:rPr lang="en-US" dirty="0"/>
              <a:t>Scrum </a:t>
            </a:r>
            <a:r>
              <a:rPr lang="en-US" kern="1200" spc="-5" dirty="0"/>
              <a:t>Terminology</a:t>
            </a:r>
            <a:endParaRPr lang="en-US" dirty="0"/>
          </a:p>
        </p:txBody>
      </p:sp>
      <p:sp>
        <p:nvSpPr>
          <p:cNvPr id="3" name="Text Placeholder 2">
            <a:extLst>
              <a:ext uri="{FF2B5EF4-FFF2-40B4-BE49-F238E27FC236}">
                <a16:creationId xmlns:a16="http://schemas.microsoft.com/office/drawing/2014/main" id="{B135E751-B78F-1071-F3EE-1B4501342E83}"/>
              </a:ext>
            </a:extLst>
          </p:cNvPr>
          <p:cNvSpPr>
            <a:spLocks noGrp="1"/>
          </p:cNvSpPr>
          <p:nvPr>
            <p:ph type="body" idx="1"/>
          </p:nvPr>
        </p:nvSpPr>
        <p:spPr>
          <a:xfrm>
            <a:off x="899160" y="1261694"/>
            <a:ext cx="10393679" cy="5078313"/>
          </a:xfrm>
        </p:spPr>
        <p:txBody>
          <a:bodyPr/>
          <a:lstStyle/>
          <a:p>
            <a:pPr marL="342900" indent="-342900" algn="l">
              <a:buFont typeface="Arial" panose="020B0604020202020204" pitchFamily="34" charset="0"/>
              <a:buChar char="•"/>
            </a:pPr>
            <a:r>
              <a:rPr lang="en-US" sz="2200" b="1" u="sng" kern="1200" spc="-5" dirty="0"/>
              <a:t>Daily Scrum: </a:t>
            </a:r>
            <a:r>
              <a:rPr lang="en-US" sz="2200" kern="1200" spc="-5" dirty="0"/>
              <a:t>A Scrum project team meets every day to discuss any progress over the last 24 hours, progress expected in the next 24 hours, and any new problems. These meetings are typically referred to as a Daily Scrum or Daily Stand-Up and generally take about 15 minutes.</a:t>
            </a:r>
          </a:p>
          <a:p>
            <a:pPr marL="342900" indent="-342900" algn="l">
              <a:buFont typeface="Arial" panose="020B0604020202020204" pitchFamily="34" charset="0"/>
              <a:buChar char="•"/>
            </a:pPr>
            <a:endParaRPr lang="en-US" sz="2200" kern="1200" spc="-5" dirty="0"/>
          </a:p>
          <a:p>
            <a:pPr marL="342900" indent="-342900" algn="l">
              <a:buFont typeface="Arial" panose="020B0604020202020204" pitchFamily="34" charset="0"/>
              <a:buChar char="•"/>
            </a:pPr>
            <a:r>
              <a:rPr lang="en-US" sz="2200" b="1" u="sng" kern="1200" spc="-5" dirty="0"/>
              <a:t>Retrospective: </a:t>
            </a:r>
            <a:r>
              <a:rPr lang="en-US" sz="2200" kern="1200" spc="-5" dirty="0"/>
              <a:t>Each sprint should end with a review meeting called a retrospective. The team reviews their progress so far and discusses how they can improve in the next sprint.</a:t>
            </a:r>
          </a:p>
          <a:p>
            <a:pPr marL="342900" indent="-342900" algn="l">
              <a:buFont typeface="Arial" panose="020B0604020202020204" pitchFamily="34" charset="0"/>
              <a:buChar char="•"/>
            </a:pPr>
            <a:endParaRPr lang="en-US" sz="2200" kern="1200" spc="-5" dirty="0"/>
          </a:p>
          <a:p>
            <a:pPr marL="342900" indent="-342900" algn="l">
              <a:buFont typeface="Arial" panose="020B0604020202020204" pitchFamily="34" charset="0"/>
              <a:buChar char="•"/>
            </a:pPr>
            <a:r>
              <a:rPr lang="en-US" sz="2200" b="1" u="sng" kern="1200" spc="-5" dirty="0"/>
              <a:t>Scrum board: </a:t>
            </a:r>
            <a:r>
              <a:rPr lang="en-US" sz="2200" kern="1200" spc="-5" dirty="0"/>
              <a:t>A Scrum board helps your team see and manage the sprint backlog. It can be a physical board, such as a whiteboard, or a virtual one within a project management tool. The board typically has three columns: “To Do,” “In Progress,” and “Done.” As you complete backlog items, you move them from one column to the next on the board. This way, everyone can see what they need to do during the current sprint and how the work progresses.</a:t>
            </a:r>
          </a:p>
          <a:p>
            <a:pPr marL="342900" indent="-342900">
              <a:buFont typeface="Arial" panose="020B0604020202020204" pitchFamily="34" charset="0"/>
              <a:buChar char="•"/>
            </a:pPr>
            <a:endParaRPr lang="en-US" sz="2200" kern="1200" spc="-5" dirty="0"/>
          </a:p>
        </p:txBody>
      </p:sp>
    </p:spTree>
    <p:extLst>
      <p:ext uri="{BB962C8B-B14F-4D97-AF65-F5344CB8AC3E}">
        <p14:creationId xmlns:p14="http://schemas.microsoft.com/office/powerpoint/2010/main" val="2145527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C3CD0-B9EA-FE32-B3F6-1476ED169E83}"/>
              </a:ext>
            </a:extLst>
          </p:cNvPr>
          <p:cNvSpPr>
            <a:spLocks noGrp="1"/>
          </p:cNvSpPr>
          <p:nvPr>
            <p:ph type="title"/>
          </p:nvPr>
        </p:nvSpPr>
        <p:spPr>
          <a:xfrm>
            <a:off x="1122374" y="381000"/>
            <a:ext cx="8174025" cy="738664"/>
          </a:xfrm>
        </p:spPr>
        <p:txBody>
          <a:bodyPr/>
          <a:lstStyle/>
          <a:p>
            <a:r>
              <a:rPr lang="en-US" dirty="0"/>
              <a:t>When to use Scrum</a:t>
            </a:r>
          </a:p>
        </p:txBody>
      </p:sp>
      <p:sp>
        <p:nvSpPr>
          <p:cNvPr id="3" name="Text Placeholder 2">
            <a:extLst>
              <a:ext uri="{FF2B5EF4-FFF2-40B4-BE49-F238E27FC236}">
                <a16:creationId xmlns:a16="http://schemas.microsoft.com/office/drawing/2014/main" id="{B135E751-B78F-1071-F3EE-1B4501342E83}"/>
              </a:ext>
            </a:extLst>
          </p:cNvPr>
          <p:cNvSpPr>
            <a:spLocks noGrp="1"/>
          </p:cNvSpPr>
          <p:nvPr>
            <p:ph type="body" idx="1"/>
          </p:nvPr>
        </p:nvSpPr>
        <p:spPr>
          <a:xfrm>
            <a:off x="899160" y="1261694"/>
            <a:ext cx="10393679" cy="5078313"/>
          </a:xfrm>
        </p:spPr>
        <p:txBody>
          <a:bodyPr/>
          <a:lstStyle/>
          <a:p>
            <a:pPr marL="342900" indent="-342900" algn="l">
              <a:buFont typeface="Arial" panose="020B0604020202020204" pitchFamily="34" charset="0"/>
              <a:buChar char="•"/>
            </a:pPr>
            <a:r>
              <a:rPr lang="en-US" sz="2200" kern="1200" spc="-5" dirty="0"/>
              <a:t>The Scrum framework is ideal for adopting a highly structured approach to project management whereby you tackle every aspect of your project in a systematic way.</a:t>
            </a:r>
          </a:p>
          <a:p>
            <a:pPr marL="342900" indent="-342900" algn="l">
              <a:buFont typeface="Arial" panose="020B0604020202020204" pitchFamily="34" charset="0"/>
              <a:buChar char="•"/>
            </a:pPr>
            <a:endParaRPr lang="en-US" sz="2200" kern="1200" spc="-5" dirty="0"/>
          </a:p>
          <a:p>
            <a:pPr marL="342900" indent="-342900" algn="l">
              <a:buFont typeface="Arial" panose="020B0604020202020204" pitchFamily="34" charset="0"/>
              <a:buChar char="•"/>
            </a:pPr>
            <a:r>
              <a:rPr lang="en-US" sz="2200" kern="1200" spc="-5" dirty="0"/>
              <a:t>That makes it an excellent choice for complex projects that can feel intimidating at first. By breaking a project down into achievable sprints, you can make it feel less overwhelming and make significant progress in a short space of time.</a:t>
            </a:r>
          </a:p>
          <a:p>
            <a:pPr marL="342900" indent="-342900" algn="l">
              <a:buFont typeface="Arial" panose="020B0604020202020204" pitchFamily="34" charset="0"/>
              <a:buChar char="•"/>
            </a:pPr>
            <a:endParaRPr lang="en-US" sz="2200" kern="1200" spc="-5" dirty="0"/>
          </a:p>
          <a:p>
            <a:pPr marL="342900" indent="-342900" algn="l">
              <a:buFont typeface="Arial" panose="020B0604020202020204" pitchFamily="34" charset="0"/>
              <a:buChar char="•"/>
            </a:pPr>
            <a:r>
              <a:rPr lang="en-US" sz="2200" kern="1200" spc="-5" dirty="0"/>
              <a:t>The Scrum framework is also best for projects that are prone to change in scope over time. Since you’ll have a Scrum leader composing the orchestra on individual projects, working this way allows you to pivot quickly and redirect the team’s energy when required.</a:t>
            </a:r>
          </a:p>
          <a:p>
            <a:pPr marL="342900" indent="-342900" algn="l">
              <a:buFont typeface="Arial" panose="020B0604020202020204" pitchFamily="34" charset="0"/>
              <a:buChar char="•"/>
            </a:pPr>
            <a:endParaRPr lang="en-US" sz="2200" kern="1200" spc="-5" dirty="0"/>
          </a:p>
          <a:p>
            <a:pPr marL="342900" indent="-342900" algn="l">
              <a:buFont typeface="Arial" panose="020B0604020202020204" pitchFamily="34" charset="0"/>
              <a:buChar char="•"/>
            </a:pPr>
            <a:r>
              <a:rPr lang="en-US" sz="2200" kern="1200" spc="-5" dirty="0"/>
              <a:t>The additional control you get over the way your team works will also benefit you for projects that require closer management and adaptability.</a:t>
            </a:r>
          </a:p>
          <a:p>
            <a:pPr marL="342900" indent="-342900">
              <a:buFont typeface="Arial" panose="020B0604020202020204" pitchFamily="34" charset="0"/>
              <a:buChar char="•"/>
            </a:pPr>
            <a:endParaRPr lang="en-US" sz="2200" kern="1200" spc="-5" dirty="0"/>
          </a:p>
        </p:txBody>
      </p:sp>
    </p:spTree>
    <p:extLst>
      <p:ext uri="{BB962C8B-B14F-4D97-AF65-F5344CB8AC3E}">
        <p14:creationId xmlns:p14="http://schemas.microsoft.com/office/powerpoint/2010/main" val="12421479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1FA2F-A7EB-0282-4E2E-60AD9A22B076}"/>
              </a:ext>
            </a:extLst>
          </p:cNvPr>
          <p:cNvSpPr>
            <a:spLocks noGrp="1"/>
          </p:cNvSpPr>
          <p:nvPr>
            <p:ph type="title"/>
          </p:nvPr>
        </p:nvSpPr>
        <p:spPr>
          <a:xfrm>
            <a:off x="1066800" y="304800"/>
            <a:ext cx="5850890" cy="756919"/>
          </a:xfrm>
        </p:spPr>
        <p:txBody>
          <a:bodyPr/>
          <a:lstStyle/>
          <a:p>
            <a:r>
              <a:rPr lang="en-GB" b="1" dirty="0"/>
              <a:t>References</a:t>
            </a:r>
          </a:p>
        </p:txBody>
      </p:sp>
      <p:sp>
        <p:nvSpPr>
          <p:cNvPr id="3" name="Text Placeholder 2">
            <a:extLst>
              <a:ext uri="{FF2B5EF4-FFF2-40B4-BE49-F238E27FC236}">
                <a16:creationId xmlns:a16="http://schemas.microsoft.com/office/drawing/2014/main" id="{B53D60F5-94AE-18CB-F6FD-C8E5A6B9CC18}"/>
              </a:ext>
            </a:extLst>
          </p:cNvPr>
          <p:cNvSpPr>
            <a:spLocks noGrp="1"/>
          </p:cNvSpPr>
          <p:nvPr>
            <p:ph type="body" idx="1"/>
          </p:nvPr>
        </p:nvSpPr>
        <p:spPr>
          <a:xfrm>
            <a:off x="899160" y="1261694"/>
            <a:ext cx="10393679" cy="6247864"/>
          </a:xfrm>
        </p:spPr>
        <p:txBody>
          <a:bodyPr/>
          <a:lstStyle/>
          <a:p>
            <a:r>
              <a:rPr lang="en-GB" dirty="0">
                <a:hlinkClick r:id="rId2"/>
              </a:rPr>
              <a:t>https://www.geeksforgeeks.org/software-engineering-spiral-model/</a:t>
            </a:r>
            <a:endParaRPr lang="en-GB" dirty="0"/>
          </a:p>
          <a:p>
            <a:r>
              <a:rPr lang="en-GB" dirty="0">
                <a:hlinkClick r:id="rId3"/>
              </a:rPr>
              <a:t>https://inoxoft.com/blog/7-software-development-models-comparison-how-to-choose-the-right-one/</a:t>
            </a:r>
            <a:endParaRPr lang="en-GB" dirty="0"/>
          </a:p>
          <a:p>
            <a:r>
              <a:rPr lang="en-GB" dirty="0">
                <a:hlinkClick r:id="rId4"/>
              </a:rPr>
              <a:t>https://www.scribd.com/document/390112233/Agile-SDLC-Model-is-a-Combination-of-Iterative-and-Incremental-Process-Models-With-Focus-on-Process-Adaptability-and-Customer-Satisfaction-by-Rapid-De</a:t>
            </a:r>
            <a:endParaRPr lang="en-GB" dirty="0"/>
          </a:p>
          <a:p>
            <a:r>
              <a:rPr lang="en-GB" dirty="0">
                <a:hlinkClick r:id="rId5"/>
              </a:rPr>
              <a:t>https://www.techtarget.com/searchsoftwarequality/definition/agile-software-development</a:t>
            </a:r>
            <a:endParaRPr lang="en-GB" dirty="0"/>
          </a:p>
          <a:p>
            <a:r>
              <a:rPr lang="en-GB" dirty="0">
                <a:hlinkClick r:id="rId6"/>
              </a:rPr>
              <a:t>https://www.tutorialspoint.com/sdlc/sdlc_agile_model.htm</a:t>
            </a:r>
            <a:endParaRPr lang="en-GB" dirty="0"/>
          </a:p>
          <a:p>
            <a:r>
              <a:rPr lang="en-GB" dirty="0">
                <a:hlinkClick r:id="rId7"/>
              </a:rPr>
              <a:t>https://geeksforgeeks.org/dynamic-systems-development-method-dsdm/</a:t>
            </a:r>
            <a:endParaRPr lang="en-GB" dirty="0"/>
          </a:p>
          <a:p>
            <a:endParaRPr lang="en-GB" dirty="0"/>
          </a:p>
          <a:p>
            <a:endParaRPr lang="en-GB" dirty="0"/>
          </a:p>
        </p:txBody>
      </p:sp>
    </p:spTree>
    <p:extLst>
      <p:ext uri="{BB962C8B-B14F-4D97-AF65-F5344CB8AC3E}">
        <p14:creationId xmlns:p14="http://schemas.microsoft.com/office/powerpoint/2010/main" val="20581333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1FA2F-A7EB-0282-4E2E-60AD9A22B076}"/>
              </a:ext>
            </a:extLst>
          </p:cNvPr>
          <p:cNvSpPr>
            <a:spLocks noGrp="1"/>
          </p:cNvSpPr>
          <p:nvPr>
            <p:ph type="title"/>
          </p:nvPr>
        </p:nvSpPr>
        <p:spPr>
          <a:xfrm>
            <a:off x="1066800" y="304800"/>
            <a:ext cx="5850890" cy="756919"/>
          </a:xfrm>
        </p:spPr>
        <p:txBody>
          <a:bodyPr/>
          <a:lstStyle/>
          <a:p>
            <a:r>
              <a:rPr lang="en-GB" b="1" dirty="0"/>
              <a:t>References</a:t>
            </a:r>
          </a:p>
        </p:txBody>
      </p:sp>
      <p:sp>
        <p:nvSpPr>
          <p:cNvPr id="3" name="Text Placeholder 2">
            <a:extLst>
              <a:ext uri="{FF2B5EF4-FFF2-40B4-BE49-F238E27FC236}">
                <a16:creationId xmlns:a16="http://schemas.microsoft.com/office/drawing/2014/main" id="{B53D60F5-94AE-18CB-F6FD-C8E5A6B9CC18}"/>
              </a:ext>
            </a:extLst>
          </p:cNvPr>
          <p:cNvSpPr>
            <a:spLocks noGrp="1"/>
          </p:cNvSpPr>
          <p:nvPr>
            <p:ph type="body" idx="1"/>
          </p:nvPr>
        </p:nvSpPr>
        <p:spPr>
          <a:xfrm>
            <a:off x="899160" y="1261694"/>
            <a:ext cx="10393679" cy="1785104"/>
          </a:xfrm>
        </p:spPr>
        <p:txBody>
          <a:bodyPr/>
          <a:lstStyle/>
          <a:p>
            <a:r>
              <a:rPr lang="en-GB" dirty="0">
                <a:hlinkClick r:id="rId2"/>
              </a:rPr>
              <a:t>https://www.wrike.com/project-management-guide/faq/kanban-vs-scrum-vs-scrumban-what-are-the-differences/</a:t>
            </a:r>
            <a:r>
              <a:rPr lang="en-GB" dirty="0"/>
              <a:t> </a:t>
            </a:r>
          </a:p>
          <a:p>
            <a:endParaRPr lang="en-GB" dirty="0"/>
          </a:p>
          <a:p>
            <a:endParaRPr lang="en-GB" dirty="0"/>
          </a:p>
        </p:txBody>
      </p:sp>
    </p:spTree>
    <p:extLst>
      <p:ext uri="{BB962C8B-B14F-4D97-AF65-F5344CB8AC3E}">
        <p14:creationId xmlns:p14="http://schemas.microsoft.com/office/powerpoint/2010/main" val="2897701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1400</TotalTime>
  <Words>3436</Words>
  <Application>Microsoft Office PowerPoint</Application>
  <PresentationFormat>Widescreen</PresentationFormat>
  <Paragraphs>283</Paragraphs>
  <Slides>38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Arial</vt:lpstr>
      <vt:lpstr>Arial MT</vt:lpstr>
      <vt:lpstr>Calibri</vt:lpstr>
      <vt:lpstr>Calibri Light</vt:lpstr>
      <vt:lpstr>Lucida Sans Unicode</vt:lpstr>
      <vt:lpstr>Times New Roman</vt:lpstr>
      <vt:lpstr>Wingdings</vt:lpstr>
      <vt:lpstr>Office Theme</vt:lpstr>
      <vt:lpstr>Software Development  Lifecycles Models</vt:lpstr>
      <vt:lpstr>SDLC Models</vt:lpstr>
      <vt:lpstr>SDLC Models (cont’d)</vt:lpstr>
      <vt:lpstr>Adaptive Models - Spiral</vt:lpstr>
      <vt:lpstr>Adaptive Models - Spiral</vt:lpstr>
      <vt:lpstr>Adaptive Models - Spiral</vt:lpstr>
      <vt:lpstr>Kinds of Risks in Software Development</vt:lpstr>
      <vt:lpstr>Adaptive Models - Spiral</vt:lpstr>
      <vt:lpstr>Advantages of the Spiral Model</vt:lpstr>
      <vt:lpstr>Disadvantages of the Spiral Model</vt:lpstr>
      <vt:lpstr>When to use the Spiral Model</vt:lpstr>
      <vt:lpstr>Adaptive Models - Agile</vt:lpstr>
      <vt:lpstr>Adaptive Models - Agile</vt:lpstr>
      <vt:lpstr>Adaptive Models – Agile (Agile phases)</vt:lpstr>
      <vt:lpstr>Adaptive Models – Agile (Agile phases)</vt:lpstr>
      <vt:lpstr>Advantages of the Agile Model</vt:lpstr>
      <vt:lpstr>Disadvantages of the Agile Model</vt:lpstr>
      <vt:lpstr>When to use the Agile Model</vt:lpstr>
      <vt:lpstr>Agile-Based Approaches</vt:lpstr>
      <vt:lpstr>Adaptive Models - DSDM</vt:lpstr>
      <vt:lpstr>Adaptive Models – DSDM Phases</vt:lpstr>
      <vt:lpstr>Adaptive Models – DSDM Phases</vt:lpstr>
      <vt:lpstr>Adaptive Models – DSDM Phases</vt:lpstr>
      <vt:lpstr>Adaptive Models – DSDM Phases</vt:lpstr>
      <vt:lpstr>Adaptive Models – DSDM Phases</vt:lpstr>
      <vt:lpstr>Adaptive Models – DSDM Phases</vt:lpstr>
      <vt:lpstr>Adaptive Models – DSDM Phases</vt:lpstr>
      <vt:lpstr>Advantages of the DSDM Model</vt:lpstr>
      <vt:lpstr>Advantages of the DSDM Model cont.</vt:lpstr>
      <vt:lpstr>Disadvantages of the DSDM Model</vt:lpstr>
      <vt:lpstr>Scrum</vt:lpstr>
      <vt:lpstr>Scrum Roles and Responsibilities</vt:lpstr>
      <vt:lpstr>Scrum Roles and Responsibilities</vt:lpstr>
      <vt:lpstr>Scrum Terminology</vt:lpstr>
      <vt:lpstr>Scrum Terminology</vt:lpstr>
      <vt:lpstr>When to use Scrum</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Development Lifecycles</dc:title>
  <dc:creator>Asmaa Lafi</dc:creator>
  <cp:lastModifiedBy>laheeb alselehat  -gt</cp:lastModifiedBy>
  <cp:revision>19</cp:revision>
  <dcterms:created xsi:type="dcterms:W3CDTF">2022-11-13T09:11:16Z</dcterms:created>
  <dcterms:modified xsi:type="dcterms:W3CDTF">2023-12-28T05:56:50Z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2022-11-07T00:00:00Z</vt:filetime>
  </property>
  <property fmtid="{D5CDD505-2E9C-101B-9397-08002B2CF9AE}" pid="3" name="Creator">
    <vt:lpwstr>Microsoft® PowerPoint® for Microsoft 365</vt:lpwstr>
  </property>
  <property fmtid="{D5CDD505-2E9C-101B-9397-08002B2CF9AE}" pid="4" name="LastSaved">
    <vt:filetime>2022-11-13T00:00:00Z</vt:filetime>
  </property>
</Properties>
</file>